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slides/slide169.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176.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comments/comment1.xml" ContentType="application/vnd.openxmlformats-officedocument.presentationml.comments+xml"/>
  <Default Extension="vml" ContentType="application/vnd.openxmlformats-officedocument.vmlDrawing"/>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commentAuthors.xml" ContentType="application/vnd.openxmlformats-officedocument.presentationml.commentAuthors+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0"/>
  </p:notesMasterIdLst>
  <p:sldIdLst>
    <p:sldId id="867" r:id="rId2"/>
    <p:sldId id="866" r:id="rId3"/>
    <p:sldId id="865" r:id="rId4"/>
    <p:sldId id="544" r:id="rId5"/>
    <p:sldId id="583" r:id="rId6"/>
    <p:sldId id="658" r:id="rId7"/>
    <p:sldId id="651" r:id="rId8"/>
    <p:sldId id="684" r:id="rId9"/>
    <p:sldId id="1304" r:id="rId10"/>
    <p:sldId id="685" r:id="rId11"/>
    <p:sldId id="1303" r:id="rId12"/>
    <p:sldId id="1305" r:id="rId13"/>
    <p:sldId id="1306" r:id="rId14"/>
    <p:sldId id="1307" r:id="rId15"/>
    <p:sldId id="1308" r:id="rId16"/>
    <p:sldId id="1309" r:id="rId17"/>
    <p:sldId id="1310" r:id="rId18"/>
    <p:sldId id="1311" r:id="rId19"/>
    <p:sldId id="610" r:id="rId20"/>
    <p:sldId id="1319" r:id="rId21"/>
    <p:sldId id="1320" r:id="rId22"/>
    <p:sldId id="1321" r:id="rId23"/>
    <p:sldId id="1322" r:id="rId24"/>
    <p:sldId id="1323" r:id="rId25"/>
    <p:sldId id="1324" r:id="rId26"/>
    <p:sldId id="1325" r:id="rId27"/>
    <p:sldId id="1312" r:id="rId28"/>
    <p:sldId id="1313" r:id="rId29"/>
    <p:sldId id="1314" r:id="rId30"/>
    <p:sldId id="1315" r:id="rId31"/>
    <p:sldId id="612" r:id="rId32"/>
    <p:sldId id="1316" r:id="rId33"/>
    <p:sldId id="1317" r:id="rId34"/>
    <p:sldId id="1318" r:id="rId35"/>
    <p:sldId id="634" r:id="rId36"/>
    <p:sldId id="636" r:id="rId37"/>
    <p:sldId id="659" r:id="rId38"/>
    <p:sldId id="660" r:id="rId39"/>
    <p:sldId id="686" r:id="rId40"/>
    <p:sldId id="687" r:id="rId41"/>
    <p:sldId id="688" r:id="rId42"/>
    <p:sldId id="689" r:id="rId43"/>
    <p:sldId id="699" r:id="rId44"/>
    <p:sldId id="704" r:id="rId45"/>
    <p:sldId id="707" r:id="rId46"/>
    <p:sldId id="708" r:id="rId47"/>
    <p:sldId id="713" r:id="rId48"/>
    <p:sldId id="709" r:id="rId49"/>
    <p:sldId id="710" r:id="rId50"/>
    <p:sldId id="711" r:id="rId51"/>
    <p:sldId id="712" r:id="rId52"/>
    <p:sldId id="718" r:id="rId53"/>
    <p:sldId id="719" r:id="rId54"/>
    <p:sldId id="720" r:id="rId55"/>
    <p:sldId id="721" r:id="rId56"/>
    <p:sldId id="723" r:id="rId57"/>
    <p:sldId id="725" r:id="rId58"/>
    <p:sldId id="726" r:id="rId59"/>
    <p:sldId id="727" r:id="rId60"/>
    <p:sldId id="1328" r:id="rId61"/>
    <p:sldId id="1329" r:id="rId62"/>
    <p:sldId id="1330" r:id="rId63"/>
    <p:sldId id="1331" r:id="rId64"/>
    <p:sldId id="1332" r:id="rId65"/>
    <p:sldId id="1333" r:id="rId66"/>
    <p:sldId id="1334" r:id="rId67"/>
    <p:sldId id="728" r:id="rId68"/>
    <p:sldId id="729" r:id="rId69"/>
    <p:sldId id="730" r:id="rId70"/>
    <p:sldId id="731" r:id="rId71"/>
    <p:sldId id="1326" r:id="rId72"/>
    <p:sldId id="732" r:id="rId73"/>
    <p:sldId id="733" r:id="rId74"/>
    <p:sldId id="735" r:id="rId75"/>
    <p:sldId id="736" r:id="rId76"/>
    <p:sldId id="1199" r:id="rId77"/>
    <p:sldId id="1200" r:id="rId78"/>
    <p:sldId id="1201" r:id="rId79"/>
    <p:sldId id="1202" r:id="rId80"/>
    <p:sldId id="1203" r:id="rId81"/>
    <p:sldId id="1204" r:id="rId82"/>
    <p:sldId id="1205" r:id="rId83"/>
    <p:sldId id="1206" r:id="rId84"/>
    <p:sldId id="1207" r:id="rId85"/>
    <p:sldId id="1208" r:id="rId86"/>
    <p:sldId id="1209" r:id="rId87"/>
    <p:sldId id="1210" r:id="rId88"/>
    <p:sldId id="1211" r:id="rId89"/>
    <p:sldId id="1212" r:id="rId90"/>
    <p:sldId id="1213" r:id="rId91"/>
    <p:sldId id="1214" r:id="rId92"/>
    <p:sldId id="1215" r:id="rId93"/>
    <p:sldId id="1216" r:id="rId94"/>
    <p:sldId id="1217" r:id="rId95"/>
    <p:sldId id="1218" r:id="rId96"/>
    <p:sldId id="1219" r:id="rId97"/>
    <p:sldId id="1220" r:id="rId98"/>
    <p:sldId id="1221" r:id="rId99"/>
    <p:sldId id="1222" r:id="rId100"/>
    <p:sldId id="1223" r:id="rId101"/>
    <p:sldId id="1224" r:id="rId102"/>
    <p:sldId id="1225" r:id="rId103"/>
    <p:sldId id="1226" r:id="rId104"/>
    <p:sldId id="1227" r:id="rId105"/>
    <p:sldId id="1228" r:id="rId106"/>
    <p:sldId id="1229" r:id="rId107"/>
    <p:sldId id="1230" r:id="rId108"/>
    <p:sldId id="1231" r:id="rId109"/>
    <p:sldId id="1232" r:id="rId110"/>
    <p:sldId id="1233" r:id="rId111"/>
    <p:sldId id="1234" r:id="rId112"/>
    <p:sldId id="1235" r:id="rId113"/>
    <p:sldId id="1236" r:id="rId114"/>
    <p:sldId id="1237" r:id="rId115"/>
    <p:sldId id="1238" r:id="rId116"/>
    <p:sldId id="1239" r:id="rId117"/>
    <p:sldId id="1240" r:id="rId118"/>
    <p:sldId id="1241" r:id="rId119"/>
    <p:sldId id="1242" r:id="rId120"/>
    <p:sldId id="1243" r:id="rId121"/>
    <p:sldId id="1244" r:id="rId122"/>
    <p:sldId id="1245" r:id="rId123"/>
    <p:sldId id="1246" r:id="rId124"/>
    <p:sldId id="1247" r:id="rId125"/>
    <p:sldId id="1248" r:id="rId126"/>
    <p:sldId id="1249" r:id="rId127"/>
    <p:sldId id="1250" r:id="rId128"/>
    <p:sldId id="1251" r:id="rId129"/>
    <p:sldId id="1252" r:id="rId130"/>
    <p:sldId id="1253" r:id="rId131"/>
    <p:sldId id="1254" r:id="rId132"/>
    <p:sldId id="1255" r:id="rId133"/>
    <p:sldId id="1256" r:id="rId134"/>
    <p:sldId id="1257" r:id="rId135"/>
    <p:sldId id="1258" r:id="rId136"/>
    <p:sldId id="1259" r:id="rId137"/>
    <p:sldId id="1260" r:id="rId138"/>
    <p:sldId id="1261" r:id="rId139"/>
    <p:sldId id="1262" r:id="rId140"/>
    <p:sldId id="1263" r:id="rId141"/>
    <p:sldId id="1264" r:id="rId142"/>
    <p:sldId id="1265" r:id="rId143"/>
    <p:sldId id="1266" r:id="rId144"/>
    <p:sldId id="1267" r:id="rId145"/>
    <p:sldId id="1268" r:id="rId146"/>
    <p:sldId id="1269" r:id="rId147"/>
    <p:sldId id="1270" r:id="rId148"/>
    <p:sldId id="1271" r:id="rId149"/>
    <p:sldId id="1272" r:id="rId150"/>
    <p:sldId id="1274" r:id="rId151"/>
    <p:sldId id="1275" r:id="rId152"/>
    <p:sldId id="1276" r:id="rId153"/>
    <p:sldId id="1277" r:id="rId154"/>
    <p:sldId id="1278" r:id="rId155"/>
    <p:sldId id="1279" r:id="rId156"/>
    <p:sldId id="1280" r:id="rId157"/>
    <p:sldId id="1281" r:id="rId158"/>
    <p:sldId id="1282" r:id="rId159"/>
    <p:sldId id="1283" r:id="rId160"/>
    <p:sldId id="1284" r:id="rId161"/>
    <p:sldId id="1285" r:id="rId162"/>
    <p:sldId id="1286" r:id="rId163"/>
    <p:sldId id="1287" r:id="rId164"/>
    <p:sldId id="1288" r:id="rId165"/>
    <p:sldId id="1289" r:id="rId166"/>
    <p:sldId id="1290" r:id="rId167"/>
    <p:sldId id="1291" r:id="rId168"/>
    <p:sldId id="1292" r:id="rId169"/>
    <p:sldId id="1293" r:id="rId170"/>
    <p:sldId id="1294" r:id="rId171"/>
    <p:sldId id="1295" r:id="rId172"/>
    <p:sldId id="1296" r:id="rId173"/>
    <p:sldId id="1297" r:id="rId174"/>
    <p:sldId id="1298" r:id="rId175"/>
    <p:sldId id="1299" r:id="rId176"/>
    <p:sldId id="1300" r:id="rId177"/>
    <p:sldId id="1301" r:id="rId178"/>
    <p:sldId id="1302" r:id="rId1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thuraja"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8027" autoAdjust="0"/>
    <p:restoredTop sz="94660"/>
  </p:normalViewPr>
  <p:slideViewPr>
    <p:cSldViewPr>
      <p:cViewPr varScale="1">
        <p:scale>
          <a:sx n="81" d="100"/>
          <a:sy n="81" d="100"/>
        </p:scale>
        <p:origin x="-1310" y="-8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8-05T19:42:41.863" idx="1">
    <p:pos x="10" y="10"/>
    <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image" Target="../media/image50.png"/></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image" Target="../media/image52.pn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image" Target="../media/image54.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6.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7.png"/></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image" Target="../media/image59.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2D761C-6E19-4D7C-A16B-838A9211D8BF}" type="datetimeFigureOut">
              <a:rPr lang="en-US" smtClean="0"/>
              <a:pPr/>
              <a:t>7/8/2026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930DEB-A895-42C2-8FBD-39937F01E9C7}" type="slidenum">
              <a:rPr lang="en-US" smtClean="0"/>
              <a:pPr/>
              <a:t>‹#›</a:t>
            </a:fld>
            <a:endParaRPr lang="en-US"/>
          </a:p>
        </p:txBody>
      </p:sp>
    </p:spTree>
    <p:extLst>
      <p:ext uri="{BB962C8B-B14F-4D97-AF65-F5344CB8AC3E}">
        <p14:creationId xmlns:p14="http://schemas.microsoft.com/office/powerpoint/2010/main" xmlns="" val="125107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CA33E9-0D0F-477E-A75B-99F131C13536}"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CA33E9-0D0F-477E-A75B-99F131C13536}"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CA33E9-0D0F-477E-A75B-99F131C13536}" type="datetimeFigureOut">
              <a:rPr lang="en-US" smtClean="0"/>
              <a:pPr/>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CA33E9-0D0F-477E-A75B-99F131C13536}" type="datetimeFigureOut">
              <a:rPr lang="en-US" smtClean="0"/>
              <a:pPr/>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A33E9-0D0F-477E-A75B-99F131C13536}" type="datetimeFigureOut">
              <a:rPr lang="en-US" smtClean="0"/>
              <a:pPr/>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CA33E9-0D0F-477E-A75B-99F131C13536}"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CA33E9-0D0F-477E-A75B-99F131C13536}" type="datetimeFigureOut">
              <a:rPr lang="en-US" smtClean="0"/>
              <a:pPr/>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CA33E9-0D0F-477E-A75B-99F131C13536}" type="datetimeFigureOut">
              <a:rPr lang="en-US" smtClean="0"/>
              <a:pPr/>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56FB3-E5AC-425B-8FB2-AE5BB05658F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CA33E9-0D0F-477E-A75B-99F131C13536}" type="datetimeFigureOut">
              <a:rPr lang="en-US" smtClean="0"/>
              <a:pPr/>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356FB3-E5AC-425B-8FB2-AE5BB05658F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1.vml"/></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2.vml"/></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3.vml"/><Relationship Id="rId4" Type="http://schemas.openxmlformats.org/officeDocument/2006/relationships/oleObject" Target="../embeddings/oleObject14.bin"/></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4.vml"/><Relationship Id="rId4" Type="http://schemas.openxmlformats.org/officeDocument/2006/relationships/oleObject" Target="../embeddings/oleObject16.bin"/></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5.vml"/><Relationship Id="rId4" Type="http://schemas.openxmlformats.org/officeDocument/2006/relationships/oleObject" Target="../embeddings/oleObject18.bin"/></Relationships>
</file>

<file path=ppt/slides/_rels/slide14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6.vml"/><Relationship Id="rId4" Type="http://schemas.openxmlformats.org/officeDocument/2006/relationships/oleObject" Target="../embeddings/oleObject20.bin"/></Relationships>
</file>

<file path=ppt/slides/_rels/slide14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17.vml"/></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8.vml"/></Relationships>
</file>

<file path=ppt/slides/_rels/slide1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9.vml"/><Relationship Id="rId4" Type="http://schemas.openxmlformats.org/officeDocument/2006/relationships/oleObject" Target="../embeddings/oleObject24.bin"/></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4.xml"/><Relationship Id="rId1" Type="http://schemas.openxmlformats.org/officeDocument/2006/relationships/vmlDrawing" Target="../drawings/vmlDrawing20.vml"/></Relationships>
</file>

<file path=ppt/slides/_rels/slide15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4.xml"/><Relationship Id="rId1" Type="http://schemas.openxmlformats.org/officeDocument/2006/relationships/vmlDrawing" Target="../drawings/vmlDrawing21.v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83360"/>
            <a:ext cx="8229600" cy="1412240"/>
          </a:xfrm>
        </p:spPr>
        <p:txBody>
          <a:bodyPr>
            <a:normAutofit fontScale="90000"/>
          </a:bodyPr>
          <a:lstStyle/>
          <a:p>
            <a:r>
              <a:rPr lang="en-US" sz="4890" b="1" dirty="0" smtClean="0">
                <a:solidFill>
                  <a:srgbClr val="FF0000"/>
                </a:solidFill>
                <a:sym typeface="+mn-ea"/>
              </a:rPr>
              <a:t>AGILE METHODOLOGIES</a:t>
            </a:r>
            <a:br>
              <a:rPr lang="en-US" sz="4890" b="1" dirty="0" smtClean="0">
                <a:solidFill>
                  <a:srgbClr val="FF0000"/>
                </a:solidFill>
                <a:sym typeface="+mn-ea"/>
              </a:rPr>
            </a:br>
            <a:endParaRPr lang="en-US" sz="4890" b="1" dirty="0" smtClean="0">
              <a:solidFill>
                <a:srgbClr val="FF0000"/>
              </a:solidFill>
              <a:sym typeface="+mn-ea"/>
            </a:endParaRPr>
          </a:p>
        </p:txBody>
      </p:sp>
      <p:sp>
        <p:nvSpPr>
          <p:cNvPr id="3" name="Content Placeholder 2"/>
          <p:cNvSpPr>
            <a:spLocks noGrp="1"/>
          </p:cNvSpPr>
          <p:nvPr>
            <p:ph idx="1"/>
          </p:nvPr>
        </p:nvSpPr>
        <p:spPr>
          <a:xfrm>
            <a:off x="4114800" y="3429000"/>
            <a:ext cx="4587240" cy="3201670"/>
          </a:xfrm>
        </p:spPr>
        <p:txBody>
          <a:bodyPr>
            <a:normAutofit/>
          </a:bodyPr>
          <a:lstStyle/>
          <a:p>
            <a:pPr marL="0" indent="0" algn="l">
              <a:buNone/>
            </a:pPr>
            <a:r>
              <a:rPr lang="en-US" b="1" dirty="0"/>
              <a:t>Prepared By,</a:t>
            </a:r>
            <a:endParaRPr lang="en-US" dirty="0"/>
          </a:p>
          <a:p>
            <a:pPr marL="0" indent="0" algn="l">
              <a:buNone/>
            </a:pPr>
            <a:r>
              <a:rPr lang="en-US" b="1" dirty="0" err="1" smtClean="0"/>
              <a:t>A.Kiruthika</a:t>
            </a:r>
            <a:endParaRPr lang="en-US" dirty="0"/>
          </a:p>
          <a:p>
            <a:pPr marL="0" indent="0" algn="l">
              <a:buNone/>
            </a:pPr>
            <a:r>
              <a:rPr lang="en-US" dirty="0"/>
              <a:t>Assistant Professor</a:t>
            </a:r>
          </a:p>
          <a:p>
            <a:pPr marL="0" indent="0" algn="l">
              <a:buNone/>
            </a:pPr>
            <a:r>
              <a:rPr lang="en-US" dirty="0" err="1"/>
              <a:t>Department.of</a:t>
            </a:r>
            <a:r>
              <a:rPr lang="en-US" dirty="0"/>
              <a:t> CSE</a:t>
            </a:r>
          </a:p>
          <a:p>
            <a:pPr marL="0" indent="0" algn="l">
              <a:buNone/>
            </a:pPr>
            <a:r>
              <a:rPr lang="en-US" dirty="0" err="1"/>
              <a:t>Kongu</a:t>
            </a:r>
            <a:r>
              <a:rPr lang="en-US" dirty="0"/>
              <a:t> Engineering College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41400"/>
          </a:xfrm>
        </p:spPr>
        <p:txBody>
          <a:bodyPr>
            <a:normAutofit fontScale="90000"/>
          </a:bodyPr>
          <a:lstStyle/>
          <a:p>
            <a:r>
              <a:rPr lang="en-US" b="1" dirty="0" smtClean="0">
                <a:sym typeface="+mn-ea"/>
              </a:rPr>
              <a:t>AGILE METHODOLOGIES</a:t>
            </a:r>
            <a:br>
              <a:rPr lang="en-US" b="1" dirty="0" smtClean="0">
                <a:sym typeface="+mn-ea"/>
              </a:rPr>
            </a:br>
            <a:r>
              <a:rPr lang="en-US" b="1" dirty="0" smtClean="0">
                <a:solidFill>
                  <a:srgbClr val="0070C0"/>
                </a:solidFill>
                <a:sym typeface="+mn-ea"/>
              </a:rPr>
              <a:t>Course Outcomes</a:t>
            </a:r>
            <a:endParaRPr lang="en-US" b="1" dirty="0"/>
          </a:p>
        </p:txBody>
      </p:sp>
      <p:sp>
        <p:nvSpPr>
          <p:cNvPr id="3" name="Content Placeholder 2"/>
          <p:cNvSpPr>
            <a:spLocks noGrp="1"/>
          </p:cNvSpPr>
          <p:nvPr>
            <p:ph idx="1"/>
          </p:nvPr>
        </p:nvSpPr>
        <p:spPr>
          <a:xfrm>
            <a:off x="244475" y="1189990"/>
            <a:ext cx="8716645" cy="5598795"/>
          </a:xfrm>
        </p:spPr>
        <p:txBody>
          <a:bodyPr>
            <a:noAutofit/>
          </a:bodyPr>
          <a:lstStyle/>
          <a:p>
            <a:pPr marL="0" indent="0" algn="just">
              <a:buNone/>
            </a:pPr>
            <a:r>
              <a:rPr lang="en-US" sz="3000" dirty="0" smtClean="0">
                <a:solidFill>
                  <a:srgbClr val="FF0000"/>
                </a:solidFill>
                <a:sym typeface="+mn-ea"/>
              </a:rPr>
              <a:t>Unit – I	Process Models, Analysis and Design </a:t>
            </a:r>
            <a:r>
              <a:rPr lang="en-US" sz="3000" dirty="0" smtClean="0">
                <a:sym typeface="+mn-ea"/>
              </a:rPr>
              <a:t>	</a:t>
            </a:r>
            <a:endParaRPr lang="en-US" sz="3000" dirty="0" smtClean="0"/>
          </a:p>
          <a:p>
            <a:pPr marL="0" indent="0" algn="just">
              <a:buNone/>
            </a:pPr>
            <a:r>
              <a:rPr lang="en-US" sz="3000" dirty="0" smtClean="0">
                <a:sym typeface="+mn-ea"/>
              </a:rPr>
              <a:t>Apply the requirement engineering tasks, design concepts and analyze the various software development models for a given scenario 	</a:t>
            </a:r>
            <a:endParaRPr lang="en-US" sz="3000" dirty="0" smtClean="0"/>
          </a:p>
          <a:p>
            <a:pPr marL="0" indent="0" algn="just">
              <a:buNone/>
            </a:pPr>
            <a:r>
              <a:rPr lang="en-US" sz="3000" dirty="0" smtClean="0">
                <a:solidFill>
                  <a:srgbClr val="FF0000"/>
                </a:solidFill>
                <a:sym typeface="+mn-ea"/>
              </a:rPr>
              <a:t>Unit - II 	Agile Principles and Scrum 	</a:t>
            </a:r>
            <a:endParaRPr lang="en-US" sz="3000" dirty="0" smtClean="0">
              <a:solidFill>
                <a:srgbClr val="FF0000"/>
              </a:solidFill>
            </a:endParaRPr>
          </a:p>
          <a:p>
            <a:pPr marL="0" indent="0" algn="just">
              <a:buNone/>
            </a:pPr>
            <a:r>
              <a:rPr lang="en-US" sz="3000" dirty="0" smtClean="0">
                <a:sym typeface="+mn-ea"/>
              </a:rPr>
              <a:t>Apply agile principles and apply Scrum for project development. </a:t>
            </a:r>
            <a:endParaRPr lang="en-US" sz="3000" dirty="0" smtClean="0"/>
          </a:p>
          <a:p>
            <a:pPr marL="0" indent="0" algn="just">
              <a:buNone/>
            </a:pPr>
            <a:r>
              <a:rPr lang="en-US" sz="3000" dirty="0" smtClean="0">
                <a:solidFill>
                  <a:srgbClr val="FF0000"/>
                </a:solidFill>
                <a:sym typeface="+mn-ea"/>
              </a:rPr>
              <a:t>Unit - III 	XP and Incremental Design, Lean, and </a:t>
            </a:r>
            <a:r>
              <a:rPr lang="en-US" sz="3000" dirty="0" err="1" smtClean="0">
                <a:solidFill>
                  <a:srgbClr val="FF0000"/>
                </a:solidFill>
                <a:sym typeface="+mn-ea"/>
              </a:rPr>
              <a:t>Kanban</a:t>
            </a:r>
            <a:r>
              <a:rPr lang="en-US" sz="3000" dirty="0" smtClean="0">
                <a:solidFill>
                  <a:srgbClr val="FF0000"/>
                </a:solidFill>
                <a:sym typeface="+mn-ea"/>
              </a:rPr>
              <a:t> </a:t>
            </a:r>
            <a:r>
              <a:rPr lang="en-US" sz="3000" dirty="0" smtClean="0">
                <a:sym typeface="+mn-ea"/>
              </a:rPr>
              <a:t>	</a:t>
            </a:r>
            <a:endParaRPr lang="en-US" sz="3000" dirty="0" smtClean="0"/>
          </a:p>
          <a:p>
            <a:pPr marL="0" indent="0" algn="just">
              <a:buNone/>
            </a:pPr>
            <a:r>
              <a:rPr lang="en-US" sz="3000" dirty="0" smtClean="0">
                <a:sym typeface="+mn-ea"/>
              </a:rPr>
              <a:t>Model applications using XP, Lean and </a:t>
            </a:r>
            <a:r>
              <a:rPr lang="en-US" sz="3000" dirty="0" err="1" smtClean="0">
                <a:sym typeface="+mn-ea"/>
              </a:rPr>
              <a:t>Kanban</a:t>
            </a:r>
            <a:r>
              <a:rPr lang="en-US" sz="3000" dirty="0" smtClean="0">
                <a:sym typeface="+mn-ea"/>
              </a:rPr>
              <a:t> practices. 	</a:t>
            </a:r>
            <a:endParaRPr lang="en-US" sz="3000" dirty="0" smtClean="0"/>
          </a:p>
          <a:p>
            <a:endParaRPr lang="en-US" sz="30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ym typeface="+mn-ea"/>
              </a:rPr>
              <a:t/>
            </a:r>
            <a:br>
              <a:rPr lang="en-US" b="1" dirty="0" smtClean="0">
                <a:sym typeface="+mn-ea"/>
              </a:rPr>
            </a:br>
            <a:r>
              <a:rPr lang="en-US" b="1" dirty="0" smtClean="0">
                <a:sym typeface="+mn-ea"/>
              </a:rPr>
              <a:t>22CSC51 - AGILE METHODOLOGIES</a:t>
            </a:r>
            <a:br>
              <a:rPr lang="en-US" b="1" dirty="0" smtClean="0">
                <a:sym typeface="+mn-ea"/>
              </a:rPr>
            </a:br>
            <a:r>
              <a:rPr lang="en-US" b="1" dirty="0" smtClean="0">
                <a:solidFill>
                  <a:srgbClr val="0070C0"/>
                </a:solidFill>
                <a:sym typeface="+mn-ea"/>
              </a:rPr>
              <a:t>Course Outcomes</a:t>
            </a:r>
            <a:r>
              <a:rPr lang="en-US" b="1" dirty="0"/>
              <a:t/>
            </a:r>
            <a:br>
              <a:rPr lang="en-US" b="1" dirty="0"/>
            </a:br>
            <a:endParaRPr lang="en-US" dirty="0"/>
          </a:p>
        </p:txBody>
      </p:sp>
      <p:sp>
        <p:nvSpPr>
          <p:cNvPr id="3" name="Content Placeholder 2"/>
          <p:cNvSpPr>
            <a:spLocks noGrp="1"/>
          </p:cNvSpPr>
          <p:nvPr>
            <p:ph idx="1"/>
          </p:nvPr>
        </p:nvSpPr>
        <p:spPr>
          <a:xfrm>
            <a:off x="457200" y="1600200"/>
            <a:ext cx="8229600" cy="4937760"/>
          </a:xfrm>
        </p:spPr>
        <p:txBody>
          <a:bodyPr/>
          <a:lstStyle/>
          <a:p>
            <a:pPr marL="0" indent="0">
              <a:buNone/>
            </a:pPr>
            <a:r>
              <a:rPr lang="en-US" dirty="0" smtClean="0">
                <a:solidFill>
                  <a:srgbClr val="FF0000"/>
                </a:solidFill>
                <a:sym typeface="+mn-ea"/>
              </a:rPr>
              <a:t>Unit - IV 	Software Testing Fundamentals </a:t>
            </a:r>
            <a:r>
              <a:rPr lang="en-US" dirty="0" smtClean="0">
                <a:sym typeface="+mn-ea"/>
              </a:rPr>
              <a:t>	</a:t>
            </a:r>
            <a:endParaRPr lang="en-US" dirty="0" smtClean="0"/>
          </a:p>
          <a:p>
            <a:pPr marL="0" indent="0" algn="just">
              <a:buNone/>
            </a:pPr>
            <a:r>
              <a:rPr lang="en-US" dirty="0" smtClean="0">
                <a:sym typeface="+mn-ea"/>
              </a:rPr>
              <a:t>Make use of various software testing techniques to test the software systems. 		</a:t>
            </a:r>
            <a:endParaRPr lang="en-US" dirty="0" smtClean="0"/>
          </a:p>
          <a:p>
            <a:pPr marL="0" indent="0">
              <a:buNone/>
            </a:pPr>
            <a:r>
              <a:rPr lang="en-US" dirty="0" smtClean="0">
                <a:solidFill>
                  <a:srgbClr val="FF0000"/>
                </a:solidFill>
                <a:sym typeface="+mn-ea"/>
              </a:rPr>
              <a:t>Unit - V 	Software Project Management</a:t>
            </a:r>
            <a:r>
              <a:rPr lang="en-US" dirty="0" smtClean="0">
                <a:sym typeface="+mn-ea"/>
              </a:rPr>
              <a:t> 	</a:t>
            </a:r>
            <a:endParaRPr lang="en-US" dirty="0" smtClean="0"/>
          </a:p>
          <a:p>
            <a:pPr marL="0" indent="0" algn="just">
              <a:buNone/>
            </a:pPr>
            <a:r>
              <a:rPr lang="en-US" dirty="0" smtClean="0">
                <a:sym typeface="+mn-ea"/>
              </a:rPr>
              <a:t>Estimate the cost of software, risks of handling, do software planning and configuration management. 	</a:t>
            </a:r>
            <a:endParaRPr lang="en-US" dirty="0" smtClean="0"/>
          </a:p>
          <a:p>
            <a:endParaRPr lang="en-US" dirty="0"/>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040"/>
            <a:ext cx="8395335" cy="763270"/>
          </a:xfrm>
        </p:spPr>
        <p:txBody>
          <a:bodyPr>
            <a:normAutofit/>
          </a:bodyPr>
          <a:lstStyle/>
          <a:p>
            <a:r>
              <a:rPr lang="en-US" altLang="en-US" b="1" dirty="0">
                <a:sym typeface="+mn-ea"/>
              </a:rPr>
              <a:t>What is Software?</a:t>
            </a:r>
            <a:endParaRPr lang="en-US" b="1">
              <a:latin typeface="Calibri" panose="020F0502020204030204" charset="0"/>
              <a:cs typeface="Calibri" panose="020F0502020204030204" charset="0"/>
            </a:endParaRPr>
          </a:p>
        </p:txBody>
      </p:sp>
      <p:sp>
        <p:nvSpPr>
          <p:cNvPr id="3" name="Content Placeholder 2"/>
          <p:cNvSpPr>
            <a:spLocks noGrp="1"/>
          </p:cNvSpPr>
          <p:nvPr>
            <p:ph idx="1"/>
          </p:nvPr>
        </p:nvSpPr>
        <p:spPr>
          <a:xfrm>
            <a:off x="457200" y="898525"/>
            <a:ext cx="8229600" cy="5742305"/>
          </a:xfrm>
        </p:spPr>
        <p:txBody>
          <a:bodyPr>
            <a:normAutofit/>
          </a:bodyPr>
          <a:lstStyle/>
          <a:p>
            <a:pPr marL="0" lvl="0" indent="0" algn="just">
              <a:spcBef>
                <a:spcPct val="50000"/>
              </a:spcBef>
              <a:buClrTx/>
              <a:buSzTx/>
              <a:buFontTx/>
              <a:buNone/>
            </a:pPr>
            <a:r>
              <a:rPr lang="en-US" altLang="en-US" i="1" dirty="0">
                <a:latin typeface="Palatino" pitchFamily="-128" charset="0"/>
                <a:ea typeface="MS PGothic" panose="020B0600070205080204" pitchFamily="34" charset="-128"/>
                <a:sym typeface="+mn-ea"/>
              </a:rPr>
              <a:t>Software is: </a:t>
            </a:r>
          </a:p>
          <a:p>
            <a:pPr marL="0" lvl="0" indent="0" algn="just">
              <a:spcBef>
                <a:spcPct val="50000"/>
              </a:spcBef>
              <a:buClrTx/>
              <a:buSzTx/>
              <a:buFontTx/>
              <a:buNone/>
            </a:pPr>
            <a:r>
              <a:rPr lang="en-US" altLang="en-US" i="1" dirty="0">
                <a:latin typeface="Palatino" pitchFamily="-128" charset="0"/>
                <a:ea typeface="MS PGothic" panose="020B0600070205080204" pitchFamily="34" charset="-128"/>
                <a:sym typeface="+mn-ea"/>
              </a:rPr>
              <a:t>(1) </a:t>
            </a:r>
            <a:r>
              <a:rPr lang="en-US" altLang="en-US" b="1" dirty="0">
                <a:solidFill>
                  <a:schemeClr val="folHlink"/>
                </a:solidFill>
                <a:latin typeface="Palatino" pitchFamily="-128" charset="0"/>
                <a:ea typeface="MS PGothic" panose="020B0600070205080204" pitchFamily="34" charset="-128"/>
                <a:sym typeface="+mn-ea"/>
              </a:rPr>
              <a:t>instructions</a:t>
            </a:r>
            <a:r>
              <a:rPr lang="en-US" altLang="en-US" i="1" dirty="0">
                <a:latin typeface="Palatino" pitchFamily="-128" charset="0"/>
                <a:ea typeface="MS PGothic" panose="020B0600070205080204" pitchFamily="34" charset="-128"/>
                <a:sym typeface="+mn-ea"/>
              </a:rPr>
              <a:t> (computer programs) that when executed provide desired features, function, and performance;  </a:t>
            </a:r>
          </a:p>
          <a:p>
            <a:pPr marL="0" lvl="0" indent="0" algn="just">
              <a:spcBef>
                <a:spcPct val="50000"/>
              </a:spcBef>
              <a:buClrTx/>
              <a:buSzTx/>
              <a:buFontTx/>
              <a:buNone/>
            </a:pPr>
            <a:r>
              <a:rPr lang="en-US" altLang="en-US" i="1" dirty="0">
                <a:latin typeface="Palatino" pitchFamily="-128" charset="0"/>
                <a:ea typeface="MS PGothic" panose="020B0600070205080204" pitchFamily="34" charset="-128"/>
                <a:sym typeface="+mn-ea"/>
              </a:rPr>
              <a:t>(2) </a:t>
            </a:r>
            <a:r>
              <a:rPr lang="en-US" altLang="en-US" b="1" dirty="0">
                <a:solidFill>
                  <a:schemeClr val="folHlink"/>
                </a:solidFill>
                <a:latin typeface="Palatino" pitchFamily="-128" charset="0"/>
                <a:ea typeface="MS PGothic" panose="020B0600070205080204" pitchFamily="34" charset="-128"/>
                <a:sym typeface="+mn-ea"/>
              </a:rPr>
              <a:t>data structures</a:t>
            </a:r>
            <a:r>
              <a:rPr lang="en-US" altLang="en-US" i="1" dirty="0">
                <a:latin typeface="Palatino" pitchFamily="-128" charset="0"/>
                <a:ea typeface="MS PGothic" panose="020B0600070205080204" pitchFamily="34" charset="-128"/>
                <a:sym typeface="+mn-ea"/>
              </a:rPr>
              <a:t> that enable the programs to adequately manipulate information and </a:t>
            </a:r>
          </a:p>
          <a:p>
            <a:pPr marL="0" lvl="0" indent="0" algn="just">
              <a:spcBef>
                <a:spcPct val="50000"/>
              </a:spcBef>
              <a:buClrTx/>
              <a:buSzTx/>
              <a:buFontTx/>
              <a:buNone/>
            </a:pPr>
            <a:r>
              <a:rPr lang="en-US" altLang="en-US" i="1" dirty="0">
                <a:latin typeface="Palatino" pitchFamily="-128" charset="0"/>
                <a:ea typeface="MS PGothic" panose="020B0600070205080204" pitchFamily="34" charset="-128"/>
                <a:sym typeface="+mn-ea"/>
              </a:rPr>
              <a:t>(3) </a:t>
            </a:r>
            <a:r>
              <a:rPr lang="en-US" altLang="en-US" b="1" dirty="0">
                <a:solidFill>
                  <a:schemeClr val="folHlink"/>
                </a:solidFill>
                <a:latin typeface="Palatino" pitchFamily="-128" charset="0"/>
                <a:ea typeface="MS PGothic" panose="020B0600070205080204" pitchFamily="34" charset="-128"/>
                <a:sym typeface="+mn-ea"/>
              </a:rPr>
              <a:t>documentation</a:t>
            </a:r>
            <a:r>
              <a:rPr lang="en-US" altLang="en-US" i="1" dirty="0">
                <a:latin typeface="Palatino" pitchFamily="-128" charset="0"/>
                <a:ea typeface="MS PGothic" panose="020B0600070205080204" pitchFamily="34" charset="-128"/>
                <a:sym typeface="+mn-ea"/>
              </a:rPr>
              <a:t> that describes the operation and use of the programs.</a:t>
            </a:r>
            <a:r>
              <a:rPr lang="en-US" altLang="en-US" dirty="0">
                <a:latin typeface="Palatino" pitchFamily="-128" charset="0"/>
                <a:ea typeface="MS PGothic" panose="020B0600070205080204" pitchFamily="34" charset="-128"/>
                <a:sym typeface="+mn-ea"/>
              </a:rPr>
              <a:t> </a:t>
            </a:r>
            <a:endParaRPr lang="en-US" noProof="0" dirty="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26770"/>
          </a:xfrm>
        </p:spPr>
        <p:txBody>
          <a:bodyPr>
            <a:normAutofit/>
          </a:bodyPr>
          <a:lstStyle/>
          <a:p>
            <a:r>
              <a:rPr lang="en-US" b="1" dirty="0" smtClean="0">
                <a:solidFill>
                  <a:schemeClr val="tx1"/>
                </a:solidFill>
                <a:latin typeface="Calibri" panose="020F0502020204030204" charset="0"/>
                <a:cs typeface="Calibri" panose="020F0502020204030204" charset="0"/>
                <a:sym typeface="+mn-ea"/>
              </a:rPr>
              <a:t>Characteristics</a:t>
            </a:r>
          </a:p>
        </p:txBody>
      </p:sp>
      <p:sp>
        <p:nvSpPr>
          <p:cNvPr id="3" name="Content Placeholder 2"/>
          <p:cNvSpPr>
            <a:spLocks noGrp="1"/>
          </p:cNvSpPr>
          <p:nvPr>
            <p:ph idx="1"/>
          </p:nvPr>
        </p:nvSpPr>
        <p:spPr>
          <a:xfrm>
            <a:off x="533400" y="990600"/>
            <a:ext cx="8229600" cy="5629910"/>
          </a:xfrm>
        </p:spPr>
        <p:txBody>
          <a:bodyPr>
            <a:normAutofit/>
          </a:bodyPr>
          <a:lstStyle/>
          <a:p>
            <a:pPr algn="just">
              <a:buFont typeface="Wingdings" panose="05000000000000000000" pitchFamily="2" charset="2"/>
              <a:buChar char="Ø"/>
            </a:pPr>
            <a:r>
              <a:rPr lang="en-US" dirty="0"/>
              <a:t>Software is </a:t>
            </a:r>
            <a:r>
              <a:rPr lang="en-US" b="1" dirty="0">
                <a:solidFill>
                  <a:srgbClr val="FF0000"/>
                </a:solidFill>
              </a:rPr>
              <a:t>developed or engineered;</a:t>
            </a:r>
            <a:r>
              <a:rPr lang="en-US" dirty="0"/>
              <a:t> it is not </a:t>
            </a:r>
            <a:r>
              <a:rPr lang="en-US" b="1" dirty="0">
                <a:solidFill>
                  <a:schemeClr val="accent3"/>
                </a:solidFill>
              </a:rPr>
              <a:t>manufactured</a:t>
            </a:r>
            <a:r>
              <a:rPr lang="en-US" dirty="0"/>
              <a:t>.</a:t>
            </a:r>
          </a:p>
          <a:p>
            <a:pPr algn="just">
              <a:buFont typeface="Wingdings" panose="05000000000000000000" pitchFamily="2" charset="2"/>
              <a:buChar char="Ø"/>
            </a:pPr>
            <a:r>
              <a:rPr lang="en-US" dirty="0"/>
              <a:t>Software doesn’t </a:t>
            </a:r>
            <a:r>
              <a:rPr lang="en-US" b="1" dirty="0">
                <a:solidFill>
                  <a:schemeClr val="tx2">
                    <a:lumMod val="60000"/>
                    <a:lumOff val="40000"/>
                  </a:schemeClr>
                </a:solidFill>
              </a:rPr>
              <a:t>“wear out.”</a:t>
            </a:r>
            <a:endParaRPr lang="en-US" dirty="0"/>
          </a:p>
          <a:p>
            <a:pPr algn="just">
              <a:buFont typeface="Wingdings" panose="05000000000000000000" pitchFamily="2" charset="2"/>
              <a:buChar char="Ø"/>
            </a:pPr>
            <a:r>
              <a:rPr lang="en-US" dirty="0"/>
              <a:t>Although the industry is moving toward component-based construction, </a:t>
            </a:r>
            <a:r>
              <a:rPr lang="en-US" dirty="0" smtClean="0"/>
              <a:t>most software </a:t>
            </a:r>
            <a:r>
              <a:rPr lang="en-US" dirty="0"/>
              <a:t>continues to be custom built.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0575"/>
          </a:xfrm>
        </p:spPr>
        <p:txBody>
          <a:bodyPr/>
          <a:lstStyle/>
          <a:p>
            <a:r>
              <a:rPr lang="en-US" b="1"/>
              <a:t>Software Application Domains</a:t>
            </a:r>
          </a:p>
        </p:txBody>
      </p:sp>
      <p:sp>
        <p:nvSpPr>
          <p:cNvPr id="3" name="Content Placeholder 2"/>
          <p:cNvSpPr>
            <a:spLocks noGrp="1"/>
          </p:cNvSpPr>
          <p:nvPr>
            <p:ph idx="1"/>
          </p:nvPr>
        </p:nvSpPr>
        <p:spPr>
          <a:xfrm>
            <a:off x="457200" y="867410"/>
            <a:ext cx="8229600" cy="5800090"/>
          </a:xfrm>
        </p:spPr>
        <p:txBody>
          <a:bodyPr>
            <a:normAutofit fontScale="85000" lnSpcReduction="20000"/>
          </a:bodyPr>
          <a:lstStyle/>
          <a:p>
            <a:pPr marL="0" indent="0" algn="just">
              <a:buNone/>
            </a:pPr>
            <a:r>
              <a:rPr lang="en-US" dirty="0">
                <a:solidFill>
                  <a:srgbClr val="FF0000"/>
                </a:solidFill>
              </a:rPr>
              <a:t>System software</a:t>
            </a:r>
            <a:r>
              <a:rPr lang="en-US" dirty="0"/>
              <a:t>—a collection of programs written to service other programs.</a:t>
            </a:r>
          </a:p>
          <a:p>
            <a:pPr marL="0" indent="0" algn="just">
              <a:buNone/>
            </a:pPr>
            <a:r>
              <a:rPr lang="en-US" dirty="0"/>
              <a:t>(e.g., compilers, editors</a:t>
            </a:r>
            <a:r>
              <a:rPr lang="en-US" dirty="0" smtClean="0"/>
              <a:t>, operating </a:t>
            </a:r>
            <a:r>
              <a:rPr lang="en-US" dirty="0"/>
              <a:t>system components, drivers)</a:t>
            </a:r>
          </a:p>
          <a:p>
            <a:pPr marL="0" indent="0" algn="just">
              <a:buNone/>
            </a:pPr>
            <a:r>
              <a:rPr lang="en-US" dirty="0">
                <a:solidFill>
                  <a:srgbClr val="FF0000"/>
                </a:solidFill>
              </a:rPr>
              <a:t>Application software</a:t>
            </a:r>
            <a:r>
              <a:rPr lang="en-US" dirty="0"/>
              <a:t>—stand-alone programs that solve a specific business need.</a:t>
            </a:r>
          </a:p>
          <a:p>
            <a:pPr marL="0" indent="0" algn="just">
              <a:buNone/>
            </a:pPr>
            <a:r>
              <a:rPr lang="en-US" dirty="0"/>
              <a:t>e.g., word processing, spreadsheets,</a:t>
            </a:r>
          </a:p>
          <a:p>
            <a:pPr marL="0" indent="0" algn="just">
              <a:buNone/>
            </a:pPr>
            <a:r>
              <a:rPr lang="en-US" dirty="0">
                <a:solidFill>
                  <a:srgbClr val="FF0000"/>
                </a:solidFill>
              </a:rPr>
              <a:t>Engineering/scientific software</a:t>
            </a:r>
            <a:r>
              <a:rPr lang="en-US" dirty="0"/>
              <a:t>—has been characterized by “number crunching” algorithms.</a:t>
            </a:r>
          </a:p>
          <a:p>
            <a:pPr marL="0" indent="0" algn="just">
              <a:buNone/>
            </a:pPr>
            <a:r>
              <a:rPr lang="en-US" dirty="0">
                <a:solidFill>
                  <a:srgbClr val="FF0000"/>
                </a:solidFill>
              </a:rPr>
              <a:t>Embedded software</a:t>
            </a:r>
            <a:r>
              <a:rPr lang="en-US" dirty="0"/>
              <a:t>—resides within a product or system and is used to implement and control features and functions for the end user and for the system itself.</a:t>
            </a:r>
          </a:p>
          <a:p>
            <a:pPr marL="0" indent="0" algn="just">
              <a:buNone/>
            </a:pPr>
            <a:r>
              <a:rPr lang="en-US" dirty="0"/>
              <a:t>(e.g., digital functions in an automobile such as fuel</a:t>
            </a:r>
          </a:p>
          <a:p>
            <a:pPr marL="0" indent="0" algn="just">
              <a:buNone/>
            </a:pPr>
            <a:r>
              <a:rPr lang="en-US" dirty="0"/>
              <a:t>control, dashboard displays, and braking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03580"/>
          </a:xfrm>
        </p:spPr>
        <p:txBody>
          <a:bodyPr>
            <a:normAutofit fontScale="90000"/>
          </a:bodyPr>
          <a:lstStyle/>
          <a:p>
            <a:r>
              <a:rPr lang="en-US" b="1">
                <a:sym typeface="+mn-ea"/>
              </a:rPr>
              <a:t>Software Application Domains</a:t>
            </a:r>
            <a:endParaRPr lang="en-US" b="1" dirty="0" smtClean="0">
              <a:latin typeface="Calibri" panose="020F0502020204030204" charset="0"/>
              <a:cs typeface="Calibri" panose="020F0502020204030204" charset="0"/>
              <a:sym typeface="+mn-ea"/>
            </a:endParaRPr>
          </a:p>
        </p:txBody>
      </p:sp>
      <p:sp>
        <p:nvSpPr>
          <p:cNvPr id="3" name="Content Placeholder 2"/>
          <p:cNvSpPr>
            <a:spLocks noGrp="1"/>
          </p:cNvSpPr>
          <p:nvPr>
            <p:ph sz="half" idx="1"/>
          </p:nvPr>
        </p:nvSpPr>
        <p:spPr>
          <a:xfrm>
            <a:off x="457200" y="780415"/>
            <a:ext cx="8446770" cy="5757545"/>
          </a:xfrm>
        </p:spPr>
        <p:txBody>
          <a:bodyPr>
            <a:noAutofit/>
          </a:bodyPr>
          <a:lstStyle/>
          <a:p>
            <a:pPr marL="0" indent="0" algn="just">
              <a:buFont typeface="Wingdings" panose="05000000000000000000" charset="0"/>
              <a:buNone/>
            </a:pPr>
            <a:r>
              <a:rPr sz="2600" dirty="0">
                <a:latin typeface="Calibri" panose="020F0502020204030204" charset="0"/>
                <a:cs typeface="Calibri" panose="020F0502020204030204" charset="0"/>
                <a:sym typeface="+mn-ea"/>
              </a:rPr>
              <a:t>Product-line software—designed to provide a specific capability for use by</a:t>
            </a:r>
            <a:r>
              <a:rPr lang="en-US" sz="2600" dirty="0">
                <a:latin typeface="Calibri" panose="020F0502020204030204" charset="0"/>
                <a:cs typeface="Calibri" panose="020F0502020204030204" charset="0"/>
                <a:sym typeface="+mn-ea"/>
              </a:rPr>
              <a:t> </a:t>
            </a:r>
            <a:r>
              <a:rPr sz="2600" dirty="0">
                <a:latin typeface="Calibri" panose="020F0502020204030204" charset="0"/>
                <a:cs typeface="Calibri" panose="020F0502020204030204" charset="0"/>
                <a:sym typeface="+mn-ea"/>
              </a:rPr>
              <a:t>many different customers.</a:t>
            </a:r>
          </a:p>
          <a:p>
            <a:pPr marL="0" indent="0" algn="just">
              <a:buFont typeface="Wingdings" panose="05000000000000000000" charset="0"/>
              <a:buNone/>
            </a:pPr>
            <a:r>
              <a:rPr sz="2600" dirty="0">
                <a:latin typeface="Calibri" panose="020F0502020204030204" charset="0"/>
                <a:cs typeface="Calibri" panose="020F0502020204030204" charset="0"/>
                <a:sym typeface="+mn-ea"/>
              </a:rPr>
              <a:t>(e.g., inventory control products) or address mass</a:t>
            </a:r>
          </a:p>
          <a:p>
            <a:pPr marL="0" indent="0" algn="just">
              <a:buFont typeface="Wingdings" panose="05000000000000000000" charset="0"/>
              <a:buNone/>
            </a:pPr>
            <a:r>
              <a:rPr sz="2600" dirty="0">
                <a:latin typeface="Calibri" panose="020F0502020204030204" charset="0"/>
                <a:cs typeface="Calibri" panose="020F0502020204030204" charset="0"/>
                <a:sym typeface="+mn-ea"/>
              </a:rPr>
              <a:t>consumer markets</a:t>
            </a:r>
            <a:r>
              <a:rPr lang="en-US" sz="2600" dirty="0">
                <a:latin typeface="Calibri" panose="020F0502020204030204" charset="0"/>
                <a:cs typeface="Calibri" panose="020F0502020204030204" charset="0"/>
                <a:sym typeface="+mn-ea"/>
              </a:rPr>
              <a:t>)</a:t>
            </a:r>
          </a:p>
          <a:p>
            <a:pPr marL="0" indent="0" algn="just">
              <a:buFont typeface="Wingdings" panose="05000000000000000000" charset="0"/>
              <a:buNone/>
            </a:pPr>
            <a:r>
              <a:rPr lang="en-US" sz="2600" dirty="0">
                <a:latin typeface="Calibri" panose="020F0502020204030204" charset="0"/>
                <a:cs typeface="Calibri" panose="020F0502020204030204" charset="0"/>
                <a:sym typeface="+mn-ea"/>
              </a:rPr>
              <a:t>Web applications—called “WebApps,” this network-centric software category spans a wide array of applications.</a:t>
            </a:r>
          </a:p>
          <a:p>
            <a:pPr marL="0" indent="0" algn="just">
              <a:buFont typeface="Wingdings" panose="05000000000000000000" charset="0"/>
              <a:buNone/>
            </a:pPr>
            <a:r>
              <a:rPr lang="en-US" sz="2600" dirty="0">
                <a:latin typeface="Calibri" panose="020F0502020204030204" charset="0"/>
                <a:cs typeface="Calibri" panose="020F0502020204030204" charset="0"/>
                <a:sym typeface="+mn-ea"/>
              </a:rPr>
              <a:t>Artificial intelligence software</a:t>
            </a:r>
          </a:p>
          <a:p>
            <a:pPr marL="0" indent="0" algn="just">
              <a:buFont typeface="Wingdings" panose="05000000000000000000" charset="0"/>
              <a:buNone/>
            </a:pPr>
            <a:r>
              <a:rPr lang="en-US" sz="2600" dirty="0">
                <a:latin typeface="Calibri" panose="020F0502020204030204" charset="0"/>
                <a:cs typeface="Calibri" panose="020F0502020204030204" charset="0"/>
                <a:sym typeface="+mn-ea"/>
              </a:rPr>
              <a:t>Applications within this area include robotics, expert systems,</a:t>
            </a:r>
          </a:p>
          <a:p>
            <a:pPr marL="0" indent="0" algn="just">
              <a:buFont typeface="Wingdings" panose="05000000000000000000" charset="0"/>
              <a:buNone/>
            </a:pPr>
            <a:r>
              <a:rPr lang="en-US" sz="2600" dirty="0">
                <a:latin typeface="Calibri" panose="020F0502020204030204" charset="0"/>
                <a:cs typeface="Calibri" panose="020F0502020204030204" charset="0"/>
                <a:sym typeface="+mn-ea"/>
              </a:rPr>
              <a:t>pattern recognition (image and voice), artificial neural networks, theorem proving, and game playing.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03580"/>
          </a:xfrm>
        </p:spPr>
        <p:txBody>
          <a:bodyPr>
            <a:normAutofit fontScale="90000"/>
          </a:bodyPr>
          <a:lstStyle/>
          <a:p>
            <a:r>
              <a:rPr lang="en-US" b="1" dirty="0" smtClean="0">
                <a:latin typeface="Calibri" panose="020F0502020204030204" charset="0"/>
                <a:cs typeface="Calibri" panose="020F0502020204030204" charset="0"/>
                <a:sym typeface="+mn-ea"/>
              </a:rPr>
              <a:t>Software Engineering</a:t>
            </a:r>
          </a:p>
        </p:txBody>
      </p:sp>
      <p:sp>
        <p:nvSpPr>
          <p:cNvPr id="3" name="Content Placeholder 2"/>
          <p:cNvSpPr>
            <a:spLocks noGrp="1"/>
          </p:cNvSpPr>
          <p:nvPr>
            <p:ph sz="half" idx="1"/>
          </p:nvPr>
        </p:nvSpPr>
        <p:spPr>
          <a:xfrm>
            <a:off x="457200" y="780415"/>
            <a:ext cx="8446770" cy="5346065"/>
          </a:xfrm>
        </p:spPr>
        <p:txBody>
          <a:bodyPr>
            <a:noAutofit/>
          </a:bodyPr>
          <a:lstStyle/>
          <a:p>
            <a:pPr marL="0" indent="0" algn="just">
              <a:buFont typeface="Wingdings" panose="05000000000000000000" charset="0"/>
              <a:buNone/>
            </a:pPr>
            <a:r>
              <a:rPr sz="2600" dirty="0">
                <a:latin typeface="Calibri" panose="020F0502020204030204" charset="0"/>
                <a:cs typeface="Calibri" panose="020F0502020204030204" charset="0"/>
                <a:sym typeface="+mn-ea"/>
              </a:rPr>
              <a:t>Software engineering is the </a:t>
            </a:r>
            <a:r>
              <a:rPr sz="2600" dirty="0">
                <a:solidFill>
                  <a:srgbClr val="FF0000"/>
                </a:solidFill>
                <a:latin typeface="Calibri" panose="020F0502020204030204" charset="0"/>
                <a:cs typeface="Calibri" panose="020F0502020204030204" charset="0"/>
                <a:sym typeface="+mn-ea"/>
              </a:rPr>
              <a:t>establishment and use </a:t>
            </a:r>
            <a:r>
              <a:rPr sz="2600" dirty="0">
                <a:latin typeface="Calibri" panose="020F0502020204030204" charset="0"/>
                <a:cs typeface="Calibri" panose="020F0502020204030204" charset="0"/>
                <a:sym typeface="+mn-ea"/>
              </a:rPr>
              <a:t>of sound engineering principles in order</a:t>
            </a:r>
            <a:r>
              <a:rPr lang="en-US" sz="2600" dirty="0">
                <a:latin typeface="Calibri" panose="020F0502020204030204" charset="0"/>
                <a:cs typeface="Calibri" panose="020F0502020204030204" charset="0"/>
                <a:sym typeface="+mn-ea"/>
              </a:rPr>
              <a:t> </a:t>
            </a:r>
            <a:r>
              <a:rPr sz="2600" dirty="0">
                <a:latin typeface="Calibri" panose="020F0502020204030204" charset="0"/>
                <a:cs typeface="Calibri" panose="020F0502020204030204" charset="0"/>
                <a:sym typeface="+mn-ea"/>
              </a:rPr>
              <a:t>to obtain </a:t>
            </a:r>
            <a:r>
              <a:rPr sz="2600" dirty="0">
                <a:solidFill>
                  <a:srgbClr val="FF0000"/>
                </a:solidFill>
                <a:latin typeface="Calibri" panose="020F0502020204030204" charset="0"/>
                <a:cs typeface="Calibri" panose="020F0502020204030204" charset="0"/>
                <a:sym typeface="+mn-ea"/>
              </a:rPr>
              <a:t>economically software</a:t>
            </a:r>
            <a:r>
              <a:rPr sz="2600" dirty="0">
                <a:latin typeface="Calibri" panose="020F0502020204030204" charset="0"/>
                <a:cs typeface="Calibri" panose="020F0502020204030204" charset="0"/>
                <a:sym typeface="+mn-ea"/>
              </a:rPr>
              <a:t> that is reliable and works efficiently on real machines.</a:t>
            </a:r>
          </a:p>
          <a:p>
            <a:pPr marL="0" indent="0" algn="just">
              <a:buFont typeface="Wingdings" panose="05000000000000000000" charset="0"/>
              <a:buNone/>
            </a:pPr>
            <a:endParaRPr sz="2600" dirty="0">
              <a:latin typeface="Calibri" panose="020F0502020204030204" charset="0"/>
              <a:cs typeface="Calibri" panose="020F0502020204030204" charset="0"/>
              <a:sym typeface="+mn-ea"/>
            </a:endParaRPr>
          </a:p>
          <a:p>
            <a:pPr marL="0" indent="0" algn="just">
              <a:buFont typeface="Wingdings" panose="05000000000000000000" charset="0"/>
              <a:buNone/>
            </a:pPr>
            <a:r>
              <a:rPr sz="2600" b="1" dirty="0">
                <a:solidFill>
                  <a:srgbClr val="00B050"/>
                </a:solidFill>
                <a:latin typeface="Calibri" panose="020F0502020204030204" charset="0"/>
                <a:cs typeface="Calibri" panose="020F0502020204030204" charset="0"/>
                <a:sym typeface="+mn-ea"/>
              </a:rPr>
              <a:t>The IEEE</a:t>
            </a:r>
            <a:r>
              <a:rPr lang="en-US" sz="2600" b="1" dirty="0">
                <a:solidFill>
                  <a:srgbClr val="00B050"/>
                </a:solidFill>
                <a:latin typeface="Calibri" panose="020F0502020204030204" charset="0"/>
                <a:cs typeface="Calibri" panose="020F0502020204030204" charset="0"/>
                <a:sym typeface="+mn-ea"/>
              </a:rPr>
              <a:t> Definition:</a:t>
            </a:r>
          </a:p>
          <a:p>
            <a:pPr marL="0" indent="0" algn="just">
              <a:buFont typeface="Wingdings" panose="05000000000000000000" charset="0"/>
              <a:buNone/>
            </a:pPr>
            <a:r>
              <a:rPr lang="en-US" sz="2600" dirty="0">
                <a:latin typeface="Calibri" panose="020F0502020204030204" charset="0"/>
                <a:cs typeface="Calibri" panose="020F0502020204030204" charset="0"/>
                <a:sym typeface="+mn-ea"/>
              </a:rPr>
              <a:t>Software Engineering is defined as  the application of a </a:t>
            </a:r>
            <a:r>
              <a:rPr lang="en-US" sz="2600" b="1" dirty="0">
                <a:solidFill>
                  <a:srgbClr val="7030A0"/>
                </a:solidFill>
                <a:latin typeface="Calibri" panose="020F0502020204030204" charset="0"/>
                <a:cs typeface="Calibri" panose="020F0502020204030204" charset="0"/>
                <a:sym typeface="+mn-ea"/>
              </a:rPr>
              <a:t>systematic, disciplined, quantifiable approach </a:t>
            </a:r>
            <a:r>
              <a:rPr lang="en-US" sz="2600" dirty="0">
                <a:latin typeface="Calibri" panose="020F0502020204030204" charset="0"/>
                <a:cs typeface="Calibri" panose="020F0502020204030204" charset="0"/>
                <a:sym typeface="+mn-ea"/>
              </a:rPr>
              <a:t>to the development, operation, and maintenance of software; that is, the </a:t>
            </a:r>
            <a:r>
              <a:rPr lang="en-US" sz="2600" b="1" dirty="0">
                <a:solidFill>
                  <a:schemeClr val="accent1"/>
                </a:solidFill>
                <a:latin typeface="Calibri" panose="020F0502020204030204" charset="0"/>
                <a:cs typeface="Calibri" panose="020F0502020204030204" charset="0"/>
                <a:sym typeface="+mn-ea"/>
              </a:rPr>
              <a:t>application of engineering to software</a:t>
            </a:r>
            <a:r>
              <a:rPr lang="en-US" sz="2600" dirty="0">
                <a:latin typeface="Calibri" panose="020F0502020204030204" charset="0"/>
                <a:cs typeface="Calibri" panose="020F0502020204030204" charset="0"/>
                <a:sym typeface="+mn-ea"/>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460"/>
            <a:ext cx="8229600" cy="1102995"/>
          </a:xfrm>
        </p:spPr>
        <p:txBody>
          <a:bodyPr>
            <a:normAutofit/>
          </a:bodyPr>
          <a:lstStyle/>
          <a:p>
            <a:r>
              <a:rPr lang="en-US" b="1" dirty="0" smtClean="0">
                <a:latin typeface="Calibri" panose="020F0502020204030204" charset="0"/>
                <a:cs typeface="Calibri" panose="020F0502020204030204" charset="0"/>
                <a:sym typeface="+mn-ea"/>
              </a:rPr>
              <a:t>Software Engineering Layers</a:t>
            </a:r>
          </a:p>
        </p:txBody>
      </p:sp>
      <p:pic>
        <p:nvPicPr>
          <p:cNvPr id="4" name="Content Placeholder 3" descr="Layers"/>
          <p:cNvPicPr>
            <a:picLocks noGrp="1" noChangeAspect="1"/>
          </p:cNvPicPr>
          <p:nvPr>
            <p:ph sz="half" idx="2"/>
          </p:nvPr>
        </p:nvPicPr>
        <p:blipFill>
          <a:blip r:embed="rId2"/>
          <a:stretch>
            <a:fillRect/>
          </a:stretch>
        </p:blipFill>
        <p:spPr>
          <a:xfrm>
            <a:off x="899795" y="1494790"/>
            <a:ext cx="7700645" cy="4650105"/>
          </a:xfrm>
          <a:prstGeom prst="rect">
            <a:avLst/>
          </a:prstGeom>
        </p:spPr>
      </p:pic>
      <p:sp>
        <p:nvSpPr>
          <p:cNvPr id="5" name="TextBox 4"/>
          <p:cNvSpPr txBox="1"/>
          <p:nvPr/>
        </p:nvSpPr>
        <p:spPr>
          <a:xfrm>
            <a:off x="381000" y="5934670"/>
            <a:ext cx="8610600" cy="1200329"/>
          </a:xfrm>
          <a:prstGeom prst="rect">
            <a:avLst/>
          </a:prstGeom>
          <a:noFill/>
        </p:spPr>
        <p:txBody>
          <a:bodyPr wrap="square" rtlCol="0">
            <a:spAutoFit/>
          </a:bodyPr>
          <a:lstStyle/>
          <a:p>
            <a:r>
              <a:rPr lang="en-US" sz="2400" dirty="0" smtClean="0">
                <a:latin typeface="Times New Roman" pitchFamily="18" charset="0"/>
                <a:cs typeface="Times New Roman" pitchFamily="18" charset="0"/>
              </a:rPr>
              <a:t>The </a:t>
            </a:r>
            <a:r>
              <a:rPr lang="en-US" sz="2400" b="1" dirty="0" smtClean="0">
                <a:latin typeface="Times New Roman" pitchFamily="18" charset="0"/>
                <a:cs typeface="Times New Roman" pitchFamily="18" charset="0"/>
              </a:rPr>
              <a:t>Process</a:t>
            </a:r>
            <a:r>
              <a:rPr lang="en-US" sz="2400" dirty="0" smtClean="0">
                <a:latin typeface="Times New Roman" pitchFamily="18" charset="0"/>
                <a:cs typeface="Times New Roman" pitchFamily="18" charset="0"/>
              </a:rPr>
              <a:t> is the foundation.</a:t>
            </a:r>
          </a:p>
          <a:p>
            <a:r>
              <a:rPr lang="en-US" sz="2400" dirty="0" smtClean="0">
                <a:latin typeface="Times New Roman" pitchFamily="18" charset="0"/>
                <a:cs typeface="Times New Roman" pitchFamily="18" charset="0"/>
              </a:rPr>
              <a:t>Methods and tools cannot work effectively without it.</a:t>
            </a:r>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 1 – Quality Focus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Suppose</a:t>
            </a:r>
          </a:p>
          <a:p>
            <a:pPr>
              <a:buNone/>
            </a:pPr>
            <a:r>
              <a:rPr lang="en-US" dirty="0" smtClean="0"/>
              <a:t>Library Management System.</a:t>
            </a:r>
          </a:p>
          <a:p>
            <a:pPr>
              <a:buNone/>
            </a:pPr>
            <a:r>
              <a:rPr lang="en-US" dirty="0" smtClean="0"/>
              <a:t>Student clicks</a:t>
            </a:r>
          </a:p>
          <a:p>
            <a:pPr>
              <a:buNone/>
            </a:pPr>
            <a:r>
              <a:rPr lang="en-US" dirty="0" smtClean="0"/>
              <a:t>Issue Book</a:t>
            </a:r>
          </a:p>
          <a:p>
            <a:pPr>
              <a:buNone/>
            </a:pPr>
            <a:r>
              <a:rPr lang="en-US" dirty="0" smtClean="0"/>
              <a:t>Software crashes.</a:t>
            </a:r>
          </a:p>
          <a:p>
            <a:r>
              <a:rPr lang="en-US" dirty="0" smtClean="0"/>
              <a:t>Is software good?</a:t>
            </a:r>
          </a:p>
          <a:p>
            <a:r>
              <a:rPr lang="en-US" dirty="0" smtClean="0"/>
              <a:t>No.</a:t>
            </a:r>
          </a:p>
          <a:p>
            <a:r>
              <a:rPr lang="en-US" dirty="0" smtClean="0"/>
              <a:t>Therefore,</a:t>
            </a:r>
          </a:p>
          <a:p>
            <a:r>
              <a:rPr lang="en-US" dirty="0" smtClean="0"/>
              <a:t>Coding ≠ Quality.</a:t>
            </a:r>
          </a:p>
          <a:p>
            <a:pPr>
              <a:buNone/>
            </a:pP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a:t>
            </a:r>
            <a:endParaRPr lang="en-US" dirty="0"/>
          </a:p>
        </p:txBody>
      </p:sp>
      <p:sp>
        <p:nvSpPr>
          <p:cNvPr id="3" name="Content Placeholder 2"/>
          <p:cNvSpPr>
            <a:spLocks noGrp="1"/>
          </p:cNvSpPr>
          <p:nvPr>
            <p:ph idx="1"/>
          </p:nvPr>
        </p:nvSpPr>
        <p:spPr/>
        <p:txBody>
          <a:bodyPr/>
          <a:lstStyle/>
          <a:p>
            <a:r>
              <a:rPr lang="en-US" dirty="0" smtClean="0"/>
              <a:t>No bugs alone is not quality.</a:t>
            </a:r>
          </a:p>
          <a:p>
            <a:r>
              <a:rPr lang="en-US" dirty="0" smtClean="0"/>
              <a:t>Quality also includes</a:t>
            </a:r>
          </a:p>
          <a:p>
            <a:r>
              <a:rPr lang="en-US" dirty="0" smtClean="0"/>
              <a:t>Performance </a:t>
            </a:r>
          </a:p>
          <a:p>
            <a:r>
              <a:rPr lang="en-US" dirty="0" smtClean="0"/>
              <a:t>Security </a:t>
            </a:r>
          </a:p>
          <a:p>
            <a:r>
              <a:rPr lang="en-US" dirty="0" smtClean="0"/>
              <a:t>Reliability </a:t>
            </a:r>
          </a:p>
          <a:p>
            <a:r>
              <a:rPr lang="en-US" dirty="0" smtClean="0"/>
              <a:t>Customer Satisfaction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 2 – Process</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SupposeFive</a:t>
            </a:r>
            <a:r>
              <a:rPr lang="en-US" dirty="0" smtClean="0"/>
              <a:t> </a:t>
            </a:r>
            <a:r>
              <a:rPr lang="en-US" dirty="0" err="1" smtClean="0"/>
              <a:t>developers.Each</a:t>
            </a:r>
            <a:r>
              <a:rPr lang="en-US" dirty="0" smtClean="0"/>
              <a:t> starts coding independently.</a:t>
            </a:r>
          </a:p>
          <a:p>
            <a:r>
              <a:rPr lang="en-US" dirty="0" smtClean="0"/>
              <a:t>Developer 1     Login</a:t>
            </a:r>
          </a:p>
          <a:p>
            <a:r>
              <a:rPr lang="en-US" dirty="0" smtClean="0"/>
              <a:t>Developer 2    Database</a:t>
            </a:r>
          </a:p>
          <a:p>
            <a:r>
              <a:rPr lang="en-US" dirty="0" smtClean="0"/>
              <a:t>Developer 3    Payment</a:t>
            </a:r>
          </a:p>
          <a:p>
            <a:r>
              <a:rPr lang="en-US" dirty="0" smtClean="0"/>
              <a:t>Developer 4   Testing</a:t>
            </a:r>
          </a:p>
          <a:p>
            <a:r>
              <a:rPr lang="en-US" dirty="0" smtClean="0"/>
              <a:t>Developer 5    UI</a:t>
            </a:r>
          </a:p>
          <a:p>
            <a:r>
              <a:rPr lang="en-US" dirty="0" smtClean="0"/>
              <a:t>Nobody communicates.</a:t>
            </a:r>
          </a:p>
          <a:p>
            <a:r>
              <a:rPr lang="en-US" dirty="0" smtClean="0"/>
              <a:t>Will project succeed?</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lstStyle/>
          <a:p>
            <a:r>
              <a:rPr lang="en-US" dirty="0" smtClean="0"/>
              <a:t>PROCESS?</a:t>
            </a:r>
            <a:endParaRPr lang="en-US" dirty="0"/>
          </a:p>
        </p:txBody>
      </p:sp>
      <p:sp>
        <p:nvSpPr>
          <p:cNvPr id="3" name="Content Placeholder 2"/>
          <p:cNvSpPr>
            <a:spLocks noGrp="1"/>
          </p:cNvSpPr>
          <p:nvPr>
            <p:ph idx="1"/>
          </p:nvPr>
        </p:nvSpPr>
        <p:spPr>
          <a:xfrm>
            <a:off x="228600" y="762000"/>
            <a:ext cx="8229600" cy="4525963"/>
          </a:xfrm>
        </p:spPr>
        <p:txBody>
          <a:bodyPr>
            <a:noAutofit/>
          </a:bodyPr>
          <a:lstStyle/>
          <a:p>
            <a:r>
              <a:rPr lang="en-US" sz="2400" dirty="0" smtClean="0"/>
              <a:t>Process means</a:t>
            </a:r>
          </a:p>
          <a:p>
            <a:r>
              <a:rPr lang="en-US" sz="2400" dirty="0" smtClean="0"/>
              <a:t>A systematic sequence of activities followed to develop software.</a:t>
            </a:r>
          </a:p>
          <a:p>
            <a:r>
              <a:rPr lang="en-US" sz="2400" dirty="0" smtClean="0"/>
              <a:t>It answers</a:t>
            </a:r>
          </a:p>
          <a:p>
            <a:r>
              <a:rPr lang="en-US" sz="2400" b="1" dirty="0" smtClean="0"/>
              <a:t>WHAT should happen first?</a:t>
            </a:r>
            <a:endParaRPr lang="en-US" sz="2400" dirty="0" smtClean="0"/>
          </a:p>
          <a:p>
            <a:r>
              <a:rPr lang="en-US" sz="2400" b="1" dirty="0" smtClean="0"/>
              <a:t>WHAT should happen next?</a:t>
            </a:r>
          </a:p>
          <a:p>
            <a:r>
              <a:rPr lang="en-US" sz="2400" dirty="0" smtClean="0"/>
              <a:t>WHAT to do?</a:t>
            </a:r>
          </a:p>
          <a:p>
            <a:pPr>
              <a:buNone/>
            </a:pPr>
            <a:r>
              <a:rPr lang="en-US" sz="2400" dirty="0" smtClean="0"/>
              <a:t>REQ</a:t>
            </a:r>
            <a:r>
              <a:rPr lang="en-US" sz="2400" dirty="0" smtClean="0">
                <a:sym typeface="Wingdings" pitchFamily="2" charset="2"/>
              </a:rPr>
              <a:t>PLANDESIGNCODINGTESTDEPLOYFEEDBACK</a:t>
            </a:r>
          </a:p>
          <a:p>
            <a:r>
              <a:rPr lang="en-US" sz="2400" b="1" dirty="0" smtClean="0"/>
              <a:t> Process is Foundation</a:t>
            </a:r>
          </a:p>
          <a:p>
            <a:r>
              <a:rPr lang="en-US" sz="2400" dirty="0" smtClean="0"/>
              <a:t>Without process</a:t>
            </a:r>
          </a:p>
          <a:p>
            <a:pPr>
              <a:buNone/>
            </a:pPr>
            <a:r>
              <a:rPr lang="en-US" sz="2400" dirty="0" smtClean="0">
                <a:sym typeface="Wingdings" pitchFamily="2" charset="2"/>
              </a:rPr>
              <a:t></a:t>
            </a:r>
            <a:r>
              <a:rPr lang="en-US" sz="2400" dirty="0" smtClean="0"/>
              <a:t>Confusion </a:t>
            </a:r>
          </a:p>
          <a:p>
            <a:pPr>
              <a:buNone/>
            </a:pPr>
            <a:r>
              <a:rPr lang="en-US" sz="2400" dirty="0" smtClean="0">
                <a:sym typeface="Wingdings" pitchFamily="2" charset="2"/>
              </a:rPr>
              <a:t></a:t>
            </a:r>
            <a:r>
              <a:rPr lang="en-US" sz="2400" dirty="0" smtClean="0"/>
              <a:t>Delay </a:t>
            </a:r>
          </a:p>
          <a:p>
            <a:pPr>
              <a:buNone/>
            </a:pPr>
            <a:r>
              <a:rPr lang="en-US" sz="2400" dirty="0" smtClean="0">
                <a:sym typeface="Wingdings" pitchFamily="2" charset="2"/>
              </a:rPr>
              <a:t></a:t>
            </a:r>
            <a:r>
              <a:rPr lang="en-US" sz="2400" dirty="0" smtClean="0"/>
              <a:t>Bugs </a:t>
            </a:r>
          </a:p>
          <a:p>
            <a:pPr>
              <a:buNone/>
            </a:pPr>
            <a:r>
              <a:rPr lang="en-US" sz="2400" dirty="0" smtClean="0">
                <a:sym typeface="Wingdings" pitchFamily="2" charset="2"/>
              </a:rPr>
              <a:t></a:t>
            </a:r>
            <a:r>
              <a:rPr lang="en-US" sz="2400" dirty="0" smtClean="0"/>
              <a:t>Customer dissatisfaction</a:t>
            </a:r>
          </a:p>
          <a:p>
            <a:pPr>
              <a:buNone/>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dirty="0" smtClean="0"/>
              <a:t>Layer 3 – Methods</a:t>
            </a:r>
            <a:endParaRPr lang="en-US" dirty="0"/>
          </a:p>
        </p:txBody>
      </p:sp>
      <p:sp>
        <p:nvSpPr>
          <p:cNvPr id="3" name="Content Placeholder 2"/>
          <p:cNvSpPr>
            <a:spLocks noGrp="1"/>
          </p:cNvSpPr>
          <p:nvPr>
            <p:ph idx="1"/>
          </p:nvPr>
        </p:nvSpPr>
        <p:spPr>
          <a:xfrm>
            <a:off x="304800" y="685800"/>
            <a:ext cx="8382000" cy="5440363"/>
          </a:xfrm>
        </p:spPr>
        <p:txBody>
          <a:bodyPr>
            <a:normAutofit fontScale="77500" lnSpcReduction="20000"/>
          </a:bodyPr>
          <a:lstStyle/>
          <a:p>
            <a:r>
              <a:rPr lang="en-US" dirty="0" smtClean="0"/>
              <a:t>Methods are</a:t>
            </a:r>
          </a:p>
          <a:p>
            <a:r>
              <a:rPr lang="en-US" dirty="0" smtClean="0"/>
              <a:t>Technical techniques used to perform development activities.</a:t>
            </a:r>
          </a:p>
          <a:p>
            <a:r>
              <a:rPr lang="en-US" dirty="0" smtClean="0"/>
              <a:t>Methods answer</a:t>
            </a:r>
          </a:p>
          <a:p>
            <a:r>
              <a:rPr lang="en-US" b="1" dirty="0" smtClean="0"/>
              <a:t>HOW should we do the work?</a:t>
            </a:r>
          </a:p>
          <a:p>
            <a:pPr>
              <a:buNone/>
            </a:pPr>
            <a:r>
              <a:rPr lang="en-US" dirty="0" smtClean="0">
                <a:solidFill>
                  <a:srgbClr val="FF0000"/>
                </a:solidFill>
              </a:rPr>
              <a:t>Requirement Gathering</a:t>
            </a:r>
          </a:p>
          <a:p>
            <a:pPr>
              <a:buNone/>
            </a:pPr>
            <a:r>
              <a:rPr lang="en-US" dirty="0" smtClean="0">
                <a:solidFill>
                  <a:srgbClr val="FF0000"/>
                </a:solidFill>
              </a:rPr>
              <a:t>↓</a:t>
            </a:r>
          </a:p>
          <a:p>
            <a:pPr>
              <a:buNone/>
            </a:pPr>
            <a:r>
              <a:rPr lang="en-US" dirty="0" smtClean="0">
                <a:solidFill>
                  <a:srgbClr val="FF0000"/>
                </a:solidFill>
              </a:rPr>
              <a:t>Interview</a:t>
            </a:r>
          </a:p>
          <a:p>
            <a:pPr>
              <a:buNone/>
            </a:pPr>
            <a:r>
              <a:rPr lang="en-US" dirty="0" smtClean="0">
                <a:solidFill>
                  <a:srgbClr val="FF0000"/>
                </a:solidFill>
              </a:rPr>
              <a:t>Questionnaire</a:t>
            </a:r>
          </a:p>
          <a:p>
            <a:pPr>
              <a:buNone/>
            </a:pPr>
            <a:r>
              <a:rPr lang="en-US" dirty="0" smtClean="0">
                <a:solidFill>
                  <a:srgbClr val="FF0000"/>
                </a:solidFill>
              </a:rPr>
              <a:t>Brainstorming</a:t>
            </a:r>
          </a:p>
          <a:p>
            <a:pPr>
              <a:buNone/>
            </a:pPr>
            <a:r>
              <a:rPr lang="en-US" dirty="0" smtClean="0"/>
              <a:t>Design</a:t>
            </a:r>
          </a:p>
          <a:p>
            <a:pPr>
              <a:buNone/>
            </a:pPr>
            <a:r>
              <a:rPr lang="en-US" dirty="0" smtClean="0"/>
              <a:t>↓</a:t>
            </a:r>
          </a:p>
          <a:p>
            <a:pPr>
              <a:buNone/>
            </a:pPr>
            <a:r>
              <a:rPr lang="en-US" dirty="0" smtClean="0"/>
              <a:t>UML</a:t>
            </a:r>
          </a:p>
          <a:p>
            <a:pPr>
              <a:buNone/>
            </a:pPr>
            <a:r>
              <a:rPr lang="en-US" dirty="0" smtClean="0"/>
              <a:t>Class Diagram</a:t>
            </a:r>
          </a:p>
          <a:p>
            <a:endParaRPr lang="en-US" dirty="0" smtClean="0"/>
          </a:p>
          <a:p>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Layer 4 – Tools</a:t>
            </a:r>
            <a:endParaRPr lang="en-US" b="1" dirty="0"/>
          </a:p>
        </p:txBody>
      </p:sp>
      <p:sp>
        <p:nvSpPr>
          <p:cNvPr id="3" name="Content Placeholder 2"/>
          <p:cNvSpPr>
            <a:spLocks noGrp="1"/>
          </p:cNvSpPr>
          <p:nvPr>
            <p:ph idx="1"/>
          </p:nvPr>
        </p:nvSpPr>
        <p:spPr/>
        <p:txBody>
          <a:bodyPr>
            <a:normAutofit lnSpcReduction="10000"/>
          </a:bodyPr>
          <a:lstStyle/>
          <a:p>
            <a:r>
              <a:rPr lang="en-US" dirty="0" smtClean="0"/>
              <a:t>Can developers write code without software?</a:t>
            </a:r>
          </a:p>
          <a:p>
            <a:r>
              <a:rPr lang="en-US" dirty="0" smtClean="0"/>
              <a:t>Coding</a:t>
            </a:r>
            <a:r>
              <a:rPr lang="en-US" dirty="0" smtClean="0">
                <a:sym typeface="Wingdings" pitchFamily="2" charset="2"/>
              </a:rPr>
              <a:t>  </a:t>
            </a:r>
            <a:r>
              <a:rPr lang="en-US" dirty="0" smtClean="0"/>
              <a:t>VS Code</a:t>
            </a:r>
          </a:p>
          <a:p>
            <a:r>
              <a:rPr lang="en-US" dirty="0" err="1" smtClean="0"/>
              <a:t>GitHub</a:t>
            </a:r>
            <a:r>
              <a:rPr lang="en-US" dirty="0" smtClean="0">
                <a:sym typeface="Wingdings" pitchFamily="2" charset="2"/>
              </a:rPr>
              <a:t>  </a:t>
            </a:r>
            <a:r>
              <a:rPr lang="en-US" dirty="0" smtClean="0"/>
              <a:t>Version Control</a:t>
            </a:r>
          </a:p>
          <a:p>
            <a:r>
              <a:rPr lang="en-US" dirty="0" smtClean="0"/>
              <a:t>Draw.io</a:t>
            </a:r>
            <a:r>
              <a:rPr lang="en-US" dirty="0" smtClean="0">
                <a:sym typeface="Wingdings" pitchFamily="2" charset="2"/>
              </a:rPr>
              <a:t>  </a:t>
            </a:r>
            <a:r>
              <a:rPr lang="en-US" dirty="0" smtClean="0"/>
              <a:t>UML</a:t>
            </a:r>
          </a:p>
          <a:p>
            <a:r>
              <a:rPr lang="en-US" dirty="0" err="1" smtClean="0"/>
              <a:t>JUnit</a:t>
            </a:r>
            <a:r>
              <a:rPr lang="en-US" dirty="0" smtClean="0">
                <a:sym typeface="Wingdings" pitchFamily="2" charset="2"/>
              </a:rPr>
              <a:t>  </a:t>
            </a:r>
            <a:r>
              <a:rPr lang="en-US" dirty="0" smtClean="0"/>
              <a:t>Testing</a:t>
            </a:r>
          </a:p>
          <a:p>
            <a:r>
              <a:rPr lang="en-US" dirty="0" err="1" smtClean="0"/>
              <a:t>MySQL</a:t>
            </a:r>
            <a:r>
              <a:rPr lang="en-US" dirty="0" smtClean="0"/>
              <a:t> </a:t>
            </a:r>
            <a:r>
              <a:rPr lang="en-US" dirty="0" err="1" smtClean="0"/>
              <a:t>Workbench</a:t>
            </a:r>
            <a:r>
              <a:rPr lang="en-US" dirty="0" err="1" smtClean="0">
                <a:sym typeface="Wingdings" pitchFamily="2" charset="2"/>
              </a:rPr>
              <a:t></a:t>
            </a:r>
            <a:r>
              <a:rPr lang="en-US" dirty="0" err="1" smtClean="0"/>
              <a:t>Database</a:t>
            </a:r>
            <a:endParaRPr lang="en-US" dirty="0" smtClean="0"/>
          </a:p>
          <a:p>
            <a:pPr>
              <a:buNone/>
            </a:pPr>
            <a:r>
              <a:rPr lang="en-US" dirty="0" smtClean="0"/>
              <a:t>Can developers write code without software?</a:t>
            </a:r>
          </a:p>
          <a:p>
            <a:r>
              <a:rPr lang="en-US" dirty="0" smtClean="0"/>
              <a:t>Developers use </a:t>
            </a:r>
            <a:r>
              <a:rPr lang="en-US" b="1" dirty="0" smtClean="0"/>
              <a:t>software</a:t>
            </a:r>
            <a:r>
              <a:rPr lang="en-US" dirty="0" smtClean="0"/>
              <a:t> to develop software.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"Which layer is most important?"</a:t>
            </a:r>
            <a:br>
              <a:rPr lang="en-US" dirty="0" smtClean="0"/>
            </a:br>
            <a:endParaRPr lang="en-US" dirty="0"/>
          </a:p>
        </p:txBody>
      </p:sp>
      <p:sp>
        <p:nvSpPr>
          <p:cNvPr id="3" name="Content Placeholder 2"/>
          <p:cNvSpPr>
            <a:spLocks noGrp="1"/>
          </p:cNvSpPr>
          <p:nvPr>
            <p:ph idx="1"/>
          </p:nvPr>
        </p:nvSpPr>
        <p:spPr/>
        <p:txBody>
          <a:bodyPr/>
          <a:lstStyle/>
          <a:p>
            <a:r>
              <a:rPr lang="en-US" dirty="0" smtClean="0"/>
              <a:t>Quality is the overall goal.</a:t>
            </a:r>
          </a:p>
          <a:p>
            <a:r>
              <a:rPr lang="en-US" dirty="0" smtClean="0"/>
              <a:t>Process is the foundation.</a:t>
            </a:r>
          </a:p>
          <a:p>
            <a:r>
              <a:rPr lang="en-US" dirty="0" smtClean="0"/>
              <a:t>Methods define how work is performed.</a:t>
            </a:r>
          </a:p>
          <a:p>
            <a:r>
              <a:rPr lang="en-US" dirty="0" smtClean="0"/>
              <a:t>Tools support the methods.</a:t>
            </a:r>
          </a:p>
          <a:p>
            <a:r>
              <a:rPr lang="en-US" dirty="0" smtClean="0"/>
              <a:t>All four are necessary.</a:t>
            </a:r>
          </a:p>
          <a:p>
            <a:endParaRPr lang="en-US" dirty="0" smtClean="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is Process above Methods?"</a:t>
            </a:r>
            <a:br>
              <a:rPr lang="en-US" dirty="0" smtClean="0"/>
            </a:br>
            <a:endParaRPr lang="en-US" dirty="0"/>
          </a:p>
        </p:txBody>
      </p:sp>
      <p:sp>
        <p:nvSpPr>
          <p:cNvPr id="3" name="Content Placeholder 2"/>
          <p:cNvSpPr>
            <a:spLocks noGrp="1"/>
          </p:cNvSpPr>
          <p:nvPr>
            <p:ph idx="1"/>
          </p:nvPr>
        </p:nvSpPr>
        <p:spPr/>
        <p:txBody>
          <a:bodyPr/>
          <a:lstStyle/>
          <a:p>
            <a:r>
              <a:rPr lang="en-US" dirty="0" smtClean="0"/>
              <a:t>Because Process decides </a:t>
            </a:r>
            <a:r>
              <a:rPr lang="en-US" b="1" dirty="0" smtClean="0"/>
              <a:t>what activities happen</a:t>
            </a:r>
            <a:r>
              <a:rPr lang="en-US" dirty="0" smtClean="0"/>
              <a:t>.</a:t>
            </a:r>
          </a:p>
          <a:p>
            <a:r>
              <a:rPr lang="en-US" dirty="0" smtClean="0"/>
              <a:t>Methods explain </a:t>
            </a:r>
            <a:r>
              <a:rPr lang="en-US" b="1" dirty="0" smtClean="0"/>
              <a:t>how each activity is carried out</a:t>
            </a:r>
            <a:r>
              <a:rPr lang="en-US" dirty="0" smtClean="0"/>
              <a:t>.</a:t>
            </a:r>
          </a:p>
          <a:p>
            <a:r>
              <a:rPr lang="en-US" dirty="0" smtClean="0"/>
              <a:t>Without deciding the activity, you cannot choose an appropriate method.</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85" y="73025"/>
            <a:ext cx="8838565" cy="621665"/>
          </a:xfrm>
        </p:spPr>
        <p:txBody>
          <a:bodyPr>
            <a:normAutofit fontScale="90000"/>
          </a:bodyPr>
          <a:lstStyle/>
          <a:p>
            <a:r>
              <a:rPr lang="en-US" b="1" noProof="0" dirty="0">
                <a:solidFill>
                  <a:schemeClr val="tx1"/>
                </a:solidFill>
                <a:sym typeface="+mn-ea"/>
              </a:rPr>
              <a:t>Software Process and Process Model</a:t>
            </a:r>
          </a:p>
        </p:txBody>
      </p:sp>
      <p:sp>
        <p:nvSpPr>
          <p:cNvPr id="3" name="Content Placeholder 2"/>
          <p:cNvSpPr>
            <a:spLocks noGrp="1"/>
          </p:cNvSpPr>
          <p:nvPr>
            <p:ph idx="1"/>
          </p:nvPr>
        </p:nvSpPr>
        <p:spPr>
          <a:xfrm>
            <a:off x="228600" y="762000"/>
            <a:ext cx="8821420" cy="5990590"/>
          </a:xfrm>
        </p:spPr>
        <p:txBody>
          <a:bodyPr>
            <a:noAutofit/>
          </a:bodyPr>
          <a:lstStyle/>
          <a:p>
            <a:pPr algn="just">
              <a:buFont typeface="Wingdings" panose="05000000000000000000" pitchFamily="2" charset="2"/>
              <a:buChar char="v"/>
            </a:pPr>
            <a:r>
              <a:rPr lang="en-US" sz="2800" b="1" i="1" dirty="0" smtClean="0">
                <a:sym typeface="+mn-ea"/>
              </a:rPr>
              <a:t>Software process</a:t>
            </a:r>
          </a:p>
          <a:p>
            <a:pPr marL="0" indent="0" algn="just">
              <a:buFont typeface="Wingdings" panose="05000000000000000000" pitchFamily="2" charset="2"/>
              <a:buNone/>
            </a:pPr>
            <a:r>
              <a:rPr lang="en-US" sz="2800" b="1" i="1" dirty="0" smtClean="0">
                <a:sym typeface="+mn-ea"/>
              </a:rPr>
              <a:t> 	</a:t>
            </a:r>
            <a:r>
              <a:rPr lang="en-US" sz="2800" dirty="0" smtClean="0">
                <a:sym typeface="+mn-ea"/>
              </a:rPr>
              <a:t>Is a </a:t>
            </a:r>
            <a:r>
              <a:rPr lang="en-US" sz="2800" b="1" dirty="0" smtClean="0">
                <a:solidFill>
                  <a:schemeClr val="accent1"/>
                </a:solidFill>
                <a:sym typeface="+mn-ea"/>
              </a:rPr>
              <a:t>framework</a:t>
            </a:r>
            <a:r>
              <a:rPr lang="en-US" sz="2800" dirty="0" smtClean="0">
                <a:sym typeface="+mn-ea"/>
              </a:rPr>
              <a:t> for the </a:t>
            </a:r>
            <a:r>
              <a:rPr lang="en-US" sz="2800" dirty="0" smtClean="0">
                <a:solidFill>
                  <a:srgbClr val="FF0000"/>
                </a:solidFill>
                <a:sym typeface="+mn-ea"/>
              </a:rPr>
              <a:t>activities, actions, and tasks</a:t>
            </a:r>
            <a:r>
              <a:rPr lang="en-US" sz="2800" dirty="0" smtClean="0">
                <a:sym typeface="+mn-ea"/>
              </a:rPr>
              <a:t> that are required to build high quality software.</a:t>
            </a:r>
            <a:endParaRPr lang="en-US" sz="2800" dirty="0" smtClean="0"/>
          </a:p>
          <a:p>
            <a:pPr algn="just">
              <a:buFont typeface="Wingdings" panose="05000000000000000000" pitchFamily="2" charset="2"/>
              <a:buChar char="v"/>
            </a:pPr>
            <a:r>
              <a:rPr lang="en-US" sz="2800" b="1" i="1" dirty="0" smtClean="0">
                <a:sym typeface="+mn-ea"/>
              </a:rPr>
              <a:t>A process Models </a:t>
            </a:r>
          </a:p>
          <a:p>
            <a:pPr marL="0" indent="0" algn="just">
              <a:buFont typeface="Wingdings" panose="05000000000000000000" pitchFamily="2" charset="2"/>
              <a:buNone/>
            </a:pPr>
            <a:r>
              <a:rPr lang="en-US" sz="2800" dirty="0" smtClean="0">
                <a:sym typeface="+mn-ea"/>
              </a:rPr>
              <a:t>	Describe the </a:t>
            </a:r>
            <a:r>
              <a:rPr lang="en-US" sz="2800" b="1" dirty="0" smtClean="0">
                <a:solidFill>
                  <a:srgbClr val="FF0000"/>
                </a:solidFill>
                <a:sym typeface="+mn-ea"/>
              </a:rPr>
              <a:t>sequence of phases </a:t>
            </a:r>
            <a:r>
              <a:rPr lang="en-US" sz="2800" dirty="0" smtClean="0">
                <a:sym typeface="+mn-ea"/>
              </a:rPr>
              <a:t>for the entire lifetime of a product. It is also known as </a:t>
            </a:r>
            <a:r>
              <a:rPr lang="en-US" sz="2800" b="1" i="1" dirty="0" smtClean="0">
                <a:sym typeface="+mn-ea"/>
              </a:rPr>
              <a:t>Product Life Cycle.</a:t>
            </a:r>
            <a:endParaRPr lang="en-US" sz="2800" b="1" noProof="0" dirty="0">
              <a:solidFill>
                <a:srgbClr val="7030A0"/>
              </a:solidFill>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Activities-Major phases.</a:t>
            </a:r>
            <a:endParaRPr lang="en-US" dirty="0"/>
          </a:p>
        </p:txBody>
      </p:sp>
      <p:sp>
        <p:nvSpPr>
          <p:cNvPr id="3" name="Content Placeholder 2"/>
          <p:cNvSpPr>
            <a:spLocks noGrp="1"/>
          </p:cNvSpPr>
          <p:nvPr>
            <p:ph idx="1"/>
          </p:nvPr>
        </p:nvSpPr>
        <p:spPr/>
        <p:txBody>
          <a:bodyPr/>
          <a:lstStyle/>
          <a:p>
            <a:r>
              <a:rPr lang="en-US" dirty="0" smtClean="0"/>
              <a:t>Communication</a:t>
            </a:r>
          </a:p>
          <a:p>
            <a:r>
              <a:rPr lang="en-US" dirty="0" smtClean="0"/>
              <a:t>Planning</a:t>
            </a:r>
          </a:p>
          <a:p>
            <a:r>
              <a:rPr lang="en-US" dirty="0" smtClean="0"/>
              <a:t>Modeling</a:t>
            </a:r>
          </a:p>
          <a:p>
            <a:r>
              <a:rPr lang="en-US" dirty="0" smtClean="0"/>
              <a:t>Construction</a:t>
            </a:r>
          </a:p>
          <a:p>
            <a:r>
              <a:rPr lang="en-US" dirty="0" smtClean="0"/>
              <a:t>Deployment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Example (Library Management System)</a:t>
            </a:r>
          </a:p>
          <a:p>
            <a:r>
              <a:rPr lang="en-US" dirty="0" smtClean="0"/>
              <a:t>Suppose the college wants software with the following features:</a:t>
            </a:r>
          </a:p>
          <a:p>
            <a:r>
              <a:rPr lang="en-US" dirty="0" smtClean="0"/>
              <a:t>Student Login </a:t>
            </a:r>
          </a:p>
          <a:p>
            <a:r>
              <a:rPr lang="en-US" dirty="0" smtClean="0"/>
              <a:t>Search Books </a:t>
            </a:r>
          </a:p>
          <a:p>
            <a:r>
              <a:rPr lang="en-US" dirty="0" smtClean="0"/>
              <a:t>Issue Books </a:t>
            </a:r>
          </a:p>
          <a:p>
            <a:r>
              <a:rPr lang="en-US" dirty="0" smtClean="0"/>
              <a:t>Return Books </a:t>
            </a:r>
          </a:p>
          <a:p>
            <a:r>
              <a:rPr lang="en-US" dirty="0" smtClean="0"/>
              <a:t>Fine Calculation </a:t>
            </a:r>
          </a:p>
          <a:p>
            <a:r>
              <a:rPr lang="en-US" dirty="0" smtClean="0"/>
              <a:t>To develop this software, we perform these activities:</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20000"/>
          </a:bodyPr>
          <a:lstStyle/>
          <a:p>
            <a:r>
              <a:rPr lang="en-US" dirty="0" smtClean="0"/>
              <a:t>To develop this software, we perform these activities:</a:t>
            </a:r>
          </a:p>
          <a:p>
            <a:r>
              <a:rPr lang="en-US" b="1" dirty="0" smtClean="0"/>
              <a:t>Activity 1: Communication</a:t>
            </a:r>
          </a:p>
          <a:p>
            <a:r>
              <a:rPr lang="en-US" dirty="0" smtClean="0"/>
              <a:t>Meet the librarian and understand requirements.</a:t>
            </a:r>
          </a:p>
          <a:p>
            <a:r>
              <a:rPr lang="en-US" b="1" dirty="0" smtClean="0"/>
              <a:t>Activity 2: Planning</a:t>
            </a:r>
          </a:p>
          <a:p>
            <a:r>
              <a:rPr lang="en-US" dirty="0" smtClean="0"/>
              <a:t>Estimate cost, duration, and team members.</a:t>
            </a:r>
          </a:p>
          <a:p>
            <a:r>
              <a:rPr lang="en-US" b="1" dirty="0" smtClean="0"/>
              <a:t>Activity 3: Modeling</a:t>
            </a:r>
          </a:p>
          <a:p>
            <a:r>
              <a:rPr lang="en-US" dirty="0" smtClean="0"/>
              <a:t>Prepare database design, UML diagrams, and screen layouts.</a:t>
            </a:r>
          </a:p>
          <a:p>
            <a:r>
              <a:rPr lang="en-US" b="1" dirty="0" smtClean="0"/>
              <a:t>Activity 4: Construction</a:t>
            </a:r>
          </a:p>
          <a:p>
            <a:r>
              <a:rPr lang="en-US" dirty="0" smtClean="0"/>
              <a:t>Write code and test the software.</a:t>
            </a:r>
          </a:p>
          <a:p>
            <a:r>
              <a:rPr lang="en-US" b="1" dirty="0" smtClean="0"/>
              <a:t>Activity 5: Deployment</a:t>
            </a:r>
          </a:p>
          <a:p>
            <a:r>
              <a:rPr lang="en-US" dirty="0" smtClean="0"/>
              <a:t>Install the software in the college library and train the staff.</a:t>
            </a:r>
          </a:p>
          <a:p>
            <a:r>
              <a:rPr lang="en-US" dirty="0" smtClean="0"/>
              <a:t>These five are </a:t>
            </a:r>
            <a:r>
              <a:rPr lang="en-US" b="1" dirty="0" smtClean="0"/>
              <a:t>Activities</a:t>
            </a:r>
            <a:r>
              <a:rPr lang="en-US" dirty="0" smtClean="0"/>
              <a:t>.</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an Action?</a:t>
            </a:r>
            <a:endParaRPr lang="en-US" dirty="0"/>
          </a:p>
        </p:txBody>
      </p:sp>
      <p:sp>
        <p:nvSpPr>
          <p:cNvPr id="3" name="Content Placeholder 2"/>
          <p:cNvSpPr>
            <a:spLocks noGrp="1"/>
          </p:cNvSpPr>
          <p:nvPr>
            <p:ph idx="1"/>
          </p:nvPr>
        </p:nvSpPr>
        <p:spPr/>
        <p:txBody>
          <a:bodyPr/>
          <a:lstStyle/>
          <a:p>
            <a:r>
              <a:rPr lang="en-US" dirty="0" smtClean="0"/>
              <a:t>Is Communication completed by simply meeting the librarian once?</a:t>
            </a:r>
          </a:p>
          <a:p>
            <a:r>
              <a:rPr lang="en-US" dirty="0" smtClean="0"/>
              <a:t>Communication itself consists of several smaller pieces of work.</a:t>
            </a:r>
          </a:p>
          <a:p>
            <a:r>
              <a:rPr lang="en-US" dirty="0" smtClean="0"/>
              <a:t>These are called </a:t>
            </a:r>
            <a:r>
              <a:rPr lang="en-US" b="1" dirty="0" smtClean="0"/>
              <a:t>Actions</a:t>
            </a:r>
            <a:r>
              <a:rPr lang="en-US" dirty="0" smtClean="0"/>
              <a:t>.</a:t>
            </a:r>
          </a:p>
          <a:p>
            <a:endParaRPr lang="en-US" dirty="0" smtClean="0"/>
          </a:p>
          <a:p>
            <a:r>
              <a:rPr lang="en-US" dirty="0" smtClean="0"/>
              <a:t>An </a:t>
            </a:r>
            <a:r>
              <a:rPr lang="en-US" b="1" dirty="0" smtClean="0"/>
              <a:t>Action</a:t>
            </a:r>
            <a:r>
              <a:rPr lang="en-US" dirty="0" smtClean="0"/>
              <a:t> is a </a:t>
            </a:r>
            <a:r>
              <a:rPr lang="en-US" b="1" dirty="0" smtClean="0"/>
              <a:t>subdivision of an Activity</a:t>
            </a:r>
            <a:r>
              <a:rPr lang="en-US" dirty="0" smtClean="0"/>
              <a:t>.</a:t>
            </a:r>
          </a:p>
          <a:p>
            <a:r>
              <a:rPr lang="en-US" dirty="0" smtClean="0"/>
              <a:t>One activity can contain many actions.</a:t>
            </a:r>
          </a:p>
          <a:p>
            <a:endParaRPr lang="en-US"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dirty="0" smtClean="0"/>
              <a:t>Each one is an </a:t>
            </a:r>
            <a:r>
              <a:rPr lang="en-US" b="1" dirty="0" smtClean="0"/>
              <a:t>Action</a:t>
            </a:r>
            <a:r>
              <a:rPr lang="en-US" dirty="0" smtClean="0"/>
              <a:t>.</a:t>
            </a:r>
          </a:p>
          <a:p>
            <a:r>
              <a:rPr lang="en-US" b="1" dirty="0" smtClean="0"/>
              <a:t>Requirement Gathering</a:t>
            </a:r>
          </a:p>
          <a:p>
            <a:pPr>
              <a:buNone/>
            </a:pPr>
            <a:r>
              <a:rPr lang="en-US" dirty="0" smtClean="0"/>
              <a:t>Collect all the requirements from the librarian.</a:t>
            </a:r>
          </a:p>
          <a:p>
            <a:r>
              <a:rPr lang="en-US" b="1" dirty="0" smtClean="0"/>
              <a:t>Requirement Analysis</a:t>
            </a:r>
          </a:p>
          <a:p>
            <a:pPr>
              <a:buNone/>
            </a:pPr>
            <a:r>
              <a:rPr lang="en-US" dirty="0" smtClean="0"/>
              <a:t>Check whether the collected requirements are complete and practical.</a:t>
            </a:r>
          </a:p>
          <a:p>
            <a:r>
              <a:rPr lang="en-US" b="1" dirty="0" smtClean="0"/>
              <a:t>Requirement Validation</a:t>
            </a:r>
          </a:p>
          <a:p>
            <a:pPr>
              <a:buNone/>
            </a:pPr>
            <a:r>
              <a:rPr lang="en-US" dirty="0" smtClean="0"/>
              <a:t>Confirm with the librarian that the requirements are correct.</a:t>
            </a:r>
          </a:p>
          <a:p>
            <a:r>
              <a:rPr lang="en-US" dirty="0" smtClean="0"/>
              <a:t>These are all </a:t>
            </a:r>
            <a:r>
              <a:rPr lang="en-US" b="1" dirty="0" smtClean="0"/>
              <a:t>Actions</a:t>
            </a:r>
            <a:r>
              <a:rPr lang="en-US" dirty="0" smtClean="0"/>
              <a:t> inside the Communication activity.</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Task?</a:t>
            </a:r>
            <a:endParaRPr lang="en-US" dirty="0"/>
          </a:p>
        </p:txBody>
      </p:sp>
      <p:sp>
        <p:nvSpPr>
          <p:cNvPr id="3" name="Content Placeholder 2"/>
          <p:cNvSpPr>
            <a:spLocks noGrp="1"/>
          </p:cNvSpPr>
          <p:nvPr>
            <p:ph idx="1"/>
          </p:nvPr>
        </p:nvSpPr>
        <p:spPr/>
        <p:txBody>
          <a:bodyPr/>
          <a:lstStyle/>
          <a:p>
            <a:r>
              <a:rPr lang="en-US" dirty="0" smtClean="0"/>
              <a:t>"Can Requirement Gathering be completed in one step?“</a:t>
            </a:r>
          </a:p>
          <a:p>
            <a:r>
              <a:rPr lang="en-US" dirty="0" smtClean="0"/>
              <a:t>A </a:t>
            </a:r>
            <a:r>
              <a:rPr lang="en-US" b="1" dirty="0" smtClean="0"/>
              <a:t>Task</a:t>
            </a:r>
            <a:r>
              <a:rPr lang="en-US" dirty="0" smtClean="0"/>
              <a:t> is the </a:t>
            </a:r>
            <a:r>
              <a:rPr lang="en-US" b="1" dirty="0" smtClean="0"/>
              <a:t>smallest unit of work</a:t>
            </a:r>
            <a:r>
              <a:rPr lang="en-US" dirty="0" smtClean="0"/>
              <a:t> performed to complete an action.</a:t>
            </a:r>
          </a:p>
          <a:p>
            <a:r>
              <a:rPr lang="en-US" dirty="0" smtClean="0"/>
              <a:t>Tasks are assigned to individual developers or team members.</a:t>
            </a:r>
          </a:p>
          <a:p>
            <a:endParaRPr lang="en-US" dirty="0" smtClean="0"/>
          </a:p>
          <a:p>
            <a:endParaRPr lang="en-US"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Action</a:t>
            </a:r>
            <a:br>
              <a:rPr lang="en-US" b="1" dirty="0" smtClean="0"/>
            </a:br>
            <a:r>
              <a:rPr lang="en-US" dirty="0" smtClean="0"/>
              <a:t>Requirement Gathering</a:t>
            </a:r>
            <a:endParaRPr lang="en-US" dirty="0"/>
          </a:p>
        </p:txBody>
      </p:sp>
      <p:sp>
        <p:nvSpPr>
          <p:cNvPr id="3" name="Content Placeholder 2"/>
          <p:cNvSpPr>
            <a:spLocks noGrp="1"/>
          </p:cNvSpPr>
          <p:nvPr>
            <p:ph idx="1"/>
          </p:nvPr>
        </p:nvSpPr>
        <p:spPr/>
        <p:txBody>
          <a:bodyPr>
            <a:noAutofit/>
          </a:bodyPr>
          <a:lstStyle/>
          <a:p>
            <a:pPr>
              <a:buNone/>
            </a:pPr>
            <a:r>
              <a:rPr lang="en-US" sz="2400" dirty="0" smtClean="0"/>
              <a:t>Requirement Gathering</a:t>
            </a:r>
          </a:p>
          <a:p>
            <a:pPr>
              <a:buNone/>
            </a:pPr>
            <a:r>
              <a:rPr lang="en-US" sz="2400" dirty="0" smtClean="0"/>
              <a:t>↓</a:t>
            </a:r>
          </a:p>
          <a:p>
            <a:pPr>
              <a:buNone/>
            </a:pPr>
            <a:r>
              <a:rPr lang="en-US" sz="2400" dirty="0" smtClean="0"/>
              <a:t>Meet Librarian</a:t>
            </a:r>
          </a:p>
          <a:p>
            <a:pPr>
              <a:buNone/>
            </a:pPr>
            <a:r>
              <a:rPr lang="en-US" sz="2400" dirty="0" smtClean="0"/>
              <a:t>↓</a:t>
            </a:r>
          </a:p>
          <a:p>
            <a:pPr>
              <a:buNone/>
            </a:pPr>
            <a:r>
              <a:rPr lang="en-US" sz="2400" dirty="0" smtClean="0"/>
              <a:t>Interview Staff</a:t>
            </a:r>
          </a:p>
          <a:p>
            <a:pPr>
              <a:buNone/>
            </a:pPr>
            <a:r>
              <a:rPr lang="en-US" sz="2400" dirty="0" smtClean="0"/>
              <a:t>↓</a:t>
            </a:r>
          </a:p>
          <a:p>
            <a:pPr>
              <a:buNone/>
            </a:pPr>
            <a:r>
              <a:rPr lang="en-US" sz="2400" dirty="0" smtClean="0"/>
              <a:t>Observe Current System</a:t>
            </a:r>
          </a:p>
          <a:p>
            <a:pPr>
              <a:buNone/>
            </a:pPr>
            <a:r>
              <a:rPr lang="en-US" sz="2400" dirty="0" smtClean="0"/>
              <a:t>↓</a:t>
            </a:r>
          </a:p>
          <a:p>
            <a:pPr>
              <a:buNone/>
            </a:pPr>
            <a:r>
              <a:rPr lang="en-US" sz="2400" dirty="0" smtClean="0"/>
              <a:t>Prepare Notes</a:t>
            </a:r>
          </a:p>
          <a:p>
            <a:pPr>
              <a:buNone/>
            </a:pPr>
            <a:r>
              <a:rPr lang="en-US" sz="2400" dirty="0" smtClean="0"/>
              <a:t>↓</a:t>
            </a:r>
          </a:p>
          <a:p>
            <a:pPr>
              <a:buNone/>
            </a:pPr>
            <a:r>
              <a:rPr lang="en-US" sz="2400" dirty="0" smtClean="0"/>
              <a:t>Write Software Requirement Specification (SRS)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of High-Quality Software</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Suppose  You developed an Online Banking System. It crashes every day.. Can we call it good software? </a:t>
            </a:r>
          </a:p>
          <a:p>
            <a:pPr>
              <a:buNone/>
            </a:pPr>
            <a:r>
              <a:rPr lang="en-US" dirty="0" err="1" smtClean="0"/>
              <a:t>Therefore,Software</a:t>
            </a:r>
            <a:r>
              <a:rPr lang="en-US" dirty="0" smtClean="0"/>
              <a:t> Process exists to develop High Quality</a:t>
            </a:r>
          </a:p>
          <a:p>
            <a:pPr>
              <a:buNone/>
            </a:pPr>
            <a:r>
              <a:rPr lang="en-US" dirty="0" smtClean="0"/>
              <a:t>Software.</a:t>
            </a:r>
          </a:p>
          <a:p>
            <a:pPr>
              <a:buNone/>
            </a:pPr>
            <a:endParaRPr lang="en-US" dirty="0" smtClean="0"/>
          </a:p>
          <a:p>
            <a:r>
              <a:rPr lang="en-US" dirty="0" smtClean="0"/>
              <a:t>Correct</a:t>
            </a:r>
          </a:p>
          <a:p>
            <a:r>
              <a:rPr lang="en-US" dirty="0" smtClean="0"/>
              <a:t>Reliable</a:t>
            </a:r>
          </a:p>
          <a:p>
            <a:r>
              <a:rPr lang="en-US" dirty="0" smtClean="0"/>
              <a:t>Secure</a:t>
            </a:r>
          </a:p>
          <a:p>
            <a:r>
              <a:rPr lang="en-US" dirty="0" smtClean="0"/>
              <a:t>Easy to Maintain</a:t>
            </a:r>
          </a:p>
          <a:p>
            <a:r>
              <a:rPr lang="en-US" dirty="0" smtClean="0"/>
              <a:t>Customer Satisfaction</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Process Models?</a:t>
            </a:r>
            <a:endParaRPr lang="en-US" dirty="0"/>
          </a:p>
        </p:txBody>
      </p:sp>
      <p:sp>
        <p:nvSpPr>
          <p:cNvPr id="3" name="Content Placeholder 2"/>
          <p:cNvSpPr>
            <a:spLocks noGrp="1"/>
          </p:cNvSpPr>
          <p:nvPr>
            <p:ph idx="1"/>
          </p:nvPr>
        </p:nvSpPr>
        <p:spPr/>
        <p:txBody>
          <a:bodyPr/>
          <a:lstStyle/>
          <a:p>
            <a:r>
              <a:rPr lang="en-US" dirty="0" smtClean="0"/>
              <a:t>Every project is different.</a:t>
            </a:r>
          </a:p>
          <a:p>
            <a:r>
              <a:rPr lang="en-US" dirty="0" smtClean="0"/>
              <a:t>Different projects require different ways of organizing the Software Process.</a:t>
            </a:r>
          </a:p>
          <a:p>
            <a:r>
              <a:rPr lang="en-US" dirty="0" smtClean="0"/>
              <a:t>These different approaches are called</a:t>
            </a:r>
          </a:p>
          <a:p>
            <a:r>
              <a:rPr lang="en-US" b="1" dirty="0" smtClean="0"/>
              <a:t>Process Models</a:t>
            </a:r>
            <a:r>
              <a:rPr lang="en-US" dirty="0" smtClean="0"/>
              <a:t>.</a:t>
            </a:r>
          </a:p>
          <a:p>
            <a:pPr>
              <a:buNone/>
            </a:pPr>
            <a:r>
              <a:rPr lang="en-US" dirty="0" smtClean="0"/>
              <a:t>    A Process Model describes the sequence of phases followed throughout the software product's life cycle.</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Software Process tells us</a:t>
            </a:r>
          </a:p>
          <a:p>
            <a:r>
              <a:rPr lang="en-US" b="1" dirty="0" smtClean="0"/>
              <a:t>WHAT activities are needed.</a:t>
            </a:r>
            <a:endParaRPr lang="en-US" dirty="0" smtClean="0"/>
          </a:p>
          <a:p>
            <a:r>
              <a:rPr lang="en-US" dirty="0" smtClean="0"/>
              <a:t>Process Model tells us</a:t>
            </a:r>
          </a:p>
          <a:p>
            <a:r>
              <a:rPr lang="en-US" b="1" dirty="0" smtClean="0"/>
              <a:t>HOW to arrange those activities.</a:t>
            </a:r>
            <a:endParaRPr lang="en-US"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533401"/>
          <a:ext cx="8229600" cy="5562600"/>
        </p:xfrm>
        <a:graphic>
          <a:graphicData uri="http://schemas.openxmlformats.org/drawingml/2006/table">
            <a:tbl>
              <a:tblPr firstRow="1" bandRow="1">
                <a:tableStyleId>{5C22544A-7EE6-4342-B048-85BDC9FD1C3A}</a:tableStyleId>
              </a:tblPr>
              <a:tblGrid>
                <a:gridCol w="4114800"/>
                <a:gridCol w="4114800"/>
              </a:tblGrid>
              <a:tr h="971459">
                <a:tc>
                  <a:txBody>
                    <a:bodyPr/>
                    <a:lstStyle/>
                    <a:p>
                      <a:r>
                        <a:rPr lang="en-US" sz="2800" b="1" dirty="0"/>
                        <a:t>Software Process</a:t>
                      </a:r>
                    </a:p>
                  </a:txBody>
                  <a:tcPr anchor="ctr"/>
                </a:tc>
                <a:tc>
                  <a:txBody>
                    <a:bodyPr/>
                    <a:lstStyle/>
                    <a:p>
                      <a:r>
                        <a:rPr lang="en-US" sz="2800" b="1"/>
                        <a:t>Process Model</a:t>
                      </a:r>
                    </a:p>
                  </a:txBody>
                  <a:tcPr anchor="ctr"/>
                </a:tc>
              </a:tr>
              <a:tr h="971459">
                <a:tc>
                  <a:txBody>
                    <a:bodyPr/>
                    <a:lstStyle/>
                    <a:p>
                      <a:r>
                        <a:rPr lang="en-US" sz="2800" b="1"/>
                        <a:t>Framework for software development</a:t>
                      </a:r>
                    </a:p>
                  </a:txBody>
                  <a:tcPr anchor="ctr"/>
                </a:tc>
                <a:tc>
                  <a:txBody>
                    <a:bodyPr/>
                    <a:lstStyle/>
                    <a:p>
                      <a:r>
                        <a:rPr lang="en-US" sz="2800" b="1"/>
                        <a:t>Way of organizing the framework</a:t>
                      </a:r>
                    </a:p>
                  </a:txBody>
                  <a:tcPr anchor="ctr"/>
                </a:tc>
              </a:tr>
              <a:tr h="971459">
                <a:tc>
                  <a:txBody>
                    <a:bodyPr/>
                    <a:lstStyle/>
                    <a:p>
                      <a:r>
                        <a:rPr lang="en-US" sz="2800" b="1" dirty="0"/>
                        <a:t>Defines activities, actions and tasks</a:t>
                      </a:r>
                    </a:p>
                  </a:txBody>
                  <a:tcPr anchor="ctr"/>
                </a:tc>
                <a:tc>
                  <a:txBody>
                    <a:bodyPr/>
                    <a:lstStyle/>
                    <a:p>
                      <a:r>
                        <a:rPr lang="en-US" sz="2800" b="1"/>
                        <a:t>Defines the sequence of phases</a:t>
                      </a:r>
                    </a:p>
                  </a:txBody>
                  <a:tcPr anchor="ctr"/>
                </a:tc>
              </a:tr>
              <a:tr h="971459">
                <a:tc>
                  <a:txBody>
                    <a:bodyPr/>
                    <a:lstStyle/>
                    <a:p>
                      <a:r>
                        <a:rPr lang="en-US" sz="2800" b="1"/>
                        <a:t>Common to all software projects</a:t>
                      </a:r>
                    </a:p>
                  </a:txBody>
                  <a:tcPr anchor="ctr"/>
                </a:tc>
                <a:tc>
                  <a:txBody>
                    <a:bodyPr/>
                    <a:lstStyle/>
                    <a:p>
                      <a:r>
                        <a:rPr lang="en-US" sz="2800" b="1"/>
                        <a:t>Changes depending on project type</a:t>
                      </a:r>
                    </a:p>
                  </a:txBody>
                  <a:tcPr anchor="ctr"/>
                </a:tc>
              </a:tr>
              <a:tr h="1676764">
                <a:tc>
                  <a:txBody>
                    <a:bodyPr/>
                    <a:lstStyle/>
                    <a:p>
                      <a:r>
                        <a:rPr lang="en-US" sz="2800" b="1" dirty="0"/>
                        <a:t>Example: Communication, Planning, Testing</a:t>
                      </a:r>
                    </a:p>
                  </a:txBody>
                  <a:tcPr anchor="ctr"/>
                </a:tc>
                <a:tc>
                  <a:txBody>
                    <a:bodyPr/>
                    <a:lstStyle/>
                    <a:p>
                      <a:r>
                        <a:rPr lang="en-US" sz="2800" b="1" dirty="0"/>
                        <a:t>Example: Waterfall, Incremental, Spiral, Agile</a:t>
                      </a:r>
                    </a:p>
                  </a:txBody>
                  <a:tcPr anchor="ct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13410"/>
          </a:xfrm>
        </p:spPr>
        <p:txBody>
          <a:bodyPr>
            <a:normAutofit fontScale="90000"/>
          </a:bodyPr>
          <a:lstStyle/>
          <a:p>
            <a:r>
              <a:rPr lang="en-US" b="1" dirty="0" smtClean="0">
                <a:sym typeface="+mn-ea"/>
              </a:rPr>
              <a:t>Generic Process Model</a:t>
            </a:r>
            <a:endParaRPr lang="en-US" b="1"/>
          </a:p>
        </p:txBody>
      </p:sp>
      <p:sp>
        <p:nvSpPr>
          <p:cNvPr id="3" name="Content Placeholder 2"/>
          <p:cNvSpPr>
            <a:spLocks noGrp="1"/>
          </p:cNvSpPr>
          <p:nvPr>
            <p:ph sz="half" idx="1"/>
          </p:nvPr>
        </p:nvSpPr>
        <p:spPr>
          <a:xfrm>
            <a:off x="320675" y="697865"/>
            <a:ext cx="8466455" cy="6089015"/>
          </a:xfrm>
        </p:spPr>
        <p:txBody>
          <a:bodyPr>
            <a:noAutofit/>
          </a:bodyPr>
          <a:lstStyle/>
          <a:p>
            <a:pPr marL="0" indent="0" algn="just">
              <a:buFont typeface="Wingdings" panose="05000000000000000000" pitchFamily="2" charset="2"/>
              <a:buNone/>
              <a:defRPr/>
            </a:pPr>
            <a:r>
              <a:rPr lang="en-US" sz="2000" dirty="0">
                <a:sym typeface="+mn-ea"/>
              </a:rPr>
              <a:t>Generic process framework for software engineering defines </a:t>
            </a:r>
            <a:endParaRPr lang="en-US" sz="2000" dirty="0" smtClean="0"/>
          </a:p>
          <a:p>
            <a:pPr algn="just">
              <a:buFont typeface="Wingdings" panose="05000000000000000000" pitchFamily="2" charset="2"/>
              <a:buChar char="v"/>
            </a:pPr>
            <a:r>
              <a:rPr lang="en-US" sz="2000" dirty="0">
                <a:sym typeface="+mn-ea"/>
              </a:rPr>
              <a:t>	 </a:t>
            </a:r>
            <a:r>
              <a:rPr lang="en-US" sz="2000" b="1" i="1" dirty="0">
                <a:sym typeface="+mn-ea"/>
              </a:rPr>
              <a:t>Process </a:t>
            </a:r>
            <a:r>
              <a:rPr lang="en-US" sz="2000" dirty="0">
                <a:sym typeface="+mn-ea"/>
              </a:rPr>
              <a:t>was defined as a collection of work activities, actions and tasks that are performed when some product is to be created</a:t>
            </a:r>
            <a:endParaRPr lang="en-US" sz="2000" dirty="0"/>
          </a:p>
          <a:p>
            <a:pPr algn="just">
              <a:buFont typeface="Wingdings" panose="05000000000000000000" pitchFamily="2" charset="2"/>
              <a:buChar char="v"/>
              <a:defRPr/>
            </a:pPr>
            <a:r>
              <a:rPr lang="en-US" sz="2000" dirty="0" smtClean="0">
                <a:sym typeface="+mn-ea"/>
              </a:rPr>
              <a:t>  5 framework </a:t>
            </a:r>
            <a:r>
              <a:rPr lang="en-US" sz="2000" dirty="0">
                <a:sym typeface="+mn-ea"/>
              </a:rPr>
              <a:t>activities</a:t>
            </a:r>
            <a:endParaRPr lang="en-US" sz="2000" dirty="0"/>
          </a:p>
          <a:p>
            <a:pPr lvl="2" algn="just">
              <a:defRPr/>
            </a:pPr>
            <a:r>
              <a:rPr lang="en-US" b="1" dirty="0" smtClean="0">
                <a:sym typeface="+mn-ea"/>
              </a:rPr>
              <a:t>Communication – </a:t>
            </a:r>
            <a:r>
              <a:rPr lang="en-US" dirty="0" smtClean="0">
                <a:sym typeface="+mn-ea"/>
              </a:rPr>
              <a:t>Gather Requirements from Customers </a:t>
            </a:r>
            <a:endParaRPr lang="en-US" dirty="0" smtClean="0"/>
          </a:p>
          <a:p>
            <a:pPr lvl="2" algn="just">
              <a:defRPr/>
            </a:pPr>
            <a:r>
              <a:rPr lang="en-US" b="1" dirty="0" smtClean="0">
                <a:sym typeface="+mn-ea"/>
              </a:rPr>
              <a:t> planning – </a:t>
            </a:r>
            <a:r>
              <a:rPr lang="en-US" dirty="0" smtClean="0">
                <a:sym typeface="+mn-ea"/>
              </a:rPr>
              <a:t>Plan to be followed will be created. It describes the technical task to be conducted, risk ,required resources, work schedule etc.,</a:t>
            </a:r>
            <a:endParaRPr lang="en-US" dirty="0" smtClean="0"/>
          </a:p>
          <a:p>
            <a:pPr lvl="2" algn="just">
              <a:defRPr/>
            </a:pPr>
            <a:r>
              <a:rPr lang="en-US" b="1" dirty="0" smtClean="0">
                <a:sym typeface="+mn-ea"/>
              </a:rPr>
              <a:t>Modeling – </a:t>
            </a:r>
            <a:r>
              <a:rPr lang="en-US" dirty="0" smtClean="0">
                <a:sym typeface="+mn-ea"/>
              </a:rPr>
              <a:t>A model will be created to better understand the requirements</a:t>
            </a:r>
            <a:endParaRPr lang="en-US" dirty="0" smtClean="0"/>
          </a:p>
          <a:p>
            <a:pPr lvl="2" algn="just">
              <a:defRPr/>
            </a:pPr>
            <a:r>
              <a:rPr lang="en-US" b="1" dirty="0" smtClean="0">
                <a:sym typeface="+mn-ea"/>
              </a:rPr>
              <a:t>Construction – </a:t>
            </a:r>
            <a:r>
              <a:rPr lang="en-US" dirty="0" smtClean="0">
                <a:sym typeface="+mn-ea"/>
              </a:rPr>
              <a:t>Code generated and tested</a:t>
            </a:r>
            <a:endParaRPr lang="en-US" dirty="0" smtClean="0"/>
          </a:p>
          <a:p>
            <a:pPr lvl="2" algn="just">
              <a:defRPr/>
            </a:pPr>
            <a:r>
              <a:rPr lang="en-US" b="1" dirty="0" smtClean="0">
                <a:sym typeface="+mn-ea"/>
              </a:rPr>
              <a:t>Deployment  </a:t>
            </a:r>
            <a:r>
              <a:rPr lang="en-US" dirty="0" smtClean="0">
                <a:sym typeface="+mn-ea"/>
              </a:rPr>
              <a:t>- Complete or partial complete version of software is given to the customer to evaluate and they give feed back based on the evaluation</a:t>
            </a:r>
            <a:endParaRPr lang="en-US" dirty="0"/>
          </a:p>
          <a:p>
            <a:pPr algn="just">
              <a:buFont typeface="Wingdings" panose="05000000000000000000" pitchFamily="2" charset="2"/>
              <a:buChar char="v"/>
              <a:defRPr/>
            </a:pPr>
            <a:r>
              <a:rPr lang="en-US" sz="2000" dirty="0" smtClean="0">
                <a:sym typeface="+mn-ea"/>
              </a:rPr>
              <a:t> a </a:t>
            </a:r>
            <a:r>
              <a:rPr lang="en-US" sz="2000" dirty="0">
                <a:sym typeface="+mn-ea"/>
              </a:rPr>
              <a:t>set of umbrella activities</a:t>
            </a:r>
            <a:endParaRPr lang="en-US" sz="2000" dirty="0"/>
          </a:p>
          <a:p>
            <a:pPr lvl="1" algn="just">
              <a:defRPr/>
            </a:pPr>
            <a:r>
              <a:rPr lang="en-US" sz="2000" dirty="0">
                <a:sym typeface="+mn-ea"/>
              </a:rPr>
              <a:t>Project tracking and control, risk management, quality assurance, configuration management, technical reviews, reusability, documentation and Measurement.</a:t>
            </a:r>
            <a:endParaRPr lang="en-US" sz="2000" dirty="0"/>
          </a:p>
          <a:p>
            <a:pPr marL="114300" indent="0" algn="just">
              <a:buNone/>
            </a:pP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1: Communication</a:t>
            </a:r>
            <a:endParaRPr lang="en-US" dirty="0"/>
          </a:p>
        </p:txBody>
      </p:sp>
      <p:sp>
        <p:nvSpPr>
          <p:cNvPr id="3" name="Content Placeholder 2"/>
          <p:cNvSpPr>
            <a:spLocks noGrp="1"/>
          </p:cNvSpPr>
          <p:nvPr>
            <p:ph idx="1"/>
          </p:nvPr>
        </p:nvSpPr>
        <p:spPr>
          <a:xfrm>
            <a:off x="228600" y="1295400"/>
            <a:ext cx="8915400" cy="4953000"/>
          </a:xfrm>
        </p:spPr>
        <p:txBody>
          <a:bodyPr>
            <a:normAutofit fontScale="70000" lnSpcReduction="20000"/>
          </a:bodyPr>
          <a:lstStyle/>
          <a:p>
            <a:pPr>
              <a:buNone/>
            </a:pPr>
            <a:r>
              <a:rPr lang="en-US" sz="3400" dirty="0" smtClean="0"/>
              <a:t>Imagine you are asked to </a:t>
            </a:r>
            <a:r>
              <a:rPr lang="en-US" sz="3400" dirty="0" err="1" smtClean="0"/>
              <a:t>developLibrary</a:t>
            </a:r>
            <a:r>
              <a:rPr lang="en-US" sz="3400" dirty="0" smtClean="0"/>
              <a:t> Management Software.</a:t>
            </a:r>
          </a:p>
          <a:p>
            <a:pPr>
              <a:buNone/>
            </a:pPr>
            <a:r>
              <a:rPr lang="en-US" sz="3400" dirty="0" smtClean="0"/>
              <a:t>Question</a:t>
            </a:r>
          </a:p>
          <a:p>
            <a:pPr>
              <a:buNone/>
            </a:pPr>
            <a:r>
              <a:rPr lang="en-US" sz="3400" dirty="0" smtClean="0"/>
              <a:t>Can you directly start </a:t>
            </a:r>
            <a:r>
              <a:rPr lang="en-US" sz="3400" dirty="0" err="1" smtClean="0"/>
              <a:t>coding?Why</a:t>
            </a:r>
            <a:r>
              <a:rPr lang="en-US" sz="3400" dirty="0" smtClean="0"/>
              <a:t>?</a:t>
            </a:r>
          </a:p>
          <a:p>
            <a:pPr>
              <a:buNone/>
            </a:pPr>
            <a:r>
              <a:rPr lang="en-US" sz="3400" dirty="0" err="1" smtClean="0"/>
              <a:t>Because.You</a:t>
            </a:r>
            <a:r>
              <a:rPr lang="en-US" sz="3400" dirty="0" smtClean="0"/>
              <a:t> don't know</a:t>
            </a:r>
          </a:p>
          <a:p>
            <a:r>
              <a:rPr lang="en-US" sz="3400" dirty="0" smtClean="0"/>
              <a:t>Number of users </a:t>
            </a:r>
          </a:p>
          <a:p>
            <a:r>
              <a:rPr lang="en-US" sz="3400" dirty="0" smtClean="0"/>
              <a:t>Required features </a:t>
            </a:r>
          </a:p>
          <a:p>
            <a:r>
              <a:rPr lang="en-US" sz="3400" dirty="0" smtClean="0"/>
              <a:t>Reports </a:t>
            </a:r>
          </a:p>
          <a:p>
            <a:r>
              <a:rPr lang="en-US" sz="3400" dirty="0" smtClean="0"/>
              <a:t>Fine calculation </a:t>
            </a:r>
          </a:p>
          <a:p>
            <a:r>
              <a:rPr lang="en-US" sz="3400" dirty="0" smtClean="0"/>
              <a:t>Login details </a:t>
            </a:r>
          </a:p>
          <a:p>
            <a:pPr>
              <a:buNone/>
            </a:pPr>
            <a:r>
              <a:rPr lang="en-US" sz="3400" dirty="0" smtClean="0"/>
              <a:t>So first</a:t>
            </a:r>
          </a:p>
          <a:p>
            <a:pPr>
              <a:buNone/>
            </a:pPr>
            <a:r>
              <a:rPr lang="en-US" sz="3400" dirty="0" smtClean="0"/>
              <a:t>Developer meets Customer.</a:t>
            </a:r>
          </a:p>
          <a:p>
            <a:pPr>
              <a:buNone/>
            </a:pPr>
            <a:r>
              <a:rPr lang="en-US" sz="3400" dirty="0" smtClean="0"/>
              <a:t>This activity is called</a:t>
            </a:r>
          </a:p>
          <a:p>
            <a:pPr>
              <a:buNone/>
            </a:pPr>
            <a:r>
              <a:rPr lang="en-US" sz="3400" b="1" dirty="0" smtClean="0"/>
              <a:t>Communication.</a:t>
            </a:r>
            <a:endParaRPr lang="en-US" sz="3400" dirty="0" smtClean="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Purpose</a:t>
            </a:r>
            <a:br>
              <a:rPr lang="en-US" b="1" dirty="0" smtClean="0"/>
            </a:br>
            <a:endParaRPr lang="en-US" dirty="0"/>
          </a:p>
        </p:txBody>
      </p:sp>
      <p:sp>
        <p:nvSpPr>
          <p:cNvPr id="3" name="Content Placeholder 2"/>
          <p:cNvSpPr>
            <a:spLocks noGrp="1"/>
          </p:cNvSpPr>
          <p:nvPr>
            <p:ph idx="1"/>
          </p:nvPr>
        </p:nvSpPr>
        <p:spPr/>
        <p:txBody>
          <a:bodyPr/>
          <a:lstStyle/>
          <a:p>
            <a:r>
              <a:rPr lang="en-US" dirty="0" smtClean="0"/>
              <a:t>Understand</a:t>
            </a:r>
          </a:p>
          <a:p>
            <a:r>
              <a:rPr lang="en-US" dirty="0" smtClean="0"/>
              <a:t>Customer needs </a:t>
            </a:r>
          </a:p>
          <a:p>
            <a:r>
              <a:rPr lang="en-US" dirty="0" smtClean="0"/>
              <a:t>Business requirements </a:t>
            </a:r>
          </a:p>
          <a:p>
            <a:r>
              <a:rPr lang="en-US" dirty="0" smtClean="0"/>
              <a:t>Problems </a:t>
            </a:r>
          </a:p>
          <a:p>
            <a:r>
              <a:rPr lang="en-US" dirty="0" smtClean="0"/>
              <a:t>Expectations </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Activities</a:t>
            </a:r>
            <a:br>
              <a:rPr lang="en-US" b="1" dirty="0" smtClean="0"/>
            </a:br>
            <a:endParaRPr lang="en-US" dirty="0"/>
          </a:p>
        </p:txBody>
      </p:sp>
      <p:sp>
        <p:nvSpPr>
          <p:cNvPr id="3" name="Content Placeholder 2"/>
          <p:cNvSpPr>
            <a:spLocks noGrp="1"/>
          </p:cNvSpPr>
          <p:nvPr>
            <p:ph idx="1"/>
          </p:nvPr>
        </p:nvSpPr>
        <p:spPr>
          <a:xfrm>
            <a:off x="381000" y="990600"/>
            <a:ext cx="8305800" cy="5135563"/>
          </a:xfrm>
        </p:spPr>
        <p:txBody>
          <a:bodyPr>
            <a:normAutofit lnSpcReduction="10000"/>
          </a:bodyPr>
          <a:lstStyle/>
          <a:p>
            <a:r>
              <a:rPr lang="en-US" dirty="0" smtClean="0"/>
              <a:t>Interview customer </a:t>
            </a:r>
          </a:p>
          <a:p>
            <a:r>
              <a:rPr lang="en-US" dirty="0" smtClean="0"/>
              <a:t>Gather requirements </a:t>
            </a:r>
          </a:p>
          <a:p>
            <a:r>
              <a:rPr lang="en-US" dirty="0" smtClean="0"/>
              <a:t>Ask questions </a:t>
            </a:r>
          </a:p>
          <a:p>
            <a:r>
              <a:rPr lang="en-US" dirty="0" smtClean="0"/>
              <a:t>Clarify doubts</a:t>
            </a:r>
          </a:p>
          <a:p>
            <a:r>
              <a:rPr lang="en-US" dirty="0" smtClean="0"/>
              <a:t>Developer asks</a:t>
            </a:r>
          </a:p>
          <a:p>
            <a:r>
              <a:rPr lang="en-US" dirty="0" smtClean="0"/>
              <a:t>How are books issued? </a:t>
            </a:r>
          </a:p>
          <a:p>
            <a:r>
              <a:rPr lang="en-US" dirty="0" smtClean="0"/>
              <a:t>How is fine calculated? </a:t>
            </a:r>
          </a:p>
          <a:p>
            <a:r>
              <a:rPr lang="en-US" dirty="0" smtClean="0"/>
              <a:t>Should students reserve books online? </a:t>
            </a:r>
          </a:p>
          <a:p>
            <a:r>
              <a:rPr lang="en-US" dirty="0" smtClean="0"/>
              <a:t>Should faculty have special privileges?</a:t>
            </a:r>
          </a:p>
          <a:p>
            <a:endParaRPr lang="en-US" dirty="0" smtClean="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7695"/>
          </a:xfrm>
        </p:spPr>
        <p:txBody>
          <a:bodyPr>
            <a:normAutofit fontScale="90000"/>
          </a:bodyPr>
          <a:lstStyle/>
          <a:p>
            <a:r>
              <a:rPr lang="en-US" b="1" dirty="0" smtClean="0">
                <a:sym typeface="+mn-ea"/>
              </a:rPr>
              <a:t>Generic Process Model</a:t>
            </a:r>
            <a:endParaRPr lang="en-US" b="1"/>
          </a:p>
        </p:txBody>
      </p:sp>
      <p:pic>
        <p:nvPicPr>
          <p:cNvPr id="6148" name="Picture 4"/>
          <p:cNvPicPr>
            <a:picLocks noChangeAspect="1"/>
          </p:cNvPicPr>
          <p:nvPr/>
        </p:nvPicPr>
        <p:blipFill>
          <a:blip r:embed="rId2"/>
          <a:stretch>
            <a:fillRect/>
          </a:stretch>
        </p:blipFill>
        <p:spPr>
          <a:xfrm>
            <a:off x="304800" y="638810"/>
            <a:ext cx="4943475" cy="6039485"/>
          </a:xfrm>
          <a:prstGeom prst="rect">
            <a:avLst/>
          </a:prstGeom>
          <a:noFill/>
          <a:ln w="9525">
            <a:noFill/>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50570"/>
          </a:xfrm>
        </p:spPr>
        <p:txBody>
          <a:bodyPr>
            <a:normAutofit fontScale="90000"/>
          </a:bodyPr>
          <a:lstStyle/>
          <a:p>
            <a:r>
              <a:rPr lang="en-US" altLang="en-US" b="1" dirty="0" smtClean="0">
                <a:sym typeface="+mn-ea"/>
              </a:rPr>
              <a:t>Task Set</a:t>
            </a:r>
            <a:endParaRPr lang="en-US" b="1"/>
          </a:p>
        </p:txBody>
      </p:sp>
      <p:sp>
        <p:nvSpPr>
          <p:cNvPr id="3" name="Content Placeholder 2"/>
          <p:cNvSpPr>
            <a:spLocks noGrp="1"/>
          </p:cNvSpPr>
          <p:nvPr>
            <p:ph sz="half" idx="1"/>
          </p:nvPr>
        </p:nvSpPr>
        <p:spPr>
          <a:xfrm>
            <a:off x="254635" y="762000"/>
            <a:ext cx="8800465" cy="6069965"/>
          </a:xfrm>
        </p:spPr>
        <p:txBody>
          <a:bodyPr>
            <a:noAutofit/>
          </a:bodyPr>
          <a:lstStyle/>
          <a:p>
            <a:pPr algn="just" eaLnBrk="1" hangingPunct="1"/>
            <a:r>
              <a:rPr lang="en-US" altLang="en-US" sz="2400" dirty="0" smtClean="0">
                <a:latin typeface="Palatino" pitchFamily="-128" charset="0"/>
                <a:sym typeface="+mn-ea"/>
              </a:rPr>
              <a:t>A task set defines the actual work to be done to accomplish the objectives of a software engineering action.</a:t>
            </a:r>
            <a:endParaRPr lang="en-US" altLang="en-US" sz="2400" dirty="0" smtClean="0">
              <a:latin typeface="Palatino" pitchFamily="-128" charset="0"/>
            </a:endParaRPr>
          </a:p>
          <a:p>
            <a:pPr lvl="1" algn="just" eaLnBrk="1" hangingPunct="1"/>
            <a:r>
              <a:rPr lang="en-US" altLang="en-US" sz="2400" dirty="0" smtClean="0">
                <a:solidFill>
                  <a:schemeClr val="folHlink"/>
                </a:solidFill>
                <a:latin typeface="Palatino" pitchFamily="-128" charset="0"/>
                <a:sym typeface="+mn-ea"/>
              </a:rPr>
              <a:t>A list of the task to be accomplished</a:t>
            </a:r>
            <a:endParaRPr lang="en-US" altLang="en-US" sz="2400" dirty="0" smtClean="0">
              <a:solidFill>
                <a:schemeClr val="folHlink"/>
              </a:solidFill>
              <a:latin typeface="Palatino" pitchFamily="-128" charset="0"/>
            </a:endParaRPr>
          </a:p>
          <a:p>
            <a:pPr lvl="1" algn="just" eaLnBrk="1" hangingPunct="1"/>
            <a:r>
              <a:rPr lang="en-US" altLang="en-US" sz="2400" dirty="0" smtClean="0">
                <a:solidFill>
                  <a:schemeClr val="folHlink"/>
                </a:solidFill>
                <a:latin typeface="Palatino" pitchFamily="-128" charset="0"/>
                <a:sym typeface="+mn-ea"/>
              </a:rPr>
              <a:t>A list of the work products to be produced</a:t>
            </a:r>
            <a:endParaRPr lang="en-US" altLang="en-US" sz="2400" dirty="0" smtClean="0">
              <a:solidFill>
                <a:schemeClr val="folHlink"/>
              </a:solidFill>
              <a:latin typeface="Palatino" pitchFamily="-128" charset="0"/>
            </a:endParaRPr>
          </a:p>
          <a:p>
            <a:pPr lvl="1" algn="just" eaLnBrk="1" hangingPunct="1"/>
            <a:r>
              <a:rPr lang="en-US" altLang="en-US" sz="2400" dirty="0" smtClean="0">
                <a:solidFill>
                  <a:schemeClr val="folHlink"/>
                </a:solidFill>
                <a:latin typeface="Palatino" pitchFamily="-128" charset="0"/>
                <a:sym typeface="+mn-ea"/>
              </a:rPr>
              <a:t>A list of the quality assurance filters to be applied</a:t>
            </a:r>
          </a:p>
          <a:p>
            <a:pPr marL="457200" lvl="1" indent="0" algn="just" eaLnBrk="1" hangingPunct="1">
              <a:buNone/>
            </a:pPr>
            <a:endParaRPr lang="en-US" sz="2400" b="1">
              <a:solidFill>
                <a:srgbClr val="7030A0"/>
              </a:solidFill>
            </a:endParaRPr>
          </a:p>
          <a:p>
            <a:pPr marL="457200" lvl="1" indent="0" algn="just" eaLnBrk="1" hangingPunct="1">
              <a:buNone/>
            </a:pPr>
            <a:endParaRPr lang="en-US" sz="2400" b="1">
              <a:solidFill>
                <a:srgbClr val="7030A0"/>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155" y="76200"/>
            <a:ext cx="8229600" cy="664210"/>
          </a:xfrm>
        </p:spPr>
        <p:txBody>
          <a:bodyPr>
            <a:normAutofit fontScale="90000"/>
          </a:bodyPr>
          <a:lstStyle/>
          <a:p>
            <a:r>
              <a:rPr lang="en-US" altLang="en-US" b="1" dirty="0" smtClean="0">
                <a:sym typeface="+mn-ea"/>
              </a:rPr>
              <a:t>Process Flow</a:t>
            </a:r>
            <a:endParaRPr lang="en-US" b="1"/>
          </a:p>
        </p:txBody>
      </p:sp>
      <p:sp>
        <p:nvSpPr>
          <p:cNvPr id="3" name="Content Placeholder 2"/>
          <p:cNvSpPr>
            <a:spLocks noGrp="1"/>
          </p:cNvSpPr>
          <p:nvPr>
            <p:ph sz="half" idx="1"/>
          </p:nvPr>
        </p:nvSpPr>
        <p:spPr>
          <a:xfrm>
            <a:off x="457200" y="764540"/>
            <a:ext cx="8401050" cy="5361940"/>
          </a:xfrm>
        </p:spPr>
        <p:txBody>
          <a:bodyPr>
            <a:normAutofit/>
          </a:bodyPr>
          <a:lstStyle/>
          <a:p>
            <a:pPr algn="just" eaLnBrk="0" fontAlgn="base" hangingPunct="0">
              <a:spcBef>
                <a:spcPct val="0"/>
              </a:spcBef>
              <a:spcAft>
                <a:spcPct val="0"/>
              </a:spcAft>
              <a:buClrTx/>
              <a:buSzTx/>
              <a:buFontTx/>
              <a:buNone/>
            </a:pPr>
            <a:r>
              <a:rPr lang="en-US" altLang="en-US" dirty="0" smtClean="0">
                <a:solidFill>
                  <a:srgbClr val="000000"/>
                </a:solidFill>
                <a:latin typeface="Arial" panose="020B0604020202020204" pitchFamily="34" charset="0"/>
                <a:ea typeface="MS PGothic" panose="020B0600070205080204" pitchFamily="34" charset="-128"/>
                <a:sym typeface="+mn-ea"/>
              </a:rPr>
              <a:t>	Describes how the framework activities and the actions and tasks that occur within each framework activity are organized with respect to sequence and time.</a:t>
            </a:r>
          </a:p>
          <a:p>
            <a:pPr algn="just" eaLnBrk="0" fontAlgn="base" hangingPunct="0">
              <a:spcBef>
                <a:spcPct val="0"/>
              </a:spcBef>
              <a:spcAft>
                <a:spcPct val="0"/>
              </a:spcAft>
              <a:buClrTx/>
              <a:buSzTx/>
              <a:buFontTx/>
              <a:buNone/>
            </a:pPr>
            <a:endParaRPr lang="en-US" altLang="en-US" dirty="0" smtClean="0">
              <a:solidFill>
                <a:srgbClr val="000000"/>
              </a:solidFill>
              <a:latin typeface="Arial" panose="020B0604020202020204" pitchFamily="34" charset="0"/>
              <a:ea typeface="MS PGothic" panose="020B0600070205080204" pitchFamily="34" charset="-128"/>
              <a:sym typeface="+mn-ea"/>
            </a:endParaRPr>
          </a:p>
          <a:p>
            <a:pPr algn="just" eaLnBrk="0" fontAlgn="base" hangingPunct="0">
              <a:spcBef>
                <a:spcPct val="0"/>
              </a:spcBef>
              <a:spcAft>
                <a:spcPct val="0"/>
              </a:spcAft>
              <a:buClrTx/>
              <a:buSzTx/>
              <a:buFontTx/>
              <a:buNone/>
            </a:pPr>
            <a:endParaRPr lang="en-US"/>
          </a:p>
        </p:txBody>
      </p:sp>
      <p:pic>
        <p:nvPicPr>
          <p:cNvPr id="7" name="Content Placeholder 6" descr="linear"/>
          <p:cNvPicPr>
            <a:picLocks noGrp="1" noChangeAspect="1"/>
          </p:cNvPicPr>
          <p:nvPr>
            <p:ph sz="half" idx="2"/>
          </p:nvPr>
        </p:nvPicPr>
        <p:blipFill>
          <a:blip r:embed="rId2"/>
          <a:stretch>
            <a:fillRect/>
          </a:stretch>
        </p:blipFill>
        <p:spPr>
          <a:xfrm>
            <a:off x="1310005" y="2666365"/>
            <a:ext cx="6565265" cy="1539875"/>
          </a:xfrm>
          <a:prstGeom prst="rect">
            <a:avLst/>
          </a:prstGeom>
        </p:spPr>
      </p:pic>
      <p:pic>
        <p:nvPicPr>
          <p:cNvPr id="8" name="Picture 7" descr="iter"/>
          <p:cNvPicPr>
            <a:picLocks noChangeAspect="1"/>
          </p:cNvPicPr>
          <p:nvPr/>
        </p:nvPicPr>
        <p:blipFill>
          <a:blip r:embed="rId3"/>
          <a:stretch>
            <a:fillRect/>
          </a:stretch>
        </p:blipFill>
        <p:spPr>
          <a:xfrm>
            <a:off x="904875" y="4352925"/>
            <a:ext cx="7863205" cy="19837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90575"/>
          </a:xfrm>
        </p:spPr>
        <p:txBody>
          <a:bodyPr>
            <a:normAutofit/>
          </a:bodyPr>
          <a:lstStyle/>
          <a:p>
            <a:r>
              <a:rPr lang="en-US" b="1" dirty="0" smtClean="0">
                <a:sym typeface="+mn-ea"/>
              </a:rPr>
              <a:t>Process Flow</a:t>
            </a:r>
            <a:endParaRPr lang="en-US" b="1"/>
          </a:p>
        </p:txBody>
      </p:sp>
      <p:pic>
        <p:nvPicPr>
          <p:cNvPr id="4" name="Content Placeholder 3" descr="evol"/>
          <p:cNvPicPr>
            <a:picLocks noGrp="1" noChangeAspect="1"/>
          </p:cNvPicPr>
          <p:nvPr>
            <p:ph sz="half" idx="1"/>
          </p:nvPr>
        </p:nvPicPr>
        <p:blipFill>
          <a:blip r:embed="rId2"/>
          <a:stretch>
            <a:fillRect/>
          </a:stretch>
        </p:blipFill>
        <p:spPr>
          <a:xfrm>
            <a:off x="1479550" y="992505"/>
            <a:ext cx="6583045" cy="3184525"/>
          </a:xfrm>
          <a:prstGeom prst="rect">
            <a:avLst/>
          </a:prstGeom>
        </p:spPr>
      </p:pic>
      <p:pic>
        <p:nvPicPr>
          <p:cNvPr id="5" name="Content Placeholder 4" descr="par"/>
          <p:cNvPicPr>
            <a:picLocks noGrp="1" noChangeAspect="1"/>
          </p:cNvPicPr>
          <p:nvPr>
            <p:ph sz="half" idx="2"/>
          </p:nvPr>
        </p:nvPicPr>
        <p:blipFill>
          <a:blip r:embed="rId3"/>
          <a:stretch>
            <a:fillRect/>
          </a:stretch>
        </p:blipFill>
        <p:spPr>
          <a:xfrm>
            <a:off x="930910" y="4178935"/>
            <a:ext cx="7232015" cy="246189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altLang="en-US" b="1" spc="-100" dirty="0">
                <a:sym typeface="+mn-ea"/>
              </a:rPr>
              <a:t>Waterfall</a:t>
            </a:r>
            <a:r>
              <a:rPr lang="en-US" altLang="en-US" b="1" dirty="0" smtClean="0">
                <a:sym typeface="+mn-ea"/>
              </a:rPr>
              <a:t> Model</a:t>
            </a:r>
            <a:endParaRPr lang="en-US" b="1"/>
          </a:p>
        </p:txBody>
      </p:sp>
      <p:sp>
        <p:nvSpPr>
          <p:cNvPr id="7" name="Text Box 6"/>
          <p:cNvSpPr txBox="1"/>
          <p:nvPr/>
        </p:nvSpPr>
        <p:spPr>
          <a:xfrm>
            <a:off x="304800" y="1219200"/>
            <a:ext cx="8552815" cy="7847330"/>
          </a:xfrm>
          <a:prstGeom prst="rect">
            <a:avLst/>
          </a:prstGeom>
          <a:noFill/>
        </p:spPr>
        <p:txBody>
          <a:bodyPr wrap="square" rtlCol="0" anchor="t">
            <a:spAutoFit/>
          </a:bodyPr>
          <a:lstStyle/>
          <a:p>
            <a:pPr marL="342900" indent="-342900" algn="just">
              <a:buFont typeface="Wingdings" panose="05000000000000000000" charset="0"/>
              <a:buChar char="Ø"/>
            </a:pPr>
            <a:r>
              <a:rPr lang="en-US" sz="2400" dirty="0" smtClean="0">
                <a:sym typeface="+mn-ea"/>
              </a:rPr>
              <a:t>The first formal description of waterfall model is cited in  1970  by </a:t>
            </a:r>
            <a:r>
              <a:rPr lang="en-US" sz="2400" b="1" u="sng" dirty="0" smtClean="0">
                <a:solidFill>
                  <a:srgbClr val="C00000"/>
                </a:solidFill>
                <a:sym typeface="+mn-ea"/>
              </a:rPr>
              <a:t>Winston W.Royce.</a:t>
            </a:r>
          </a:p>
          <a:p>
            <a:pPr marL="342900" indent="-342900" algn="just">
              <a:buFont typeface="Wingdings" panose="05000000000000000000" charset="0"/>
              <a:buChar char="Ø"/>
            </a:pPr>
            <a:r>
              <a:rPr lang="en-US" sz="2400" dirty="0"/>
              <a:t>The Waterfall Model was the </a:t>
            </a:r>
            <a:r>
              <a:rPr lang="en-US" sz="2400" b="1" dirty="0">
                <a:solidFill>
                  <a:srgbClr val="00B050"/>
                </a:solidFill>
              </a:rPr>
              <a:t>first Process Model</a:t>
            </a:r>
            <a:r>
              <a:rPr lang="en-US" sz="2400" dirty="0"/>
              <a:t> to be introduced. It is also referred to as a </a:t>
            </a:r>
            <a:r>
              <a:rPr lang="en-US" sz="2400" b="1" dirty="0">
                <a:solidFill>
                  <a:srgbClr val="00B050"/>
                </a:solidFill>
              </a:rPr>
              <a:t>linear-sequential life cycle model. </a:t>
            </a:r>
          </a:p>
          <a:p>
            <a:pPr marL="342900" indent="-342900" algn="just">
              <a:buFont typeface="Wingdings" panose="05000000000000000000" charset="0"/>
              <a:buChar char="Ø"/>
            </a:pPr>
            <a:r>
              <a:rPr lang="en-US" sz="2400" dirty="0"/>
              <a:t>It is very simple to </a:t>
            </a:r>
            <a:r>
              <a:rPr lang="en-US" sz="2400" b="1" dirty="0">
                <a:solidFill>
                  <a:schemeClr val="tx2">
                    <a:lumMod val="60000"/>
                    <a:lumOff val="40000"/>
                  </a:schemeClr>
                </a:solidFill>
              </a:rPr>
              <a:t>understand and use. </a:t>
            </a:r>
          </a:p>
          <a:p>
            <a:pPr marL="342900" indent="-342900" algn="just">
              <a:buFont typeface="Wingdings" panose="05000000000000000000" charset="0"/>
              <a:buChar char="Ø"/>
            </a:pPr>
            <a:r>
              <a:rPr lang="en-US" sz="2400" dirty="0"/>
              <a:t>The Waterfall model is the earliest SDLC approach that was used for software development.</a:t>
            </a:r>
          </a:p>
          <a:p>
            <a:pPr marL="342900" indent="-342900" algn="just">
              <a:buFont typeface="Wingdings" panose="05000000000000000000" charset="0"/>
              <a:buChar char="Ø"/>
            </a:pPr>
            <a:r>
              <a:rPr lang="en-US" sz="2400" dirty="0"/>
              <a:t>The waterfall Model illustrates the software development process in a </a:t>
            </a:r>
            <a:r>
              <a:rPr lang="en-US" sz="2400" b="1" dirty="0">
                <a:solidFill>
                  <a:schemeClr val="tx2">
                    <a:lumMod val="60000"/>
                    <a:lumOff val="40000"/>
                  </a:schemeClr>
                </a:solidFill>
              </a:rPr>
              <a:t>linear sequential flow</a:t>
            </a:r>
            <a:r>
              <a:rPr lang="en-US" sz="2400" dirty="0"/>
              <a:t>. </a:t>
            </a:r>
          </a:p>
          <a:p>
            <a:pPr marL="342900" indent="-342900" algn="just">
              <a:buFont typeface="Wingdings" panose="05000000000000000000" charset="0"/>
              <a:buChar char="Ø"/>
            </a:pPr>
            <a:r>
              <a:rPr lang="en-US" sz="2400" dirty="0"/>
              <a:t>This means that any phase in the development process begins only if the previous phase is complete. </a:t>
            </a:r>
          </a:p>
          <a:p>
            <a:pPr marL="342900" indent="-342900" algn="just">
              <a:buFont typeface="Wingdings" panose="05000000000000000000" charset="0"/>
              <a:buChar char="Ø"/>
            </a:pPr>
            <a:r>
              <a:rPr lang="en-US" sz="2400" dirty="0"/>
              <a:t>In this waterfall model, </a:t>
            </a:r>
            <a:r>
              <a:rPr lang="en-US" sz="2400" b="1" dirty="0">
                <a:solidFill>
                  <a:schemeClr val="accent6">
                    <a:lumMod val="75000"/>
                  </a:schemeClr>
                </a:solidFill>
              </a:rPr>
              <a:t>the phases do not overlap</a:t>
            </a:r>
          </a:p>
          <a:p>
            <a:pPr indent="0" algn="just">
              <a:buFont typeface="+mj-lt"/>
              <a:buNone/>
            </a:pPr>
            <a:endParaRPr lang="en-US" sz="2400" dirty="0"/>
          </a:p>
          <a:p>
            <a:pPr marL="514350" indent="-514350" algn="just">
              <a:buFont typeface="+mj-lt"/>
              <a:buAutoNum type="arabicPeriod"/>
            </a:pPr>
            <a:endParaRPr lang="en-US" sz="2400" dirty="0"/>
          </a:p>
          <a:p>
            <a:pPr marL="514350" indent="-514350" algn="just">
              <a:buFont typeface="+mj-lt"/>
              <a:buAutoNum type="arabicPeriod"/>
            </a:pPr>
            <a:endParaRPr lang="en-US" sz="2400" dirty="0"/>
          </a:p>
          <a:p>
            <a:pPr marL="514350" indent="-514350" algn="just">
              <a:buFont typeface="+mj-lt"/>
              <a:buAutoNum type="arabicPeriod"/>
            </a:pPr>
            <a:endParaRPr lang="en-US" sz="2400" dirty="0"/>
          </a:p>
          <a:p>
            <a:pPr marL="514350" indent="-514350" algn="just">
              <a:buFont typeface="+mj-lt"/>
              <a:buAutoNum type="arabicPeriod"/>
            </a:pPr>
            <a:endParaRPr lang="en-US" sz="2400" dirty="0"/>
          </a:p>
          <a:p>
            <a:pPr marL="514350" indent="-514350" algn="just">
              <a:buFont typeface="+mj-lt"/>
              <a:buAutoNum type="arabicPeriod"/>
            </a:pPr>
            <a:endParaRPr lang="en-US" sz="2400" dirty="0"/>
          </a:p>
          <a:p>
            <a:pPr marL="514350" indent="-514350" algn="just">
              <a:buFont typeface="+mj-lt"/>
              <a:buAutoNum type="arabicPeriod"/>
            </a:pPr>
            <a:endParaRPr lang="en-US" sz="2400" dirty="0"/>
          </a:p>
          <a:p>
            <a:pPr marL="514350" indent="-514350" algn="just">
              <a:buFont typeface="+mj-lt"/>
              <a:buAutoNum type="arabicPeriod"/>
            </a:pP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5pPr>
          </a:lstStyle>
          <a:p>
            <a:pPr lvl="0" algn="r" eaLnBrk="1" hangingPunct="1">
              <a:buNone/>
            </a:pPr>
            <a:fld id="{9A0DB2DC-4C9A-4742-B13C-FB6460FD3503}" type="slidenum">
              <a:rPr lang="en-US" altLang="en-US" sz="1000" dirty="0">
                <a:latin typeface="Helvetica" pitchFamily="-128" charset="0"/>
              </a:rPr>
              <a:pPr lvl="0" algn="r" eaLnBrk="1" hangingPunct="1">
                <a:buNone/>
              </a:pPr>
              <a:t>40</a:t>
            </a:fld>
            <a:endParaRPr lang="en-US" altLang="en-US" sz="1000" dirty="0">
              <a:latin typeface="Helvetica" pitchFamily="-128" charset="0"/>
            </a:endParaRPr>
          </a:p>
        </p:txBody>
      </p:sp>
      <p:sp>
        <p:nvSpPr>
          <p:cNvPr id="14339" name="Rectangle 2"/>
          <p:cNvSpPr>
            <a:spLocks noGrp="1"/>
          </p:cNvSpPr>
          <p:nvPr>
            <p:ph type="title"/>
          </p:nvPr>
        </p:nvSpPr>
        <p:spPr>
          <a:xfrm>
            <a:off x="1828800" y="303213"/>
            <a:ext cx="4672013" cy="660400"/>
          </a:xfrm>
          <a:ln w="12700"/>
        </p:spPr>
        <p:txBody>
          <a:bodyPr vert="horz" wrap="none" lIns="63500" tIns="25400" rIns="63500" bIns="25400" anchor="t" anchorCtr="0">
            <a:spAutoFit/>
          </a:bodyPr>
          <a:lstStyle/>
          <a:p>
            <a:pPr eaLnBrk="1" hangingPunct="1"/>
            <a:r>
              <a:rPr lang="en-US" altLang="en-US" dirty="0"/>
              <a:t>The Waterfall Model</a:t>
            </a:r>
          </a:p>
        </p:txBody>
      </p:sp>
      <p:pic>
        <p:nvPicPr>
          <p:cNvPr id="14340" name="Picture 3"/>
          <p:cNvPicPr>
            <a:picLocks noChangeAspect="1"/>
          </p:cNvPicPr>
          <p:nvPr/>
        </p:nvPicPr>
        <p:blipFill>
          <a:blip r:embed="rId2"/>
          <a:stretch>
            <a:fillRect/>
          </a:stretch>
        </p:blipFill>
        <p:spPr>
          <a:xfrm>
            <a:off x="731838" y="2085975"/>
            <a:ext cx="7899400" cy="1900238"/>
          </a:xfrm>
          <a:prstGeom prst="rect">
            <a:avLst/>
          </a:prstGeom>
          <a:solidFill>
            <a:srgbClr val="96E3FE"/>
          </a:solidFill>
          <a:ln w="12700">
            <a:noFill/>
          </a:ln>
        </p:spPr>
      </p:pic>
      <p:pic>
        <p:nvPicPr>
          <p:cNvPr id="14341" name="Picture 1"/>
          <p:cNvPicPr>
            <a:picLocks noChangeAspect="1"/>
          </p:cNvPicPr>
          <p:nvPr/>
        </p:nvPicPr>
        <p:blipFill>
          <a:blip r:embed="rId3"/>
          <a:stretch>
            <a:fillRect/>
          </a:stretch>
        </p:blipFill>
        <p:spPr>
          <a:xfrm>
            <a:off x="26988" y="1557338"/>
            <a:ext cx="9144000" cy="5300662"/>
          </a:xfrm>
          <a:prstGeom prst="rect">
            <a:avLst/>
          </a:prstGeom>
          <a:noFill/>
          <a:ln w="9525">
            <a:noFill/>
          </a:ln>
        </p:spPr>
      </p:pic>
      <p:pic>
        <p:nvPicPr>
          <p:cNvPr id="14342" name="Picture 2"/>
          <p:cNvPicPr>
            <a:picLocks noChangeAspect="1"/>
          </p:cNvPicPr>
          <p:nvPr/>
        </p:nvPicPr>
        <p:blipFill>
          <a:blip r:embed="rId4"/>
          <a:stretch>
            <a:fillRect/>
          </a:stretch>
        </p:blipFill>
        <p:spPr>
          <a:xfrm>
            <a:off x="31750" y="-76200"/>
            <a:ext cx="9139238" cy="6858000"/>
          </a:xfrm>
          <a:prstGeom prst="rect">
            <a:avLst/>
          </a:prstGeom>
          <a:noFill/>
          <a:ln w="9525">
            <a:noFill/>
          </a:ln>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vert="horz" wrap="square" lIns="91440" tIns="45720" rIns="91440" bIns="45720" anchor="b" anchorCtr="0"/>
          <a:lstStyle/>
          <a:p>
            <a:endParaRPr lang="en-US" altLang="en-US" dirty="0"/>
          </a:p>
        </p:txBody>
      </p:sp>
      <p:pic>
        <p:nvPicPr>
          <p:cNvPr id="15363" name="Content Placeholder 5"/>
          <p:cNvPicPr>
            <a:picLocks noGrp="1" noChangeAspect="1"/>
          </p:cNvPicPr>
          <p:nvPr>
            <p:ph idx="1"/>
          </p:nvPr>
        </p:nvPicPr>
        <p:blipFill>
          <a:blip r:embed="rId2"/>
          <a:srcRect/>
          <a:stretch>
            <a:fillRect/>
          </a:stretch>
        </p:blipFill>
        <p:spPr>
          <a:xfrm>
            <a:off x="0" y="23813"/>
            <a:ext cx="9144000" cy="6834187"/>
          </a:xfrm>
        </p:spPr>
      </p:pic>
      <p:sp>
        <p:nvSpPr>
          <p:cNvPr id="4" name="Slide Number Placeholder 3"/>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5pPr>
          </a:lstStyle>
          <a:p>
            <a:pPr lvl="0" algn="r" eaLnBrk="1" hangingPunct="1">
              <a:buNone/>
            </a:pPr>
            <a:fld id="{9A0DB2DC-4C9A-4742-B13C-FB6460FD3503}" type="slidenum">
              <a:rPr lang="en-US" altLang="en-US" sz="1000" dirty="0">
                <a:latin typeface="Helvetica" pitchFamily="-128" charset="0"/>
              </a:rPr>
              <a:pPr lvl="0" algn="r" eaLnBrk="1" hangingPunct="1">
                <a:buNone/>
              </a:pPr>
              <a:t>41</a:t>
            </a:fld>
            <a:endParaRPr lang="en-US" altLang="en-US" sz="1000" dirty="0">
              <a:latin typeface="Helvetica" pitchFamily="-128" charset="0"/>
            </a:endParaRPr>
          </a:p>
        </p:txBody>
      </p:sp>
      <p:pic>
        <p:nvPicPr>
          <p:cNvPr id="15365" name="Picture 7"/>
          <p:cNvPicPr>
            <a:picLocks noChangeAspect="1"/>
          </p:cNvPicPr>
          <p:nvPr/>
        </p:nvPicPr>
        <p:blipFill>
          <a:blip r:embed="rId3"/>
          <a:stretch>
            <a:fillRect/>
          </a:stretch>
        </p:blipFill>
        <p:spPr>
          <a:xfrm>
            <a:off x="0" y="-3175"/>
            <a:ext cx="9067800" cy="686117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vert="horz" wrap="square" lIns="91440" tIns="45720" rIns="91440" bIns="45720" anchor="b" anchorCtr="0"/>
          <a:lstStyle/>
          <a:p>
            <a:endParaRPr lang="en-US" altLang="en-US" dirty="0"/>
          </a:p>
        </p:txBody>
      </p:sp>
      <p:pic>
        <p:nvPicPr>
          <p:cNvPr id="16387" name="Content Placeholder 5"/>
          <p:cNvPicPr>
            <a:picLocks noGrp="1" noChangeAspect="1"/>
          </p:cNvPicPr>
          <p:nvPr>
            <p:ph idx="1"/>
          </p:nvPr>
        </p:nvPicPr>
        <p:blipFill>
          <a:blip r:embed="rId2"/>
          <a:srcRect/>
          <a:stretch>
            <a:fillRect/>
          </a:stretch>
        </p:blipFill>
        <p:spPr>
          <a:xfrm>
            <a:off x="0" y="23813"/>
            <a:ext cx="9144000" cy="6834187"/>
          </a:xfrm>
        </p:spPr>
      </p:pic>
      <p:sp>
        <p:nvSpPr>
          <p:cNvPr id="4" name="Slide Number Placeholder 3"/>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S PGothic" panose="020B0600070205080204" pitchFamily="34" charset="-128"/>
                <a:cs typeface="+mn-cs"/>
              </a:defRPr>
            </a:lvl5pPr>
          </a:lstStyle>
          <a:p>
            <a:pPr lvl="0" algn="r" eaLnBrk="1" hangingPunct="1">
              <a:buNone/>
            </a:pPr>
            <a:fld id="{9A0DB2DC-4C9A-4742-B13C-FB6460FD3503}" type="slidenum">
              <a:rPr lang="en-US" altLang="en-US" sz="1000" dirty="0">
                <a:latin typeface="Helvetica" pitchFamily="-128" charset="0"/>
              </a:rPr>
              <a:pPr lvl="0" algn="r" eaLnBrk="1" hangingPunct="1">
                <a:buNone/>
              </a:pPr>
              <a:t>42</a:t>
            </a:fld>
            <a:endParaRPr lang="en-US" altLang="en-US" sz="1000" dirty="0">
              <a:latin typeface="Helvetica" pitchFamily="-12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955"/>
            <a:ext cx="8229600" cy="627380"/>
          </a:xfrm>
        </p:spPr>
        <p:txBody>
          <a:bodyPr>
            <a:normAutofit fontScale="90000"/>
          </a:bodyPr>
          <a:lstStyle/>
          <a:p>
            <a:endParaRPr lang="en-US"/>
          </a:p>
        </p:txBody>
      </p:sp>
      <p:pic>
        <p:nvPicPr>
          <p:cNvPr id="4" name="Content Placeholder 3" descr="Verifi"/>
          <p:cNvPicPr>
            <a:picLocks noGrp="1" noChangeAspect="1"/>
          </p:cNvPicPr>
          <p:nvPr>
            <p:ph idx="1"/>
          </p:nvPr>
        </p:nvPicPr>
        <p:blipFill>
          <a:blip r:embed="rId2"/>
          <a:stretch>
            <a:fillRect/>
          </a:stretch>
        </p:blipFill>
        <p:spPr>
          <a:xfrm>
            <a:off x="457200" y="274320"/>
            <a:ext cx="8283575" cy="652653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79780"/>
          </a:xfrm>
        </p:spPr>
        <p:txBody>
          <a:bodyPr/>
          <a:lstStyle/>
          <a:p>
            <a:r>
              <a:rPr lang="en-US" b="1"/>
              <a:t>Incremental Model</a:t>
            </a:r>
          </a:p>
        </p:txBody>
      </p:sp>
      <p:sp>
        <p:nvSpPr>
          <p:cNvPr id="3" name="Content Placeholder 2"/>
          <p:cNvSpPr>
            <a:spLocks noGrp="1"/>
          </p:cNvSpPr>
          <p:nvPr>
            <p:ph sz="half" idx="1"/>
          </p:nvPr>
        </p:nvSpPr>
        <p:spPr>
          <a:xfrm>
            <a:off x="457200" y="856615"/>
            <a:ext cx="8229600" cy="5834380"/>
          </a:xfrm>
        </p:spPr>
        <p:txBody>
          <a:bodyPr/>
          <a:lstStyle/>
          <a:p>
            <a:pPr algn="just"/>
            <a:r>
              <a:rPr lang="en-US" dirty="0"/>
              <a:t>Incremental Model is a process of software development where </a:t>
            </a:r>
            <a:r>
              <a:rPr lang="en-US" b="1" dirty="0">
                <a:solidFill>
                  <a:srgbClr val="7030A0"/>
                </a:solidFill>
              </a:rPr>
              <a:t>requirements are broken</a:t>
            </a:r>
            <a:r>
              <a:rPr lang="en-US" dirty="0"/>
              <a:t> down into multiple standalone modules of software development cycle. </a:t>
            </a:r>
          </a:p>
          <a:p>
            <a:pPr algn="just"/>
            <a:r>
              <a:rPr lang="en-US" dirty="0"/>
              <a:t>Incremental development is done in steps from </a:t>
            </a:r>
            <a:r>
              <a:rPr lang="en-US" b="1" dirty="0">
                <a:solidFill>
                  <a:srgbClr val="FF0000"/>
                </a:solidFill>
              </a:rPr>
              <a:t>analysis, design, implementation, testing/verification,  and maintenance.</a:t>
            </a:r>
          </a:p>
          <a:p>
            <a:pPr marL="0" indent="0" algn="just">
              <a:buNone/>
            </a:pPr>
            <a:endParaRPr lang="en-US" b="1" dirty="0">
              <a:solidFill>
                <a:srgbClr val="FF0000"/>
              </a:solidFill>
            </a:endParaRPr>
          </a:p>
        </p:txBody>
      </p:sp>
      <p:graphicFrame>
        <p:nvGraphicFramePr>
          <p:cNvPr id="4" name="Content Placeholder 3"/>
          <p:cNvGraphicFramePr>
            <a:graphicFrameLocks noGrp="1"/>
          </p:cNvGraphicFramePr>
          <p:nvPr>
            <p:ph sz="half" idx="2"/>
            <p:extLst>
              <p:ext uri="{D42A27DB-BD31-4B8C-83A1-F6EECF244321}">
                <p14:modId xmlns:p14="http://schemas.microsoft.com/office/powerpoint/2010/main" xmlns="" val="1379801049"/>
              </p:ext>
            </p:extLst>
          </p:nvPr>
        </p:nvGraphicFramePr>
        <p:xfrm>
          <a:off x="3092450" y="4048125"/>
          <a:ext cx="4496435" cy="2886075"/>
        </p:xfrm>
        <a:graphic>
          <a:graphicData uri="http://schemas.openxmlformats.org/presentationml/2006/ole">
            <p:oleObj spid="_x0000_s1045" r:id="rId3" imgW="3438095" imgH="2505425" progId="PBrush">
              <p:embed/>
            </p:oleObj>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Incremental Model</a:t>
            </a:r>
          </a:p>
        </p:txBody>
      </p:sp>
      <p:sp>
        <p:nvSpPr>
          <p:cNvPr id="3" name="Content Placeholder 2"/>
          <p:cNvSpPr>
            <a:spLocks noGrp="1"/>
          </p:cNvSpPr>
          <p:nvPr>
            <p:ph sz="half" idx="1"/>
          </p:nvPr>
        </p:nvSpPr>
        <p:spPr>
          <a:xfrm>
            <a:off x="457200" y="1600200"/>
            <a:ext cx="8308975" cy="4526280"/>
          </a:xfrm>
        </p:spPr>
        <p:txBody>
          <a:bodyPr/>
          <a:lstStyle/>
          <a:p>
            <a:r>
              <a:rPr lang="en-US"/>
              <a:t> It is also Known as </a:t>
            </a:r>
            <a:r>
              <a:rPr lang="en-US" b="1">
                <a:solidFill>
                  <a:srgbClr val="FF0000"/>
                </a:solidFill>
              </a:rPr>
              <a:t>Multi Water fall Model.</a:t>
            </a:r>
          </a:p>
          <a:p>
            <a:endParaRPr lang="en-US" b="1">
              <a:solidFill>
                <a:srgbClr val="FF0000"/>
              </a:solidFill>
            </a:endParaRPr>
          </a:p>
        </p:txBody>
      </p:sp>
      <p:pic>
        <p:nvPicPr>
          <p:cNvPr id="5" name="Content Placeholder 4" descr="inc"/>
          <p:cNvPicPr>
            <a:picLocks noGrp="1" noChangeAspect="1"/>
          </p:cNvPicPr>
          <p:nvPr>
            <p:ph sz="half" idx="2"/>
          </p:nvPr>
        </p:nvPicPr>
        <p:blipFill>
          <a:blip r:embed="rId2"/>
          <a:stretch>
            <a:fillRect/>
          </a:stretch>
        </p:blipFill>
        <p:spPr>
          <a:xfrm>
            <a:off x="1120775" y="2460625"/>
            <a:ext cx="7566025" cy="391731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75883"/>
            <a:ext cx="8229600" cy="1143000"/>
          </a:xfrm>
        </p:spPr>
        <p:txBody>
          <a:bodyPr/>
          <a:lstStyle/>
          <a:p>
            <a:r>
              <a:rPr lang="en-US" b="1"/>
              <a:t>Incremental Model</a:t>
            </a:r>
          </a:p>
        </p:txBody>
      </p:sp>
      <p:pic>
        <p:nvPicPr>
          <p:cNvPr id="5" name="Content Placeholder 4" descr="incremental"/>
          <p:cNvPicPr>
            <a:picLocks noGrp="1" noChangeAspect="1"/>
          </p:cNvPicPr>
          <p:nvPr>
            <p:ph sz="half" idx="1"/>
          </p:nvPr>
        </p:nvPicPr>
        <p:blipFill>
          <a:blip r:embed="rId2"/>
          <a:stretch>
            <a:fillRect/>
          </a:stretch>
        </p:blipFill>
        <p:spPr>
          <a:xfrm>
            <a:off x="457200" y="1424940"/>
            <a:ext cx="8229600" cy="516636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76200"/>
            <a:ext cx="8229600" cy="979805"/>
          </a:xfrm>
        </p:spPr>
        <p:txBody>
          <a:bodyPr/>
          <a:lstStyle/>
          <a:p>
            <a:r>
              <a:rPr lang="en-US" b="1"/>
              <a:t>Incremental Model</a:t>
            </a:r>
          </a:p>
        </p:txBody>
      </p:sp>
      <p:pic>
        <p:nvPicPr>
          <p:cNvPr id="5" name="Content Placeholder 4" descr="increment"/>
          <p:cNvPicPr>
            <a:picLocks noGrp="1" noChangeAspect="1"/>
          </p:cNvPicPr>
          <p:nvPr>
            <p:ph sz="half" idx="1"/>
          </p:nvPr>
        </p:nvPicPr>
        <p:blipFill>
          <a:blip r:embed="rId2"/>
          <a:stretch>
            <a:fillRect/>
          </a:stretch>
        </p:blipFill>
        <p:spPr>
          <a:xfrm>
            <a:off x="350520" y="1120775"/>
            <a:ext cx="8386445" cy="550926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821690"/>
          </a:xfrm>
        </p:spPr>
        <p:txBody>
          <a:bodyPr>
            <a:normAutofit/>
          </a:bodyPr>
          <a:lstStyle/>
          <a:p>
            <a:r>
              <a:rPr lang="en-US" b="1">
                <a:sym typeface="+mn-ea"/>
              </a:rPr>
              <a:t>Incremental Model</a:t>
            </a:r>
            <a:endParaRPr lang="en-US" b="1"/>
          </a:p>
        </p:txBody>
      </p:sp>
      <p:sp>
        <p:nvSpPr>
          <p:cNvPr id="3" name="Content Placeholder 2"/>
          <p:cNvSpPr>
            <a:spLocks noGrp="1"/>
          </p:cNvSpPr>
          <p:nvPr>
            <p:ph sz="half" idx="1"/>
          </p:nvPr>
        </p:nvSpPr>
        <p:spPr>
          <a:xfrm>
            <a:off x="457200" y="1371600"/>
            <a:ext cx="8369935" cy="5334000"/>
          </a:xfrm>
        </p:spPr>
        <p:txBody>
          <a:bodyPr>
            <a:normAutofit/>
          </a:bodyPr>
          <a:lstStyle/>
          <a:p>
            <a:pPr algn="just"/>
            <a:r>
              <a:rPr lang="en-US" b="1" dirty="0">
                <a:solidFill>
                  <a:schemeClr val="accent2">
                    <a:lumMod val="60000"/>
                    <a:lumOff val="40000"/>
                  </a:schemeClr>
                </a:solidFill>
              </a:rPr>
              <a:t>Incremental model </a:t>
            </a:r>
            <a:r>
              <a:rPr lang="en-US" dirty="0" smtClean="0"/>
              <a:t>is </a:t>
            </a:r>
            <a:r>
              <a:rPr lang="en-US" dirty="0"/>
              <a:t>used when </a:t>
            </a:r>
            <a:r>
              <a:rPr lang="en-US" b="1" dirty="0">
                <a:solidFill>
                  <a:srgbClr val="00B050"/>
                </a:solidFill>
              </a:rPr>
              <a:t>enough staffing </a:t>
            </a:r>
            <a:r>
              <a:rPr lang="en-US" dirty="0" smtClean="0"/>
              <a:t>is </a:t>
            </a:r>
            <a:r>
              <a:rPr lang="en-US" b="1" dirty="0" smtClean="0">
                <a:solidFill>
                  <a:schemeClr val="accent6">
                    <a:lumMod val="75000"/>
                  </a:schemeClr>
                </a:solidFill>
              </a:rPr>
              <a:t>unavailable</a:t>
            </a:r>
            <a:r>
              <a:rPr lang="en-US" dirty="0" smtClean="0"/>
              <a:t>.</a:t>
            </a:r>
          </a:p>
          <a:p>
            <a:pPr algn="just"/>
            <a:r>
              <a:rPr lang="en-US" dirty="0" smtClean="0"/>
              <a:t>Each </a:t>
            </a:r>
            <a:r>
              <a:rPr lang="en-US" dirty="0"/>
              <a:t>iteration passes through the </a:t>
            </a:r>
            <a:r>
              <a:rPr lang="en-US" b="1" dirty="0">
                <a:solidFill>
                  <a:schemeClr val="accent2">
                    <a:lumMod val="60000"/>
                    <a:lumOff val="40000"/>
                  </a:schemeClr>
                </a:solidFill>
              </a:rPr>
              <a:t>requirements, design, coding and testing</a:t>
            </a:r>
            <a:r>
              <a:rPr lang="en-US" dirty="0"/>
              <a:t> phases. </a:t>
            </a:r>
          </a:p>
          <a:p>
            <a:pPr algn="just"/>
            <a:r>
              <a:rPr lang="en-US" dirty="0"/>
              <a:t>Each </a:t>
            </a:r>
            <a:r>
              <a:rPr lang="en-US" dirty="0">
                <a:solidFill>
                  <a:srgbClr val="FF0000"/>
                </a:solidFill>
              </a:rPr>
              <a:t>subsequent release</a:t>
            </a:r>
            <a:r>
              <a:rPr lang="en-US" dirty="0"/>
              <a:t> of the system </a:t>
            </a:r>
            <a:r>
              <a:rPr lang="en-US" b="1" dirty="0">
                <a:solidFill>
                  <a:srgbClr val="7030A0"/>
                </a:solidFill>
              </a:rPr>
              <a:t>adds function</a:t>
            </a:r>
            <a:r>
              <a:rPr lang="en-US" dirty="0"/>
              <a:t> to the previous release </a:t>
            </a:r>
            <a:r>
              <a:rPr lang="en-US" b="1" dirty="0">
                <a:solidFill>
                  <a:schemeClr val="accent5">
                    <a:lumMod val="75000"/>
                  </a:schemeClr>
                </a:solidFill>
              </a:rPr>
              <a:t>until all designed</a:t>
            </a:r>
            <a:r>
              <a:rPr lang="en-US" dirty="0"/>
              <a:t> functionality has been implemented.</a:t>
            </a:r>
          </a:p>
          <a:p>
            <a:pPr algn="just"/>
            <a:r>
              <a:rPr lang="en-US" dirty="0"/>
              <a:t>The system is put into production when the </a:t>
            </a:r>
            <a:r>
              <a:rPr lang="en-US" b="1" dirty="0">
                <a:solidFill>
                  <a:schemeClr val="accent2">
                    <a:lumMod val="60000"/>
                    <a:lumOff val="40000"/>
                  </a:schemeClr>
                </a:solidFill>
              </a:rPr>
              <a:t>first increment is delivered</a:t>
            </a:r>
            <a:r>
              <a:rPr lang="en-US" dirty="0"/>
              <a:t>.</a:t>
            </a:r>
          </a:p>
          <a:p>
            <a:pPr algn="just"/>
            <a:r>
              <a:rPr lang="en-US" dirty="0"/>
              <a:t>Once the core product is </a:t>
            </a:r>
            <a:r>
              <a:rPr lang="en-US" b="1" dirty="0">
                <a:solidFill>
                  <a:srgbClr val="0070C0"/>
                </a:solidFill>
              </a:rPr>
              <a:t>analyzed by the client</a:t>
            </a:r>
            <a:r>
              <a:rPr lang="en-US" dirty="0"/>
              <a:t>, there is plan development for the next increment.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When to use Incremental models?</a:t>
            </a:r>
          </a:p>
        </p:txBody>
      </p:sp>
      <p:sp>
        <p:nvSpPr>
          <p:cNvPr id="3" name="Content Placeholder 2"/>
          <p:cNvSpPr>
            <a:spLocks noGrp="1"/>
          </p:cNvSpPr>
          <p:nvPr>
            <p:ph sz="half" idx="1"/>
          </p:nvPr>
        </p:nvSpPr>
        <p:spPr>
          <a:xfrm>
            <a:off x="457200" y="1600200"/>
            <a:ext cx="8113395" cy="4526280"/>
          </a:xfrm>
        </p:spPr>
        <p:txBody>
          <a:bodyPr>
            <a:normAutofit/>
          </a:bodyPr>
          <a:lstStyle/>
          <a:p>
            <a:pPr algn="just"/>
            <a:r>
              <a:rPr lang="en-US"/>
              <a:t>Requirements of the system are </a:t>
            </a:r>
            <a:r>
              <a:rPr lang="en-US" b="1">
                <a:solidFill>
                  <a:srgbClr val="FF0000"/>
                </a:solidFill>
              </a:rPr>
              <a:t>clearly understood</a:t>
            </a:r>
          </a:p>
          <a:p>
            <a:pPr algn="just"/>
            <a:r>
              <a:rPr lang="en-US"/>
              <a:t>When </a:t>
            </a:r>
            <a:r>
              <a:rPr lang="en-US" b="1">
                <a:solidFill>
                  <a:srgbClr val="0070C0"/>
                </a:solidFill>
              </a:rPr>
              <a:t>demand for an early release</a:t>
            </a:r>
            <a:r>
              <a:rPr lang="en-US"/>
              <a:t> of a product arises</a:t>
            </a:r>
          </a:p>
          <a:p>
            <a:pPr algn="just"/>
            <a:r>
              <a:rPr lang="en-US"/>
              <a:t>When software engineering </a:t>
            </a:r>
            <a:r>
              <a:rPr lang="en-US" b="1">
                <a:solidFill>
                  <a:srgbClr val="7030A0"/>
                </a:solidFill>
              </a:rPr>
              <a:t>team are not very well skilled or trained</a:t>
            </a:r>
          </a:p>
          <a:p>
            <a:pPr algn="just"/>
            <a:r>
              <a:rPr lang="en-US"/>
              <a:t>When </a:t>
            </a:r>
            <a:r>
              <a:rPr lang="en-US" b="1">
                <a:solidFill>
                  <a:srgbClr val="7030A0"/>
                </a:solidFill>
              </a:rPr>
              <a:t>high-risk features</a:t>
            </a:r>
            <a:r>
              <a:rPr lang="en-US"/>
              <a:t> and goals are involved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pic>
        <p:nvPicPr>
          <p:cNvPr id="5" name="Content Placeholder 4" descr="image-10"/>
          <p:cNvPicPr>
            <a:picLocks noGrp="1" noChangeAspect="1"/>
          </p:cNvPicPr>
          <p:nvPr>
            <p:ph sz="half" idx="1"/>
          </p:nvPr>
        </p:nvPicPr>
        <p:blipFill>
          <a:blip r:embed="rId2"/>
          <a:stretch>
            <a:fillRect/>
          </a:stretch>
        </p:blipFill>
        <p:spPr>
          <a:xfrm>
            <a:off x="457200" y="122555"/>
            <a:ext cx="8345170" cy="647827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Content Placeholder 5"/>
          <p:cNvPicPr>
            <a:picLocks noGrp="1" noChangeAspect="1"/>
          </p:cNvPicPr>
          <p:nvPr>
            <p:ph sz="half" idx="2"/>
          </p:nvPr>
        </p:nvPicPr>
        <p:blipFill>
          <a:blip r:embed="rId2"/>
          <a:srcRect/>
          <a:stretch>
            <a:fillRect/>
          </a:stretch>
        </p:blipFill>
        <p:spPr>
          <a:xfrm>
            <a:off x="263525" y="260985"/>
            <a:ext cx="8608060" cy="6313170"/>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55345"/>
          </a:xfrm>
        </p:spPr>
        <p:txBody>
          <a:bodyPr>
            <a:normAutofit/>
          </a:bodyPr>
          <a:lstStyle/>
          <a:p>
            <a:r>
              <a:rPr lang="en-US" altLang="en-US" b="1" dirty="0">
                <a:sym typeface="+mn-ea"/>
              </a:rPr>
              <a:t>Evolutionary Models</a:t>
            </a:r>
            <a:endParaRPr lang="en-US" b="1"/>
          </a:p>
        </p:txBody>
      </p:sp>
      <p:sp>
        <p:nvSpPr>
          <p:cNvPr id="3" name="Content Placeholder 2"/>
          <p:cNvSpPr>
            <a:spLocks noGrp="1"/>
          </p:cNvSpPr>
          <p:nvPr>
            <p:ph sz="half" idx="1"/>
          </p:nvPr>
        </p:nvSpPr>
        <p:spPr>
          <a:xfrm>
            <a:off x="457200" y="1155065"/>
            <a:ext cx="8337550" cy="4971415"/>
          </a:xfrm>
        </p:spPr>
        <p:txBody>
          <a:bodyPr/>
          <a:lstStyle/>
          <a:p>
            <a:pPr algn="just"/>
            <a:r>
              <a:rPr lang="en-US"/>
              <a:t>The word </a:t>
            </a:r>
            <a:r>
              <a:rPr lang="en-US" b="1">
                <a:solidFill>
                  <a:srgbClr val="0070C0"/>
                </a:solidFill>
              </a:rPr>
              <a:t>Evolutionary derived</a:t>
            </a:r>
            <a:r>
              <a:rPr lang="en-US"/>
              <a:t> from the word </a:t>
            </a:r>
            <a:r>
              <a:rPr lang="en-US" b="1">
                <a:solidFill>
                  <a:schemeClr val="accent6"/>
                </a:solidFill>
              </a:rPr>
              <a:t>“Evolution”</a:t>
            </a:r>
            <a:r>
              <a:rPr lang="en-US"/>
              <a:t>.</a:t>
            </a:r>
          </a:p>
          <a:p>
            <a:pPr algn="just"/>
            <a:r>
              <a:rPr lang="en-US"/>
              <a:t>It is a combination of </a:t>
            </a:r>
            <a:r>
              <a:rPr lang="en-US" b="1">
                <a:solidFill>
                  <a:schemeClr val="accent6"/>
                </a:solidFill>
              </a:rPr>
              <a:t>iterative and incremental </a:t>
            </a:r>
            <a:r>
              <a:rPr lang="en-US"/>
              <a:t>apporach for developing a good software.</a:t>
            </a:r>
          </a:p>
          <a:p>
            <a:pPr algn="just"/>
            <a:r>
              <a:rPr lang="en-US"/>
              <a:t>Evolutionary process models are </a:t>
            </a:r>
            <a:r>
              <a:rPr lang="en-US" b="1"/>
              <a:t>Iterative</a:t>
            </a:r>
            <a:r>
              <a:rPr lang="en-US"/>
              <a:t> (An iterative process is a process for calculating a desired results by means of a repeated cycle of operations) and incremental type models.</a:t>
            </a:r>
          </a:p>
          <a:p>
            <a:pPr algn="just"/>
            <a:r>
              <a:rPr lang="en-US"/>
              <a:t>They allow to develop more complete versions of the software.</a:t>
            </a:r>
          </a:p>
          <a:p>
            <a:pPr marL="0" indent="0" algn="just">
              <a:buNone/>
            </a:pPr>
            <a:endParaRPr lang="en-US"/>
          </a:p>
          <a:p>
            <a:pPr algn="just"/>
            <a:endParaRPr lang="en-US"/>
          </a:p>
          <a:p>
            <a:pPr marL="0" indent="0" algn="just">
              <a:buNone/>
            </a:pP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Evolutionary Process Models</a:t>
            </a:r>
          </a:p>
        </p:txBody>
      </p:sp>
      <p:sp>
        <p:nvSpPr>
          <p:cNvPr id="3" name="Content Placeholder 2"/>
          <p:cNvSpPr>
            <a:spLocks noGrp="1"/>
          </p:cNvSpPr>
          <p:nvPr>
            <p:ph sz="half" idx="1"/>
          </p:nvPr>
        </p:nvSpPr>
        <p:spPr>
          <a:xfrm>
            <a:off x="457200" y="1600200"/>
            <a:ext cx="8065135" cy="4794885"/>
          </a:xfrm>
        </p:spPr>
        <p:txBody>
          <a:bodyPr/>
          <a:lstStyle/>
          <a:p>
            <a:pPr marL="0" indent="0">
              <a:buNone/>
            </a:pPr>
            <a:r>
              <a:rPr lang="en-US" sz="3600" b="1">
                <a:solidFill>
                  <a:srgbClr val="FF0000"/>
                </a:solidFill>
              </a:rPr>
              <a:t>1. Prototyping Model</a:t>
            </a:r>
          </a:p>
          <a:p>
            <a:pPr marL="0" indent="0">
              <a:buNone/>
            </a:pPr>
            <a:r>
              <a:rPr lang="en-US" sz="3600" b="1">
                <a:solidFill>
                  <a:srgbClr val="FF0000"/>
                </a:solidFill>
              </a:rPr>
              <a:t>2. Spiral Model</a:t>
            </a:r>
          </a:p>
          <a:p>
            <a:pPr marL="0" indent="0">
              <a:buNone/>
            </a:pPr>
            <a:r>
              <a:rPr lang="en-US" sz="3600" b="1">
                <a:solidFill>
                  <a:srgbClr val="FF0000"/>
                </a:solidFill>
              </a:rPr>
              <a:t>3. Concurrent Development Model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08355"/>
          </a:xfrm>
        </p:spPr>
        <p:txBody>
          <a:bodyPr>
            <a:normAutofit/>
          </a:bodyPr>
          <a:lstStyle/>
          <a:p>
            <a:r>
              <a:rPr lang="en-US" b="1">
                <a:solidFill>
                  <a:schemeClr val="tx1"/>
                </a:solidFill>
                <a:sym typeface="+mn-ea"/>
              </a:rPr>
              <a:t>Prototyping Model</a:t>
            </a:r>
          </a:p>
        </p:txBody>
      </p:sp>
      <p:sp>
        <p:nvSpPr>
          <p:cNvPr id="3" name="Content Placeholder 2"/>
          <p:cNvSpPr>
            <a:spLocks noGrp="1"/>
          </p:cNvSpPr>
          <p:nvPr>
            <p:ph sz="half" idx="1"/>
          </p:nvPr>
        </p:nvSpPr>
        <p:spPr>
          <a:xfrm>
            <a:off x="457200" y="1003300"/>
            <a:ext cx="8284210" cy="5687695"/>
          </a:xfrm>
        </p:spPr>
        <p:txBody>
          <a:bodyPr>
            <a:normAutofit lnSpcReduction="10000"/>
          </a:bodyPr>
          <a:lstStyle/>
          <a:p>
            <a:pPr algn="just"/>
            <a:r>
              <a:rPr lang="en-US" dirty="0"/>
              <a:t>The Prototyping Model is one of the most popularly used Software </a:t>
            </a:r>
            <a:r>
              <a:rPr lang="en-US" dirty="0" err="1"/>
              <a:t>Delvelopment</a:t>
            </a:r>
            <a:r>
              <a:rPr lang="en-US" dirty="0"/>
              <a:t> Life Cycle Models (SDLC models)</a:t>
            </a:r>
          </a:p>
          <a:p>
            <a:pPr algn="just"/>
            <a:r>
              <a:rPr lang="en-US" dirty="0"/>
              <a:t>The Prototyping Model should be used when the </a:t>
            </a:r>
            <a:r>
              <a:rPr lang="en-US" b="1" dirty="0">
                <a:solidFill>
                  <a:schemeClr val="accent6"/>
                </a:solidFill>
              </a:rPr>
              <a:t>requirements of the product are not clearly understood</a:t>
            </a:r>
            <a:r>
              <a:rPr lang="en-US" dirty="0"/>
              <a:t>.</a:t>
            </a:r>
          </a:p>
          <a:p>
            <a:pPr algn="just"/>
            <a:r>
              <a:rPr lang="en-US" dirty="0"/>
              <a:t>It can also be used if </a:t>
            </a:r>
            <a:r>
              <a:rPr lang="en-US" b="1" dirty="0">
                <a:solidFill>
                  <a:srgbClr val="7030A0"/>
                </a:solidFill>
              </a:rPr>
              <a:t>requirements are changing quickly.</a:t>
            </a:r>
          </a:p>
          <a:p>
            <a:pPr algn="just"/>
            <a:r>
              <a:rPr lang="en-US" dirty="0"/>
              <a:t>Prototyping model also supports </a:t>
            </a:r>
            <a:r>
              <a:rPr lang="en-US" b="1" dirty="0">
                <a:solidFill>
                  <a:srgbClr val="7030A0"/>
                </a:solidFill>
              </a:rPr>
              <a:t>risk handling</a:t>
            </a:r>
            <a:r>
              <a:rPr lang="en-US" dirty="0"/>
              <a:t>, but the risks must be identified before the start of the development work of the project.</a:t>
            </a:r>
          </a:p>
          <a:p>
            <a:pPr algn="just"/>
            <a:r>
              <a:rPr lang="en-US" dirty="0"/>
              <a:t>But in real life </a:t>
            </a:r>
            <a:r>
              <a:rPr lang="en-US" b="1" dirty="0">
                <a:solidFill>
                  <a:schemeClr val="accent6">
                    <a:lumMod val="75000"/>
                  </a:schemeClr>
                </a:solidFill>
              </a:rPr>
              <a:t>project risk may occur after the development work starts</a:t>
            </a:r>
            <a:r>
              <a:rPr lang="en-US" dirty="0"/>
              <a:t>.</a:t>
            </a:r>
          </a:p>
          <a:p>
            <a:pPr algn="just"/>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97865"/>
          </a:xfrm>
        </p:spPr>
        <p:txBody>
          <a:bodyPr>
            <a:normAutofit fontScale="90000"/>
          </a:bodyPr>
          <a:lstStyle/>
          <a:p>
            <a:r>
              <a:rPr lang="en-US" b="1">
                <a:solidFill>
                  <a:schemeClr val="tx1"/>
                </a:solidFill>
                <a:sym typeface="+mn-ea"/>
              </a:rPr>
              <a:t>Prototyping Model</a:t>
            </a:r>
          </a:p>
        </p:txBody>
      </p:sp>
      <p:sp>
        <p:nvSpPr>
          <p:cNvPr id="3" name="Content Placeholder 2"/>
          <p:cNvSpPr>
            <a:spLocks noGrp="1"/>
          </p:cNvSpPr>
          <p:nvPr>
            <p:ph sz="half" idx="1"/>
          </p:nvPr>
        </p:nvSpPr>
        <p:spPr>
          <a:xfrm>
            <a:off x="457200" y="850265"/>
            <a:ext cx="8204200" cy="5916930"/>
          </a:xfrm>
        </p:spPr>
        <p:txBody>
          <a:bodyPr/>
          <a:lstStyle/>
          <a:p>
            <a:pPr algn="just"/>
            <a:r>
              <a:rPr lang="en-US"/>
              <a:t>This model is used when the </a:t>
            </a:r>
            <a:r>
              <a:rPr lang="en-US" b="1">
                <a:solidFill>
                  <a:schemeClr val="accent6">
                    <a:lumMod val="75000"/>
                  </a:schemeClr>
                </a:solidFill>
              </a:rPr>
              <a:t>customers do not know</a:t>
            </a:r>
            <a:r>
              <a:rPr lang="en-US"/>
              <a:t> the exact project requirements.</a:t>
            </a:r>
          </a:p>
          <a:p>
            <a:pPr algn="just"/>
            <a:r>
              <a:rPr lang="en-US"/>
              <a:t>A prototype of the end product is </a:t>
            </a:r>
            <a:r>
              <a:rPr lang="en-US" b="1">
                <a:solidFill>
                  <a:schemeClr val="accent6">
                    <a:lumMod val="75000"/>
                  </a:schemeClr>
                </a:solidFill>
              </a:rPr>
              <a:t>first developed, tested and refined as per the customer feedback</a:t>
            </a:r>
            <a:r>
              <a:rPr lang="en-US"/>
              <a:t>.	</a:t>
            </a:r>
          </a:p>
        </p:txBody>
      </p:sp>
      <p:pic>
        <p:nvPicPr>
          <p:cNvPr id="26627" name="Content Placeholder 5"/>
          <p:cNvPicPr>
            <a:picLocks noGrp="1" noChangeAspect="1"/>
          </p:cNvPicPr>
          <p:nvPr>
            <p:ph sz="half" idx="2"/>
          </p:nvPr>
        </p:nvPicPr>
        <p:blipFill>
          <a:blip r:embed="rId2"/>
          <a:srcRect/>
          <a:stretch>
            <a:fillRect/>
          </a:stretch>
        </p:blipFill>
        <p:spPr>
          <a:xfrm>
            <a:off x="1997075" y="2743200"/>
            <a:ext cx="5576570" cy="3874770"/>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prototyping-model"/>
          <p:cNvPicPr>
            <a:picLocks noGrp="1" noChangeAspect="1"/>
          </p:cNvPicPr>
          <p:nvPr>
            <p:ph idx="1"/>
          </p:nvPr>
        </p:nvPicPr>
        <p:blipFill>
          <a:blip r:embed="rId2"/>
          <a:stretch>
            <a:fillRect/>
          </a:stretch>
        </p:blipFill>
        <p:spPr>
          <a:xfrm>
            <a:off x="1077595" y="705485"/>
            <a:ext cx="7196455" cy="52412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08355"/>
          </a:xfrm>
        </p:spPr>
        <p:txBody>
          <a:bodyPr>
            <a:normAutofit/>
          </a:bodyPr>
          <a:lstStyle/>
          <a:p>
            <a:r>
              <a:rPr lang="en-US" b="1">
                <a:solidFill>
                  <a:schemeClr val="tx1"/>
                </a:solidFill>
                <a:sym typeface="+mn-ea"/>
              </a:rPr>
              <a:t>Prototyping Model</a:t>
            </a:r>
          </a:p>
        </p:txBody>
      </p:sp>
      <p:sp>
        <p:nvSpPr>
          <p:cNvPr id="3" name="Content Placeholder 2"/>
          <p:cNvSpPr>
            <a:spLocks noGrp="1"/>
          </p:cNvSpPr>
          <p:nvPr>
            <p:ph sz="half" idx="1"/>
          </p:nvPr>
        </p:nvSpPr>
        <p:spPr>
          <a:xfrm>
            <a:off x="457200" y="1003300"/>
            <a:ext cx="8284210" cy="5687695"/>
          </a:xfrm>
        </p:spPr>
        <p:txBody>
          <a:bodyPr>
            <a:normAutofit/>
          </a:bodyPr>
          <a:lstStyle/>
          <a:p>
            <a:pPr marL="0" indent="0" algn="just">
              <a:buNone/>
            </a:pPr>
            <a:r>
              <a:rPr lang="en-US" b="1">
                <a:solidFill>
                  <a:schemeClr val="accent6"/>
                </a:solidFill>
              </a:rPr>
              <a:t>1. Communication</a:t>
            </a:r>
          </a:p>
          <a:p>
            <a:pPr algn="just"/>
            <a:r>
              <a:rPr lang="en-US"/>
              <a:t>In this phase, developer and customer meet and discuss the overall objectives of the software.</a:t>
            </a:r>
          </a:p>
          <a:p>
            <a:pPr marL="0" indent="0" algn="just">
              <a:buNone/>
            </a:pPr>
            <a:r>
              <a:rPr lang="en-US" b="1">
                <a:solidFill>
                  <a:schemeClr val="accent6"/>
                </a:solidFill>
              </a:rPr>
              <a:t>2. Quick design</a:t>
            </a:r>
          </a:p>
          <a:p>
            <a:pPr algn="just"/>
            <a:r>
              <a:rPr lang="en-US"/>
              <a:t>Quick design is implemented when requirements are known.</a:t>
            </a:r>
          </a:p>
          <a:p>
            <a:pPr algn="just"/>
            <a:r>
              <a:rPr lang="en-US"/>
              <a:t>It includes only the important aspects like </a:t>
            </a:r>
            <a:r>
              <a:rPr lang="en-US" b="1">
                <a:solidFill>
                  <a:srgbClr val="00B050"/>
                </a:solidFill>
              </a:rPr>
              <a:t>input and output format of the software.</a:t>
            </a:r>
          </a:p>
          <a:p>
            <a:pPr algn="just"/>
            <a:r>
              <a:rPr lang="en-US"/>
              <a:t>It focuses on those aspects which are visible to the user rather than the detailed plan.</a:t>
            </a:r>
          </a:p>
          <a:p>
            <a:pPr algn="just"/>
            <a:r>
              <a:rPr lang="en-US"/>
              <a:t>It helps to </a:t>
            </a:r>
            <a:r>
              <a:rPr lang="en-US" b="1">
                <a:solidFill>
                  <a:srgbClr val="00B050"/>
                </a:solidFill>
              </a:rPr>
              <a:t>construct a prototype.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715" y="76200"/>
            <a:ext cx="8229600" cy="713105"/>
          </a:xfrm>
        </p:spPr>
        <p:txBody>
          <a:bodyPr>
            <a:normAutofit fontScale="90000"/>
          </a:bodyPr>
          <a:lstStyle/>
          <a:p>
            <a:r>
              <a:rPr lang="en-US" b="1">
                <a:solidFill>
                  <a:schemeClr val="tx1"/>
                </a:solidFill>
                <a:sym typeface="+mn-ea"/>
              </a:rPr>
              <a:t>Prototyping Model</a:t>
            </a:r>
          </a:p>
        </p:txBody>
      </p:sp>
      <p:sp>
        <p:nvSpPr>
          <p:cNvPr id="3" name="Content Placeholder 2"/>
          <p:cNvSpPr>
            <a:spLocks noGrp="1"/>
          </p:cNvSpPr>
          <p:nvPr>
            <p:ph sz="half" idx="1"/>
          </p:nvPr>
        </p:nvSpPr>
        <p:spPr>
          <a:xfrm>
            <a:off x="381000" y="838200"/>
            <a:ext cx="8495030" cy="5932170"/>
          </a:xfrm>
        </p:spPr>
        <p:txBody>
          <a:bodyPr>
            <a:noAutofit/>
          </a:bodyPr>
          <a:lstStyle/>
          <a:p>
            <a:pPr marL="0" indent="0" algn="just">
              <a:buNone/>
            </a:pPr>
            <a:r>
              <a:rPr lang="en-US" sz="2400" b="1">
                <a:solidFill>
                  <a:schemeClr val="accent6"/>
                </a:solidFill>
              </a:rPr>
              <a:t>3. Modeling quick design</a:t>
            </a:r>
          </a:p>
          <a:p>
            <a:pPr algn="just"/>
            <a:r>
              <a:rPr lang="en-US" sz="2400"/>
              <a:t>This phase gives the</a:t>
            </a:r>
            <a:r>
              <a:rPr lang="en-US" sz="2400" b="1">
                <a:solidFill>
                  <a:srgbClr val="00B050"/>
                </a:solidFill>
              </a:rPr>
              <a:t> clear idea about the development</a:t>
            </a:r>
            <a:r>
              <a:rPr lang="en-US" sz="2400"/>
              <a:t> of software because the software is now built.</a:t>
            </a:r>
          </a:p>
          <a:p>
            <a:pPr algn="just"/>
            <a:r>
              <a:rPr lang="en-US" sz="2400"/>
              <a:t>It allows the developer to better understand the exact requirements.</a:t>
            </a:r>
          </a:p>
          <a:p>
            <a:pPr marL="0" indent="0" algn="just">
              <a:buNone/>
            </a:pPr>
            <a:r>
              <a:rPr lang="en-US" sz="2400" b="1">
                <a:solidFill>
                  <a:schemeClr val="accent6"/>
                </a:solidFill>
              </a:rPr>
              <a:t>4. Construction of prototype</a:t>
            </a:r>
          </a:p>
          <a:p>
            <a:pPr algn="just"/>
            <a:r>
              <a:rPr lang="en-US" sz="2400"/>
              <a:t>The prototype is evaluated by the customer itself.</a:t>
            </a:r>
          </a:p>
          <a:p>
            <a:pPr marL="0" indent="0" algn="just">
              <a:buNone/>
            </a:pPr>
            <a:r>
              <a:rPr lang="en-US" sz="2400" b="1">
                <a:solidFill>
                  <a:schemeClr val="accent6"/>
                </a:solidFill>
              </a:rPr>
              <a:t>5. Deployment, delivery, feedback</a:t>
            </a:r>
          </a:p>
          <a:p>
            <a:pPr algn="just"/>
            <a:r>
              <a:rPr lang="en-US" sz="2400"/>
              <a:t>If the user is </a:t>
            </a:r>
            <a:r>
              <a:rPr lang="en-US" sz="2400" b="1">
                <a:solidFill>
                  <a:srgbClr val="00B050"/>
                </a:solidFill>
              </a:rPr>
              <a:t>not satisfied</a:t>
            </a:r>
            <a:r>
              <a:rPr lang="en-US" sz="2400"/>
              <a:t> with current prototype then it refines according to the requirements of the user.</a:t>
            </a:r>
          </a:p>
          <a:p>
            <a:pPr algn="just"/>
            <a:r>
              <a:rPr lang="en-US" sz="2400"/>
              <a:t>The process of refining the prototype is repeated until all the  requirements of users are met.</a:t>
            </a:r>
          </a:p>
          <a:p>
            <a:pPr algn="just"/>
            <a:r>
              <a:rPr lang="en-US" sz="2400"/>
              <a:t>When the</a:t>
            </a:r>
            <a:r>
              <a:rPr lang="en-US" sz="2400" b="1">
                <a:solidFill>
                  <a:srgbClr val="00B050"/>
                </a:solidFill>
              </a:rPr>
              <a:t> users are satisfied</a:t>
            </a:r>
            <a:r>
              <a:rPr lang="en-US" sz="2400"/>
              <a:t> with the developed prototype then the system is developed on the basis of final prototype.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835" y="152400"/>
            <a:ext cx="8229600" cy="665480"/>
          </a:xfrm>
        </p:spPr>
        <p:txBody>
          <a:bodyPr>
            <a:normAutofit fontScale="90000"/>
          </a:bodyPr>
          <a:lstStyle/>
          <a:p>
            <a:r>
              <a:rPr lang="en-US" b="1">
                <a:sym typeface="+mn-ea"/>
              </a:rPr>
              <a:t>Prototyping Model</a:t>
            </a:r>
            <a:endParaRPr lang="en-US" b="1"/>
          </a:p>
        </p:txBody>
      </p:sp>
      <p:sp>
        <p:nvSpPr>
          <p:cNvPr id="3" name="Content Placeholder 2"/>
          <p:cNvSpPr>
            <a:spLocks noGrp="1"/>
          </p:cNvSpPr>
          <p:nvPr>
            <p:ph sz="half" idx="1"/>
          </p:nvPr>
        </p:nvSpPr>
        <p:spPr>
          <a:xfrm>
            <a:off x="352160" y="741044"/>
            <a:ext cx="8337550" cy="6116955"/>
          </a:xfrm>
        </p:spPr>
        <p:txBody>
          <a:bodyPr/>
          <a:lstStyle/>
          <a:p>
            <a:pPr marL="0" indent="0" algn="just">
              <a:buNone/>
            </a:pPr>
            <a:r>
              <a:rPr lang="en-US" b="1" dirty="0">
                <a:solidFill>
                  <a:srgbClr val="FF0000"/>
                </a:solidFill>
              </a:rPr>
              <a:t>Advantages</a:t>
            </a:r>
          </a:p>
          <a:p>
            <a:pPr algn="just"/>
            <a:r>
              <a:rPr lang="en-US" b="1" dirty="0">
                <a:solidFill>
                  <a:schemeClr val="tx2">
                    <a:lumMod val="60000"/>
                    <a:lumOff val="40000"/>
                  </a:schemeClr>
                </a:solidFill>
              </a:rPr>
              <a:t>Errors</a:t>
            </a:r>
            <a:r>
              <a:rPr lang="en-US" dirty="0"/>
              <a:t> are detected much earlier.</a:t>
            </a:r>
          </a:p>
          <a:p>
            <a:pPr algn="just"/>
            <a:r>
              <a:rPr lang="en-US" dirty="0"/>
              <a:t>Ensures a </a:t>
            </a:r>
            <a:r>
              <a:rPr lang="en-US" b="1" dirty="0">
                <a:solidFill>
                  <a:schemeClr val="tx2">
                    <a:lumMod val="60000"/>
                    <a:lumOff val="40000"/>
                  </a:schemeClr>
                </a:solidFill>
              </a:rPr>
              <a:t>greater level of customer satisfaction</a:t>
            </a:r>
            <a:r>
              <a:rPr lang="en-US" dirty="0"/>
              <a:t> and comfort.</a:t>
            </a:r>
          </a:p>
          <a:p>
            <a:pPr algn="just"/>
            <a:r>
              <a:rPr lang="en-US" dirty="0"/>
              <a:t>It identifies the </a:t>
            </a:r>
            <a:r>
              <a:rPr lang="en-US" b="1" dirty="0">
                <a:solidFill>
                  <a:schemeClr val="tx2">
                    <a:lumMod val="60000"/>
                    <a:lumOff val="40000"/>
                  </a:schemeClr>
                </a:solidFill>
              </a:rPr>
              <a:t>missing functionality</a:t>
            </a:r>
            <a:r>
              <a:rPr lang="en-US" dirty="0"/>
              <a:t> easily.</a:t>
            </a:r>
          </a:p>
          <a:p>
            <a:pPr algn="just"/>
            <a:r>
              <a:rPr lang="en-US" dirty="0"/>
              <a:t>It also identifies the confusing or difficult functions.</a:t>
            </a:r>
          </a:p>
        </p:txBody>
      </p:sp>
      <p:sp>
        <p:nvSpPr>
          <p:cNvPr id="5" name="Title 1"/>
          <p:cNvSpPr>
            <a:spLocks noGrp="1"/>
          </p:cNvSpPr>
          <p:nvPr/>
        </p:nvSpPr>
        <p:spPr>
          <a:xfrm>
            <a:off x="381000" y="3429000"/>
            <a:ext cx="8229600" cy="3249295"/>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2900" b="1" dirty="0" smtClean="0">
                <a:solidFill>
                  <a:srgbClr val="FF0000"/>
                </a:solidFill>
                <a:latin typeface="+mn-lt"/>
                <a:ea typeface="+mn-ea"/>
                <a:cs typeface="+mn-cs"/>
              </a:rPr>
              <a:t>Disadvantages</a:t>
            </a:r>
            <a:endParaRPr lang="en-US" sz="2900" b="1" dirty="0">
              <a:solidFill>
                <a:srgbClr val="FF0000"/>
              </a:solidFill>
              <a:latin typeface="+mn-lt"/>
              <a:ea typeface="+mn-ea"/>
              <a:cs typeface="+mn-cs"/>
            </a:endParaRPr>
          </a:p>
          <a:p>
            <a:pPr marL="457200" indent="-457200" algn="just">
              <a:buFont typeface="Arial" panose="020B0604020202020204" pitchFamily="34" charset="0"/>
              <a:buChar char="•"/>
            </a:pPr>
            <a:r>
              <a:rPr lang="en-US" sz="2900" dirty="0"/>
              <a:t>The </a:t>
            </a:r>
            <a:r>
              <a:rPr lang="en-US" sz="2900" b="1" dirty="0">
                <a:solidFill>
                  <a:schemeClr val="tx2">
                    <a:lumMod val="60000"/>
                    <a:lumOff val="40000"/>
                  </a:schemeClr>
                </a:solidFill>
              </a:rPr>
              <a:t>client involvement</a:t>
            </a:r>
            <a:r>
              <a:rPr lang="en-US" sz="2900" dirty="0"/>
              <a:t> is more and it is </a:t>
            </a:r>
            <a:r>
              <a:rPr lang="en-US" sz="2900" b="1" dirty="0">
                <a:solidFill>
                  <a:srgbClr val="00B050"/>
                </a:solidFill>
              </a:rPr>
              <a:t>not always considered by the developer.</a:t>
            </a:r>
          </a:p>
          <a:p>
            <a:pPr marL="457200" indent="-457200" algn="just">
              <a:buFont typeface="Arial" panose="020B0604020202020204" pitchFamily="34" charset="0"/>
              <a:buChar char="•"/>
            </a:pPr>
            <a:r>
              <a:rPr lang="en-US" sz="2900" dirty="0"/>
              <a:t>It is a </a:t>
            </a:r>
            <a:r>
              <a:rPr lang="en-US" sz="2900" b="1" dirty="0">
                <a:solidFill>
                  <a:srgbClr val="00B050"/>
                </a:solidFill>
              </a:rPr>
              <a:t>slow process</a:t>
            </a:r>
            <a:r>
              <a:rPr lang="en-US" sz="2900" dirty="0"/>
              <a:t> because it takes more time for development.</a:t>
            </a:r>
          </a:p>
          <a:p>
            <a:pPr marL="457200" indent="-457200" algn="just">
              <a:buFont typeface="Arial" panose="020B0604020202020204" pitchFamily="34" charset="0"/>
              <a:buChar char="•"/>
            </a:pPr>
            <a:r>
              <a:rPr lang="en-US" sz="2900" dirty="0"/>
              <a:t>Many changes can disturb the rhythm of the development team.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Prototype Focus</a:t>
            </a:r>
            <a:endParaRPr lang="en-US" dirty="0"/>
          </a:p>
        </p:txBody>
      </p:sp>
      <p:sp>
        <p:nvSpPr>
          <p:cNvPr id="8" name="Content Placeholder 7"/>
          <p:cNvSpPr>
            <a:spLocks noGrp="1"/>
          </p:cNvSpPr>
          <p:nvPr>
            <p:ph idx="1"/>
          </p:nvPr>
        </p:nvSpPr>
        <p:spPr>
          <a:xfrm>
            <a:off x="457200" y="1600200"/>
            <a:ext cx="8229600" cy="5029200"/>
          </a:xfrm>
        </p:spPr>
        <p:txBody>
          <a:bodyPr>
            <a:normAutofit fontScale="77500" lnSpcReduction="20000"/>
          </a:bodyPr>
          <a:lstStyle/>
          <a:p>
            <a:pPr algn="ctr">
              <a:buNone/>
            </a:pPr>
            <a:r>
              <a:rPr lang="en-US" dirty="0" smtClean="0"/>
              <a:t>Problem</a:t>
            </a:r>
          </a:p>
          <a:p>
            <a:pPr algn="ctr">
              <a:buNone/>
            </a:pPr>
            <a:endParaRPr lang="en-US" dirty="0" smtClean="0"/>
          </a:p>
          <a:p>
            <a:pPr algn="ctr">
              <a:buNone/>
            </a:pPr>
            <a:r>
              <a:rPr lang="en-US" b="1" dirty="0" smtClean="0"/>
              <a:t>Requirements are unclear</a:t>
            </a:r>
          </a:p>
          <a:p>
            <a:pPr algn="ctr"/>
            <a:endParaRPr lang="en-US" dirty="0" smtClean="0"/>
          </a:p>
          <a:p>
            <a:pPr algn="ctr">
              <a:buNone/>
            </a:pPr>
            <a:r>
              <a:rPr lang="en-US" dirty="0" smtClean="0"/>
              <a:t>Build Prototype</a:t>
            </a:r>
          </a:p>
          <a:p>
            <a:pPr algn="ctr"/>
            <a:endParaRPr lang="en-US" dirty="0" smtClean="0"/>
          </a:p>
          <a:p>
            <a:pPr algn="ctr">
              <a:buNone/>
            </a:pPr>
            <a:r>
              <a:rPr lang="en-US" dirty="0" smtClean="0"/>
              <a:t>Customer Gives Feedback</a:t>
            </a:r>
          </a:p>
          <a:p>
            <a:pPr algn="ctr"/>
            <a:endParaRPr lang="en-US" dirty="0" smtClean="0"/>
          </a:p>
          <a:p>
            <a:pPr algn="ctr">
              <a:buNone/>
            </a:pPr>
            <a:r>
              <a:rPr lang="en-US" dirty="0" smtClean="0"/>
              <a:t>Requirements Become Clear</a:t>
            </a:r>
          </a:p>
          <a:p>
            <a:pPr algn="ctr"/>
            <a:endParaRPr lang="en-US" dirty="0" smtClean="0"/>
          </a:p>
          <a:p>
            <a:pPr algn="ctr">
              <a:buNone/>
            </a:pPr>
            <a:r>
              <a:rPr lang="en-US" dirty="0" smtClean="0"/>
              <a:t>Develop Final </a:t>
            </a:r>
            <a:r>
              <a:rPr lang="en-US" dirty="0" smtClean="0"/>
              <a:t>Software</a:t>
            </a:r>
          </a:p>
          <a:p>
            <a:pPr>
              <a:buNone/>
            </a:pPr>
            <a:r>
              <a:rPr lang="en-US" dirty="0" smtClean="0"/>
              <a:t>Prototype answers one question:</a:t>
            </a:r>
          </a:p>
          <a:p>
            <a:pPr>
              <a:buNone/>
            </a:pPr>
            <a:r>
              <a:rPr lang="en-US" b="1" dirty="0" smtClean="0"/>
              <a:t>"What exactly does the customer want?"</a:t>
            </a:r>
            <a:endParaRPr lang="en-US" dirty="0" smtClean="0"/>
          </a:p>
          <a:p>
            <a:pPr algn="ctr">
              <a:buNone/>
            </a:pPr>
            <a:endParaRPr lang="en-US" dirty="0"/>
          </a:p>
        </p:txBody>
      </p:sp>
      <p:sp>
        <p:nvSpPr>
          <p:cNvPr id="12" name="Down Arrow 11"/>
          <p:cNvSpPr/>
          <p:nvPr/>
        </p:nvSpPr>
        <p:spPr>
          <a:xfrm>
            <a:off x="4419600" y="1905000"/>
            <a:ext cx="2286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4419600" y="2667000"/>
            <a:ext cx="2286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4419600" y="3429000"/>
            <a:ext cx="228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4419600" y="4191000"/>
            <a:ext cx="2286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p:cNvSpPr/>
          <p:nvPr/>
        </p:nvSpPr>
        <p:spPr>
          <a:xfrm>
            <a:off x="4419600" y="4953000"/>
            <a:ext cx="2286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81000" y="0"/>
            <a:ext cx="8229600" cy="1143000"/>
          </a:xfrm>
        </p:spPr>
        <p:txBody>
          <a:bodyPr/>
          <a:lstStyle/>
          <a:p>
            <a:r>
              <a:rPr lang="en-US" dirty="0" smtClean="0"/>
              <a:t>Spiral </a:t>
            </a:r>
            <a:r>
              <a:rPr lang="en-US" dirty="0" smtClean="0"/>
              <a:t>Focus</a:t>
            </a:r>
            <a:endParaRPr lang="en-US" dirty="0"/>
          </a:p>
        </p:txBody>
      </p:sp>
      <p:sp>
        <p:nvSpPr>
          <p:cNvPr id="8" name="Content Placeholder 7"/>
          <p:cNvSpPr>
            <a:spLocks noGrp="1"/>
          </p:cNvSpPr>
          <p:nvPr>
            <p:ph idx="1"/>
          </p:nvPr>
        </p:nvSpPr>
        <p:spPr>
          <a:xfrm>
            <a:off x="533400" y="1143000"/>
            <a:ext cx="8610600" cy="5715000"/>
          </a:xfrm>
        </p:spPr>
        <p:txBody>
          <a:bodyPr>
            <a:normAutofit fontScale="77500" lnSpcReduction="20000"/>
          </a:bodyPr>
          <a:lstStyle/>
          <a:p>
            <a:pPr algn="ctr">
              <a:buNone/>
            </a:pPr>
            <a:r>
              <a:rPr lang="en-US" dirty="0" smtClean="0"/>
              <a:t>Problem</a:t>
            </a:r>
          </a:p>
          <a:p>
            <a:pPr algn="ctr">
              <a:buNone/>
            </a:pPr>
            <a:endParaRPr lang="en-US" dirty="0" smtClean="0"/>
          </a:p>
          <a:p>
            <a:pPr algn="ctr">
              <a:buNone/>
            </a:pPr>
            <a:r>
              <a:rPr lang="en-US" dirty="0" smtClean="0"/>
              <a:t>High Risk</a:t>
            </a:r>
          </a:p>
          <a:p>
            <a:pPr algn="ctr">
              <a:buNone/>
            </a:pPr>
            <a:endParaRPr lang="en-US" dirty="0" smtClean="0"/>
          </a:p>
          <a:p>
            <a:pPr algn="ctr">
              <a:buNone/>
            </a:pPr>
            <a:r>
              <a:rPr lang="en-US" dirty="0" smtClean="0"/>
              <a:t>Identify Risk</a:t>
            </a:r>
            <a:endParaRPr lang="en-US" dirty="0" smtClean="0"/>
          </a:p>
          <a:p>
            <a:pPr algn="ctr"/>
            <a:endParaRPr lang="en-US" dirty="0" smtClean="0"/>
          </a:p>
          <a:p>
            <a:pPr algn="ctr">
              <a:buNone/>
            </a:pPr>
            <a:r>
              <a:rPr lang="en-US" dirty="0" smtClean="0"/>
              <a:t>Reduce Risk</a:t>
            </a:r>
            <a:endParaRPr lang="en-US" dirty="0" smtClean="0"/>
          </a:p>
          <a:p>
            <a:pPr algn="ctr"/>
            <a:endParaRPr lang="en-US" dirty="0" smtClean="0"/>
          </a:p>
          <a:p>
            <a:pPr algn="ctr">
              <a:buNone/>
            </a:pPr>
            <a:r>
              <a:rPr lang="en-US" dirty="0" smtClean="0"/>
              <a:t>Develop </a:t>
            </a:r>
            <a:r>
              <a:rPr lang="en-US" dirty="0" smtClean="0"/>
              <a:t>Software</a:t>
            </a:r>
          </a:p>
          <a:p>
            <a:pPr algn="ctr">
              <a:buNone/>
            </a:pPr>
            <a:endParaRPr lang="en-US" dirty="0" smtClean="0"/>
          </a:p>
          <a:p>
            <a:pPr>
              <a:buNone/>
            </a:pPr>
            <a:r>
              <a:rPr lang="en-US" dirty="0" smtClean="0"/>
              <a:t>                                                REPEAT</a:t>
            </a:r>
          </a:p>
          <a:p>
            <a:pPr>
              <a:buNone/>
            </a:pPr>
            <a:r>
              <a:rPr lang="en-US" dirty="0" smtClean="0"/>
              <a:t>Prototype </a:t>
            </a:r>
            <a:r>
              <a:rPr lang="en-US" dirty="0" smtClean="0"/>
              <a:t>answers one question:</a:t>
            </a:r>
          </a:p>
          <a:p>
            <a:pPr>
              <a:buNone/>
            </a:pPr>
            <a:r>
              <a:rPr lang="en-US" b="1" dirty="0" smtClean="0"/>
              <a:t>"What can go wrong, and how do we prevent it</a:t>
            </a:r>
            <a:r>
              <a:rPr lang="en-US" b="1" dirty="0" smtClean="0"/>
              <a:t>?“</a:t>
            </a:r>
          </a:p>
          <a:p>
            <a:pPr>
              <a:buNone/>
            </a:pPr>
            <a:r>
              <a:rPr lang="en-US" dirty="0" smtClean="0"/>
              <a:t>"Developer, what risks may affect this project?"</a:t>
            </a:r>
            <a:endParaRPr lang="en-US" b="1" dirty="0"/>
          </a:p>
        </p:txBody>
      </p:sp>
      <p:sp>
        <p:nvSpPr>
          <p:cNvPr id="12" name="Down Arrow 11"/>
          <p:cNvSpPr/>
          <p:nvPr/>
        </p:nvSpPr>
        <p:spPr>
          <a:xfrm>
            <a:off x="4419600" y="1447800"/>
            <a:ext cx="228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4419600" y="2286000"/>
            <a:ext cx="228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4419600" y="3048000"/>
            <a:ext cx="228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4419600" y="3733800"/>
            <a:ext cx="2286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4343400" y="4495800"/>
            <a:ext cx="3048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Risk in Spiral</a:t>
            </a:r>
            <a:endParaRPr lang="en-US" dirty="0"/>
          </a:p>
        </p:txBody>
      </p:sp>
      <p:sp>
        <p:nvSpPr>
          <p:cNvPr id="3" name="Content Placeholder 2"/>
          <p:cNvSpPr>
            <a:spLocks noGrp="1"/>
          </p:cNvSpPr>
          <p:nvPr>
            <p:ph idx="1"/>
          </p:nvPr>
        </p:nvSpPr>
        <p:spPr>
          <a:xfrm>
            <a:off x="457200" y="1295400"/>
            <a:ext cx="8229600" cy="4830763"/>
          </a:xfrm>
        </p:spPr>
        <p:txBody>
          <a:bodyPr>
            <a:normAutofit fontScale="70000" lnSpcReduction="20000"/>
          </a:bodyPr>
          <a:lstStyle/>
          <a:p>
            <a:pPr>
              <a:buNone/>
            </a:pPr>
            <a:r>
              <a:rPr lang="en-US" b="1" dirty="0" smtClean="0"/>
              <a:t>1. Technical Risk</a:t>
            </a:r>
          </a:p>
          <a:p>
            <a:pPr>
              <a:buNone/>
            </a:pPr>
            <a:r>
              <a:rPr lang="en-US" b="1" dirty="0" smtClean="0"/>
              <a:t>Meaning</a:t>
            </a:r>
          </a:p>
          <a:p>
            <a:pPr>
              <a:buNone/>
            </a:pPr>
            <a:r>
              <a:rPr lang="en-US" dirty="0" smtClean="0"/>
              <a:t>Technology may fail.</a:t>
            </a:r>
          </a:p>
          <a:p>
            <a:pPr>
              <a:buNone/>
            </a:pPr>
            <a:r>
              <a:rPr lang="en-US" dirty="0" smtClean="0"/>
              <a:t>Example</a:t>
            </a:r>
          </a:p>
          <a:p>
            <a:pPr>
              <a:buNone/>
            </a:pPr>
            <a:r>
              <a:rPr lang="en-US" dirty="0" smtClean="0"/>
              <a:t>Your company decides to </a:t>
            </a:r>
            <a:r>
              <a:rPr lang="en-US" dirty="0" smtClean="0"/>
              <a:t>use AI-based </a:t>
            </a:r>
            <a:r>
              <a:rPr lang="en-US" dirty="0" smtClean="0"/>
              <a:t>Face </a:t>
            </a:r>
            <a:r>
              <a:rPr lang="en-US" dirty="0" err="1" smtClean="0"/>
              <a:t>Recognitionfor</a:t>
            </a:r>
            <a:r>
              <a:rPr lang="en-US" dirty="0" smtClean="0"/>
              <a:t> banking login</a:t>
            </a:r>
            <a:r>
              <a:rPr lang="en-US" dirty="0" smtClean="0"/>
              <a:t>.</a:t>
            </a:r>
          </a:p>
          <a:p>
            <a:pPr>
              <a:buNone/>
            </a:pPr>
            <a:r>
              <a:rPr lang="en-US" dirty="0" smtClean="0"/>
              <a:t>Question</a:t>
            </a:r>
          </a:p>
          <a:p>
            <a:pPr>
              <a:buNone/>
            </a:pPr>
            <a:r>
              <a:rPr lang="en-US" dirty="0" smtClean="0"/>
              <a:t>Will it work perfectly?</a:t>
            </a:r>
          </a:p>
          <a:p>
            <a:pPr>
              <a:buNone/>
            </a:pPr>
            <a:r>
              <a:rPr lang="en-US" dirty="0" smtClean="0"/>
              <a:t>Nobody knows.</a:t>
            </a:r>
          </a:p>
          <a:p>
            <a:pPr>
              <a:buNone/>
            </a:pPr>
            <a:r>
              <a:rPr lang="en-US" dirty="0" smtClean="0"/>
              <a:t>Maybe Recognition </a:t>
            </a:r>
            <a:r>
              <a:rPr lang="en-US" dirty="0" smtClean="0"/>
              <a:t>is slow. </a:t>
            </a:r>
          </a:p>
          <a:p>
            <a:pPr>
              <a:buNone/>
            </a:pPr>
            <a:r>
              <a:rPr lang="en-US" dirty="0" smtClean="0"/>
              <a:t>Wrong person gets authenticated. </a:t>
            </a:r>
          </a:p>
          <a:p>
            <a:pPr>
              <a:buNone/>
            </a:pPr>
            <a:r>
              <a:rPr lang="en-US" dirty="0" smtClean="0"/>
              <a:t>Camera doesn't work. </a:t>
            </a:r>
          </a:p>
          <a:p>
            <a:pPr>
              <a:buNone/>
            </a:pPr>
            <a:r>
              <a:rPr lang="en-US" dirty="0" smtClean="0"/>
              <a:t>This uncertainty is called</a:t>
            </a:r>
          </a:p>
          <a:p>
            <a:pPr>
              <a:buNone/>
            </a:pPr>
            <a:r>
              <a:rPr lang="en-US" b="1" dirty="0" smtClean="0"/>
              <a:t>Technical Risk</a:t>
            </a:r>
            <a:r>
              <a:rPr lang="en-US" dirty="0" smtClean="0"/>
              <a:t>.</a:t>
            </a:r>
          </a:p>
          <a:p>
            <a:pPr>
              <a:buNone/>
            </a:pP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Cost Risk</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Example</a:t>
            </a:r>
          </a:p>
          <a:p>
            <a:pPr>
              <a:buNone/>
            </a:pPr>
            <a:r>
              <a:rPr lang="en-US" dirty="0" smtClean="0"/>
              <a:t>Estimated Budget</a:t>
            </a:r>
          </a:p>
          <a:p>
            <a:pPr>
              <a:buNone/>
            </a:pPr>
            <a:r>
              <a:rPr lang="en-US" dirty="0" smtClean="0"/>
              <a:t>₹10 </a:t>
            </a:r>
            <a:r>
              <a:rPr lang="en-US" dirty="0" err="1" smtClean="0"/>
              <a:t>Crores</a:t>
            </a:r>
            <a:r>
              <a:rPr lang="en-US" dirty="0" smtClean="0"/>
              <a:t>.</a:t>
            </a:r>
          </a:p>
          <a:p>
            <a:pPr>
              <a:buNone/>
            </a:pPr>
            <a:r>
              <a:rPr lang="en-US" dirty="0" smtClean="0"/>
              <a:t>After six </a:t>
            </a:r>
            <a:r>
              <a:rPr lang="en-US" dirty="0" smtClean="0"/>
              <a:t>months,</a:t>
            </a:r>
          </a:p>
          <a:p>
            <a:pPr>
              <a:buNone/>
            </a:pPr>
            <a:r>
              <a:rPr lang="en-US" dirty="0" smtClean="0"/>
              <a:t>Need </a:t>
            </a:r>
            <a:r>
              <a:rPr lang="en-US" dirty="0" smtClean="0"/>
              <a:t>more servers.</a:t>
            </a:r>
          </a:p>
          <a:p>
            <a:pPr>
              <a:buNone/>
            </a:pPr>
            <a:r>
              <a:rPr lang="en-US" dirty="0" smtClean="0"/>
              <a:t>Need more developers.</a:t>
            </a:r>
          </a:p>
          <a:p>
            <a:pPr>
              <a:buNone/>
            </a:pPr>
            <a:r>
              <a:rPr lang="en-US" dirty="0" smtClean="0"/>
              <a:t>Budget becomes</a:t>
            </a:r>
          </a:p>
          <a:p>
            <a:pPr>
              <a:buNone/>
            </a:pPr>
            <a:r>
              <a:rPr lang="en-US" dirty="0" smtClean="0"/>
              <a:t>₹16 </a:t>
            </a:r>
            <a:r>
              <a:rPr lang="en-US" dirty="0" err="1" smtClean="0"/>
              <a:t>Crores</a:t>
            </a:r>
            <a:r>
              <a:rPr lang="en-US" dirty="0" smtClean="0"/>
              <a:t>.</a:t>
            </a:r>
          </a:p>
          <a:p>
            <a:pPr>
              <a:buNone/>
            </a:pPr>
            <a:r>
              <a:rPr lang="en-US" dirty="0" smtClean="0"/>
              <a:t>Company loses money.</a:t>
            </a:r>
          </a:p>
          <a:p>
            <a:pPr>
              <a:buNone/>
            </a:pPr>
            <a:r>
              <a:rPr lang="en-US" dirty="0" smtClean="0"/>
              <a:t>This is</a:t>
            </a:r>
          </a:p>
          <a:p>
            <a:pPr>
              <a:buNone/>
            </a:pPr>
            <a:r>
              <a:rPr lang="en-US" b="1" dirty="0" smtClean="0"/>
              <a:t>Cost Risk</a:t>
            </a:r>
            <a:r>
              <a:rPr lang="en-US" dirty="0" smtClean="0"/>
              <a:t>.</a:t>
            </a:r>
          </a:p>
          <a:p>
            <a:pPr>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3. Schedule </a:t>
            </a:r>
            <a:r>
              <a:rPr lang="en-US" b="1" dirty="0" smtClean="0"/>
              <a:t>Risk</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Example</a:t>
            </a:r>
            <a:endParaRPr lang="en-US" dirty="0" smtClean="0"/>
          </a:p>
          <a:p>
            <a:r>
              <a:rPr lang="en-US" dirty="0" smtClean="0"/>
              <a:t>Software should finish in</a:t>
            </a:r>
          </a:p>
          <a:p>
            <a:r>
              <a:rPr lang="en-US" dirty="0" smtClean="0"/>
              <a:t>12 months.</a:t>
            </a:r>
          </a:p>
          <a:p>
            <a:r>
              <a:rPr lang="en-US" dirty="0" smtClean="0"/>
              <a:t>But</a:t>
            </a:r>
          </a:p>
          <a:p>
            <a:r>
              <a:rPr lang="en-US" dirty="0" smtClean="0"/>
              <a:t>Developers resign.</a:t>
            </a:r>
          </a:p>
          <a:p>
            <a:r>
              <a:rPr lang="en-US" dirty="0" smtClean="0"/>
              <a:t>Requirements change.</a:t>
            </a:r>
          </a:p>
          <a:p>
            <a:r>
              <a:rPr lang="en-US" dirty="0" smtClean="0"/>
              <a:t>Testing takes longer.</a:t>
            </a:r>
          </a:p>
          <a:p>
            <a:r>
              <a:rPr lang="en-US" dirty="0" smtClean="0"/>
              <a:t>Project finishes in</a:t>
            </a:r>
          </a:p>
          <a:p>
            <a:r>
              <a:rPr lang="en-US" dirty="0" smtClean="0"/>
              <a:t>18 months.</a:t>
            </a:r>
          </a:p>
          <a:p>
            <a:r>
              <a:rPr lang="en-US" dirty="0" smtClean="0"/>
              <a:t>Customer becomes unhappy.</a:t>
            </a:r>
          </a:p>
          <a:p>
            <a:r>
              <a:rPr lang="en-US" dirty="0" smtClean="0"/>
              <a:t>This is</a:t>
            </a:r>
          </a:p>
          <a:p>
            <a:r>
              <a:rPr lang="en-US" b="1" dirty="0" smtClean="0"/>
              <a:t>Schedule Risk</a:t>
            </a:r>
            <a:r>
              <a:rPr lang="en-US" dirty="0" smtClean="0"/>
              <a:t>.</a:t>
            </a:r>
          </a:p>
          <a:p>
            <a:pPr>
              <a:buNone/>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Requirement Risk</a:t>
            </a:r>
            <a:endParaRPr lang="en-US" dirty="0"/>
          </a:p>
        </p:txBody>
      </p:sp>
      <p:sp>
        <p:nvSpPr>
          <p:cNvPr id="3" name="Content Placeholder 2"/>
          <p:cNvSpPr>
            <a:spLocks noGrp="1"/>
          </p:cNvSpPr>
          <p:nvPr>
            <p:ph idx="1"/>
          </p:nvPr>
        </p:nvSpPr>
        <p:spPr>
          <a:xfrm>
            <a:off x="152400" y="1143000"/>
            <a:ext cx="8534400" cy="5562600"/>
          </a:xfrm>
        </p:spPr>
        <p:txBody>
          <a:bodyPr>
            <a:normAutofit fontScale="77500" lnSpcReduction="20000"/>
          </a:bodyPr>
          <a:lstStyle/>
          <a:p>
            <a:pPr>
              <a:buNone/>
            </a:pPr>
            <a:r>
              <a:rPr lang="en-US" dirty="0" smtClean="0"/>
              <a:t>Prototype</a:t>
            </a:r>
          </a:p>
          <a:p>
            <a:pPr>
              <a:buNone/>
            </a:pPr>
            <a:r>
              <a:rPr lang="en-US" dirty="0" smtClean="0"/>
              <a:t>Requirements </a:t>
            </a:r>
            <a:r>
              <a:rPr lang="en-US" dirty="0" smtClean="0"/>
              <a:t>are NOT </a:t>
            </a:r>
            <a:r>
              <a:rPr lang="en-US" dirty="0" smtClean="0"/>
              <a:t>KNOWN</a:t>
            </a:r>
            <a:r>
              <a:rPr lang="en-US" dirty="0" smtClean="0"/>
              <a:t>.</a:t>
            </a:r>
          </a:p>
          <a:p>
            <a:pPr>
              <a:buNone/>
            </a:pPr>
            <a:endParaRPr lang="en-US" dirty="0" smtClean="0"/>
          </a:p>
          <a:p>
            <a:pPr>
              <a:buNone/>
            </a:pPr>
            <a:r>
              <a:rPr lang="en-US" dirty="0" smtClean="0"/>
              <a:t>Requirement Risk</a:t>
            </a:r>
          </a:p>
          <a:p>
            <a:pPr marL="0" indent="0">
              <a:buNone/>
            </a:pPr>
            <a:r>
              <a:rPr lang="en-US" dirty="0" smtClean="0"/>
              <a:t>Requirements are </a:t>
            </a:r>
            <a:r>
              <a:rPr lang="en-US" dirty="0" smtClean="0"/>
              <a:t>known BUT Customer </a:t>
            </a:r>
            <a:r>
              <a:rPr lang="en-US" dirty="0" smtClean="0"/>
              <a:t>may still </a:t>
            </a:r>
            <a:r>
              <a:rPr lang="en-US" dirty="0" err="1" smtClean="0"/>
              <a:t>changethem</a:t>
            </a:r>
            <a:r>
              <a:rPr lang="en-US" dirty="0" smtClean="0"/>
              <a:t>.</a:t>
            </a:r>
          </a:p>
          <a:p>
            <a:pPr marL="0" indent="0">
              <a:buNone/>
            </a:pPr>
            <a:endParaRPr lang="en-US" dirty="0" smtClean="0"/>
          </a:p>
          <a:p>
            <a:pPr>
              <a:buNone/>
            </a:pPr>
            <a:r>
              <a:rPr lang="en-US" dirty="0" smtClean="0"/>
              <a:t>Example</a:t>
            </a:r>
          </a:p>
          <a:p>
            <a:pPr>
              <a:buNone/>
            </a:pPr>
            <a:r>
              <a:rPr lang="en-US" dirty="0" smtClean="0"/>
              <a:t>Initially Customer </a:t>
            </a:r>
            <a:r>
              <a:rPr lang="en-US" dirty="0" err="1" smtClean="0"/>
              <a:t>wantsPassword</a:t>
            </a:r>
            <a:r>
              <a:rPr lang="en-US" dirty="0" smtClean="0"/>
              <a:t> </a:t>
            </a:r>
            <a:r>
              <a:rPr lang="en-US" dirty="0" smtClean="0"/>
              <a:t>Login.</a:t>
            </a:r>
          </a:p>
          <a:p>
            <a:pPr>
              <a:buNone/>
            </a:pPr>
            <a:r>
              <a:rPr lang="en-US" dirty="0" smtClean="0"/>
              <a:t>Later</a:t>
            </a:r>
          </a:p>
          <a:p>
            <a:pPr>
              <a:buNone/>
            </a:pPr>
            <a:r>
              <a:rPr lang="en-US" dirty="0" smtClean="0"/>
              <a:t>Customer </a:t>
            </a:r>
            <a:r>
              <a:rPr lang="en-US" dirty="0" smtClean="0"/>
              <a:t>wants Face </a:t>
            </a:r>
            <a:r>
              <a:rPr lang="en-US" dirty="0" smtClean="0"/>
              <a:t>Recognition.</a:t>
            </a:r>
          </a:p>
          <a:p>
            <a:pPr>
              <a:buNone/>
            </a:pPr>
            <a:r>
              <a:rPr lang="en-US" dirty="0" smtClean="0"/>
              <a:t>Requirement changed</a:t>
            </a:r>
            <a:r>
              <a:rPr lang="en-US" dirty="0" smtClean="0"/>
              <a:t>.</a:t>
            </a:r>
          </a:p>
          <a:p>
            <a:pPr>
              <a:buNone/>
            </a:pPr>
            <a:endParaRPr lang="en-US" dirty="0" smtClean="0"/>
          </a:p>
          <a:p>
            <a:pPr>
              <a:buNone/>
            </a:pPr>
            <a:r>
              <a:rPr lang="en-US" dirty="0" smtClean="0"/>
              <a:t>This </a:t>
            </a:r>
            <a:r>
              <a:rPr lang="en-US" dirty="0" smtClean="0"/>
              <a:t>is Requirement </a:t>
            </a:r>
            <a:r>
              <a:rPr lang="en-US" dirty="0" smtClean="0"/>
              <a:t>Risk.</a:t>
            </a:r>
          </a:p>
          <a:p>
            <a:pPr>
              <a:buNone/>
            </a:pP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Security Risk</a:t>
            </a:r>
          </a:p>
        </p:txBody>
      </p:sp>
      <p:sp>
        <p:nvSpPr>
          <p:cNvPr id="3" name="Content Placeholder 2"/>
          <p:cNvSpPr>
            <a:spLocks noGrp="1"/>
          </p:cNvSpPr>
          <p:nvPr>
            <p:ph idx="1"/>
          </p:nvPr>
        </p:nvSpPr>
        <p:spPr/>
        <p:txBody>
          <a:bodyPr>
            <a:normAutofit lnSpcReduction="10000"/>
          </a:bodyPr>
          <a:lstStyle/>
          <a:p>
            <a:pPr>
              <a:buNone/>
            </a:pPr>
            <a:r>
              <a:rPr lang="en-US" dirty="0" smtClean="0"/>
              <a:t>Example</a:t>
            </a:r>
            <a:endParaRPr lang="en-US" dirty="0" smtClean="0"/>
          </a:p>
          <a:p>
            <a:pPr>
              <a:buNone/>
            </a:pPr>
            <a:r>
              <a:rPr lang="en-US" dirty="0" smtClean="0"/>
              <a:t>Internet Banking.</a:t>
            </a:r>
          </a:p>
          <a:p>
            <a:pPr>
              <a:buNone/>
            </a:pPr>
            <a:r>
              <a:rPr lang="en-US" dirty="0" smtClean="0"/>
              <a:t>Questions</a:t>
            </a:r>
          </a:p>
          <a:p>
            <a:pPr>
              <a:buNone/>
            </a:pPr>
            <a:r>
              <a:rPr lang="en-US" dirty="0" smtClean="0"/>
              <a:t>Can hackers steal money?</a:t>
            </a:r>
          </a:p>
          <a:p>
            <a:pPr>
              <a:buNone/>
            </a:pPr>
            <a:r>
              <a:rPr lang="en-US" dirty="0" smtClean="0"/>
              <a:t>Can hackers access passwords?</a:t>
            </a:r>
          </a:p>
          <a:p>
            <a:pPr>
              <a:buNone/>
            </a:pPr>
            <a:r>
              <a:rPr lang="en-US" dirty="0" smtClean="0"/>
              <a:t>Can database leak?</a:t>
            </a:r>
          </a:p>
          <a:p>
            <a:pPr>
              <a:buNone/>
            </a:pPr>
            <a:r>
              <a:rPr lang="en-US" dirty="0" smtClean="0"/>
              <a:t>These are</a:t>
            </a:r>
          </a:p>
          <a:p>
            <a:pPr>
              <a:buNone/>
            </a:pPr>
            <a:r>
              <a:rPr lang="en-US" dirty="0" smtClean="0"/>
              <a:t>Security Risks.</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59155"/>
          </a:xfrm>
        </p:spPr>
        <p:txBody>
          <a:bodyPr>
            <a:normAutofit/>
          </a:bodyPr>
          <a:lstStyle/>
          <a:p>
            <a:r>
              <a:rPr lang="en-US" b="1"/>
              <a:t>Spiral Model</a:t>
            </a:r>
          </a:p>
        </p:txBody>
      </p:sp>
      <p:sp>
        <p:nvSpPr>
          <p:cNvPr id="3" name="Content Placeholder 2"/>
          <p:cNvSpPr>
            <a:spLocks noGrp="1"/>
          </p:cNvSpPr>
          <p:nvPr>
            <p:ph sz="half" idx="1"/>
          </p:nvPr>
        </p:nvSpPr>
        <p:spPr>
          <a:xfrm>
            <a:off x="457200" y="935355"/>
            <a:ext cx="8446770" cy="5541010"/>
          </a:xfrm>
        </p:spPr>
        <p:txBody>
          <a:bodyPr/>
          <a:lstStyle/>
          <a:p>
            <a:pPr algn="just"/>
            <a:r>
              <a:rPr lang="en-US" b="1">
                <a:solidFill>
                  <a:srgbClr val="00B050"/>
                </a:solidFill>
              </a:rPr>
              <a:t>Barry Boehm.B</a:t>
            </a:r>
            <a:r>
              <a:rPr lang="en-US"/>
              <a:t> introduced </a:t>
            </a:r>
            <a:r>
              <a:rPr lang="en-US" b="1">
                <a:solidFill>
                  <a:schemeClr val="accent6">
                    <a:lumMod val="75000"/>
                  </a:schemeClr>
                </a:solidFill>
              </a:rPr>
              <a:t>Sprial Model in 1986</a:t>
            </a:r>
            <a:r>
              <a:rPr lang="en-US"/>
              <a:t>.</a:t>
            </a:r>
          </a:p>
          <a:p>
            <a:pPr algn="just"/>
            <a:r>
              <a:rPr lang="en-US"/>
              <a:t>Spiral model is one of the most important Software Development Life Cycle model, which provides </a:t>
            </a:r>
            <a:r>
              <a:rPr lang="en-US" b="1">
                <a:solidFill>
                  <a:schemeClr val="accent6">
                    <a:lumMod val="75000"/>
                  </a:schemeClr>
                </a:solidFill>
              </a:rPr>
              <a:t>support for risk handling</a:t>
            </a:r>
            <a:r>
              <a:rPr lang="en-US"/>
              <a:t>.</a:t>
            </a:r>
          </a:p>
          <a:p>
            <a:pPr algn="just"/>
            <a:r>
              <a:rPr lang="en-US"/>
              <a:t>In its </a:t>
            </a:r>
            <a:r>
              <a:rPr lang="en-US" b="1">
                <a:solidFill>
                  <a:srgbClr val="00B050"/>
                </a:solidFill>
              </a:rPr>
              <a:t>diagrammatic</a:t>
            </a:r>
            <a:r>
              <a:rPr lang="en-US"/>
              <a:t> representation, it looks like a </a:t>
            </a:r>
            <a:r>
              <a:rPr lang="en-US" b="1">
                <a:solidFill>
                  <a:schemeClr val="tx2">
                    <a:lumMod val="60000"/>
                    <a:lumOff val="40000"/>
                  </a:schemeClr>
                </a:solidFill>
              </a:rPr>
              <a:t>spiral with  many loops</a:t>
            </a:r>
            <a:r>
              <a:rPr lang="en-US"/>
              <a:t>.</a:t>
            </a:r>
          </a:p>
          <a:p>
            <a:pPr algn="just"/>
            <a:r>
              <a:rPr lang="en-US"/>
              <a:t>Each loop of the spiral is called a phase of the software development process.</a:t>
            </a:r>
          </a:p>
          <a:p>
            <a:pPr algn="just"/>
            <a:r>
              <a:rPr lang="en-US"/>
              <a:t>This model is much </a:t>
            </a:r>
            <a:r>
              <a:rPr lang="en-US" b="1">
                <a:solidFill>
                  <a:schemeClr val="tx2">
                    <a:lumMod val="60000"/>
                    <a:lumOff val="40000"/>
                  </a:schemeClr>
                </a:solidFill>
              </a:rPr>
              <a:t>more flexible</a:t>
            </a:r>
            <a:r>
              <a:rPr lang="en-US"/>
              <a:t> compared to other SDLC models.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piral-model"/>
          <p:cNvPicPr>
            <a:picLocks noGrp="1" noChangeAspect="1"/>
          </p:cNvPicPr>
          <p:nvPr>
            <p:ph idx="1"/>
          </p:nvPr>
        </p:nvPicPr>
        <p:blipFill>
          <a:blip r:embed="rId2"/>
          <a:stretch>
            <a:fillRect/>
          </a:stretch>
        </p:blipFill>
        <p:spPr>
          <a:xfrm>
            <a:off x="370840" y="281305"/>
            <a:ext cx="8418830" cy="624903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93420"/>
          </a:xfrm>
        </p:spPr>
        <p:txBody>
          <a:bodyPr>
            <a:normAutofit fontScale="90000"/>
          </a:bodyPr>
          <a:lstStyle/>
          <a:p>
            <a:r>
              <a:rPr lang="en-US" b="1"/>
              <a:t>Spiral Model</a:t>
            </a:r>
          </a:p>
        </p:txBody>
      </p:sp>
      <p:sp>
        <p:nvSpPr>
          <p:cNvPr id="3" name="Content Placeholder 2"/>
          <p:cNvSpPr>
            <a:spLocks noGrp="1"/>
          </p:cNvSpPr>
          <p:nvPr>
            <p:ph idx="1"/>
          </p:nvPr>
        </p:nvSpPr>
        <p:spPr>
          <a:xfrm>
            <a:off x="457200" y="845820"/>
            <a:ext cx="8229600" cy="5735320"/>
          </a:xfrm>
        </p:spPr>
        <p:txBody>
          <a:bodyPr>
            <a:noAutofit/>
          </a:bodyPr>
          <a:lstStyle/>
          <a:p>
            <a:pPr marL="0" lvl="2" indent="57150">
              <a:defRPr/>
            </a:pPr>
            <a:r>
              <a:rPr lang="en-US" sz="2500" b="1" dirty="0" smtClean="0">
                <a:sym typeface="+mn-ea"/>
              </a:rPr>
              <a:t>Communication – </a:t>
            </a:r>
            <a:r>
              <a:rPr lang="en-US" sz="2500" dirty="0" smtClean="0">
                <a:sym typeface="+mn-ea"/>
              </a:rPr>
              <a:t>Gather Requirements from Customers </a:t>
            </a:r>
            <a:endParaRPr lang="en-US" sz="2500" dirty="0" smtClean="0"/>
          </a:p>
          <a:p>
            <a:pPr marL="0" lvl="2" indent="57150">
              <a:defRPr/>
            </a:pPr>
            <a:r>
              <a:rPr lang="en-US" sz="2500" b="1" dirty="0" smtClean="0">
                <a:sym typeface="+mn-ea"/>
              </a:rPr>
              <a:t> Planning – </a:t>
            </a:r>
            <a:r>
              <a:rPr lang="en-US" sz="2500" dirty="0" smtClean="0">
                <a:sym typeface="+mn-ea"/>
              </a:rPr>
              <a:t>Plan to be followed will be created. It describes the technical task to be conducted, risk ,required resources, work schedule etc.,</a:t>
            </a:r>
            <a:endParaRPr lang="en-US" sz="2500" dirty="0" smtClean="0"/>
          </a:p>
          <a:p>
            <a:pPr marL="0" lvl="2" indent="57150">
              <a:defRPr/>
            </a:pPr>
            <a:r>
              <a:rPr lang="en-US" sz="2500" b="1" dirty="0" smtClean="0">
                <a:sym typeface="+mn-ea"/>
              </a:rPr>
              <a:t>Modeling – </a:t>
            </a:r>
            <a:r>
              <a:rPr lang="en-US" sz="2500" dirty="0" smtClean="0">
                <a:sym typeface="+mn-ea"/>
              </a:rPr>
              <a:t>A model will be created to better understand the requirements</a:t>
            </a:r>
            <a:endParaRPr lang="en-US" sz="2500" dirty="0" smtClean="0"/>
          </a:p>
          <a:p>
            <a:pPr marL="0" lvl="2" indent="57150">
              <a:defRPr/>
            </a:pPr>
            <a:r>
              <a:rPr lang="en-US" sz="2500" b="1" dirty="0" smtClean="0">
                <a:sym typeface="+mn-ea"/>
              </a:rPr>
              <a:t>Construction – </a:t>
            </a:r>
            <a:r>
              <a:rPr lang="en-US" sz="2500" dirty="0" smtClean="0">
                <a:sym typeface="+mn-ea"/>
              </a:rPr>
              <a:t>Code generated and tested</a:t>
            </a:r>
            <a:endParaRPr lang="en-US" sz="2500" dirty="0" smtClean="0"/>
          </a:p>
          <a:p>
            <a:pPr marL="0" lvl="2" indent="57150">
              <a:defRPr/>
            </a:pPr>
            <a:r>
              <a:rPr lang="en-US" sz="2500" b="1" dirty="0" smtClean="0">
                <a:sym typeface="+mn-ea"/>
              </a:rPr>
              <a:t>Deployment  </a:t>
            </a:r>
            <a:r>
              <a:rPr lang="en-US" sz="2500" dirty="0" smtClean="0">
                <a:sym typeface="+mn-ea"/>
              </a:rPr>
              <a:t>- Complete or partial complete version of software is given to the customer to evaluate and they give feed back based on the evaluation</a:t>
            </a:r>
            <a:endParaRPr lang="en-US" sz="2500" dirty="0"/>
          </a:p>
          <a:p>
            <a:pPr algn="just"/>
            <a:endParaRPr lang="en-US" sz="2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20725"/>
          </a:xfrm>
        </p:spPr>
        <p:txBody>
          <a:bodyPr>
            <a:normAutofit/>
          </a:bodyPr>
          <a:lstStyle/>
          <a:p>
            <a:pPr algn="ctr">
              <a:buClrTx/>
              <a:buSzTx/>
              <a:buFontTx/>
            </a:pPr>
            <a:r>
              <a:rPr lang="en-US" sz="4000" b="1">
                <a:sym typeface="+mn-ea"/>
              </a:rPr>
              <a:t>Spiral Model</a:t>
            </a:r>
            <a:endParaRPr lang="en-US" sz="4000" b="1">
              <a:solidFill>
                <a:srgbClr val="FF0000"/>
              </a:solidFill>
            </a:endParaRPr>
          </a:p>
        </p:txBody>
      </p:sp>
      <p:sp>
        <p:nvSpPr>
          <p:cNvPr id="3" name="Content Placeholder 2"/>
          <p:cNvSpPr>
            <a:spLocks noGrp="1"/>
          </p:cNvSpPr>
          <p:nvPr>
            <p:ph idx="1"/>
          </p:nvPr>
        </p:nvSpPr>
        <p:spPr>
          <a:xfrm>
            <a:off x="457200" y="873125"/>
            <a:ext cx="8229600" cy="5769610"/>
          </a:xfrm>
        </p:spPr>
        <p:txBody>
          <a:bodyPr/>
          <a:lstStyle/>
          <a:p>
            <a:pPr marL="0" indent="0" algn="just">
              <a:buNone/>
            </a:pPr>
            <a:r>
              <a:rPr lang="en-US" b="1">
                <a:solidFill>
                  <a:schemeClr val="tx2">
                    <a:lumMod val="60000"/>
                    <a:lumOff val="40000"/>
                  </a:schemeClr>
                </a:solidFill>
              </a:rPr>
              <a:t>Advantages:</a:t>
            </a:r>
          </a:p>
          <a:p>
            <a:pPr algn="just"/>
            <a:r>
              <a:rPr lang="en-US"/>
              <a:t>It </a:t>
            </a:r>
            <a:r>
              <a:rPr lang="en-US" b="1">
                <a:solidFill>
                  <a:srgbClr val="00B050"/>
                </a:solidFill>
              </a:rPr>
              <a:t>reduces high amount</a:t>
            </a:r>
            <a:r>
              <a:rPr lang="en-US"/>
              <a:t> of risk.</a:t>
            </a:r>
          </a:p>
          <a:p>
            <a:pPr algn="just"/>
            <a:r>
              <a:rPr lang="en-US"/>
              <a:t>It is </a:t>
            </a:r>
            <a:r>
              <a:rPr lang="en-US" b="1">
                <a:solidFill>
                  <a:srgbClr val="00B050"/>
                </a:solidFill>
              </a:rPr>
              <a:t>good for large and critical</a:t>
            </a:r>
            <a:r>
              <a:rPr lang="en-US"/>
              <a:t> projects.</a:t>
            </a:r>
          </a:p>
          <a:p>
            <a:pPr algn="just"/>
            <a:r>
              <a:rPr lang="en-US"/>
              <a:t>It gives strong approval and documentation control.</a:t>
            </a:r>
          </a:p>
          <a:p>
            <a:pPr algn="just"/>
            <a:r>
              <a:rPr lang="en-US"/>
              <a:t>In spiral model, the </a:t>
            </a:r>
            <a:r>
              <a:rPr lang="en-US" b="1">
                <a:solidFill>
                  <a:srgbClr val="FF0000"/>
                </a:solidFill>
              </a:rPr>
              <a:t>software is produced</a:t>
            </a:r>
            <a:r>
              <a:rPr lang="en-US"/>
              <a:t> early in the life cycle process.</a:t>
            </a:r>
          </a:p>
        </p:txBody>
      </p:sp>
      <p:sp>
        <p:nvSpPr>
          <p:cNvPr id="4" name="Title 1"/>
          <p:cNvSpPr>
            <a:spLocks noGrp="1"/>
          </p:cNvSpPr>
          <p:nvPr/>
        </p:nvSpPr>
        <p:spPr>
          <a:xfrm>
            <a:off x="533400" y="4953000"/>
            <a:ext cx="8366760" cy="252603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3200" b="1">
                <a:solidFill>
                  <a:schemeClr val="tx2">
                    <a:lumMod val="60000"/>
                    <a:lumOff val="40000"/>
                  </a:schemeClr>
                </a:solidFill>
              </a:rPr>
              <a:t>Disadvantages:</a:t>
            </a:r>
          </a:p>
          <a:p>
            <a:pPr marL="457200" indent="-457200" algn="just">
              <a:buFont typeface="Arial" panose="020B0604020202020204" pitchFamily="34" charset="0"/>
              <a:buChar char="•"/>
            </a:pPr>
            <a:r>
              <a:rPr lang="en-US" sz="3200"/>
              <a:t>It can be </a:t>
            </a:r>
            <a:r>
              <a:rPr lang="en-US" sz="3200" b="1">
                <a:solidFill>
                  <a:srgbClr val="FF0000"/>
                </a:solidFill>
              </a:rPr>
              <a:t>costly to develop</a:t>
            </a:r>
            <a:r>
              <a:rPr lang="en-US" sz="3200"/>
              <a:t> a software model.</a:t>
            </a:r>
          </a:p>
          <a:p>
            <a:pPr marL="457200" indent="-457200" algn="just">
              <a:buFont typeface="Arial" panose="020B0604020202020204" pitchFamily="34" charset="0"/>
              <a:buChar char="•"/>
            </a:pPr>
            <a:r>
              <a:rPr lang="en-US" sz="3200"/>
              <a:t>It is </a:t>
            </a:r>
            <a:r>
              <a:rPr lang="en-US" sz="3200" b="1">
                <a:solidFill>
                  <a:schemeClr val="accent4">
                    <a:lumMod val="60000"/>
                    <a:lumOff val="40000"/>
                  </a:schemeClr>
                </a:solidFill>
              </a:rPr>
              <a:t>not used for small</a:t>
            </a:r>
            <a:r>
              <a:rPr lang="en-US" sz="3200"/>
              <a:t> projects.</a:t>
            </a:r>
          </a:p>
          <a:p>
            <a:pPr algn="just"/>
            <a:endParaRPr lang="en-US" sz="3200"/>
          </a:p>
          <a:p>
            <a:pPr algn="just"/>
            <a:endParaRPr lang="en-US" sz="3200"/>
          </a:p>
          <a:p>
            <a:pPr algn="just"/>
            <a:endParaRPr lang="en-US" sz="32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903605"/>
          </a:xfrm>
        </p:spPr>
        <p:txBody>
          <a:bodyPr/>
          <a:lstStyle/>
          <a:p>
            <a:r>
              <a:rPr lang="en-US" b="1"/>
              <a:t>Concurrent Development Model</a:t>
            </a:r>
          </a:p>
        </p:txBody>
      </p:sp>
      <p:sp>
        <p:nvSpPr>
          <p:cNvPr id="3" name="Content Placeholder 2"/>
          <p:cNvSpPr>
            <a:spLocks noGrp="1"/>
          </p:cNvSpPr>
          <p:nvPr>
            <p:ph idx="1"/>
          </p:nvPr>
        </p:nvSpPr>
        <p:spPr>
          <a:xfrm>
            <a:off x="457200" y="940435"/>
            <a:ext cx="8229600" cy="5730875"/>
          </a:xfrm>
        </p:spPr>
        <p:txBody>
          <a:bodyPr>
            <a:normAutofit fontScale="87500" lnSpcReduction="10000"/>
          </a:bodyPr>
          <a:lstStyle/>
          <a:p>
            <a:pPr algn="just"/>
            <a:r>
              <a:rPr lang="en-US"/>
              <a:t>The concurrent development model is called as </a:t>
            </a:r>
            <a:r>
              <a:rPr lang="en-US" b="1">
                <a:solidFill>
                  <a:srgbClr val="FF0000"/>
                </a:solidFill>
              </a:rPr>
              <a:t>concurrent model.</a:t>
            </a:r>
          </a:p>
          <a:p>
            <a:pPr algn="just"/>
            <a:r>
              <a:rPr lang="en-US"/>
              <a:t>The communication activity has completed in the first iteration and exits in the </a:t>
            </a:r>
            <a:r>
              <a:rPr lang="en-US" b="1">
                <a:solidFill>
                  <a:srgbClr val="7030A0"/>
                </a:solidFill>
              </a:rPr>
              <a:t>awaiting changes state</a:t>
            </a:r>
            <a:r>
              <a:rPr lang="en-US"/>
              <a:t>.</a:t>
            </a:r>
          </a:p>
          <a:p>
            <a:pPr algn="just"/>
            <a:r>
              <a:rPr lang="en-US"/>
              <a:t>The modeling activity completed its </a:t>
            </a:r>
            <a:r>
              <a:rPr lang="en-US" b="1">
                <a:solidFill>
                  <a:schemeClr val="accent1">
                    <a:lumMod val="75000"/>
                  </a:schemeClr>
                </a:solidFill>
              </a:rPr>
              <a:t>initial communication</a:t>
            </a:r>
            <a:r>
              <a:rPr lang="en-US"/>
              <a:t> and then go to the underdevelopment state.</a:t>
            </a:r>
          </a:p>
          <a:p>
            <a:pPr algn="just"/>
            <a:r>
              <a:rPr lang="en-US"/>
              <a:t>If the customer specifies the change in the requirement, then the modeling activity moves from the </a:t>
            </a:r>
            <a:r>
              <a:rPr lang="en-US" b="1">
                <a:solidFill>
                  <a:schemeClr val="accent6">
                    <a:lumMod val="75000"/>
                  </a:schemeClr>
                </a:solidFill>
              </a:rPr>
              <a:t>under development state into the awaiting change state</a:t>
            </a:r>
            <a:r>
              <a:rPr lang="en-US"/>
              <a:t>.</a:t>
            </a:r>
          </a:p>
          <a:p>
            <a:pPr algn="just"/>
            <a:r>
              <a:rPr lang="en-US"/>
              <a:t>The concurrent process model activities moving from one state to another state.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3400" y="152400"/>
            <a:ext cx="8229600" cy="836295"/>
          </a:xfrm>
        </p:spPr>
        <p:txBody>
          <a:bodyPr>
            <a:normAutofit fontScale="90000"/>
          </a:bodyPr>
          <a:lstStyle/>
          <a:p>
            <a:r>
              <a:rPr lang="en-US" b="1">
                <a:sym typeface="+mn-ea"/>
              </a:rPr>
              <a:t/>
            </a:r>
            <a:br>
              <a:rPr lang="en-US" b="1">
                <a:sym typeface="+mn-ea"/>
              </a:rPr>
            </a:br>
            <a:r>
              <a:rPr lang="en-US" b="1">
                <a:sym typeface="+mn-ea"/>
              </a:rPr>
              <a:t>Concurrent Development Model</a:t>
            </a:r>
            <a:r>
              <a:rPr lang="en-US" b="1"/>
              <a:t/>
            </a:r>
            <a:br>
              <a:rPr lang="en-US" b="1"/>
            </a:br>
            <a:endParaRPr lang="en-US" b="1"/>
          </a:p>
        </p:txBody>
      </p:sp>
      <p:pic>
        <p:nvPicPr>
          <p:cNvPr id="4" name="Content Placeholder 3" descr="concurrent-model"/>
          <p:cNvPicPr>
            <a:picLocks noGrp="1" noChangeAspect="1"/>
          </p:cNvPicPr>
          <p:nvPr>
            <p:ph idx="1"/>
          </p:nvPr>
        </p:nvPicPr>
        <p:blipFill>
          <a:blip r:embed="rId2"/>
          <a:stretch>
            <a:fillRect/>
          </a:stretch>
        </p:blipFill>
        <p:spPr>
          <a:xfrm>
            <a:off x="584200" y="1287780"/>
            <a:ext cx="7955915" cy="518414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915" y="207010"/>
            <a:ext cx="8472805" cy="6330950"/>
          </a:xfrm>
        </p:spPr>
        <p:txBody>
          <a:bodyPr>
            <a:normAutofit fontScale="90000"/>
          </a:bodyPr>
          <a:lstStyle/>
          <a:p>
            <a:pPr marL="0" indent="0" algn="just">
              <a:buNone/>
            </a:pPr>
            <a:r>
              <a:rPr lang="en-US" b="1">
                <a:solidFill>
                  <a:schemeClr val="tx1"/>
                </a:solidFill>
              </a:rPr>
              <a:t>Advantages of the concurrent development model</a:t>
            </a:r>
          </a:p>
          <a:p>
            <a:pPr algn="just"/>
            <a:r>
              <a:rPr lang="en-US"/>
              <a:t>This model is applicable to </a:t>
            </a:r>
            <a:r>
              <a:rPr lang="en-US" b="1">
                <a:solidFill>
                  <a:schemeClr val="accent6">
                    <a:lumMod val="75000"/>
                  </a:schemeClr>
                </a:solidFill>
              </a:rPr>
              <a:t>all types of software development processes.</a:t>
            </a:r>
          </a:p>
          <a:p>
            <a:pPr algn="just"/>
            <a:r>
              <a:rPr lang="en-US"/>
              <a:t>It is </a:t>
            </a:r>
            <a:r>
              <a:rPr lang="en-US" b="1">
                <a:solidFill>
                  <a:srgbClr val="0070C0"/>
                </a:solidFill>
              </a:rPr>
              <a:t>easy for understanding</a:t>
            </a:r>
            <a:r>
              <a:rPr lang="en-US"/>
              <a:t> and use.</a:t>
            </a:r>
          </a:p>
          <a:p>
            <a:pPr algn="just"/>
            <a:r>
              <a:rPr lang="en-US"/>
              <a:t>It gives </a:t>
            </a:r>
            <a:r>
              <a:rPr lang="en-US" b="1">
                <a:solidFill>
                  <a:srgbClr val="00B050"/>
                </a:solidFill>
              </a:rPr>
              <a:t>immediate feedback</a:t>
            </a:r>
            <a:r>
              <a:rPr lang="en-US"/>
              <a:t> from testing.</a:t>
            </a:r>
          </a:p>
          <a:p>
            <a:pPr algn="just"/>
            <a:r>
              <a:rPr lang="en-US"/>
              <a:t>It provides an accurate picture of the current state of a project.</a:t>
            </a:r>
          </a:p>
          <a:p>
            <a:pPr marL="0" indent="0" algn="just">
              <a:buNone/>
            </a:pPr>
            <a:r>
              <a:rPr lang="en-US" b="1">
                <a:solidFill>
                  <a:schemeClr val="tx1"/>
                </a:solidFill>
              </a:rPr>
              <a:t>Disadvantages of the concurrent development model</a:t>
            </a:r>
            <a:endParaRPr lang="en-US" b="1">
              <a:solidFill>
                <a:srgbClr val="FF0000"/>
              </a:solidFill>
            </a:endParaRPr>
          </a:p>
          <a:p>
            <a:pPr algn="just"/>
            <a:r>
              <a:rPr lang="en-US"/>
              <a:t>It needs </a:t>
            </a:r>
            <a:r>
              <a:rPr lang="en-US" b="1">
                <a:solidFill>
                  <a:srgbClr val="00B050"/>
                </a:solidFill>
              </a:rPr>
              <a:t>better communication between the team members.</a:t>
            </a:r>
            <a:r>
              <a:rPr lang="en-US"/>
              <a:t> This may not be achieved all the time.</a:t>
            </a:r>
          </a:p>
          <a:p>
            <a:pPr algn="just"/>
            <a:r>
              <a:rPr lang="en-US"/>
              <a:t>It requires to </a:t>
            </a:r>
            <a:r>
              <a:rPr lang="en-US" b="1">
                <a:solidFill>
                  <a:srgbClr val="00B050"/>
                </a:solidFill>
              </a:rPr>
              <a:t>remember the status</a:t>
            </a:r>
            <a:r>
              <a:rPr lang="en-US"/>
              <a:t> of the different activities.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98195"/>
          </a:xfrm>
        </p:spPr>
        <p:txBody>
          <a:bodyPr/>
          <a:lstStyle/>
          <a:p>
            <a:r>
              <a:rPr lang="en-US" b="1"/>
              <a:t>Requirement Engineering</a:t>
            </a:r>
          </a:p>
        </p:txBody>
      </p:sp>
      <p:sp>
        <p:nvSpPr>
          <p:cNvPr id="3" name="Content Placeholder 2"/>
          <p:cNvSpPr>
            <a:spLocks noGrp="1"/>
          </p:cNvSpPr>
          <p:nvPr>
            <p:ph idx="1"/>
          </p:nvPr>
        </p:nvSpPr>
        <p:spPr>
          <a:xfrm>
            <a:off x="340360" y="883920"/>
            <a:ext cx="8421370" cy="5808345"/>
          </a:xfrm>
        </p:spPr>
        <p:txBody>
          <a:bodyPr>
            <a:normAutofit/>
          </a:bodyPr>
          <a:lstStyle/>
          <a:p>
            <a:pPr algn="just"/>
            <a:r>
              <a:rPr lang="en-US"/>
              <a:t>Requirements Engineering (RE) refers to the process of </a:t>
            </a:r>
            <a:r>
              <a:rPr lang="en-US" b="1">
                <a:solidFill>
                  <a:srgbClr val="7030A0"/>
                </a:solidFill>
              </a:rPr>
              <a:t>defining, documenting, and maintaining requirements</a:t>
            </a:r>
            <a:r>
              <a:rPr lang="en-US"/>
              <a:t> in the engineering design process.</a:t>
            </a:r>
          </a:p>
          <a:p>
            <a:pPr marL="0" indent="0" algn="just">
              <a:buNone/>
            </a:pPr>
            <a:r>
              <a:rPr lang="en-US" b="1">
                <a:solidFill>
                  <a:srgbClr val="FF0000"/>
                </a:solidFill>
              </a:rPr>
              <a:t>Requirement Engineering Process</a:t>
            </a:r>
            <a:endParaRPr lang="en-US"/>
          </a:p>
          <a:p>
            <a:pPr marL="0" indent="0" algn="just">
              <a:buNone/>
            </a:pPr>
            <a:r>
              <a:rPr lang="en-US"/>
              <a:t>It is a four-step process, which includes -</a:t>
            </a:r>
          </a:p>
          <a:p>
            <a:pPr algn="just">
              <a:buFont typeface="Wingdings" panose="05000000000000000000" charset="0"/>
              <a:buChar char="Ø"/>
            </a:pPr>
            <a:r>
              <a:rPr lang="en-US"/>
              <a:t>Feasibility Study</a:t>
            </a:r>
          </a:p>
          <a:p>
            <a:pPr algn="just">
              <a:buFont typeface="Wingdings" panose="05000000000000000000" charset="0"/>
              <a:buChar char="Ø"/>
            </a:pPr>
            <a:r>
              <a:rPr lang="en-US"/>
              <a:t>Requirement Elicitation and Analysis</a:t>
            </a:r>
          </a:p>
          <a:p>
            <a:pPr algn="just">
              <a:buFont typeface="Wingdings" panose="05000000000000000000" charset="0"/>
              <a:buChar char="Ø"/>
            </a:pPr>
            <a:r>
              <a:rPr lang="en-US"/>
              <a:t>Software Requirement Specification</a:t>
            </a:r>
          </a:p>
          <a:p>
            <a:pPr algn="just">
              <a:buFont typeface="Wingdings" panose="05000000000000000000" charset="0"/>
              <a:buChar char="Ø"/>
            </a:pPr>
            <a:r>
              <a:rPr lang="en-US"/>
              <a:t>Software Requirement Validation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98195"/>
          </a:xfrm>
        </p:spPr>
        <p:txBody>
          <a:bodyPr/>
          <a:lstStyle/>
          <a:p>
            <a:r>
              <a:rPr lang="en-US" b="1"/>
              <a:t>Requirement Engineering</a:t>
            </a:r>
          </a:p>
        </p:txBody>
      </p:sp>
      <p:sp>
        <p:nvSpPr>
          <p:cNvPr id="3" name="Content Placeholder 2"/>
          <p:cNvSpPr>
            <a:spLocks noGrp="1"/>
          </p:cNvSpPr>
          <p:nvPr>
            <p:ph idx="1"/>
          </p:nvPr>
        </p:nvSpPr>
        <p:spPr>
          <a:xfrm>
            <a:off x="340360" y="883920"/>
            <a:ext cx="8421370" cy="5808345"/>
          </a:xfrm>
        </p:spPr>
        <p:txBody>
          <a:bodyPr>
            <a:normAutofit/>
          </a:bodyPr>
          <a:lstStyle/>
          <a:p>
            <a:pPr algn="just"/>
            <a:r>
              <a:rPr lang="en-US"/>
              <a:t>Requirements Engineering (RE) refers to the process of </a:t>
            </a:r>
            <a:r>
              <a:rPr lang="en-US" b="1">
                <a:solidFill>
                  <a:srgbClr val="7030A0"/>
                </a:solidFill>
              </a:rPr>
              <a:t>defining, documenting, and maintaining requirements</a:t>
            </a:r>
            <a:r>
              <a:rPr lang="en-US"/>
              <a:t> in the engineering design process.</a:t>
            </a:r>
          </a:p>
          <a:p>
            <a:pPr marL="0" indent="0" algn="just">
              <a:buNone/>
            </a:pPr>
            <a:r>
              <a:rPr lang="en-US" b="1">
                <a:solidFill>
                  <a:srgbClr val="FF0000"/>
                </a:solidFill>
              </a:rPr>
              <a:t>Requirement Engineering Process</a:t>
            </a:r>
            <a:endParaRPr lang="en-US"/>
          </a:p>
          <a:p>
            <a:pPr marL="0" indent="0" algn="just">
              <a:buNone/>
            </a:pPr>
            <a:r>
              <a:rPr lang="en-US"/>
              <a:t>It is a four-step process, which includes -</a:t>
            </a:r>
          </a:p>
          <a:p>
            <a:pPr algn="just">
              <a:buFont typeface="Wingdings" panose="05000000000000000000" charset="0"/>
              <a:buChar char="Ø"/>
            </a:pPr>
            <a:r>
              <a:rPr lang="en-US"/>
              <a:t>Feasibility Study</a:t>
            </a:r>
          </a:p>
          <a:p>
            <a:pPr algn="just">
              <a:buFont typeface="Wingdings" panose="05000000000000000000" charset="0"/>
              <a:buChar char="Ø"/>
            </a:pPr>
            <a:r>
              <a:rPr lang="en-US"/>
              <a:t>Requirement Elicitation and Analysis</a:t>
            </a:r>
          </a:p>
          <a:p>
            <a:pPr algn="just">
              <a:buFont typeface="Wingdings" panose="05000000000000000000" charset="0"/>
              <a:buChar char="Ø"/>
            </a:pPr>
            <a:r>
              <a:rPr lang="en-US"/>
              <a:t>Software Requirement Specification</a:t>
            </a:r>
          </a:p>
          <a:p>
            <a:pPr algn="just">
              <a:buFont typeface="Wingdings" panose="05000000000000000000" charset="0"/>
              <a:buChar char="Ø"/>
            </a:pPr>
            <a:r>
              <a:rPr lang="en-US"/>
              <a:t>Software Requirement Validation</a:t>
            </a:r>
          </a:p>
        </p:txBody>
      </p:sp>
    </p:spTree>
    <p:extLst>
      <p:ext uri="{BB962C8B-B14F-4D97-AF65-F5344CB8AC3E}">
        <p14:creationId xmlns:p14="http://schemas.microsoft.com/office/powerpoint/2010/main" xmlns="" val="371830915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quirement-engineering"/>
          <p:cNvPicPr>
            <a:picLocks noGrp="1" noChangeAspect="1"/>
          </p:cNvPicPr>
          <p:nvPr>
            <p:ph idx="1"/>
          </p:nvPr>
        </p:nvPicPr>
        <p:blipFill>
          <a:blip r:embed="rId2"/>
          <a:stretch>
            <a:fillRect/>
          </a:stretch>
        </p:blipFill>
        <p:spPr>
          <a:xfrm>
            <a:off x="377190" y="340995"/>
            <a:ext cx="8510270" cy="6350000"/>
          </a:xfrm>
          <a:prstGeom prst="rect">
            <a:avLst/>
          </a:prstGeom>
        </p:spPr>
      </p:pic>
    </p:spTree>
    <p:extLst>
      <p:ext uri="{BB962C8B-B14F-4D97-AF65-F5344CB8AC3E}">
        <p14:creationId xmlns:p14="http://schemas.microsoft.com/office/powerpoint/2010/main" xmlns="" val="423215465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78815"/>
          </a:xfrm>
        </p:spPr>
        <p:txBody>
          <a:bodyPr>
            <a:normAutofit fontScale="90000"/>
          </a:bodyPr>
          <a:lstStyle/>
          <a:p>
            <a:r>
              <a:rPr lang="en-US" b="1"/>
              <a:t>Feasibility Study</a:t>
            </a:r>
          </a:p>
        </p:txBody>
      </p:sp>
      <p:sp>
        <p:nvSpPr>
          <p:cNvPr id="3" name="Content Placeholder 2"/>
          <p:cNvSpPr>
            <a:spLocks noGrp="1"/>
          </p:cNvSpPr>
          <p:nvPr>
            <p:ph idx="1"/>
          </p:nvPr>
        </p:nvSpPr>
        <p:spPr>
          <a:xfrm>
            <a:off x="457200" y="754380"/>
            <a:ext cx="8229600" cy="5860415"/>
          </a:xfrm>
        </p:spPr>
        <p:txBody>
          <a:bodyPr>
            <a:normAutofit fontScale="77500" lnSpcReduction="20000"/>
          </a:bodyPr>
          <a:lstStyle/>
          <a:p>
            <a:pPr algn="just"/>
            <a:r>
              <a:rPr lang="en-US" sz="3430" dirty="0"/>
              <a:t>The objective behind the feasibility study is to </a:t>
            </a:r>
            <a:r>
              <a:rPr lang="en-US" sz="3430" b="1" dirty="0">
                <a:solidFill>
                  <a:srgbClr val="00B050"/>
                </a:solidFill>
              </a:rPr>
              <a:t>create the reasons for developing the software</a:t>
            </a:r>
            <a:r>
              <a:rPr lang="en-US" sz="3430" dirty="0"/>
              <a:t> that is acceptable to users, flexible to change and conformable to established standards.</a:t>
            </a:r>
          </a:p>
          <a:p>
            <a:pPr marL="0" indent="0" algn="just">
              <a:buNone/>
            </a:pPr>
            <a:r>
              <a:rPr lang="en-US" sz="3430" b="1" dirty="0">
                <a:solidFill>
                  <a:schemeClr val="accent6"/>
                </a:solidFill>
              </a:rPr>
              <a:t>Types of Feasibility:</a:t>
            </a:r>
          </a:p>
          <a:p>
            <a:pPr algn="just">
              <a:buFont typeface="Wingdings" panose="05000000000000000000" charset="0"/>
              <a:buChar char="Ø"/>
            </a:pPr>
            <a:r>
              <a:rPr lang="en-US" sz="3430" b="1" dirty="0" smtClean="0">
                <a:solidFill>
                  <a:schemeClr val="tx2">
                    <a:lumMod val="60000"/>
                    <a:lumOff val="40000"/>
                  </a:schemeClr>
                </a:solidFill>
              </a:rPr>
              <a:t>Technical Feasibility</a:t>
            </a:r>
            <a:r>
              <a:rPr lang="en-US" sz="3430" b="1" dirty="0">
                <a:solidFill>
                  <a:schemeClr val="tx2">
                    <a:lumMod val="60000"/>
                    <a:lumOff val="40000"/>
                  </a:schemeClr>
                </a:solidFill>
              </a:rPr>
              <a:t>:</a:t>
            </a:r>
            <a:r>
              <a:rPr lang="en-US" sz="3430" dirty="0"/>
              <a:t> evaluates the </a:t>
            </a:r>
            <a:r>
              <a:rPr lang="en-US" sz="3430" b="1" dirty="0">
                <a:solidFill>
                  <a:schemeClr val="accent2"/>
                </a:solidFill>
              </a:rPr>
              <a:t>current technologies,</a:t>
            </a:r>
            <a:r>
              <a:rPr lang="en-US" sz="3430" dirty="0"/>
              <a:t> which are needed to accomplish customer requirements within the time and budget.</a:t>
            </a:r>
          </a:p>
          <a:p>
            <a:pPr algn="just">
              <a:buFont typeface="Wingdings" panose="05000000000000000000" charset="0"/>
              <a:buChar char="Ø"/>
            </a:pPr>
            <a:r>
              <a:rPr lang="en-US" sz="3430" b="1" dirty="0">
                <a:solidFill>
                  <a:schemeClr val="tx2">
                    <a:lumMod val="60000"/>
                    <a:lumOff val="40000"/>
                  </a:schemeClr>
                </a:solidFill>
              </a:rPr>
              <a:t>Operational Feasibility:</a:t>
            </a:r>
            <a:r>
              <a:rPr lang="en-US" sz="3430" dirty="0"/>
              <a:t>  assesses the range in which the required software performs a series of levels to </a:t>
            </a:r>
            <a:r>
              <a:rPr lang="en-US" sz="3430" b="1" dirty="0">
                <a:solidFill>
                  <a:schemeClr val="accent2"/>
                </a:solidFill>
              </a:rPr>
              <a:t>solve business problems and customer requirements</a:t>
            </a:r>
            <a:r>
              <a:rPr lang="en-US" sz="3430" dirty="0"/>
              <a:t>.</a:t>
            </a:r>
          </a:p>
          <a:p>
            <a:pPr algn="just">
              <a:buFont typeface="Wingdings" panose="05000000000000000000" charset="0"/>
              <a:buChar char="Ø"/>
            </a:pPr>
            <a:r>
              <a:rPr lang="en-US" sz="3430" b="1" dirty="0">
                <a:solidFill>
                  <a:schemeClr val="tx2">
                    <a:lumMod val="60000"/>
                    <a:lumOff val="40000"/>
                  </a:schemeClr>
                </a:solidFill>
              </a:rPr>
              <a:t>Economic Feasibility:</a:t>
            </a:r>
            <a:r>
              <a:rPr lang="en-US" sz="3430" dirty="0"/>
              <a:t> Economic feasibility decides whether the necessary software can generate </a:t>
            </a:r>
            <a:r>
              <a:rPr lang="en-US" sz="3430" b="1" dirty="0">
                <a:solidFill>
                  <a:schemeClr val="accent2"/>
                </a:solidFill>
              </a:rPr>
              <a:t>financial profits for an organization.</a:t>
            </a:r>
          </a:p>
        </p:txBody>
      </p:sp>
    </p:spTree>
    <p:extLst>
      <p:ext uri="{BB962C8B-B14F-4D97-AF65-F5344CB8AC3E}">
        <p14:creationId xmlns:p14="http://schemas.microsoft.com/office/powerpoint/2010/main" xmlns="" val="298361396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2485"/>
          </a:xfrm>
        </p:spPr>
        <p:txBody>
          <a:bodyPr>
            <a:normAutofit fontScale="90000"/>
          </a:bodyPr>
          <a:lstStyle/>
          <a:p>
            <a:r>
              <a:rPr lang="en-US" b="1"/>
              <a:t>Requirement Elicitation and Analysis</a:t>
            </a:r>
          </a:p>
        </p:txBody>
      </p:sp>
      <p:sp>
        <p:nvSpPr>
          <p:cNvPr id="3" name="Content Placeholder 2"/>
          <p:cNvSpPr>
            <a:spLocks noGrp="1"/>
          </p:cNvSpPr>
          <p:nvPr>
            <p:ph idx="1"/>
          </p:nvPr>
        </p:nvSpPr>
        <p:spPr>
          <a:xfrm>
            <a:off x="382905" y="960120"/>
            <a:ext cx="8303895" cy="5549900"/>
          </a:xfrm>
        </p:spPr>
        <p:txBody>
          <a:bodyPr/>
          <a:lstStyle/>
          <a:p>
            <a:pPr algn="just"/>
            <a:r>
              <a:rPr lang="en-US"/>
              <a:t>This is also known as the </a:t>
            </a:r>
            <a:r>
              <a:rPr lang="en-US" b="1">
                <a:solidFill>
                  <a:srgbClr val="00B050"/>
                </a:solidFill>
              </a:rPr>
              <a:t>gathering of requirements.</a:t>
            </a:r>
            <a:r>
              <a:rPr lang="en-US"/>
              <a:t> Here, requirements are identified with the help of </a:t>
            </a:r>
            <a:r>
              <a:rPr lang="en-US" b="1">
                <a:solidFill>
                  <a:srgbClr val="C00000"/>
                </a:solidFill>
              </a:rPr>
              <a:t>customers and existing systems processes,</a:t>
            </a:r>
            <a:r>
              <a:rPr lang="en-US"/>
              <a:t> if available.</a:t>
            </a:r>
          </a:p>
          <a:p>
            <a:pPr algn="just"/>
            <a:r>
              <a:rPr lang="en-US"/>
              <a:t>Analysis of requirements starts with requirement elicitation. </a:t>
            </a:r>
          </a:p>
          <a:p>
            <a:pPr algn="just"/>
            <a:r>
              <a:rPr lang="en-US"/>
              <a:t>The requirements are analyzed to identify </a:t>
            </a:r>
            <a:r>
              <a:rPr lang="en-US" b="1">
                <a:solidFill>
                  <a:srgbClr val="FF0000"/>
                </a:solidFill>
              </a:rPr>
              <a:t>inconsistencies, defects, omission, etc.</a:t>
            </a:r>
          </a:p>
        </p:txBody>
      </p:sp>
    </p:spTree>
    <p:extLst>
      <p:ext uri="{BB962C8B-B14F-4D97-AF65-F5344CB8AC3E}">
        <p14:creationId xmlns:p14="http://schemas.microsoft.com/office/powerpoint/2010/main" xmlns="" val="401752645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400"/>
            <a:ext cx="8442325" cy="901700"/>
          </a:xfrm>
        </p:spPr>
        <p:txBody>
          <a:bodyPr>
            <a:normAutofit fontScale="90000"/>
          </a:bodyPr>
          <a:lstStyle/>
          <a:p>
            <a:r>
              <a:rPr lang="en-US" b="1">
                <a:sym typeface="+mn-ea"/>
              </a:rPr>
              <a:t>Requirement Elicitation and Analysis</a:t>
            </a:r>
            <a:endParaRPr lang="en-US" b="1"/>
          </a:p>
        </p:txBody>
      </p:sp>
      <p:pic>
        <p:nvPicPr>
          <p:cNvPr id="4" name="Content Placeholder 3" descr="1_ntfyVZh2vP-YPaRGyqL-zA"/>
          <p:cNvPicPr>
            <a:picLocks noGrp="1" noChangeAspect="1"/>
          </p:cNvPicPr>
          <p:nvPr>
            <p:ph idx="1"/>
          </p:nvPr>
        </p:nvPicPr>
        <p:blipFill>
          <a:blip r:embed="rId2"/>
          <a:stretch>
            <a:fillRect/>
          </a:stretch>
        </p:blipFill>
        <p:spPr>
          <a:xfrm>
            <a:off x="457200" y="1295400"/>
            <a:ext cx="8357870" cy="5170805"/>
          </a:xfrm>
          <a:prstGeom prst="rect">
            <a:avLst/>
          </a:prstGeom>
        </p:spPr>
      </p:pic>
    </p:spTree>
    <p:extLst>
      <p:ext uri="{BB962C8B-B14F-4D97-AF65-F5344CB8AC3E}">
        <p14:creationId xmlns:p14="http://schemas.microsoft.com/office/powerpoint/2010/main" xmlns="" val="107238819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b="1">
                <a:sym typeface="+mn-ea"/>
              </a:rPr>
              <a:t>Software Requirements</a:t>
            </a:r>
            <a:endParaRPr lang="en-US" b="1"/>
          </a:p>
        </p:txBody>
      </p:sp>
      <p:sp>
        <p:nvSpPr>
          <p:cNvPr id="3" name="Content Placeholder 2"/>
          <p:cNvSpPr>
            <a:spLocks noGrp="1"/>
          </p:cNvSpPr>
          <p:nvPr>
            <p:ph idx="1"/>
          </p:nvPr>
        </p:nvSpPr>
        <p:spPr>
          <a:xfrm>
            <a:off x="457200" y="1293495"/>
            <a:ext cx="8229600" cy="4832985"/>
          </a:xfrm>
        </p:spPr>
        <p:txBody>
          <a:bodyPr/>
          <a:lstStyle/>
          <a:p>
            <a:pPr marL="0" indent="0" algn="just">
              <a:buNone/>
            </a:pPr>
            <a:r>
              <a:rPr lang="en-US" dirty="0">
                <a:sym typeface="+mn-ea"/>
              </a:rPr>
              <a:t>Broadly software requirements should be categorized in two categories:</a:t>
            </a:r>
            <a:endParaRPr lang="en-US" dirty="0"/>
          </a:p>
          <a:p>
            <a:pPr algn="just"/>
            <a:r>
              <a:rPr lang="en-US" dirty="0">
                <a:solidFill>
                  <a:srgbClr val="FF0000"/>
                </a:solidFill>
                <a:sym typeface="+mn-ea"/>
              </a:rPr>
              <a:t>Functional Requirements</a:t>
            </a:r>
            <a:endParaRPr lang="en-US" dirty="0">
              <a:solidFill>
                <a:srgbClr val="FF0000"/>
              </a:solidFill>
            </a:endParaRPr>
          </a:p>
          <a:p>
            <a:pPr algn="just"/>
            <a:r>
              <a:rPr lang="en-US" dirty="0">
                <a:solidFill>
                  <a:srgbClr val="FF0000"/>
                </a:solidFill>
                <a:sym typeface="+mn-ea"/>
              </a:rPr>
              <a:t>Non Functional Requirements</a:t>
            </a:r>
            <a:endParaRPr lang="en-US" dirty="0">
              <a:solidFill>
                <a:srgbClr val="FF0000"/>
              </a:solidFill>
            </a:endParaRPr>
          </a:p>
          <a:p>
            <a:pPr marL="0" indent="0" algn="just">
              <a:buNone/>
            </a:pPr>
            <a:endParaRPr lang="en-US"/>
          </a:p>
        </p:txBody>
      </p:sp>
    </p:spTree>
    <p:extLst>
      <p:ext uri="{BB962C8B-B14F-4D97-AF65-F5344CB8AC3E}">
        <p14:creationId xmlns:p14="http://schemas.microsoft.com/office/powerpoint/2010/main" xmlns="" val="299449808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75030"/>
          </a:xfrm>
        </p:spPr>
        <p:txBody>
          <a:bodyPr>
            <a:normAutofit/>
          </a:bodyPr>
          <a:lstStyle/>
          <a:p>
            <a:r>
              <a:rPr lang="en-US" b="1" dirty="0">
                <a:solidFill>
                  <a:schemeClr val="tx1"/>
                </a:solidFill>
                <a:sym typeface="+mn-ea"/>
              </a:rPr>
              <a:t>Functional Requirements</a:t>
            </a:r>
          </a:p>
        </p:txBody>
      </p:sp>
      <p:sp>
        <p:nvSpPr>
          <p:cNvPr id="3" name="Content Placeholder 2"/>
          <p:cNvSpPr>
            <a:spLocks noGrp="1"/>
          </p:cNvSpPr>
          <p:nvPr>
            <p:ph idx="1"/>
          </p:nvPr>
        </p:nvSpPr>
        <p:spPr>
          <a:xfrm>
            <a:off x="457200" y="883920"/>
            <a:ext cx="8229600" cy="5744845"/>
          </a:xfrm>
        </p:spPr>
        <p:txBody>
          <a:bodyPr>
            <a:normAutofit fontScale="77500" lnSpcReduction="20000"/>
          </a:bodyPr>
          <a:lstStyle/>
          <a:p>
            <a:pPr marL="0" indent="0" algn="just">
              <a:buNone/>
            </a:pPr>
            <a:r>
              <a:rPr lang="en-US" dirty="0">
                <a:sym typeface="+mn-ea"/>
              </a:rPr>
              <a:t>Requirements, which are related to functional aspect of software fall into this category.</a:t>
            </a:r>
            <a:endParaRPr lang="en-US" dirty="0"/>
          </a:p>
          <a:p>
            <a:pPr marL="0" indent="0" algn="just">
              <a:buNone/>
            </a:pPr>
            <a:r>
              <a:rPr lang="en-US" dirty="0">
                <a:sym typeface="+mn-ea"/>
              </a:rPr>
              <a:t>They define </a:t>
            </a:r>
            <a:r>
              <a:rPr lang="en-US" b="1" dirty="0">
                <a:solidFill>
                  <a:srgbClr val="FF0000"/>
                </a:solidFill>
                <a:sym typeface="+mn-ea"/>
              </a:rPr>
              <a:t>functions and functionality</a:t>
            </a:r>
            <a:r>
              <a:rPr lang="en-US" dirty="0">
                <a:sym typeface="+mn-ea"/>
              </a:rPr>
              <a:t> within and from the software system.</a:t>
            </a:r>
            <a:endParaRPr lang="en-US" dirty="0"/>
          </a:p>
          <a:p>
            <a:pPr marL="0" indent="0" algn="just">
              <a:buNone/>
            </a:pPr>
            <a:endParaRPr lang="en-US" b="1" dirty="0"/>
          </a:p>
          <a:p>
            <a:pPr marL="0" indent="0" algn="just">
              <a:buNone/>
            </a:pPr>
            <a:r>
              <a:rPr lang="en-US" b="1" dirty="0">
                <a:sym typeface="+mn-ea"/>
              </a:rPr>
              <a:t>Examples -</a:t>
            </a:r>
            <a:endParaRPr lang="en-US" b="1" dirty="0"/>
          </a:p>
          <a:p>
            <a:pPr algn="just"/>
            <a:r>
              <a:rPr lang="en-US" dirty="0">
                <a:sym typeface="+mn-ea"/>
              </a:rPr>
              <a:t>Search option given to </a:t>
            </a:r>
            <a:r>
              <a:rPr lang="en-US" b="1" dirty="0">
                <a:solidFill>
                  <a:schemeClr val="accent3"/>
                </a:solidFill>
                <a:sym typeface="+mn-ea"/>
              </a:rPr>
              <a:t>user to search from various invoices</a:t>
            </a:r>
            <a:r>
              <a:rPr lang="en-US" dirty="0">
                <a:sym typeface="+mn-ea"/>
              </a:rPr>
              <a:t>.</a:t>
            </a:r>
            <a:endParaRPr lang="en-US" dirty="0"/>
          </a:p>
          <a:p>
            <a:pPr algn="just"/>
            <a:r>
              <a:rPr lang="en-US" dirty="0">
                <a:sym typeface="+mn-ea"/>
              </a:rPr>
              <a:t>User should be able to </a:t>
            </a:r>
            <a:r>
              <a:rPr lang="en-US" b="1" dirty="0">
                <a:solidFill>
                  <a:schemeClr val="accent1"/>
                </a:solidFill>
                <a:sym typeface="+mn-ea"/>
              </a:rPr>
              <a:t>mail any report</a:t>
            </a:r>
            <a:r>
              <a:rPr lang="en-US" dirty="0">
                <a:sym typeface="+mn-ea"/>
              </a:rPr>
              <a:t> to management.</a:t>
            </a:r>
            <a:endParaRPr lang="en-US" dirty="0"/>
          </a:p>
          <a:p>
            <a:pPr algn="just"/>
            <a:r>
              <a:rPr lang="en-US" dirty="0">
                <a:sym typeface="+mn-ea"/>
              </a:rPr>
              <a:t>Users can be divided into groups and groups can be given separate rights.</a:t>
            </a:r>
            <a:endParaRPr lang="en-US" dirty="0"/>
          </a:p>
          <a:p>
            <a:pPr algn="just"/>
            <a:r>
              <a:rPr lang="en-US" dirty="0">
                <a:sym typeface="+mn-ea"/>
              </a:rPr>
              <a:t>Should comply business rules and administrative functions.</a:t>
            </a:r>
            <a:endParaRPr lang="en-US" dirty="0"/>
          </a:p>
          <a:p>
            <a:pPr algn="just"/>
            <a:r>
              <a:rPr lang="en-US" dirty="0">
                <a:sym typeface="+mn-ea"/>
              </a:rPr>
              <a:t>Software is developed keeping </a:t>
            </a:r>
            <a:r>
              <a:rPr lang="en-US" b="1" dirty="0">
                <a:solidFill>
                  <a:schemeClr val="accent1"/>
                </a:solidFill>
                <a:sym typeface="+mn-ea"/>
              </a:rPr>
              <a:t>downward compatibility</a:t>
            </a:r>
            <a:r>
              <a:rPr lang="en-US" dirty="0">
                <a:sym typeface="+mn-ea"/>
              </a:rPr>
              <a:t> intact.</a:t>
            </a:r>
            <a:endParaRPr lang="en-US"/>
          </a:p>
        </p:txBody>
      </p:sp>
    </p:spTree>
    <p:extLst>
      <p:ext uri="{BB962C8B-B14F-4D97-AF65-F5344CB8AC3E}">
        <p14:creationId xmlns:p14="http://schemas.microsoft.com/office/powerpoint/2010/main" xmlns="" val="26358823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17880"/>
          </a:xfrm>
        </p:spPr>
        <p:txBody>
          <a:bodyPr>
            <a:normAutofit/>
          </a:bodyPr>
          <a:lstStyle/>
          <a:p>
            <a:r>
              <a:rPr lang="en-US" b="1" dirty="0">
                <a:solidFill>
                  <a:schemeClr val="tx1"/>
                </a:solidFill>
                <a:sym typeface="+mn-ea"/>
              </a:rPr>
              <a:t>Non-Functional Requirements</a:t>
            </a:r>
          </a:p>
        </p:txBody>
      </p:sp>
      <p:sp>
        <p:nvSpPr>
          <p:cNvPr id="3" name="Content Placeholder 2"/>
          <p:cNvSpPr>
            <a:spLocks noGrp="1"/>
          </p:cNvSpPr>
          <p:nvPr>
            <p:ph idx="1"/>
          </p:nvPr>
        </p:nvSpPr>
        <p:spPr>
          <a:xfrm>
            <a:off x="245110" y="761365"/>
            <a:ext cx="8441690" cy="6042025"/>
          </a:xfrm>
        </p:spPr>
        <p:txBody>
          <a:bodyPr>
            <a:noAutofit/>
          </a:bodyPr>
          <a:lstStyle/>
          <a:p>
            <a:pPr marL="0" indent="0" algn="just">
              <a:buNone/>
            </a:pPr>
            <a:r>
              <a:rPr lang="en-US" sz="2400" dirty="0">
                <a:sym typeface="+mn-ea"/>
              </a:rPr>
              <a:t>Requirements, which are not related to functional aspect of software, fall into this category. They are </a:t>
            </a:r>
            <a:r>
              <a:rPr lang="en-US" sz="2400" b="1" dirty="0">
                <a:solidFill>
                  <a:schemeClr val="accent6"/>
                </a:solidFill>
                <a:sym typeface="+mn-ea"/>
              </a:rPr>
              <a:t>implicit or expected characteristics of software,</a:t>
            </a:r>
            <a:r>
              <a:rPr lang="en-US" sz="2400" dirty="0">
                <a:sym typeface="+mn-ea"/>
              </a:rPr>
              <a:t> which users make assumption of.</a:t>
            </a:r>
            <a:endParaRPr lang="en-US" sz="2400" dirty="0"/>
          </a:p>
          <a:p>
            <a:pPr marL="0" indent="0" algn="just">
              <a:buNone/>
            </a:pPr>
            <a:r>
              <a:rPr lang="en-US" sz="2400" dirty="0">
                <a:sym typeface="+mn-ea"/>
              </a:rPr>
              <a:t>Non-functional requirements include -</a:t>
            </a:r>
            <a:endParaRPr lang="en-US" sz="2400" dirty="0"/>
          </a:p>
          <a:p>
            <a:pPr lvl="1" algn="just"/>
            <a:r>
              <a:rPr lang="en-US" sz="2400" b="1" dirty="0">
                <a:solidFill>
                  <a:schemeClr val="accent6">
                    <a:lumMod val="75000"/>
                  </a:schemeClr>
                </a:solidFill>
                <a:sym typeface="+mn-ea"/>
              </a:rPr>
              <a:t>Security</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Logging</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Storage</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Configuration</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Performance</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Cost</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Interoperability</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Flexibility</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Disaster recovery</a:t>
            </a:r>
            <a:endParaRPr lang="en-US" sz="2400" b="1" dirty="0">
              <a:solidFill>
                <a:schemeClr val="accent6">
                  <a:lumMod val="75000"/>
                </a:schemeClr>
              </a:solidFill>
            </a:endParaRPr>
          </a:p>
          <a:p>
            <a:pPr lvl="1" algn="just"/>
            <a:r>
              <a:rPr lang="en-US" sz="2400" b="1" dirty="0">
                <a:solidFill>
                  <a:schemeClr val="accent6">
                    <a:lumMod val="75000"/>
                  </a:schemeClr>
                </a:solidFill>
                <a:sym typeface="+mn-ea"/>
              </a:rPr>
              <a:t>Accessibility</a:t>
            </a:r>
            <a:endParaRPr lang="en-US" sz="2400" b="1" dirty="0">
              <a:solidFill>
                <a:schemeClr val="accent6">
                  <a:lumMod val="75000"/>
                </a:schemeClr>
              </a:solidFill>
            </a:endParaRPr>
          </a:p>
          <a:p>
            <a:pPr marL="0" indent="0" algn="just">
              <a:buNone/>
            </a:pPr>
            <a:endParaRPr lang="en-US" sz="2400" dirty="0"/>
          </a:p>
          <a:p>
            <a:pPr algn="just"/>
            <a:endParaRPr lang="en-US" sz="1400" dirty="0"/>
          </a:p>
        </p:txBody>
      </p:sp>
    </p:spTree>
    <p:extLst>
      <p:ext uri="{BB962C8B-B14F-4D97-AF65-F5344CB8AC3E}">
        <p14:creationId xmlns:p14="http://schemas.microsoft.com/office/powerpoint/2010/main" xmlns="" val="299941101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725"/>
            <a:ext cx="8229600" cy="864235"/>
          </a:xfrm>
        </p:spPr>
        <p:txBody>
          <a:bodyPr>
            <a:normAutofit fontScale="90000"/>
          </a:bodyPr>
          <a:lstStyle/>
          <a:p>
            <a:r>
              <a:rPr lang="en-US" b="1">
                <a:sym typeface="+mn-ea"/>
              </a:rPr>
              <a:t/>
            </a:r>
            <a:br>
              <a:rPr lang="en-US" b="1">
                <a:sym typeface="+mn-ea"/>
              </a:rPr>
            </a:br>
            <a:r>
              <a:rPr lang="en-US" b="1">
                <a:sym typeface="+mn-ea"/>
              </a:rPr>
              <a:t>Requirement Elicitation and Analysis</a:t>
            </a:r>
            <a:r>
              <a:rPr lang="en-US" b="1"/>
              <a:t/>
            </a:r>
            <a:br>
              <a:rPr lang="en-US" b="1"/>
            </a:br>
            <a:endParaRPr lang="en-US" b="1"/>
          </a:p>
        </p:txBody>
      </p:sp>
      <p:sp>
        <p:nvSpPr>
          <p:cNvPr id="3" name="Content Placeholder 2"/>
          <p:cNvSpPr>
            <a:spLocks noGrp="1"/>
          </p:cNvSpPr>
          <p:nvPr>
            <p:ph idx="1"/>
          </p:nvPr>
        </p:nvSpPr>
        <p:spPr>
          <a:xfrm>
            <a:off x="457200" y="1017270"/>
            <a:ext cx="8229600" cy="5521325"/>
          </a:xfrm>
        </p:spPr>
        <p:txBody>
          <a:bodyPr>
            <a:normAutofit/>
          </a:bodyPr>
          <a:lstStyle/>
          <a:p>
            <a:r>
              <a:rPr lang="en-US" b="1" dirty="0">
                <a:solidFill>
                  <a:schemeClr val="accent1"/>
                </a:solidFill>
                <a:sym typeface="+mn-ea"/>
              </a:rPr>
              <a:t>Requirement Elicitation Techniques</a:t>
            </a:r>
            <a:endParaRPr lang="en-US" b="1" dirty="0">
              <a:solidFill>
                <a:schemeClr val="accent1"/>
              </a:solidFill>
            </a:endParaRPr>
          </a:p>
          <a:p>
            <a:r>
              <a:rPr lang="en-US" b="1" dirty="0">
                <a:solidFill>
                  <a:srgbClr val="7030A0"/>
                </a:solidFill>
                <a:sym typeface="+mn-ea"/>
              </a:rPr>
              <a:t>Interviews</a:t>
            </a:r>
            <a:endParaRPr lang="en-US" b="1" dirty="0">
              <a:solidFill>
                <a:srgbClr val="7030A0"/>
              </a:solidFill>
            </a:endParaRPr>
          </a:p>
          <a:p>
            <a:r>
              <a:rPr lang="en-US" b="1" dirty="0">
                <a:solidFill>
                  <a:srgbClr val="7030A0"/>
                </a:solidFill>
                <a:sym typeface="+mn-ea"/>
              </a:rPr>
              <a:t>Surveys</a:t>
            </a:r>
            <a:endParaRPr lang="en-US" b="1" dirty="0">
              <a:solidFill>
                <a:srgbClr val="7030A0"/>
              </a:solidFill>
            </a:endParaRPr>
          </a:p>
          <a:p>
            <a:r>
              <a:rPr lang="en-US" b="1" dirty="0">
                <a:solidFill>
                  <a:srgbClr val="7030A0"/>
                </a:solidFill>
                <a:sym typeface="+mn-ea"/>
              </a:rPr>
              <a:t>Questionnaires</a:t>
            </a:r>
            <a:endParaRPr lang="en-US" b="1" dirty="0">
              <a:solidFill>
                <a:srgbClr val="7030A0"/>
              </a:solidFill>
            </a:endParaRPr>
          </a:p>
          <a:p>
            <a:r>
              <a:rPr lang="en-US" b="1" dirty="0">
                <a:solidFill>
                  <a:srgbClr val="7030A0"/>
                </a:solidFill>
                <a:sym typeface="+mn-ea"/>
              </a:rPr>
              <a:t>Task analysis</a:t>
            </a:r>
            <a:endParaRPr lang="en-US" b="1" dirty="0">
              <a:solidFill>
                <a:srgbClr val="7030A0"/>
              </a:solidFill>
            </a:endParaRPr>
          </a:p>
          <a:p>
            <a:r>
              <a:rPr lang="en-US" b="1" dirty="0">
                <a:solidFill>
                  <a:srgbClr val="7030A0"/>
                </a:solidFill>
                <a:sym typeface="+mn-ea"/>
              </a:rPr>
              <a:t>Domain Analysis</a:t>
            </a:r>
            <a:endParaRPr lang="en-US" b="1" dirty="0">
              <a:solidFill>
                <a:srgbClr val="7030A0"/>
              </a:solidFill>
            </a:endParaRPr>
          </a:p>
          <a:p>
            <a:r>
              <a:rPr lang="en-US" b="1" dirty="0">
                <a:solidFill>
                  <a:srgbClr val="7030A0"/>
                </a:solidFill>
                <a:sym typeface="+mn-ea"/>
              </a:rPr>
              <a:t>Brainstorming</a:t>
            </a:r>
          </a:p>
          <a:p>
            <a:r>
              <a:rPr lang="en-US" b="1" dirty="0">
                <a:solidFill>
                  <a:srgbClr val="7030A0"/>
                </a:solidFill>
                <a:sym typeface="+mn-ea"/>
              </a:rPr>
              <a:t>Prototyping</a:t>
            </a:r>
          </a:p>
          <a:p>
            <a:r>
              <a:rPr lang="en-US" b="1" dirty="0">
                <a:solidFill>
                  <a:srgbClr val="7030A0"/>
                </a:solidFill>
                <a:sym typeface="+mn-ea"/>
              </a:rPr>
              <a:t>Observation</a:t>
            </a:r>
            <a:endParaRPr lang="en-US" b="1" dirty="0">
              <a:solidFill>
                <a:srgbClr val="7030A0"/>
              </a:solidFill>
            </a:endParaRPr>
          </a:p>
          <a:p>
            <a:endParaRPr lang="en-US" b="1" dirty="0">
              <a:solidFill>
                <a:srgbClr val="7030A0"/>
              </a:solidFill>
            </a:endParaRPr>
          </a:p>
        </p:txBody>
      </p:sp>
    </p:spTree>
    <p:extLst>
      <p:ext uri="{BB962C8B-B14F-4D97-AF65-F5344CB8AC3E}">
        <p14:creationId xmlns:p14="http://schemas.microsoft.com/office/powerpoint/2010/main" xmlns="" val="189446483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3665"/>
            <a:ext cx="8229600" cy="830580"/>
          </a:xfrm>
        </p:spPr>
        <p:txBody>
          <a:bodyPr>
            <a:normAutofit/>
          </a:bodyPr>
          <a:lstStyle/>
          <a:p>
            <a:r>
              <a:rPr lang="en-US" b="1"/>
              <a:t>Requirements Analysis</a:t>
            </a:r>
          </a:p>
        </p:txBody>
      </p:sp>
      <p:sp>
        <p:nvSpPr>
          <p:cNvPr id="3" name="Content Placeholder 2"/>
          <p:cNvSpPr>
            <a:spLocks noGrp="1"/>
          </p:cNvSpPr>
          <p:nvPr>
            <p:ph idx="1"/>
          </p:nvPr>
        </p:nvSpPr>
        <p:spPr>
          <a:xfrm>
            <a:off x="457200" y="943610"/>
            <a:ext cx="8229600" cy="5182870"/>
          </a:xfrm>
        </p:spPr>
        <p:txBody>
          <a:bodyPr/>
          <a:lstStyle/>
          <a:p>
            <a:pPr algn="just"/>
            <a:r>
              <a:rPr lang="en-US"/>
              <a:t>Requirements analysis or requirements engineering is a process used to </a:t>
            </a:r>
            <a:r>
              <a:rPr lang="en-US" b="1">
                <a:solidFill>
                  <a:schemeClr val="accent6"/>
                </a:solidFill>
              </a:rPr>
              <a:t>determine the needs and expectations of a new product</a:t>
            </a:r>
            <a:r>
              <a:rPr lang="en-US"/>
              <a:t>.</a:t>
            </a:r>
          </a:p>
          <a:p>
            <a:pPr algn="just"/>
            <a:r>
              <a:rPr lang="en-US"/>
              <a:t> It involves frequent </a:t>
            </a:r>
            <a:r>
              <a:rPr lang="en-US" b="1">
                <a:solidFill>
                  <a:srgbClr val="00B050"/>
                </a:solidFill>
              </a:rPr>
              <a:t>communication</a:t>
            </a:r>
            <a:r>
              <a:rPr lang="en-US"/>
              <a:t> with the </a:t>
            </a:r>
            <a:r>
              <a:rPr lang="en-US" b="1">
                <a:solidFill>
                  <a:srgbClr val="7030A0"/>
                </a:solidFill>
              </a:rPr>
              <a:t>stakeholders and end-users</a:t>
            </a:r>
            <a:r>
              <a:rPr lang="en-US"/>
              <a:t> of the product to define expectations, resolve conflicts, and document all the key requirements.</a:t>
            </a:r>
          </a:p>
        </p:txBody>
      </p:sp>
    </p:spTree>
    <p:extLst>
      <p:ext uri="{BB962C8B-B14F-4D97-AF65-F5344CB8AC3E}">
        <p14:creationId xmlns:p14="http://schemas.microsoft.com/office/powerpoint/2010/main" xmlns="" val="156458246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Requirements Analysis Process</a:t>
            </a:r>
          </a:p>
        </p:txBody>
      </p:sp>
      <p:sp>
        <p:nvSpPr>
          <p:cNvPr id="3" name="Content Placeholder 2"/>
          <p:cNvSpPr>
            <a:spLocks noGrp="1"/>
          </p:cNvSpPr>
          <p:nvPr>
            <p:ph idx="1"/>
          </p:nvPr>
        </p:nvSpPr>
        <p:spPr/>
        <p:txBody>
          <a:bodyPr/>
          <a:lstStyle/>
          <a:p>
            <a:pPr algn="just"/>
            <a:r>
              <a:rPr lang="en-US"/>
              <a:t>A requirements analysis process involves the following steps:</a:t>
            </a:r>
          </a:p>
          <a:p>
            <a:pPr lvl="1" algn="just"/>
            <a:r>
              <a:rPr lang="en-US"/>
              <a:t>Identify Key Stakeholders and End-Users</a:t>
            </a:r>
          </a:p>
          <a:p>
            <a:pPr lvl="1" algn="just"/>
            <a:r>
              <a:rPr lang="en-US"/>
              <a:t>Capture Requirements</a:t>
            </a:r>
          </a:p>
          <a:p>
            <a:pPr lvl="1" algn="just"/>
            <a:r>
              <a:rPr lang="en-US"/>
              <a:t>Categorize Requirements</a:t>
            </a:r>
          </a:p>
          <a:p>
            <a:pPr lvl="1" algn="just"/>
            <a:r>
              <a:rPr lang="en-US"/>
              <a:t>Interpret and Record Requirements</a:t>
            </a:r>
          </a:p>
          <a:p>
            <a:pPr lvl="1" algn="just"/>
            <a:r>
              <a:rPr lang="en-US"/>
              <a:t>Sign off</a:t>
            </a:r>
          </a:p>
        </p:txBody>
      </p:sp>
    </p:spTree>
    <p:extLst>
      <p:ext uri="{BB962C8B-B14F-4D97-AF65-F5344CB8AC3E}">
        <p14:creationId xmlns:p14="http://schemas.microsoft.com/office/powerpoint/2010/main" xmlns="" val="414761891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ym typeface="+mn-ea"/>
              </a:rPr>
              <a:t>Requirements Analysis Process</a:t>
            </a:r>
            <a:endParaRPr lang="en-US"/>
          </a:p>
        </p:txBody>
      </p:sp>
      <p:sp>
        <p:nvSpPr>
          <p:cNvPr id="3" name="Content Placeholder 2"/>
          <p:cNvSpPr>
            <a:spLocks noGrp="1"/>
          </p:cNvSpPr>
          <p:nvPr>
            <p:ph idx="1"/>
          </p:nvPr>
        </p:nvSpPr>
        <p:spPr/>
        <p:txBody>
          <a:bodyPr>
            <a:normAutofit lnSpcReduction="10000"/>
          </a:bodyPr>
          <a:lstStyle/>
          <a:p>
            <a:pPr marL="0" indent="0" algn="just">
              <a:buNone/>
            </a:pPr>
            <a:r>
              <a:rPr lang="en-US" b="1">
                <a:solidFill>
                  <a:srgbClr val="FF0000"/>
                </a:solidFill>
              </a:rPr>
              <a:t>Identify Key Stakeholders and End-Users:</a:t>
            </a:r>
            <a:endParaRPr lang="en-US"/>
          </a:p>
          <a:p>
            <a:pPr algn="just">
              <a:buFont typeface="Wingdings" panose="05000000000000000000" charset="0"/>
              <a:buChar char="ü"/>
            </a:pPr>
            <a:r>
              <a:rPr lang="en-US"/>
              <a:t>The first step of the requirements analysis process is to </a:t>
            </a:r>
            <a:r>
              <a:rPr lang="en-US" b="1">
                <a:solidFill>
                  <a:srgbClr val="00B050"/>
                </a:solidFill>
              </a:rPr>
              <a:t>identify key stakeholders</a:t>
            </a:r>
            <a:r>
              <a:rPr lang="en-US"/>
              <a:t> who are the main sponsors of the project. </a:t>
            </a:r>
          </a:p>
          <a:p>
            <a:pPr algn="just">
              <a:buFont typeface="Wingdings" panose="05000000000000000000" charset="0"/>
              <a:buChar char="ü"/>
            </a:pPr>
            <a:r>
              <a:rPr lang="en-US"/>
              <a:t>They will have the final say on what should be included in the scope of the project. </a:t>
            </a:r>
          </a:p>
          <a:p>
            <a:pPr algn="just">
              <a:buFont typeface="Wingdings" panose="05000000000000000000" charset="0"/>
              <a:buChar char="ü"/>
            </a:pPr>
            <a:r>
              <a:rPr lang="en-US"/>
              <a:t>Next, identify the </a:t>
            </a:r>
            <a:r>
              <a:rPr lang="en-US" b="1">
                <a:solidFill>
                  <a:srgbClr val="00B050"/>
                </a:solidFill>
              </a:rPr>
              <a:t>end-users of the product</a:t>
            </a:r>
            <a:r>
              <a:rPr lang="en-US"/>
              <a:t>. Since the product is intended to satisfy their needs, their inputs are equally important. </a:t>
            </a:r>
          </a:p>
        </p:txBody>
      </p:sp>
    </p:spTree>
    <p:extLst>
      <p:ext uri="{BB962C8B-B14F-4D97-AF65-F5344CB8AC3E}">
        <p14:creationId xmlns:p14="http://schemas.microsoft.com/office/powerpoint/2010/main" xmlns="" val="307569025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ym typeface="+mn-ea"/>
              </a:rPr>
              <a:t>Requirements Analysis Process</a:t>
            </a:r>
            <a:endParaRPr lang="en-US"/>
          </a:p>
        </p:txBody>
      </p:sp>
      <p:sp>
        <p:nvSpPr>
          <p:cNvPr id="3" name="Content Placeholder 2"/>
          <p:cNvSpPr>
            <a:spLocks noGrp="1"/>
          </p:cNvSpPr>
          <p:nvPr>
            <p:ph idx="1"/>
          </p:nvPr>
        </p:nvSpPr>
        <p:spPr/>
        <p:txBody>
          <a:bodyPr/>
          <a:lstStyle/>
          <a:p>
            <a:pPr marL="0" indent="0" algn="just">
              <a:buNone/>
            </a:pPr>
            <a:r>
              <a:rPr lang="en-US" b="1">
                <a:solidFill>
                  <a:srgbClr val="FF0000"/>
                </a:solidFill>
              </a:rPr>
              <a:t>Capture Requirements:</a:t>
            </a:r>
          </a:p>
          <a:p>
            <a:pPr marL="0" indent="0" algn="just">
              <a:buNone/>
            </a:pPr>
            <a:r>
              <a:rPr lang="en-US"/>
              <a:t>Ask each of the stakeholders and end-users their requirements for the new product.  some of the requirements analysis techniques  are,</a:t>
            </a:r>
          </a:p>
          <a:p>
            <a:pPr marL="0" indent="0" algn="just">
              <a:buNone/>
            </a:pPr>
            <a:r>
              <a:rPr lang="en-US" b="1">
                <a:solidFill>
                  <a:srgbClr val="0070C0"/>
                </a:solidFill>
              </a:rPr>
              <a:t>1. Hold One-on-One Interviews</a:t>
            </a:r>
          </a:p>
          <a:p>
            <a:pPr marL="0" indent="0" algn="just">
              <a:buNone/>
            </a:pPr>
            <a:r>
              <a:rPr lang="en-US" b="1">
                <a:solidFill>
                  <a:srgbClr val="0070C0"/>
                </a:solidFill>
              </a:rPr>
              <a:t>2. Use Focus Groups</a:t>
            </a:r>
          </a:p>
          <a:p>
            <a:pPr marL="0" indent="0" algn="just">
              <a:buNone/>
            </a:pPr>
            <a:r>
              <a:rPr lang="en-US" b="1">
                <a:solidFill>
                  <a:srgbClr val="0070C0"/>
                </a:solidFill>
              </a:rPr>
              <a:t>3. Utilize Use Cases</a:t>
            </a:r>
          </a:p>
          <a:p>
            <a:pPr marL="0" indent="0" algn="just">
              <a:buNone/>
            </a:pPr>
            <a:r>
              <a:rPr lang="en-US" b="1">
                <a:solidFill>
                  <a:srgbClr val="0070C0"/>
                </a:solidFill>
              </a:rPr>
              <a:t>4. Build Prototypes</a:t>
            </a:r>
          </a:p>
        </p:txBody>
      </p:sp>
    </p:spTree>
    <p:extLst>
      <p:ext uri="{BB962C8B-B14F-4D97-AF65-F5344CB8AC3E}">
        <p14:creationId xmlns:p14="http://schemas.microsoft.com/office/powerpoint/2010/main" xmlns="" val="382022969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79780"/>
          </a:xfrm>
        </p:spPr>
        <p:txBody>
          <a:bodyPr>
            <a:normAutofit/>
          </a:bodyPr>
          <a:lstStyle/>
          <a:p>
            <a:r>
              <a:rPr lang="en-US" b="1">
                <a:sym typeface="+mn-ea"/>
              </a:rPr>
              <a:t>Requirements Analysis Process</a:t>
            </a:r>
            <a:endParaRPr lang="en-US"/>
          </a:p>
        </p:txBody>
      </p:sp>
      <p:sp>
        <p:nvSpPr>
          <p:cNvPr id="3" name="Content Placeholder 2"/>
          <p:cNvSpPr>
            <a:spLocks noGrp="1"/>
          </p:cNvSpPr>
          <p:nvPr>
            <p:ph idx="1"/>
          </p:nvPr>
        </p:nvSpPr>
        <p:spPr>
          <a:xfrm>
            <a:off x="457200" y="856615"/>
            <a:ext cx="8229600" cy="5786120"/>
          </a:xfrm>
        </p:spPr>
        <p:txBody>
          <a:bodyPr>
            <a:normAutofit fontScale="87500" lnSpcReduction="20000"/>
          </a:bodyPr>
          <a:lstStyle/>
          <a:p>
            <a:pPr marL="0" indent="0" algn="just">
              <a:buNone/>
            </a:pPr>
            <a:r>
              <a:rPr lang="en-US" b="1">
                <a:solidFill>
                  <a:srgbClr val="FF0000"/>
                </a:solidFill>
              </a:rPr>
              <a:t>Categorize Requirements:</a:t>
            </a:r>
          </a:p>
          <a:p>
            <a:pPr marL="0" indent="0" algn="just">
              <a:buNone/>
            </a:pPr>
            <a:r>
              <a:rPr lang="en-US"/>
              <a:t>Since requirements can be of various types, they should be grouped to avoid confusion. Requirements are usually divided into four categories:</a:t>
            </a:r>
          </a:p>
          <a:p>
            <a:pPr marL="0" indent="0" algn="just">
              <a:buNone/>
            </a:pPr>
            <a:r>
              <a:rPr lang="en-US" b="1">
                <a:solidFill>
                  <a:srgbClr val="00B050"/>
                </a:solidFill>
              </a:rPr>
              <a:t>Functional Requirements</a:t>
            </a:r>
            <a:r>
              <a:rPr lang="en-US"/>
              <a:t> - Functions the product is required to perform.</a:t>
            </a:r>
          </a:p>
          <a:p>
            <a:pPr marL="0" indent="0" algn="just">
              <a:buNone/>
            </a:pPr>
            <a:r>
              <a:rPr lang="en-US" b="1">
                <a:solidFill>
                  <a:srgbClr val="00B050"/>
                </a:solidFill>
              </a:rPr>
              <a:t>Technical Requirements</a:t>
            </a:r>
            <a:r>
              <a:rPr lang="en-US"/>
              <a:t> - Technical issues to be considered for the successful implementation of the product.</a:t>
            </a:r>
          </a:p>
          <a:p>
            <a:pPr marL="0" indent="0" algn="just">
              <a:buNone/>
            </a:pPr>
            <a:r>
              <a:rPr lang="en-US" b="1">
                <a:solidFill>
                  <a:srgbClr val="00B050"/>
                </a:solidFill>
              </a:rPr>
              <a:t>Transitional Requirements</a:t>
            </a:r>
            <a:r>
              <a:rPr lang="en-US"/>
              <a:t> - Steps required to implement a new product smoothly.</a:t>
            </a:r>
          </a:p>
          <a:p>
            <a:pPr marL="0" indent="0" algn="just">
              <a:buNone/>
            </a:pPr>
            <a:r>
              <a:rPr lang="en-US" b="1">
                <a:solidFill>
                  <a:srgbClr val="00B050"/>
                </a:solidFill>
              </a:rPr>
              <a:t>Operational Requirements</a:t>
            </a:r>
            <a:r>
              <a:rPr lang="en-US"/>
              <a:t> - Operations to be carried out in the backend for proper functioning of the product.</a:t>
            </a:r>
          </a:p>
        </p:txBody>
      </p:sp>
    </p:spTree>
    <p:extLst>
      <p:ext uri="{BB962C8B-B14F-4D97-AF65-F5344CB8AC3E}">
        <p14:creationId xmlns:p14="http://schemas.microsoft.com/office/powerpoint/2010/main" xmlns="" val="5467413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6150"/>
          </a:xfrm>
        </p:spPr>
        <p:txBody>
          <a:bodyPr>
            <a:normAutofit/>
          </a:bodyPr>
          <a:lstStyle/>
          <a:p>
            <a:r>
              <a:rPr lang="en-US" b="1">
                <a:sym typeface="+mn-ea"/>
              </a:rPr>
              <a:t>Requirements Analysis Process</a:t>
            </a:r>
            <a:endParaRPr lang="en-US"/>
          </a:p>
        </p:txBody>
      </p:sp>
      <p:sp>
        <p:nvSpPr>
          <p:cNvPr id="3" name="Content Placeholder 2"/>
          <p:cNvSpPr>
            <a:spLocks noGrp="1"/>
          </p:cNvSpPr>
          <p:nvPr>
            <p:ph idx="1"/>
          </p:nvPr>
        </p:nvSpPr>
        <p:spPr>
          <a:xfrm>
            <a:off x="340360" y="1245235"/>
            <a:ext cx="8346440" cy="5382895"/>
          </a:xfrm>
        </p:spPr>
        <p:txBody>
          <a:bodyPr>
            <a:normAutofit fontScale="97500"/>
          </a:bodyPr>
          <a:lstStyle/>
          <a:p>
            <a:pPr marL="0" indent="0" algn="just">
              <a:buNone/>
            </a:pPr>
            <a:r>
              <a:rPr lang="en-US" b="1">
                <a:solidFill>
                  <a:srgbClr val="FF0000"/>
                </a:solidFill>
              </a:rPr>
              <a:t>Interpret and Record Requirements</a:t>
            </a:r>
          </a:p>
          <a:p>
            <a:pPr marL="0" indent="0" algn="just">
              <a:buNone/>
            </a:pPr>
            <a:r>
              <a:rPr lang="en-US"/>
              <a:t>Once the requirements are </a:t>
            </a:r>
            <a:r>
              <a:rPr lang="en-US" b="1">
                <a:solidFill>
                  <a:srgbClr val="0070C0"/>
                </a:solidFill>
              </a:rPr>
              <a:t>categorized</a:t>
            </a:r>
            <a:r>
              <a:rPr lang="en-US"/>
              <a:t>, determine which requirements are actually achievable and document each one of them. some techniques to analyze and interpret requirements are,</a:t>
            </a:r>
          </a:p>
          <a:p>
            <a:pPr marL="0" indent="0" algn="just">
              <a:buNone/>
            </a:pPr>
            <a:r>
              <a:rPr lang="en-US" b="1">
                <a:solidFill>
                  <a:srgbClr val="7030A0"/>
                </a:solidFill>
              </a:rPr>
              <a:t>Define Requirements Precisely</a:t>
            </a:r>
          </a:p>
          <a:p>
            <a:pPr marL="0" indent="0" algn="just">
              <a:buNone/>
            </a:pPr>
            <a:r>
              <a:rPr lang="en-US" b="1">
                <a:solidFill>
                  <a:srgbClr val="7030A0"/>
                </a:solidFill>
              </a:rPr>
              <a:t>Prioritize Requirements</a:t>
            </a:r>
          </a:p>
          <a:p>
            <a:pPr marL="0" indent="0" algn="just">
              <a:buNone/>
            </a:pPr>
            <a:r>
              <a:rPr lang="en-US" b="1">
                <a:solidFill>
                  <a:srgbClr val="7030A0"/>
                </a:solidFill>
              </a:rPr>
              <a:t>Carry Out an Impact Analysis</a:t>
            </a:r>
          </a:p>
          <a:p>
            <a:pPr marL="0" indent="0" algn="just">
              <a:buNone/>
            </a:pPr>
            <a:r>
              <a:rPr lang="en-US" b="1">
                <a:solidFill>
                  <a:srgbClr val="7030A0"/>
                </a:solidFill>
              </a:rPr>
              <a:t>Resolve Conflicts</a:t>
            </a:r>
          </a:p>
          <a:p>
            <a:pPr marL="0" indent="0" algn="just">
              <a:buNone/>
            </a:pPr>
            <a:r>
              <a:rPr lang="en-US" b="1">
                <a:solidFill>
                  <a:srgbClr val="7030A0"/>
                </a:solidFill>
              </a:rPr>
              <a:t>Analyze Feasibility</a:t>
            </a:r>
          </a:p>
        </p:txBody>
      </p:sp>
    </p:spTree>
    <p:extLst>
      <p:ext uri="{BB962C8B-B14F-4D97-AF65-F5344CB8AC3E}">
        <p14:creationId xmlns:p14="http://schemas.microsoft.com/office/powerpoint/2010/main" xmlns="" val="309116240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sym typeface="+mn-ea"/>
              </a:rPr>
              <a:t>Requirements Analysis Process</a:t>
            </a:r>
            <a:endParaRPr lang="en-US"/>
          </a:p>
        </p:txBody>
      </p:sp>
      <p:sp>
        <p:nvSpPr>
          <p:cNvPr id="3" name="Content Placeholder 2"/>
          <p:cNvSpPr>
            <a:spLocks noGrp="1"/>
          </p:cNvSpPr>
          <p:nvPr>
            <p:ph idx="1"/>
          </p:nvPr>
        </p:nvSpPr>
        <p:spPr/>
        <p:txBody>
          <a:bodyPr/>
          <a:lstStyle/>
          <a:p>
            <a:pPr marL="0" indent="0" algn="just">
              <a:buNone/>
            </a:pPr>
            <a:r>
              <a:rPr lang="en-US" b="1">
                <a:solidFill>
                  <a:srgbClr val="FF0000"/>
                </a:solidFill>
              </a:rPr>
              <a:t>Sign off</a:t>
            </a:r>
          </a:p>
          <a:p>
            <a:pPr algn="just"/>
            <a:r>
              <a:rPr lang="en-US"/>
              <a:t>Once a final decision is made on the requirements, </a:t>
            </a:r>
            <a:r>
              <a:rPr lang="en-US" b="1">
                <a:solidFill>
                  <a:srgbClr val="00B050"/>
                </a:solidFill>
              </a:rPr>
              <a:t>ensure that you get a signed agreement from the key stakeholders</a:t>
            </a:r>
            <a:r>
              <a:rPr lang="en-US"/>
              <a:t>. </a:t>
            </a:r>
          </a:p>
          <a:p>
            <a:pPr algn="just"/>
            <a:r>
              <a:rPr lang="en-US"/>
              <a:t>This is done to ensure that there are </a:t>
            </a:r>
            <a:r>
              <a:rPr lang="en-US" b="1">
                <a:solidFill>
                  <a:srgbClr val="7030A0"/>
                </a:solidFill>
              </a:rPr>
              <a:t>no changes or uncontrolled growth</a:t>
            </a:r>
            <a:r>
              <a:rPr lang="en-US"/>
              <a:t> in the scope of the project.</a:t>
            </a:r>
          </a:p>
        </p:txBody>
      </p:sp>
    </p:spTree>
    <p:extLst>
      <p:ext uri="{BB962C8B-B14F-4D97-AF65-F5344CB8AC3E}">
        <p14:creationId xmlns:p14="http://schemas.microsoft.com/office/powerpoint/2010/main" xmlns="" val="212180632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88670"/>
          </a:xfrm>
        </p:spPr>
        <p:txBody>
          <a:bodyPr>
            <a:normAutofit fontScale="90000"/>
          </a:bodyPr>
          <a:lstStyle/>
          <a:p>
            <a:r>
              <a:rPr lang="en-US" b="1"/>
              <a:t>Software Requirement Specification</a:t>
            </a:r>
          </a:p>
        </p:txBody>
      </p:sp>
      <p:sp>
        <p:nvSpPr>
          <p:cNvPr id="3" name="Content Placeholder 2"/>
          <p:cNvSpPr>
            <a:spLocks noGrp="1"/>
          </p:cNvSpPr>
          <p:nvPr>
            <p:ph idx="1"/>
          </p:nvPr>
        </p:nvSpPr>
        <p:spPr>
          <a:xfrm>
            <a:off x="457200" y="1111885"/>
            <a:ext cx="8229600" cy="5363845"/>
          </a:xfrm>
        </p:spPr>
        <p:txBody>
          <a:bodyPr>
            <a:normAutofit/>
          </a:bodyPr>
          <a:lstStyle/>
          <a:p>
            <a:pPr algn="just">
              <a:buFont typeface="Arial" panose="020B0604020202020204" pitchFamily="34" charset="0"/>
              <a:buChar char="•"/>
            </a:pPr>
            <a:r>
              <a:rPr lang="en-US"/>
              <a:t>Software requirement specification is a kind of document which is created by a </a:t>
            </a:r>
            <a:r>
              <a:rPr lang="en-US" b="1">
                <a:solidFill>
                  <a:srgbClr val="FF0000"/>
                </a:solidFill>
              </a:rPr>
              <a:t>software analyst</a:t>
            </a:r>
            <a:r>
              <a:rPr lang="en-US"/>
              <a:t> after the requirements collected from the various sources. </a:t>
            </a:r>
          </a:p>
          <a:p>
            <a:pPr algn="just">
              <a:buFont typeface="Arial" panose="020B0604020202020204" pitchFamily="34" charset="0"/>
              <a:buChar char="•"/>
            </a:pPr>
            <a:r>
              <a:rPr lang="en-US"/>
              <a:t>The requirement received by the customer written in </a:t>
            </a:r>
            <a:r>
              <a:rPr lang="en-US" b="1">
                <a:solidFill>
                  <a:srgbClr val="00B050"/>
                </a:solidFill>
              </a:rPr>
              <a:t>ordinary language.</a:t>
            </a:r>
            <a:r>
              <a:rPr lang="en-US"/>
              <a:t> </a:t>
            </a:r>
          </a:p>
          <a:p>
            <a:pPr algn="just">
              <a:buFont typeface="Arial" panose="020B0604020202020204" pitchFamily="34" charset="0"/>
              <a:buChar char="•"/>
            </a:pPr>
            <a:r>
              <a:rPr lang="en-US"/>
              <a:t>It is the job of the </a:t>
            </a:r>
            <a:r>
              <a:rPr lang="en-US" b="1">
                <a:solidFill>
                  <a:schemeClr val="accent6">
                    <a:lumMod val="75000"/>
                  </a:schemeClr>
                </a:solidFill>
              </a:rPr>
              <a:t>analyst to write the requirement in technical language</a:t>
            </a:r>
            <a:r>
              <a:rPr lang="en-US"/>
              <a:t> so that they can be understood and beneficial by the development team.</a:t>
            </a:r>
          </a:p>
        </p:txBody>
      </p:sp>
    </p:spTree>
    <p:extLst>
      <p:ext uri="{BB962C8B-B14F-4D97-AF65-F5344CB8AC3E}">
        <p14:creationId xmlns:p14="http://schemas.microsoft.com/office/powerpoint/2010/main" xmlns="" val="405051436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50570"/>
          </a:xfrm>
        </p:spPr>
        <p:txBody>
          <a:bodyPr>
            <a:normAutofit fontScale="90000"/>
          </a:bodyPr>
          <a:lstStyle/>
          <a:p>
            <a:r>
              <a:rPr lang="en-US" b="1">
                <a:sym typeface="+mn-ea"/>
              </a:rPr>
              <a:t>Software Requirement Specification</a:t>
            </a:r>
            <a:endParaRPr lang="en-US" b="1"/>
          </a:p>
        </p:txBody>
      </p:sp>
      <p:sp>
        <p:nvSpPr>
          <p:cNvPr id="3" name="Content Placeholder 2"/>
          <p:cNvSpPr>
            <a:spLocks noGrp="1"/>
          </p:cNvSpPr>
          <p:nvPr>
            <p:ph idx="1"/>
          </p:nvPr>
        </p:nvSpPr>
        <p:spPr>
          <a:xfrm>
            <a:off x="457200" y="827405"/>
            <a:ext cx="8229600" cy="5863590"/>
          </a:xfrm>
        </p:spPr>
        <p:txBody>
          <a:bodyPr>
            <a:noAutofit/>
          </a:bodyPr>
          <a:lstStyle/>
          <a:p>
            <a:pPr marL="0" indent="0" algn="just">
              <a:buNone/>
            </a:pPr>
            <a:r>
              <a:rPr lang="en-US" sz="2600"/>
              <a:t>The models used at this stage include</a:t>
            </a:r>
          </a:p>
          <a:p>
            <a:pPr algn="just">
              <a:buFont typeface="Wingdings" panose="05000000000000000000" charset="0"/>
              <a:buChar char="Ø"/>
            </a:pPr>
            <a:r>
              <a:rPr lang="en-US" sz="2600" b="1">
                <a:solidFill>
                  <a:schemeClr val="accent6">
                    <a:lumMod val="75000"/>
                  </a:schemeClr>
                </a:solidFill>
              </a:rPr>
              <a:t>Data Flow Diagrams:</a:t>
            </a:r>
            <a:r>
              <a:rPr lang="en-US" sz="2600"/>
              <a:t> Data Flow Diagrams (DFDs) are used widely for </a:t>
            </a:r>
            <a:r>
              <a:rPr lang="en-US" sz="2600" b="1">
                <a:solidFill>
                  <a:srgbClr val="00B050"/>
                </a:solidFill>
              </a:rPr>
              <a:t>modeling the requirements.</a:t>
            </a:r>
            <a:r>
              <a:rPr lang="en-US" sz="2600"/>
              <a:t> DFD shows the flow of data through a system.</a:t>
            </a:r>
          </a:p>
          <a:p>
            <a:pPr algn="just">
              <a:buFont typeface="Wingdings" panose="05000000000000000000" charset="0"/>
              <a:buChar char="Ø"/>
            </a:pPr>
            <a:r>
              <a:rPr lang="en-US" sz="2600" b="1">
                <a:solidFill>
                  <a:schemeClr val="accent6">
                    <a:lumMod val="75000"/>
                  </a:schemeClr>
                </a:solidFill>
              </a:rPr>
              <a:t>Data Dictionaries:</a:t>
            </a:r>
            <a:r>
              <a:rPr lang="en-US" sz="2600"/>
              <a:t> Data Dictionaries are </a:t>
            </a:r>
            <a:r>
              <a:rPr lang="en-US" sz="2600" b="1">
                <a:solidFill>
                  <a:srgbClr val="7030A0"/>
                </a:solidFill>
              </a:rPr>
              <a:t>simply repositories</a:t>
            </a:r>
            <a:r>
              <a:rPr lang="en-US" sz="2600"/>
              <a:t> to store information about all data items defined in DFDs.</a:t>
            </a:r>
          </a:p>
          <a:p>
            <a:pPr algn="just">
              <a:buFont typeface="Wingdings" panose="05000000000000000000" charset="0"/>
              <a:buChar char="Ø"/>
            </a:pPr>
            <a:r>
              <a:rPr lang="en-US" sz="2600" b="1">
                <a:solidFill>
                  <a:schemeClr val="accent6">
                    <a:lumMod val="75000"/>
                  </a:schemeClr>
                </a:solidFill>
              </a:rPr>
              <a:t>Entity-Relationship Diagrams:</a:t>
            </a:r>
            <a:r>
              <a:rPr lang="en-US" sz="2600"/>
              <a:t> Another tool for requirement specification is the </a:t>
            </a:r>
            <a:r>
              <a:rPr lang="en-US" sz="2600" b="1">
                <a:solidFill>
                  <a:srgbClr val="7030A0"/>
                </a:solidFill>
              </a:rPr>
              <a:t>entity-relationship diagram, often called an "E-R diagram."</a:t>
            </a:r>
            <a:r>
              <a:rPr lang="en-US" sz="2600"/>
              <a:t> </a:t>
            </a:r>
          </a:p>
          <a:p>
            <a:pPr algn="just"/>
            <a:r>
              <a:rPr lang="en-US" sz="2600"/>
              <a:t>It is a detailed logical representation of the data for the organization and uses three main constructs </a:t>
            </a:r>
            <a:r>
              <a:rPr lang="en-US" sz="2600" b="1">
                <a:solidFill>
                  <a:srgbClr val="00B050"/>
                </a:solidFill>
              </a:rPr>
              <a:t>i.e. data entities, relationships, and their associated attributes.</a:t>
            </a:r>
          </a:p>
        </p:txBody>
      </p:sp>
    </p:spTree>
    <p:extLst>
      <p:ext uri="{BB962C8B-B14F-4D97-AF65-F5344CB8AC3E}">
        <p14:creationId xmlns:p14="http://schemas.microsoft.com/office/powerpoint/2010/main" xmlns="" val="394804616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718185"/>
          </a:xfrm>
        </p:spPr>
        <p:txBody>
          <a:bodyPr>
            <a:normAutofit fontScale="90000"/>
          </a:bodyPr>
          <a:lstStyle/>
          <a:p>
            <a:r>
              <a:rPr lang="en-US" b="1"/>
              <a:t>Software Requirement Validation</a:t>
            </a:r>
          </a:p>
        </p:txBody>
      </p:sp>
      <p:sp>
        <p:nvSpPr>
          <p:cNvPr id="3" name="Content Placeholder 2"/>
          <p:cNvSpPr>
            <a:spLocks noGrp="1"/>
          </p:cNvSpPr>
          <p:nvPr>
            <p:ph idx="1"/>
          </p:nvPr>
        </p:nvSpPr>
        <p:spPr>
          <a:xfrm>
            <a:off x="381000" y="807085"/>
            <a:ext cx="8305800" cy="5626735"/>
          </a:xfrm>
        </p:spPr>
        <p:txBody>
          <a:bodyPr>
            <a:normAutofit fontScale="97500" lnSpcReduction="10000"/>
          </a:bodyPr>
          <a:lstStyle/>
          <a:p>
            <a:pPr algn="just"/>
            <a:r>
              <a:rPr lang="en-US"/>
              <a:t>After requirement specifications developed, the requirements discussed in this </a:t>
            </a:r>
            <a:r>
              <a:rPr lang="en-US" b="1">
                <a:solidFill>
                  <a:srgbClr val="00B050"/>
                </a:solidFill>
              </a:rPr>
              <a:t>document are validated. </a:t>
            </a:r>
          </a:p>
          <a:p>
            <a:pPr algn="just"/>
            <a:r>
              <a:rPr lang="en-US"/>
              <a:t>Requirements can be the check against the following conditions -</a:t>
            </a:r>
          </a:p>
          <a:p>
            <a:pPr algn="just">
              <a:buFont typeface="Wingdings" panose="05000000000000000000" charset="0"/>
              <a:buChar char="ü"/>
            </a:pPr>
            <a:r>
              <a:rPr lang="en-US" b="1">
                <a:solidFill>
                  <a:schemeClr val="tx2">
                    <a:lumMod val="60000"/>
                    <a:lumOff val="40000"/>
                  </a:schemeClr>
                </a:solidFill>
              </a:rPr>
              <a:t>If they can practically implement</a:t>
            </a:r>
          </a:p>
          <a:p>
            <a:pPr algn="just">
              <a:buFont typeface="Wingdings" panose="05000000000000000000" charset="0"/>
              <a:buChar char="ü"/>
            </a:pPr>
            <a:r>
              <a:rPr lang="en-US" b="1">
                <a:solidFill>
                  <a:schemeClr val="tx2">
                    <a:lumMod val="60000"/>
                    <a:lumOff val="40000"/>
                  </a:schemeClr>
                </a:solidFill>
              </a:rPr>
              <a:t>If they are correct and as per the functionality and specially of software</a:t>
            </a:r>
          </a:p>
          <a:p>
            <a:pPr algn="just">
              <a:buFont typeface="Wingdings" panose="05000000000000000000" charset="0"/>
              <a:buChar char="ü"/>
            </a:pPr>
            <a:r>
              <a:rPr lang="en-US" b="1">
                <a:solidFill>
                  <a:schemeClr val="tx2">
                    <a:lumMod val="60000"/>
                    <a:lumOff val="40000"/>
                  </a:schemeClr>
                </a:solidFill>
              </a:rPr>
              <a:t>If there are any ambiguities</a:t>
            </a:r>
          </a:p>
          <a:p>
            <a:pPr algn="just">
              <a:buFont typeface="Wingdings" panose="05000000000000000000" charset="0"/>
              <a:buChar char="ü"/>
            </a:pPr>
            <a:r>
              <a:rPr lang="en-US" b="1">
                <a:solidFill>
                  <a:schemeClr val="tx2">
                    <a:lumMod val="60000"/>
                    <a:lumOff val="40000"/>
                  </a:schemeClr>
                </a:solidFill>
              </a:rPr>
              <a:t>If they are full</a:t>
            </a:r>
          </a:p>
          <a:p>
            <a:pPr algn="just">
              <a:buFont typeface="Wingdings" panose="05000000000000000000" charset="0"/>
              <a:buChar char="ü"/>
            </a:pPr>
            <a:r>
              <a:rPr lang="en-US" b="1">
                <a:solidFill>
                  <a:schemeClr val="tx2">
                    <a:lumMod val="60000"/>
                    <a:lumOff val="40000"/>
                  </a:schemeClr>
                </a:solidFill>
              </a:rPr>
              <a:t>If they can describe</a:t>
            </a:r>
          </a:p>
        </p:txBody>
      </p:sp>
    </p:spTree>
    <p:extLst>
      <p:ext uri="{BB962C8B-B14F-4D97-AF65-F5344CB8AC3E}">
        <p14:creationId xmlns:p14="http://schemas.microsoft.com/office/powerpoint/2010/main" xmlns="" val="424933289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
            <a:ext cx="8229600" cy="685800"/>
          </a:xfrm>
        </p:spPr>
        <p:txBody>
          <a:bodyPr>
            <a:normAutofit fontScale="90000"/>
          </a:bodyPr>
          <a:lstStyle/>
          <a:p>
            <a:r>
              <a:rPr lang="en-US">
                <a:sym typeface="+mn-ea"/>
              </a:rPr>
              <a:t/>
            </a:r>
            <a:br>
              <a:rPr lang="en-US">
                <a:sym typeface="+mn-ea"/>
              </a:rPr>
            </a:br>
            <a:r>
              <a:rPr lang="en-US">
                <a:sym typeface="+mn-ea"/>
              </a:rPr>
              <a:t>Software Requirement Validation</a:t>
            </a:r>
            <a:r>
              <a:rPr lang="en-US"/>
              <a:t/>
            </a:r>
            <a:br>
              <a:rPr lang="en-US"/>
            </a:br>
            <a:endParaRPr lang="en-US"/>
          </a:p>
        </p:txBody>
      </p:sp>
      <p:sp>
        <p:nvSpPr>
          <p:cNvPr id="3" name="Content Placeholder 2"/>
          <p:cNvSpPr>
            <a:spLocks noGrp="1"/>
          </p:cNvSpPr>
          <p:nvPr>
            <p:ph idx="1"/>
          </p:nvPr>
        </p:nvSpPr>
        <p:spPr>
          <a:xfrm>
            <a:off x="457200" y="690880"/>
            <a:ext cx="8229600" cy="5847080"/>
          </a:xfrm>
        </p:spPr>
        <p:txBody>
          <a:bodyPr>
            <a:normAutofit/>
          </a:bodyPr>
          <a:lstStyle/>
          <a:p>
            <a:pPr marL="0" indent="0" algn="just">
              <a:buNone/>
            </a:pPr>
            <a:r>
              <a:rPr lang="en-US"/>
              <a:t>Requirements Validation Techniques</a:t>
            </a:r>
          </a:p>
          <a:p>
            <a:pPr algn="just"/>
            <a:r>
              <a:rPr lang="en-US" b="1">
                <a:solidFill>
                  <a:srgbClr val="00B050"/>
                </a:solidFill>
              </a:rPr>
              <a:t>Requirements reviews/inspections:</a:t>
            </a:r>
            <a:r>
              <a:rPr lang="en-US"/>
              <a:t> systematic manual analysis of the requirements.</a:t>
            </a:r>
          </a:p>
          <a:p>
            <a:pPr algn="just"/>
            <a:r>
              <a:rPr lang="en-US" b="1">
                <a:solidFill>
                  <a:srgbClr val="00B050"/>
                </a:solidFill>
              </a:rPr>
              <a:t>Prototyping:</a:t>
            </a:r>
            <a:r>
              <a:rPr lang="en-US"/>
              <a:t> Using an executable model of the system to check requirements.</a:t>
            </a:r>
          </a:p>
          <a:p>
            <a:pPr algn="just"/>
            <a:r>
              <a:rPr lang="en-US" b="1">
                <a:solidFill>
                  <a:srgbClr val="00B050"/>
                </a:solidFill>
              </a:rPr>
              <a:t>Test-case generation:</a:t>
            </a:r>
            <a:r>
              <a:rPr lang="en-US"/>
              <a:t> Developing tests for requirements to check testability.</a:t>
            </a:r>
          </a:p>
          <a:p>
            <a:pPr algn="just"/>
            <a:r>
              <a:rPr lang="en-US" b="1">
                <a:solidFill>
                  <a:srgbClr val="00B050"/>
                </a:solidFill>
              </a:rPr>
              <a:t>Automated consistency analysis:</a:t>
            </a:r>
            <a:r>
              <a:rPr lang="en-US"/>
              <a:t> checking for the consistency of structured requirements descriptions.</a:t>
            </a:r>
          </a:p>
        </p:txBody>
      </p:sp>
    </p:spTree>
    <p:extLst>
      <p:ext uri="{BB962C8B-B14F-4D97-AF65-F5344CB8AC3E}">
        <p14:creationId xmlns:p14="http://schemas.microsoft.com/office/powerpoint/2010/main" xmlns="" val="24055079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8855"/>
          </a:xfrm>
        </p:spPr>
        <p:txBody>
          <a:bodyPr>
            <a:normAutofit fontScale="90000"/>
          </a:bodyPr>
          <a:lstStyle/>
          <a:p>
            <a:r>
              <a:rPr lang="en-US" b="1"/>
              <a:t>Software Requirement Management</a:t>
            </a:r>
          </a:p>
        </p:txBody>
      </p:sp>
      <p:sp>
        <p:nvSpPr>
          <p:cNvPr id="3" name="Content Placeholder 2"/>
          <p:cNvSpPr>
            <a:spLocks noGrp="1"/>
          </p:cNvSpPr>
          <p:nvPr>
            <p:ph idx="1"/>
          </p:nvPr>
        </p:nvSpPr>
        <p:spPr>
          <a:xfrm>
            <a:off x="457200" y="1140460"/>
            <a:ext cx="8229600" cy="5321300"/>
          </a:xfrm>
        </p:spPr>
        <p:txBody>
          <a:bodyPr/>
          <a:lstStyle/>
          <a:p>
            <a:pPr algn="just"/>
            <a:r>
              <a:rPr lang="en-US"/>
              <a:t>Requirement management is the process of </a:t>
            </a:r>
            <a:r>
              <a:rPr lang="en-US" b="1">
                <a:solidFill>
                  <a:srgbClr val="FF0000"/>
                </a:solidFill>
              </a:rPr>
              <a:t>managing changing requirements</a:t>
            </a:r>
            <a:r>
              <a:rPr lang="en-US"/>
              <a:t> during the requirements engineering process and system development.</a:t>
            </a:r>
          </a:p>
        </p:txBody>
      </p:sp>
    </p:spTree>
    <p:extLst>
      <p:ext uri="{BB962C8B-B14F-4D97-AF65-F5344CB8AC3E}">
        <p14:creationId xmlns:p14="http://schemas.microsoft.com/office/powerpoint/2010/main" xmlns="" val="107523493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b="1" dirty="0" smtClean="0"/>
              <a:t>Requirement Engineering task</a:t>
            </a:r>
            <a:endParaRPr lang="en-US"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834390" y="1600200"/>
            <a:ext cx="7439025" cy="480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1467222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918210"/>
          </a:xfrm>
        </p:spPr>
        <p:txBody>
          <a:bodyPr/>
          <a:lstStyle/>
          <a:p>
            <a:r>
              <a:rPr lang="en-US" b="1" dirty="0" smtClean="0"/>
              <a:t>Requirement Engineering task</a:t>
            </a:r>
            <a:endParaRPr lang="en-US" b="1" dirty="0"/>
          </a:p>
        </p:txBody>
      </p:sp>
      <p:sp>
        <p:nvSpPr>
          <p:cNvPr id="4" name="Content Placeholder 3"/>
          <p:cNvSpPr>
            <a:spLocks noGrp="1"/>
          </p:cNvSpPr>
          <p:nvPr>
            <p:ph idx="1"/>
          </p:nvPr>
        </p:nvSpPr>
        <p:spPr>
          <a:xfrm>
            <a:off x="381000" y="914400"/>
            <a:ext cx="8229600" cy="5821045"/>
          </a:xfrm>
        </p:spPr>
        <p:txBody>
          <a:bodyPr>
            <a:noAutofit/>
          </a:bodyPr>
          <a:lstStyle/>
          <a:p>
            <a:pPr algn="just">
              <a:buFont typeface="Wingdings" panose="05000000000000000000" pitchFamily="2" charset="2"/>
              <a:buChar char="v"/>
            </a:pPr>
            <a:r>
              <a:rPr lang="en-US" sz="2400" b="1" i="1" dirty="0" smtClean="0">
                <a:solidFill>
                  <a:srgbClr val="7030A0"/>
                </a:solidFill>
              </a:rPr>
              <a:t>Inception</a:t>
            </a:r>
            <a:r>
              <a:rPr lang="en-US" sz="2400" b="1" dirty="0">
                <a:solidFill>
                  <a:srgbClr val="7030A0"/>
                </a:solidFill>
              </a:rPr>
              <a:t> </a:t>
            </a:r>
            <a:r>
              <a:rPr lang="en-US" altLang="ja-JP" sz="2400" dirty="0" smtClean="0"/>
              <a:t>—</a:t>
            </a:r>
            <a:r>
              <a:rPr lang="en-US" sz="2400" dirty="0" smtClean="0"/>
              <a:t>Establish </a:t>
            </a:r>
            <a:r>
              <a:rPr lang="en-US" sz="2400" dirty="0"/>
              <a:t>a basic understanding of the problem and the nature of the solution</a:t>
            </a:r>
            <a:r>
              <a:rPr lang="en-US" sz="2400" dirty="0" smtClean="0"/>
              <a:t>.</a:t>
            </a:r>
          </a:p>
          <a:p>
            <a:pPr algn="just">
              <a:buFont typeface="Wingdings" panose="05000000000000000000" pitchFamily="2" charset="2"/>
              <a:buChar char="v"/>
            </a:pPr>
            <a:r>
              <a:rPr lang="en-US" sz="2400" b="1" i="1" dirty="0" smtClean="0">
                <a:solidFill>
                  <a:srgbClr val="7030A0"/>
                </a:solidFill>
              </a:rPr>
              <a:t>Elicitation</a:t>
            </a:r>
            <a:r>
              <a:rPr lang="en-US" sz="2400" dirty="0" smtClean="0"/>
              <a:t> </a:t>
            </a:r>
            <a:r>
              <a:rPr lang="en-US" altLang="ja-JP" sz="2400" dirty="0" smtClean="0"/>
              <a:t>—</a:t>
            </a:r>
            <a:r>
              <a:rPr lang="en-US" sz="2400" dirty="0" smtClean="0"/>
              <a:t>Draw </a:t>
            </a:r>
            <a:r>
              <a:rPr lang="en-US" sz="2400" dirty="0"/>
              <a:t>out the requirements from stakeholders</a:t>
            </a:r>
            <a:r>
              <a:rPr lang="en-US" sz="2400" dirty="0" smtClean="0"/>
              <a:t>.</a:t>
            </a:r>
          </a:p>
          <a:p>
            <a:pPr algn="just">
              <a:buFont typeface="Wingdings" panose="05000000000000000000" pitchFamily="2" charset="2"/>
              <a:buChar char="v"/>
            </a:pPr>
            <a:r>
              <a:rPr lang="en-US" sz="2400" b="1" i="1" dirty="0" smtClean="0">
                <a:solidFill>
                  <a:srgbClr val="7030A0"/>
                </a:solidFill>
              </a:rPr>
              <a:t>Elaboration</a:t>
            </a:r>
            <a:r>
              <a:rPr lang="en-US" sz="2400" dirty="0" smtClean="0"/>
              <a:t> </a:t>
            </a:r>
            <a:r>
              <a:rPr lang="en-US" altLang="ja-JP" sz="2400" dirty="0" smtClean="0"/>
              <a:t>—</a:t>
            </a:r>
            <a:r>
              <a:rPr lang="en-US" sz="2400" dirty="0" smtClean="0"/>
              <a:t>Create </a:t>
            </a:r>
            <a:r>
              <a:rPr lang="en-US" sz="2400" dirty="0"/>
              <a:t>an analysis model that represents information, functional, and behavioral aspects of the requirements</a:t>
            </a:r>
            <a:r>
              <a:rPr lang="en-US" sz="2400" dirty="0" smtClean="0"/>
              <a:t>.</a:t>
            </a:r>
          </a:p>
          <a:p>
            <a:pPr algn="just">
              <a:buFont typeface="Wingdings" panose="05000000000000000000" pitchFamily="2" charset="2"/>
              <a:buChar char="v"/>
            </a:pPr>
            <a:r>
              <a:rPr lang="en-US" sz="2400" b="1" i="1" dirty="0" smtClean="0">
                <a:solidFill>
                  <a:srgbClr val="7030A0"/>
                </a:solidFill>
              </a:rPr>
              <a:t>Negotiation</a:t>
            </a:r>
            <a:r>
              <a:rPr lang="en-US" sz="2400" dirty="0" smtClean="0"/>
              <a:t> </a:t>
            </a:r>
            <a:r>
              <a:rPr lang="en-US" altLang="ja-JP" sz="2400" dirty="0" smtClean="0"/>
              <a:t>—</a:t>
            </a:r>
            <a:r>
              <a:rPr lang="en-US" sz="2400" dirty="0" smtClean="0"/>
              <a:t>Agree </a:t>
            </a:r>
            <a:r>
              <a:rPr lang="en-US" sz="2400" dirty="0"/>
              <a:t>on a deliverable system that is realistic for developers and customers</a:t>
            </a:r>
            <a:r>
              <a:rPr lang="en-US" sz="2400" dirty="0" smtClean="0"/>
              <a:t>.</a:t>
            </a:r>
          </a:p>
          <a:p>
            <a:pPr algn="just">
              <a:buFont typeface="Wingdings" panose="05000000000000000000" pitchFamily="2" charset="2"/>
              <a:buChar char="v"/>
            </a:pPr>
            <a:r>
              <a:rPr lang="en-US" sz="2400" b="1" i="1" dirty="0" smtClean="0">
                <a:solidFill>
                  <a:srgbClr val="7030A0"/>
                </a:solidFill>
              </a:rPr>
              <a:t>Specification</a:t>
            </a:r>
            <a:r>
              <a:rPr lang="en-US" sz="2400" dirty="0" smtClean="0"/>
              <a:t> </a:t>
            </a:r>
            <a:r>
              <a:rPr lang="en-US" altLang="ja-JP" sz="2400" dirty="0" smtClean="0"/>
              <a:t>—</a:t>
            </a:r>
            <a:r>
              <a:rPr lang="en-US" sz="2400" dirty="0" smtClean="0"/>
              <a:t>Describe </a:t>
            </a:r>
            <a:r>
              <a:rPr lang="en-US" sz="2400" dirty="0"/>
              <a:t>the requirements formally or informally</a:t>
            </a:r>
            <a:r>
              <a:rPr lang="en-US" sz="2400" dirty="0" smtClean="0"/>
              <a:t>.</a:t>
            </a:r>
          </a:p>
          <a:p>
            <a:pPr algn="just">
              <a:buFont typeface="Wingdings" panose="05000000000000000000" pitchFamily="2" charset="2"/>
              <a:buChar char="v"/>
            </a:pPr>
            <a:r>
              <a:rPr lang="en-US" sz="2400" b="1" i="1" dirty="0" smtClean="0">
                <a:solidFill>
                  <a:srgbClr val="7030A0"/>
                </a:solidFill>
              </a:rPr>
              <a:t>Validation</a:t>
            </a:r>
            <a:r>
              <a:rPr lang="en-US" altLang="ja-JP" sz="2400" i="1" dirty="0" smtClean="0"/>
              <a:t>—</a:t>
            </a:r>
            <a:r>
              <a:rPr lang="en-US" sz="2400" i="1" dirty="0" smtClean="0"/>
              <a:t>Review</a:t>
            </a:r>
            <a:r>
              <a:rPr lang="en-US" sz="2400" dirty="0" smtClean="0"/>
              <a:t> </a:t>
            </a:r>
            <a:r>
              <a:rPr lang="en-US" sz="2400" dirty="0"/>
              <a:t>the requirement specification for errors, </a:t>
            </a:r>
            <a:r>
              <a:rPr lang="en-US" sz="2400" dirty="0" smtClean="0"/>
              <a:t>ambiguities</a:t>
            </a:r>
            <a:r>
              <a:rPr lang="en-US" altLang="ja-JP" sz="2400" dirty="0" smtClean="0"/>
              <a:t>, </a:t>
            </a:r>
            <a:r>
              <a:rPr lang="en-US" sz="2400" dirty="0" smtClean="0"/>
              <a:t>omissions</a:t>
            </a:r>
            <a:r>
              <a:rPr lang="en-US" altLang="ja-JP" sz="2400" dirty="0" smtClean="0"/>
              <a:t>, </a:t>
            </a:r>
            <a:r>
              <a:rPr lang="en-US" sz="2400" dirty="0"/>
              <a:t>and conflicts</a:t>
            </a:r>
            <a:r>
              <a:rPr lang="en-US" sz="2400" dirty="0" smtClean="0"/>
              <a:t>.</a:t>
            </a:r>
          </a:p>
          <a:p>
            <a:pPr algn="just">
              <a:buFont typeface="Wingdings" panose="05000000000000000000" pitchFamily="2" charset="2"/>
              <a:buChar char="v"/>
            </a:pPr>
            <a:r>
              <a:rPr lang="en-US" sz="2400" b="1" i="1" dirty="0" smtClean="0">
                <a:solidFill>
                  <a:srgbClr val="7030A0"/>
                </a:solidFill>
              </a:rPr>
              <a:t>Requirements</a:t>
            </a:r>
            <a:r>
              <a:rPr lang="en-US" sz="2400" dirty="0" smtClean="0">
                <a:solidFill>
                  <a:srgbClr val="7030A0"/>
                </a:solidFill>
              </a:rPr>
              <a:t> </a:t>
            </a:r>
            <a:r>
              <a:rPr lang="en-US" sz="2400" b="1" i="1" dirty="0" smtClean="0">
                <a:solidFill>
                  <a:srgbClr val="7030A0"/>
                </a:solidFill>
              </a:rPr>
              <a:t>management</a:t>
            </a:r>
            <a:r>
              <a:rPr lang="en-US" altLang="ja-JP" sz="2400" dirty="0" smtClean="0"/>
              <a:t>—</a:t>
            </a:r>
            <a:r>
              <a:rPr lang="en-US" sz="2400" dirty="0" smtClean="0"/>
              <a:t>Manage </a:t>
            </a:r>
            <a:r>
              <a:rPr lang="en-US" sz="2400" dirty="0"/>
              <a:t>changing requirements.</a:t>
            </a:r>
          </a:p>
        </p:txBody>
      </p:sp>
    </p:spTree>
    <p:extLst>
      <p:ext uri="{BB962C8B-B14F-4D97-AF65-F5344CB8AC3E}">
        <p14:creationId xmlns:p14="http://schemas.microsoft.com/office/powerpoint/2010/main" xmlns="" val="138011732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7620000" cy="792162"/>
          </a:xfrm>
        </p:spPr>
        <p:txBody>
          <a:bodyPr/>
          <a:lstStyle/>
          <a:p>
            <a:pPr algn="ctr"/>
            <a:r>
              <a:rPr lang="en-US" b="1" dirty="0" smtClean="0"/>
              <a:t>Inception Task</a:t>
            </a:r>
            <a:endParaRPr lang="en-US" b="1" dirty="0"/>
          </a:p>
        </p:txBody>
      </p:sp>
      <p:sp>
        <p:nvSpPr>
          <p:cNvPr id="3" name="Content Placeholder 2"/>
          <p:cNvSpPr>
            <a:spLocks noGrp="1"/>
          </p:cNvSpPr>
          <p:nvPr>
            <p:ph idx="1"/>
          </p:nvPr>
        </p:nvSpPr>
        <p:spPr>
          <a:xfrm>
            <a:off x="457200" y="1051560"/>
            <a:ext cx="8391525" cy="5599430"/>
          </a:xfrm>
        </p:spPr>
        <p:txBody>
          <a:bodyPr>
            <a:normAutofit fontScale="77500" lnSpcReduction="20000"/>
          </a:bodyPr>
          <a:lstStyle/>
          <a:p>
            <a:pPr marL="114300" indent="0" algn="just">
              <a:buNone/>
            </a:pPr>
            <a:r>
              <a:rPr lang="en-US" sz="3430" dirty="0" smtClean="0"/>
              <a:t>The requirement engineer </a:t>
            </a:r>
            <a:r>
              <a:rPr lang="en-US" sz="3430" b="1" i="1" dirty="0" smtClean="0"/>
              <a:t>ask a set of question </a:t>
            </a:r>
            <a:r>
              <a:rPr lang="en-US" sz="3430" dirty="0" smtClean="0"/>
              <a:t>to establish</a:t>
            </a:r>
          </a:p>
          <a:p>
            <a:pPr marL="574675" indent="-176530" algn="just">
              <a:buFont typeface="Wingdings" panose="05000000000000000000" pitchFamily="2" charset="2"/>
              <a:buChar char="v"/>
            </a:pPr>
            <a:r>
              <a:rPr lang="en-US" sz="3430" dirty="0"/>
              <a:t>basic understanding of the problem</a:t>
            </a:r>
          </a:p>
          <a:p>
            <a:pPr marL="636905" algn="just">
              <a:buFont typeface="Wingdings" panose="05000000000000000000" pitchFamily="2" charset="2"/>
              <a:buChar char="v"/>
            </a:pPr>
            <a:r>
              <a:rPr lang="en-US" sz="3430" dirty="0" smtClean="0"/>
              <a:t>the </a:t>
            </a:r>
            <a:r>
              <a:rPr lang="en-US" sz="3430" dirty="0"/>
              <a:t>people who want a solution</a:t>
            </a:r>
          </a:p>
          <a:p>
            <a:pPr marL="697230" indent="-240030" algn="just">
              <a:buFont typeface="Wingdings" panose="05000000000000000000" pitchFamily="2" charset="2"/>
              <a:buChar char="v"/>
            </a:pPr>
            <a:r>
              <a:rPr lang="en-US" sz="3430" dirty="0" smtClean="0"/>
              <a:t>the </a:t>
            </a:r>
            <a:r>
              <a:rPr lang="en-US" sz="3430" dirty="0"/>
              <a:t>nature of the solution that is desired, and</a:t>
            </a:r>
          </a:p>
          <a:p>
            <a:pPr marL="633730" indent="-176530" algn="just">
              <a:buFont typeface="Wingdings" panose="05000000000000000000" pitchFamily="2" charset="2"/>
              <a:buChar char="v"/>
            </a:pPr>
            <a:r>
              <a:rPr lang="en-US" sz="3430" dirty="0" smtClean="0"/>
              <a:t> </a:t>
            </a:r>
            <a:r>
              <a:rPr lang="en-US" sz="3430" dirty="0"/>
              <a:t>the effectiveness of preliminary communication and collaboration</a:t>
            </a:r>
          </a:p>
          <a:p>
            <a:pPr marL="694055" indent="-236855" algn="just">
              <a:buFont typeface="Wingdings" panose="05000000000000000000" pitchFamily="2" charset="2"/>
              <a:buChar char="v"/>
            </a:pPr>
            <a:r>
              <a:rPr lang="en-US" sz="3430" dirty="0"/>
              <a:t>between </a:t>
            </a:r>
            <a:r>
              <a:rPr lang="en-US" sz="3430" dirty="0" smtClean="0"/>
              <a:t>the </a:t>
            </a:r>
            <a:r>
              <a:rPr lang="en-US" sz="3430" dirty="0"/>
              <a:t>customer and the </a:t>
            </a:r>
            <a:r>
              <a:rPr lang="en-US" sz="3430" dirty="0" smtClean="0"/>
              <a:t>developer</a:t>
            </a:r>
          </a:p>
          <a:p>
            <a:pPr marL="176530" indent="0" algn="just">
              <a:buNone/>
            </a:pPr>
            <a:r>
              <a:rPr lang="en-US" sz="3430" b="1" i="1" dirty="0" smtClean="0"/>
              <a:t>Through out the question , requirement engineer needs to </a:t>
            </a:r>
          </a:p>
          <a:p>
            <a:pPr marL="519430" indent="-342900" algn="just">
              <a:buFont typeface="Wingdings" panose="05000000000000000000" pitchFamily="2" charset="2"/>
              <a:buChar char="v"/>
            </a:pPr>
            <a:r>
              <a:rPr lang="en-US" sz="3430" b="1" dirty="0" smtClean="0">
                <a:solidFill>
                  <a:schemeClr val="accent5">
                    <a:lumMod val="75000"/>
                  </a:schemeClr>
                </a:solidFill>
              </a:rPr>
              <a:t>Identify the stakeholder</a:t>
            </a:r>
          </a:p>
          <a:p>
            <a:pPr marL="519430" indent="-342900" algn="just">
              <a:buFont typeface="Wingdings" panose="05000000000000000000" pitchFamily="2" charset="2"/>
              <a:buChar char="v"/>
            </a:pPr>
            <a:r>
              <a:rPr lang="en-US" sz="3430" b="1" dirty="0" smtClean="0">
                <a:solidFill>
                  <a:schemeClr val="accent5">
                    <a:lumMod val="75000"/>
                  </a:schemeClr>
                </a:solidFill>
              </a:rPr>
              <a:t>Recognize multiple view points</a:t>
            </a:r>
          </a:p>
          <a:p>
            <a:pPr marL="519430" indent="-342900" algn="just">
              <a:buFont typeface="Wingdings" panose="05000000000000000000" pitchFamily="2" charset="2"/>
              <a:buChar char="v"/>
            </a:pPr>
            <a:r>
              <a:rPr lang="en-US" sz="3430" b="1" dirty="0" smtClean="0">
                <a:solidFill>
                  <a:schemeClr val="accent5">
                    <a:lumMod val="75000"/>
                  </a:schemeClr>
                </a:solidFill>
              </a:rPr>
              <a:t>Work towards collaboration</a:t>
            </a:r>
          </a:p>
          <a:p>
            <a:pPr marL="519430" indent="-342900" algn="just">
              <a:buFont typeface="Wingdings" panose="05000000000000000000" pitchFamily="2" charset="2"/>
              <a:buChar char="v"/>
            </a:pPr>
            <a:r>
              <a:rPr lang="en-US" sz="3430" b="1" dirty="0" smtClean="0">
                <a:solidFill>
                  <a:schemeClr val="accent5">
                    <a:lumMod val="75000"/>
                  </a:schemeClr>
                </a:solidFill>
              </a:rPr>
              <a:t>Break the ice and initiate the communication</a:t>
            </a:r>
          </a:p>
        </p:txBody>
      </p:sp>
    </p:spTree>
    <p:extLst>
      <p:ext uri="{BB962C8B-B14F-4D97-AF65-F5344CB8AC3E}">
        <p14:creationId xmlns:p14="http://schemas.microsoft.com/office/powerpoint/2010/main" xmlns="" val="186620212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5883"/>
            <a:ext cx="7620000" cy="868362"/>
          </a:xfrm>
        </p:spPr>
        <p:txBody>
          <a:bodyPr/>
          <a:lstStyle/>
          <a:p>
            <a:pPr algn="ctr"/>
            <a:r>
              <a:rPr lang="en-US" b="1" dirty="0" smtClean="0"/>
              <a:t>Elicitation task</a:t>
            </a:r>
            <a:endParaRPr lang="en-US" b="1" dirty="0"/>
          </a:p>
        </p:txBody>
      </p:sp>
      <p:sp>
        <p:nvSpPr>
          <p:cNvPr id="3" name="Content Placeholder 2"/>
          <p:cNvSpPr>
            <a:spLocks noGrp="1"/>
          </p:cNvSpPr>
          <p:nvPr>
            <p:ph idx="1"/>
          </p:nvPr>
        </p:nvSpPr>
        <p:spPr>
          <a:xfrm>
            <a:off x="457200" y="1219200"/>
            <a:ext cx="8358505" cy="5464810"/>
          </a:xfrm>
        </p:spPr>
        <p:txBody>
          <a:bodyPr>
            <a:noAutofit/>
          </a:bodyPr>
          <a:lstStyle/>
          <a:p>
            <a:pPr marL="114300" indent="0" algn="just">
              <a:buNone/>
            </a:pPr>
            <a:r>
              <a:rPr lang="en-US" sz="2400" b="1" i="1" dirty="0" smtClean="0"/>
              <a:t>Ask the customer, the users and others </a:t>
            </a:r>
          </a:p>
          <a:p>
            <a:pPr algn="just">
              <a:buFont typeface="Wingdings" panose="05000000000000000000" pitchFamily="2" charset="2"/>
              <a:buChar char="v"/>
            </a:pPr>
            <a:r>
              <a:rPr lang="en-US" sz="2400" dirty="0" smtClean="0"/>
              <a:t>what the objectives for the system or product are, </a:t>
            </a:r>
          </a:p>
          <a:p>
            <a:pPr algn="just">
              <a:buFont typeface="Wingdings" panose="05000000000000000000" pitchFamily="2" charset="2"/>
              <a:buChar char="v"/>
            </a:pPr>
            <a:r>
              <a:rPr lang="en-US" sz="2400" dirty="0" smtClean="0"/>
              <a:t>what is to be accomplished,</a:t>
            </a:r>
          </a:p>
          <a:p>
            <a:pPr algn="just">
              <a:buFont typeface="Wingdings" panose="05000000000000000000" pitchFamily="2" charset="2"/>
              <a:buChar char="v"/>
            </a:pPr>
            <a:r>
              <a:rPr lang="en-US" sz="2400" dirty="0" smtClean="0"/>
              <a:t>how the system or product fits into the needs of the business.</a:t>
            </a:r>
          </a:p>
          <a:p>
            <a:pPr algn="just">
              <a:buFont typeface="Wingdings" panose="05000000000000000000" pitchFamily="2" charset="2"/>
              <a:buChar char="v"/>
            </a:pPr>
            <a:r>
              <a:rPr lang="en-US" sz="2400" dirty="0" smtClean="0"/>
              <a:t>How the system or product to be used on day to day basis</a:t>
            </a:r>
          </a:p>
          <a:p>
            <a:pPr marL="114300" indent="0" algn="just">
              <a:buNone/>
            </a:pPr>
            <a:r>
              <a:rPr lang="en-US" sz="2400" b="1" i="1" dirty="0" smtClean="0"/>
              <a:t>Following are the problems that are encountered during elicitation </a:t>
            </a:r>
          </a:p>
          <a:p>
            <a:pPr algn="just">
              <a:buFont typeface="Wingdings" panose="05000000000000000000" pitchFamily="2" charset="2"/>
              <a:buChar char="v"/>
            </a:pPr>
            <a:r>
              <a:rPr lang="en-US" sz="2400" b="1" dirty="0" smtClean="0">
                <a:solidFill>
                  <a:srgbClr val="C00000"/>
                </a:solidFill>
              </a:rPr>
              <a:t>Problem of scope</a:t>
            </a:r>
          </a:p>
          <a:p>
            <a:pPr algn="just">
              <a:buFont typeface="Wingdings" panose="05000000000000000000" pitchFamily="2" charset="2"/>
              <a:buChar char="v"/>
            </a:pPr>
            <a:r>
              <a:rPr lang="en-US" sz="2400" b="1" dirty="0" smtClean="0">
                <a:solidFill>
                  <a:srgbClr val="C00000"/>
                </a:solidFill>
              </a:rPr>
              <a:t>Problem of understanding</a:t>
            </a:r>
          </a:p>
          <a:p>
            <a:pPr algn="just">
              <a:buFont typeface="Wingdings" panose="05000000000000000000" pitchFamily="2" charset="2"/>
              <a:buChar char="v"/>
            </a:pPr>
            <a:r>
              <a:rPr lang="en-US" sz="2400" b="1" dirty="0" smtClean="0">
                <a:solidFill>
                  <a:srgbClr val="C00000"/>
                </a:solidFill>
              </a:rPr>
              <a:t>Problems of volatility</a:t>
            </a:r>
            <a:endParaRPr lang="en-US" sz="2400" dirty="0" smtClean="0"/>
          </a:p>
          <a:p>
            <a:pPr marL="114300" indent="0" algn="just">
              <a:buNone/>
            </a:pPr>
            <a:r>
              <a:rPr lang="en-US" sz="2400" dirty="0"/>
              <a:t>	</a:t>
            </a:r>
            <a:r>
              <a:rPr lang="en-US" sz="2400" dirty="0" smtClean="0"/>
              <a:t>To overcome the above problem , we must approach the </a:t>
            </a:r>
            <a:r>
              <a:rPr lang="en-US" sz="2400" b="1" i="1" dirty="0" smtClean="0"/>
              <a:t>requirement gathering in an organized way</a:t>
            </a:r>
          </a:p>
        </p:txBody>
      </p:sp>
    </p:spTree>
    <p:extLst>
      <p:ext uri="{BB962C8B-B14F-4D97-AF65-F5344CB8AC3E}">
        <p14:creationId xmlns:p14="http://schemas.microsoft.com/office/powerpoint/2010/main" xmlns="" val="281172055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7620000" cy="1143000"/>
          </a:xfrm>
        </p:spPr>
        <p:txBody>
          <a:bodyPr/>
          <a:lstStyle/>
          <a:p>
            <a:pPr algn="ctr"/>
            <a:r>
              <a:rPr lang="en-US" b="1" dirty="0" smtClean="0"/>
              <a:t>Elaboration</a:t>
            </a:r>
            <a:endParaRPr lang="en-US" b="1" dirty="0"/>
          </a:p>
        </p:txBody>
      </p:sp>
      <p:sp>
        <p:nvSpPr>
          <p:cNvPr id="3" name="Content Placeholder 2"/>
          <p:cNvSpPr>
            <a:spLocks noGrp="1"/>
          </p:cNvSpPr>
          <p:nvPr>
            <p:ph idx="1"/>
          </p:nvPr>
        </p:nvSpPr>
        <p:spPr>
          <a:xfrm>
            <a:off x="457200" y="1026160"/>
            <a:ext cx="8262620" cy="5669915"/>
          </a:xfrm>
        </p:spPr>
        <p:txBody>
          <a:bodyPr>
            <a:normAutofit/>
          </a:bodyPr>
          <a:lstStyle/>
          <a:p>
            <a:pPr algn="just">
              <a:buFont typeface="Wingdings" panose="05000000000000000000" pitchFamily="2" charset="2"/>
              <a:buChar char="v"/>
            </a:pPr>
            <a:r>
              <a:rPr lang="en-US" dirty="0" smtClean="0"/>
              <a:t>The information obtained from the customer during inception and elicitation is expanded and refined it</a:t>
            </a:r>
          </a:p>
          <a:p>
            <a:pPr algn="just">
              <a:buFont typeface="Wingdings" panose="05000000000000000000" pitchFamily="2" charset="2"/>
              <a:buChar char="v"/>
            </a:pPr>
            <a:r>
              <a:rPr lang="en-US" dirty="0" smtClean="0"/>
              <a:t>Elaboration focuses on developing a refined technical model of software functions, features, and constraints</a:t>
            </a:r>
          </a:p>
          <a:p>
            <a:pPr algn="just">
              <a:buFont typeface="Wingdings" panose="05000000000000000000" pitchFamily="2" charset="2"/>
              <a:buChar char="v"/>
            </a:pPr>
            <a:r>
              <a:rPr lang="en-US" dirty="0" smtClean="0"/>
              <a:t>It is an analysis modeling task</a:t>
            </a:r>
          </a:p>
          <a:p>
            <a:pPr lvl="1" algn="just"/>
            <a:r>
              <a:rPr lang="en-US" b="1" dirty="0" smtClean="0">
                <a:solidFill>
                  <a:srgbClr val="7030A0"/>
                </a:solidFill>
              </a:rPr>
              <a:t>Use cases are developed</a:t>
            </a:r>
          </a:p>
          <a:p>
            <a:pPr lvl="1" algn="just"/>
            <a:r>
              <a:rPr lang="en-US" b="1" dirty="0" smtClean="0">
                <a:solidFill>
                  <a:srgbClr val="7030A0"/>
                </a:solidFill>
              </a:rPr>
              <a:t>Domain classes are identified</a:t>
            </a:r>
          </a:p>
          <a:p>
            <a:pPr lvl="1" algn="just"/>
            <a:r>
              <a:rPr lang="en-US" b="1" dirty="0" smtClean="0">
                <a:solidFill>
                  <a:srgbClr val="7030A0"/>
                </a:solidFill>
              </a:rPr>
              <a:t>State machine diagrams are used</a:t>
            </a:r>
          </a:p>
        </p:txBody>
      </p:sp>
    </p:spTree>
    <p:extLst>
      <p:ext uri="{BB962C8B-B14F-4D97-AF65-F5344CB8AC3E}">
        <p14:creationId xmlns:p14="http://schemas.microsoft.com/office/powerpoint/2010/main" xmlns="" val="336437491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5883"/>
            <a:ext cx="7620000" cy="868362"/>
          </a:xfrm>
        </p:spPr>
        <p:txBody>
          <a:bodyPr/>
          <a:lstStyle/>
          <a:p>
            <a:pPr algn="ctr"/>
            <a:r>
              <a:rPr lang="en-US" b="1" dirty="0" smtClean="0"/>
              <a:t>Negotiation</a:t>
            </a:r>
            <a:endParaRPr lang="en-US" b="1" dirty="0"/>
          </a:p>
        </p:txBody>
      </p:sp>
      <p:sp>
        <p:nvSpPr>
          <p:cNvPr id="3" name="Content Placeholder 2"/>
          <p:cNvSpPr>
            <a:spLocks noGrp="1"/>
          </p:cNvSpPr>
          <p:nvPr>
            <p:ph idx="1"/>
          </p:nvPr>
        </p:nvSpPr>
        <p:spPr>
          <a:xfrm>
            <a:off x="457200" y="950595"/>
            <a:ext cx="8400415" cy="5784850"/>
          </a:xfrm>
        </p:spPr>
        <p:txBody>
          <a:bodyPr>
            <a:noAutofit/>
          </a:bodyPr>
          <a:lstStyle/>
          <a:p>
            <a:pPr algn="just">
              <a:buFont typeface="Wingdings" panose="05000000000000000000" pitchFamily="2" charset="2"/>
              <a:buChar char="v"/>
            </a:pPr>
            <a:r>
              <a:rPr lang="en-US" sz="2400" dirty="0" smtClean="0"/>
              <a:t>Customers and users are ask for more than can be achieved ,given limited business resources</a:t>
            </a:r>
          </a:p>
          <a:p>
            <a:pPr algn="just">
              <a:buFont typeface="Wingdings" panose="05000000000000000000" pitchFamily="2" charset="2"/>
              <a:buChar char="v"/>
            </a:pPr>
            <a:r>
              <a:rPr lang="en-US" sz="2400" dirty="0" smtClean="0"/>
              <a:t>It is common for different customers or users to propose conflicting requirements</a:t>
            </a:r>
          </a:p>
          <a:p>
            <a:pPr algn="just">
              <a:buFont typeface="Wingdings" panose="05000000000000000000" pitchFamily="2" charset="2"/>
              <a:buChar char="v"/>
            </a:pPr>
            <a:r>
              <a:rPr lang="en-US" sz="2400" dirty="0" smtClean="0"/>
              <a:t>Reconciling the conflict through a process of negotiation</a:t>
            </a:r>
          </a:p>
          <a:p>
            <a:pPr algn="just">
              <a:buFont typeface="Wingdings" panose="05000000000000000000" pitchFamily="2" charset="2"/>
              <a:buChar char="v"/>
            </a:pPr>
            <a:r>
              <a:rPr lang="en-US" sz="2400" dirty="0" smtClean="0"/>
              <a:t>Customers, users and other stakeholders are asked </a:t>
            </a:r>
          </a:p>
          <a:p>
            <a:pPr marL="114300" indent="0" algn="just">
              <a:buNone/>
            </a:pPr>
            <a:r>
              <a:rPr lang="en-US" sz="2400" dirty="0" smtClean="0"/>
              <a:t>	</a:t>
            </a:r>
            <a:r>
              <a:rPr lang="en-US" sz="2400" b="1" dirty="0" smtClean="0">
                <a:solidFill>
                  <a:srgbClr val="00B050"/>
                </a:solidFill>
              </a:rPr>
              <a:t>To rank/prioritizes the requirement</a:t>
            </a:r>
          </a:p>
          <a:p>
            <a:pPr marL="114300" indent="0" algn="just">
              <a:buNone/>
            </a:pPr>
            <a:r>
              <a:rPr lang="en-US" sz="2400" b="1" dirty="0" smtClean="0">
                <a:solidFill>
                  <a:srgbClr val="00B050"/>
                </a:solidFill>
              </a:rPr>
              <a:t>	Assesses their cost</a:t>
            </a:r>
          </a:p>
          <a:p>
            <a:pPr marL="114300" indent="0" algn="just">
              <a:buNone/>
            </a:pPr>
            <a:r>
              <a:rPr lang="en-US" sz="2400" b="1" dirty="0" smtClean="0">
                <a:solidFill>
                  <a:srgbClr val="00B050"/>
                </a:solidFill>
              </a:rPr>
              <a:t>	Risk</a:t>
            </a:r>
          </a:p>
          <a:p>
            <a:pPr marL="114300" indent="0" algn="just">
              <a:buNone/>
            </a:pPr>
            <a:r>
              <a:rPr lang="en-US" sz="2400" b="1" dirty="0" smtClean="0">
                <a:solidFill>
                  <a:srgbClr val="00B050"/>
                </a:solidFill>
              </a:rPr>
              <a:t>	Addresses internal conflicts</a:t>
            </a:r>
          </a:p>
          <a:p>
            <a:pPr algn="just">
              <a:buFont typeface="Wingdings" panose="05000000000000000000" pitchFamily="2" charset="2"/>
              <a:buChar char="v"/>
            </a:pPr>
            <a:r>
              <a:rPr lang="en-US" sz="2400" dirty="0" smtClean="0"/>
              <a:t>So that requirements are eliminated, combined / modified both(Developer and customer) achieve some measure of satisfaction</a:t>
            </a:r>
          </a:p>
          <a:p>
            <a:pPr algn="just"/>
            <a:endParaRPr lang="en-US" sz="2400" dirty="0" smtClean="0"/>
          </a:p>
          <a:p>
            <a:pPr marL="114300" indent="0" algn="just">
              <a:buNone/>
            </a:pPr>
            <a:endParaRPr lang="en-US" sz="1600" dirty="0" smtClean="0"/>
          </a:p>
        </p:txBody>
      </p:sp>
    </p:spTree>
    <p:extLst>
      <p:ext uri="{BB962C8B-B14F-4D97-AF65-F5344CB8AC3E}">
        <p14:creationId xmlns:p14="http://schemas.microsoft.com/office/powerpoint/2010/main" xmlns="" val="315013340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979805"/>
          </a:xfrm>
        </p:spPr>
        <p:txBody>
          <a:bodyPr/>
          <a:lstStyle/>
          <a:p>
            <a:pPr algn="ctr"/>
            <a:r>
              <a:rPr lang="en-US" b="1" dirty="0" smtClean="0"/>
              <a:t>Specification</a:t>
            </a:r>
            <a:endParaRPr lang="en-US" b="1" dirty="0"/>
          </a:p>
        </p:txBody>
      </p:sp>
      <p:sp>
        <p:nvSpPr>
          <p:cNvPr id="3" name="Content Placeholder 2"/>
          <p:cNvSpPr>
            <a:spLocks noGrp="1"/>
          </p:cNvSpPr>
          <p:nvPr>
            <p:ph idx="1"/>
          </p:nvPr>
        </p:nvSpPr>
        <p:spPr>
          <a:xfrm>
            <a:off x="457200" y="1447800"/>
            <a:ext cx="8228965" cy="4943475"/>
          </a:xfrm>
        </p:spPr>
        <p:txBody>
          <a:bodyPr/>
          <a:lstStyle/>
          <a:p>
            <a:pPr marL="114300" indent="0" algn="just">
              <a:buNone/>
            </a:pPr>
            <a:r>
              <a:rPr lang="en-US" b="1" i="1" dirty="0" smtClean="0"/>
              <a:t>Specification</a:t>
            </a:r>
            <a:r>
              <a:rPr lang="en-US" dirty="0" smtClean="0"/>
              <a:t>—  </a:t>
            </a:r>
            <a:r>
              <a:rPr lang="en-US" b="1" dirty="0" smtClean="0">
                <a:solidFill>
                  <a:srgbClr val="00B050"/>
                </a:solidFill>
              </a:rPr>
              <a:t>“</a:t>
            </a:r>
            <a:r>
              <a:rPr lang="en-US" b="1" i="1" dirty="0" smtClean="0">
                <a:solidFill>
                  <a:srgbClr val="00B050"/>
                </a:solidFill>
              </a:rPr>
              <a:t>different things to different people</a:t>
            </a:r>
            <a:r>
              <a:rPr lang="en-US" b="1" dirty="0" smtClean="0">
                <a:solidFill>
                  <a:srgbClr val="00B050"/>
                </a:solidFill>
              </a:rPr>
              <a:t>”</a:t>
            </a:r>
            <a:r>
              <a:rPr lang="en-US" dirty="0" smtClean="0"/>
              <a:t> can </a:t>
            </a:r>
            <a:r>
              <a:rPr lang="en-US" dirty="0"/>
              <a:t>be any one (or more) of the following:</a:t>
            </a:r>
          </a:p>
          <a:p>
            <a:pPr algn="just"/>
            <a:r>
              <a:rPr lang="en-US" dirty="0" smtClean="0"/>
              <a:t>A </a:t>
            </a:r>
            <a:r>
              <a:rPr lang="en-US" dirty="0"/>
              <a:t>written document</a:t>
            </a:r>
          </a:p>
          <a:p>
            <a:pPr algn="just"/>
            <a:r>
              <a:rPr lang="en-US" dirty="0" smtClean="0"/>
              <a:t>A </a:t>
            </a:r>
            <a:r>
              <a:rPr lang="en-US" dirty="0"/>
              <a:t>set of models</a:t>
            </a:r>
          </a:p>
          <a:p>
            <a:pPr algn="just"/>
            <a:r>
              <a:rPr lang="en-US" dirty="0" smtClean="0"/>
              <a:t> </a:t>
            </a:r>
            <a:r>
              <a:rPr lang="en-US" dirty="0"/>
              <a:t>A formal </a:t>
            </a:r>
            <a:r>
              <a:rPr lang="en-US" dirty="0" smtClean="0"/>
              <a:t>mathematical model</a:t>
            </a:r>
            <a:endParaRPr lang="en-US" dirty="0"/>
          </a:p>
          <a:p>
            <a:pPr algn="just"/>
            <a:r>
              <a:rPr lang="en-US" dirty="0" smtClean="0"/>
              <a:t>A </a:t>
            </a:r>
            <a:r>
              <a:rPr lang="en-US" dirty="0"/>
              <a:t>collection of user scenarios (use-cases)</a:t>
            </a:r>
          </a:p>
          <a:p>
            <a:pPr algn="just"/>
            <a:r>
              <a:rPr lang="en-US" dirty="0" smtClean="0"/>
              <a:t>A </a:t>
            </a:r>
            <a:r>
              <a:rPr lang="en-US" dirty="0"/>
              <a:t>prototype</a:t>
            </a:r>
          </a:p>
        </p:txBody>
      </p:sp>
    </p:spTree>
    <p:extLst>
      <p:ext uri="{BB962C8B-B14F-4D97-AF65-F5344CB8AC3E}">
        <p14:creationId xmlns:p14="http://schemas.microsoft.com/office/powerpoint/2010/main" xmlns="" val="295931566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5883"/>
            <a:ext cx="7620000" cy="868362"/>
          </a:xfrm>
        </p:spPr>
        <p:txBody>
          <a:bodyPr/>
          <a:lstStyle/>
          <a:p>
            <a:pPr algn="ctr"/>
            <a:r>
              <a:rPr lang="en-US" b="1" dirty="0" smtClean="0"/>
              <a:t>Validation</a:t>
            </a:r>
            <a:endParaRPr lang="en-US" b="1" dirty="0"/>
          </a:p>
        </p:txBody>
      </p:sp>
      <p:sp>
        <p:nvSpPr>
          <p:cNvPr id="3" name="Content Placeholder 2"/>
          <p:cNvSpPr>
            <a:spLocks noGrp="1"/>
          </p:cNvSpPr>
          <p:nvPr>
            <p:ph idx="1"/>
          </p:nvPr>
        </p:nvSpPr>
        <p:spPr>
          <a:xfrm>
            <a:off x="304800" y="1089660"/>
            <a:ext cx="8592185" cy="5551170"/>
          </a:xfrm>
        </p:spPr>
        <p:txBody>
          <a:bodyPr>
            <a:noAutofit/>
          </a:bodyPr>
          <a:lstStyle/>
          <a:p>
            <a:pPr>
              <a:buFont typeface="Wingdings" panose="05000000000000000000" pitchFamily="2" charset="2"/>
              <a:buChar char="v"/>
            </a:pPr>
            <a:r>
              <a:rPr lang="en-US" sz="2500" dirty="0" smtClean="0"/>
              <a:t>Product produced are assessed for quality during validation</a:t>
            </a:r>
          </a:p>
          <a:p>
            <a:pPr>
              <a:buFont typeface="Wingdings" panose="05000000000000000000" pitchFamily="2" charset="2"/>
              <a:buChar char="v"/>
            </a:pPr>
            <a:r>
              <a:rPr lang="en-US" sz="2500" dirty="0" smtClean="0"/>
              <a:t>Requirement validation examines the specification to ensure all the SW requirements stated clearly, that inconsistencies, omissions and error have been detected and corrected</a:t>
            </a:r>
          </a:p>
          <a:p>
            <a:pPr>
              <a:buFont typeface="Wingdings" panose="05000000000000000000" pitchFamily="2" charset="2"/>
              <a:buChar char="v"/>
            </a:pPr>
            <a:r>
              <a:rPr lang="en-US" sz="2500" dirty="0" smtClean="0"/>
              <a:t>The work product conform to the standards established for the process</a:t>
            </a:r>
          </a:p>
          <a:p>
            <a:pPr marL="114300" indent="0">
              <a:buNone/>
            </a:pPr>
            <a:r>
              <a:rPr lang="en-US" sz="2500" b="1" i="1" dirty="0"/>
              <a:t>Validation—</a:t>
            </a:r>
            <a:r>
              <a:rPr lang="en-US" sz="2500" b="1" dirty="0">
                <a:solidFill>
                  <a:srgbClr val="00B050"/>
                </a:solidFill>
              </a:rPr>
              <a:t>a review mechanism that looks for</a:t>
            </a:r>
          </a:p>
          <a:p>
            <a:pPr>
              <a:buFont typeface="Wingdings" panose="05000000000000000000" pitchFamily="2" charset="2"/>
              <a:buChar char="v"/>
            </a:pPr>
            <a:r>
              <a:rPr lang="en-US" sz="2500" b="1" dirty="0" smtClean="0">
                <a:solidFill>
                  <a:schemeClr val="accent2"/>
                </a:solidFill>
              </a:rPr>
              <a:t>errors </a:t>
            </a:r>
            <a:r>
              <a:rPr lang="en-US" sz="2500" b="1" dirty="0">
                <a:solidFill>
                  <a:schemeClr val="accent2"/>
                </a:solidFill>
              </a:rPr>
              <a:t>in content or interpretation</a:t>
            </a:r>
          </a:p>
          <a:p>
            <a:pPr>
              <a:buFont typeface="Wingdings" panose="05000000000000000000" pitchFamily="2" charset="2"/>
              <a:buChar char="v"/>
            </a:pPr>
            <a:r>
              <a:rPr lang="en-US" sz="2500" b="1" dirty="0" smtClean="0">
                <a:solidFill>
                  <a:schemeClr val="accent2"/>
                </a:solidFill>
              </a:rPr>
              <a:t> </a:t>
            </a:r>
            <a:r>
              <a:rPr lang="en-US" sz="2500" b="1" dirty="0">
                <a:solidFill>
                  <a:schemeClr val="accent2"/>
                </a:solidFill>
              </a:rPr>
              <a:t>areas where clarification may be required</a:t>
            </a:r>
          </a:p>
          <a:p>
            <a:pPr>
              <a:buFont typeface="Wingdings" panose="05000000000000000000" pitchFamily="2" charset="2"/>
              <a:buChar char="v"/>
            </a:pPr>
            <a:r>
              <a:rPr lang="en-US" sz="2500" b="1" dirty="0" smtClean="0">
                <a:solidFill>
                  <a:schemeClr val="accent2"/>
                </a:solidFill>
              </a:rPr>
              <a:t> </a:t>
            </a:r>
            <a:r>
              <a:rPr lang="en-US" sz="2500" b="1" dirty="0">
                <a:solidFill>
                  <a:schemeClr val="accent2"/>
                </a:solidFill>
              </a:rPr>
              <a:t>missing information</a:t>
            </a:r>
          </a:p>
          <a:p>
            <a:pPr>
              <a:buFont typeface="Wingdings" panose="05000000000000000000" pitchFamily="2" charset="2"/>
              <a:buChar char="v"/>
            </a:pPr>
            <a:r>
              <a:rPr lang="en-US" sz="2500" b="1" dirty="0" smtClean="0">
                <a:solidFill>
                  <a:schemeClr val="accent2"/>
                </a:solidFill>
              </a:rPr>
              <a:t>inconsistencies </a:t>
            </a:r>
            <a:r>
              <a:rPr lang="en-US" sz="2500" b="1" dirty="0">
                <a:solidFill>
                  <a:schemeClr val="accent2"/>
                </a:solidFill>
              </a:rPr>
              <a:t>(a major problem when large products or systems are engineered)</a:t>
            </a:r>
          </a:p>
          <a:p>
            <a:pPr>
              <a:buFont typeface="Wingdings" panose="05000000000000000000" pitchFamily="2" charset="2"/>
              <a:buChar char="v"/>
            </a:pPr>
            <a:r>
              <a:rPr lang="en-US" sz="2500" b="1" dirty="0" smtClean="0">
                <a:solidFill>
                  <a:schemeClr val="accent2"/>
                </a:solidFill>
              </a:rPr>
              <a:t> </a:t>
            </a:r>
            <a:r>
              <a:rPr lang="en-US" sz="2500" b="1" dirty="0">
                <a:solidFill>
                  <a:schemeClr val="accent2"/>
                </a:solidFill>
              </a:rPr>
              <a:t>conflicting or unrealistic (unachievable) requirements</a:t>
            </a:r>
          </a:p>
        </p:txBody>
      </p:sp>
    </p:spTree>
    <p:extLst>
      <p:ext uri="{BB962C8B-B14F-4D97-AF65-F5344CB8AC3E}">
        <p14:creationId xmlns:p14="http://schemas.microsoft.com/office/powerpoint/2010/main" xmlns="" val="369011382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Requirement management</a:t>
            </a:r>
            <a:endParaRPr lang="en-US" b="1" dirty="0"/>
          </a:p>
        </p:txBody>
      </p:sp>
      <p:sp>
        <p:nvSpPr>
          <p:cNvPr id="3" name="Content Placeholder 2"/>
          <p:cNvSpPr>
            <a:spLocks noGrp="1"/>
          </p:cNvSpPr>
          <p:nvPr>
            <p:ph idx="1"/>
          </p:nvPr>
        </p:nvSpPr>
        <p:spPr>
          <a:xfrm>
            <a:off x="457200" y="1600200"/>
            <a:ext cx="8228965" cy="2894965"/>
          </a:xfrm>
        </p:spPr>
        <p:txBody>
          <a:bodyPr>
            <a:noAutofit/>
          </a:bodyPr>
          <a:lstStyle/>
          <a:p>
            <a:pPr marL="114300" indent="0" algn="just">
              <a:lnSpc>
                <a:spcPct val="160000"/>
              </a:lnSpc>
              <a:buNone/>
            </a:pPr>
            <a:r>
              <a:rPr lang="en-US" sz="2800" dirty="0" smtClean="0"/>
              <a:t>	</a:t>
            </a:r>
            <a:r>
              <a:rPr lang="en-US" sz="2400" dirty="0" smtClean="0"/>
              <a:t>It is a</a:t>
            </a:r>
            <a:r>
              <a:rPr lang="en-US" sz="2400" b="1" dirty="0" smtClean="0">
                <a:solidFill>
                  <a:schemeClr val="accent2"/>
                </a:solidFill>
              </a:rPr>
              <a:t> set of activities</a:t>
            </a:r>
            <a:r>
              <a:rPr lang="en-US" sz="2400" dirty="0" smtClean="0"/>
              <a:t> that help the </a:t>
            </a:r>
            <a:r>
              <a:rPr lang="en-US" sz="2400" b="1" dirty="0" smtClean="0">
                <a:solidFill>
                  <a:srgbClr val="00B0F0"/>
                </a:solidFill>
              </a:rPr>
              <a:t>project team identify, control and track the requirements</a:t>
            </a:r>
            <a:r>
              <a:rPr lang="en-US" sz="2400" dirty="0" smtClean="0"/>
              <a:t> and changes to requirement at any time as the project proceeds</a:t>
            </a:r>
            <a:endParaRPr lang="en-US" sz="2400" dirty="0"/>
          </a:p>
        </p:txBody>
      </p:sp>
    </p:spTree>
    <p:extLst>
      <p:ext uri="{BB962C8B-B14F-4D97-AF65-F5344CB8AC3E}">
        <p14:creationId xmlns:p14="http://schemas.microsoft.com/office/powerpoint/2010/main" xmlns="" val="192242868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5883"/>
            <a:ext cx="8229600" cy="1143000"/>
          </a:xfrm>
        </p:spPr>
        <p:txBody>
          <a:bodyPr/>
          <a:lstStyle/>
          <a:p>
            <a:r>
              <a:rPr lang="en-US" b="1"/>
              <a:t>Requirement Modeling</a:t>
            </a:r>
          </a:p>
        </p:txBody>
      </p:sp>
      <p:sp>
        <p:nvSpPr>
          <p:cNvPr id="3" name="Content Placeholder 2"/>
          <p:cNvSpPr>
            <a:spLocks noGrp="1"/>
          </p:cNvSpPr>
          <p:nvPr>
            <p:ph idx="1"/>
          </p:nvPr>
        </p:nvSpPr>
        <p:spPr/>
        <p:txBody>
          <a:bodyPr>
            <a:normAutofit/>
          </a:bodyPr>
          <a:lstStyle/>
          <a:p>
            <a:pPr algn="just"/>
            <a:r>
              <a:rPr lang="en-US"/>
              <a:t>It is the process of Identifying a requirement the software solution must met in order to be successful.</a:t>
            </a:r>
          </a:p>
          <a:p>
            <a:pPr algn="just"/>
            <a:r>
              <a:rPr lang="en-US"/>
              <a:t>It is divided into several stages</a:t>
            </a:r>
          </a:p>
          <a:p>
            <a:pPr lvl="1" algn="just"/>
            <a:r>
              <a:rPr lang="en-US" b="1">
                <a:solidFill>
                  <a:srgbClr val="00B0F0"/>
                </a:solidFill>
              </a:rPr>
              <a:t>Scenario Based Modeling</a:t>
            </a:r>
          </a:p>
          <a:p>
            <a:pPr lvl="1" algn="just"/>
            <a:r>
              <a:rPr lang="en-US" b="1">
                <a:solidFill>
                  <a:srgbClr val="00B0F0"/>
                </a:solidFill>
              </a:rPr>
              <a:t>Flow Oriented Modeling</a:t>
            </a:r>
          </a:p>
          <a:p>
            <a:pPr lvl="1" algn="just"/>
            <a:r>
              <a:rPr lang="en-US" b="1">
                <a:solidFill>
                  <a:srgbClr val="00B0F0"/>
                </a:solidFill>
              </a:rPr>
              <a:t>Class Based Modeling</a:t>
            </a:r>
          </a:p>
          <a:p>
            <a:pPr lvl="1" algn="just"/>
            <a:r>
              <a:rPr lang="en-US" b="1">
                <a:solidFill>
                  <a:srgbClr val="00B0F0"/>
                </a:solidFill>
              </a:rPr>
              <a:t>Behavioral Modeling</a:t>
            </a:r>
          </a:p>
        </p:txBody>
      </p:sp>
    </p:spTree>
    <p:extLst>
      <p:ext uri="{BB962C8B-B14F-4D97-AF65-F5344CB8AC3E}">
        <p14:creationId xmlns:p14="http://schemas.microsoft.com/office/powerpoint/2010/main" xmlns="" val="89500969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s"/>
          <p:cNvPicPr>
            <a:picLocks noGrp="1" noChangeAspect="1"/>
          </p:cNvPicPr>
          <p:nvPr>
            <p:ph idx="1"/>
          </p:nvPr>
        </p:nvPicPr>
        <p:blipFill>
          <a:blip r:embed="rId2"/>
          <a:stretch>
            <a:fillRect/>
          </a:stretch>
        </p:blipFill>
        <p:spPr>
          <a:xfrm>
            <a:off x="1010920" y="136525"/>
            <a:ext cx="7052945" cy="6470015"/>
          </a:xfrm>
          <a:prstGeom prst="rect">
            <a:avLst/>
          </a:prstGeom>
        </p:spPr>
      </p:pic>
    </p:spTree>
    <p:extLst>
      <p:ext uri="{BB962C8B-B14F-4D97-AF65-F5344CB8AC3E}">
        <p14:creationId xmlns:p14="http://schemas.microsoft.com/office/powerpoint/2010/main" xmlns="" val="102683461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850900"/>
          </a:xfrm>
        </p:spPr>
        <p:txBody>
          <a:bodyPr/>
          <a:lstStyle/>
          <a:p>
            <a:r>
              <a:rPr lang="en-US" b="1"/>
              <a:t>Scenario Based Modeling</a:t>
            </a:r>
          </a:p>
        </p:txBody>
      </p:sp>
      <p:sp>
        <p:nvSpPr>
          <p:cNvPr id="3" name="Content Placeholder 2"/>
          <p:cNvSpPr>
            <a:spLocks noGrp="1"/>
          </p:cNvSpPr>
          <p:nvPr>
            <p:ph idx="1"/>
          </p:nvPr>
        </p:nvSpPr>
        <p:spPr>
          <a:xfrm>
            <a:off x="202565" y="806450"/>
            <a:ext cx="8758555" cy="5883910"/>
          </a:xfrm>
        </p:spPr>
        <p:txBody>
          <a:bodyPr>
            <a:noAutofit/>
          </a:bodyPr>
          <a:lstStyle/>
          <a:p>
            <a:pPr algn="just"/>
            <a:r>
              <a:rPr lang="en-US" sz="2600"/>
              <a:t>Invented by </a:t>
            </a:r>
            <a:r>
              <a:rPr lang="en-US" sz="2600" b="1">
                <a:solidFill>
                  <a:srgbClr val="7030A0"/>
                </a:solidFill>
              </a:rPr>
              <a:t>Ivan Jacobson</a:t>
            </a:r>
            <a:r>
              <a:rPr lang="en-US" sz="2600"/>
              <a:t>.</a:t>
            </a:r>
          </a:p>
          <a:p>
            <a:pPr algn="just"/>
            <a:r>
              <a:rPr lang="en-US" sz="2600"/>
              <a:t>Modeling means </a:t>
            </a:r>
            <a:r>
              <a:rPr lang="en-US" sz="2600" b="1">
                <a:solidFill>
                  <a:srgbClr val="00B050"/>
                </a:solidFill>
              </a:rPr>
              <a:t>producing Diagrams</a:t>
            </a:r>
            <a:r>
              <a:rPr lang="en-US" sz="2600"/>
              <a:t>.</a:t>
            </a:r>
          </a:p>
          <a:p>
            <a:pPr algn="just"/>
            <a:r>
              <a:rPr lang="en-US" sz="2600"/>
              <a:t>It can be drawn by UML (Unified Modeling Language)</a:t>
            </a:r>
          </a:p>
          <a:p>
            <a:pPr algn="just"/>
            <a:r>
              <a:rPr lang="en-US" sz="2600"/>
              <a:t>Scenario based Modeling are represented in </a:t>
            </a:r>
            <a:r>
              <a:rPr lang="en-US" sz="2600" b="1">
                <a:solidFill>
                  <a:srgbClr val="00B050"/>
                </a:solidFill>
              </a:rPr>
              <a:t>uses or Activity diagrams.</a:t>
            </a:r>
          </a:p>
          <a:p>
            <a:pPr algn="just"/>
            <a:r>
              <a:rPr lang="en-US" sz="2600" b="1">
                <a:solidFill>
                  <a:srgbClr val="FF0000"/>
                </a:solidFill>
              </a:rPr>
              <a:t>Use cases</a:t>
            </a:r>
            <a:r>
              <a:rPr lang="en-US" sz="2600"/>
              <a:t> are simply an aid to defining what exists outside the system (actors) and what should be performed by the system.</a:t>
            </a:r>
          </a:p>
          <a:p>
            <a:pPr algn="just"/>
            <a:r>
              <a:rPr lang="en-US" sz="2600"/>
              <a:t>It identifies the </a:t>
            </a:r>
            <a:r>
              <a:rPr lang="en-US" sz="2600" b="1">
                <a:solidFill>
                  <a:schemeClr val="tx2">
                    <a:lumMod val="60000"/>
                    <a:lumOff val="40000"/>
                  </a:schemeClr>
                </a:solidFill>
              </a:rPr>
              <a:t>possible use cases</a:t>
            </a:r>
            <a:r>
              <a:rPr lang="en-US" sz="2600"/>
              <a:t> for the system and produces the use case diagrams.</a:t>
            </a:r>
          </a:p>
          <a:p>
            <a:pPr algn="just"/>
            <a:r>
              <a:rPr lang="en-US" sz="2600"/>
              <a:t>A scenario that describes a thread of usage for a system.</a:t>
            </a:r>
          </a:p>
          <a:p>
            <a:pPr algn="just"/>
            <a:r>
              <a:rPr lang="en-US" sz="2600" b="1">
                <a:solidFill>
                  <a:srgbClr val="FF0000"/>
                </a:solidFill>
              </a:rPr>
              <a:t>Actor represents roles</a:t>
            </a:r>
            <a:r>
              <a:rPr lang="en-US" sz="2600"/>
              <a:t> of people or device in system functions.</a:t>
            </a:r>
          </a:p>
        </p:txBody>
      </p:sp>
    </p:spTree>
    <p:extLst>
      <p:ext uri="{BB962C8B-B14F-4D97-AF65-F5344CB8AC3E}">
        <p14:creationId xmlns:p14="http://schemas.microsoft.com/office/powerpoint/2010/main" xmlns="" val="31382613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
            <a:ext cx="8229600" cy="855980"/>
          </a:xfrm>
        </p:spPr>
        <p:txBody>
          <a:bodyPr>
            <a:normAutofit/>
          </a:bodyPr>
          <a:lstStyle/>
          <a:p>
            <a:r>
              <a:rPr lang="en-US" b="1">
                <a:sym typeface="+mn-ea"/>
              </a:rPr>
              <a:t>Scenario Based Modeling</a:t>
            </a:r>
            <a:endParaRPr lang="en-US" b="1"/>
          </a:p>
        </p:txBody>
      </p:sp>
      <p:sp>
        <p:nvSpPr>
          <p:cNvPr id="3" name="Content Placeholder 2"/>
          <p:cNvSpPr>
            <a:spLocks noGrp="1"/>
          </p:cNvSpPr>
          <p:nvPr>
            <p:ph idx="1"/>
          </p:nvPr>
        </p:nvSpPr>
        <p:spPr>
          <a:xfrm>
            <a:off x="278765" y="768985"/>
            <a:ext cx="8682355" cy="5981065"/>
          </a:xfrm>
        </p:spPr>
        <p:txBody>
          <a:bodyPr>
            <a:noAutofit/>
          </a:bodyPr>
          <a:lstStyle/>
          <a:p>
            <a:pPr marL="114300" indent="0" algn="just">
              <a:buNone/>
            </a:pPr>
            <a:r>
              <a:rPr lang="en-US" sz="2400" b="1" i="1" dirty="0" smtClean="0">
                <a:sym typeface="+mn-ea"/>
              </a:rPr>
              <a:t>Use case:</a:t>
            </a:r>
            <a:endParaRPr lang="en-US" sz="2400" b="1" i="1" dirty="0" smtClean="0"/>
          </a:p>
          <a:p>
            <a:pPr marL="114300" indent="0" algn="just">
              <a:buNone/>
            </a:pPr>
            <a:r>
              <a:rPr lang="en-US" sz="2400" b="1" i="1" dirty="0">
                <a:sym typeface="+mn-ea"/>
              </a:rPr>
              <a:t>	</a:t>
            </a:r>
            <a:r>
              <a:rPr lang="en-US" sz="2400" b="1" dirty="0" smtClean="0">
                <a:solidFill>
                  <a:srgbClr val="FF0000"/>
                </a:solidFill>
                <a:sym typeface="+mn-ea"/>
              </a:rPr>
              <a:t>Creating a Preliminary Use Case</a:t>
            </a:r>
          </a:p>
          <a:p>
            <a:pPr marL="114300" indent="0" algn="just">
              <a:lnSpc>
                <a:spcPct val="100000"/>
              </a:lnSpc>
              <a:buFont typeface="+mj-lt"/>
              <a:buNone/>
            </a:pPr>
            <a:r>
              <a:rPr lang="en-US" sz="2400" dirty="0" smtClean="0">
                <a:sym typeface="+mn-ea"/>
              </a:rPr>
              <a:t>	What to write about,</a:t>
            </a:r>
            <a:endParaRPr lang="en-US" sz="2400" dirty="0" smtClean="0"/>
          </a:p>
          <a:p>
            <a:pPr marL="114300" indent="0" algn="just">
              <a:lnSpc>
                <a:spcPct val="100000"/>
              </a:lnSpc>
              <a:buFont typeface="+mj-lt"/>
              <a:buNone/>
            </a:pPr>
            <a:r>
              <a:rPr lang="en-US" sz="2400" dirty="0" smtClean="0">
                <a:sym typeface="+mn-ea"/>
              </a:rPr>
              <a:t>	How much to write about it,</a:t>
            </a:r>
            <a:endParaRPr lang="en-US" sz="2400" dirty="0" smtClean="0"/>
          </a:p>
          <a:p>
            <a:pPr marL="114300" indent="0" algn="just">
              <a:lnSpc>
                <a:spcPct val="100000"/>
              </a:lnSpc>
              <a:buFont typeface="+mj-lt"/>
              <a:buNone/>
            </a:pPr>
            <a:r>
              <a:rPr lang="en-US" sz="2400" dirty="0" smtClean="0">
                <a:sym typeface="+mn-ea"/>
              </a:rPr>
              <a:t>	How detailed to make your description and </a:t>
            </a:r>
            <a:endParaRPr lang="en-US" sz="2400" dirty="0" smtClean="0"/>
          </a:p>
          <a:p>
            <a:pPr marL="114300" indent="0" algn="just">
              <a:lnSpc>
                <a:spcPct val="100000"/>
              </a:lnSpc>
              <a:buFont typeface="+mj-lt"/>
              <a:buNone/>
            </a:pPr>
            <a:r>
              <a:rPr lang="en-US" sz="2400" dirty="0" smtClean="0">
                <a:sym typeface="+mn-ea"/>
              </a:rPr>
              <a:t>	How to organize the description?</a:t>
            </a:r>
            <a:endParaRPr lang="en-US" sz="2400" dirty="0" smtClean="0"/>
          </a:p>
          <a:p>
            <a:pPr marL="114300" indent="0" algn="just">
              <a:buNone/>
            </a:pPr>
            <a:r>
              <a:rPr lang="en-US" sz="2400" dirty="0">
                <a:sym typeface="+mn-ea"/>
              </a:rPr>
              <a:t>	</a:t>
            </a:r>
            <a:r>
              <a:rPr lang="en-US" sz="2400" b="1" dirty="0" smtClean="0">
                <a:solidFill>
                  <a:srgbClr val="FF0000"/>
                </a:solidFill>
                <a:sym typeface="+mn-ea"/>
              </a:rPr>
              <a:t>Refining </a:t>
            </a:r>
            <a:r>
              <a:rPr lang="en-US" sz="2400" b="1" dirty="0">
                <a:solidFill>
                  <a:srgbClr val="FF0000"/>
                </a:solidFill>
                <a:sym typeface="+mn-ea"/>
              </a:rPr>
              <a:t>a Preliminary Use Case</a:t>
            </a:r>
          </a:p>
          <a:p>
            <a:pPr marL="114300" indent="0" algn="just">
              <a:buFont typeface="+mj-lt"/>
              <a:buNone/>
            </a:pPr>
            <a:r>
              <a:rPr lang="en-US" sz="2400" dirty="0" smtClean="0">
                <a:sym typeface="+mn-ea"/>
              </a:rPr>
              <a:t>	Can </a:t>
            </a:r>
            <a:r>
              <a:rPr lang="en-US" sz="2400" dirty="0">
                <a:sym typeface="+mn-ea"/>
              </a:rPr>
              <a:t>the actor take some other action at this point</a:t>
            </a:r>
            <a:r>
              <a:rPr lang="en-US" sz="2400" dirty="0" smtClean="0">
                <a:sym typeface="+mn-ea"/>
              </a:rPr>
              <a:t>?</a:t>
            </a:r>
            <a:endParaRPr lang="en-US" sz="2400" dirty="0" smtClean="0"/>
          </a:p>
          <a:p>
            <a:pPr marL="114300" indent="0" algn="just">
              <a:buFont typeface="+mj-lt"/>
              <a:buNone/>
            </a:pPr>
            <a:r>
              <a:rPr lang="en-US" sz="2400" dirty="0" smtClean="0">
                <a:sym typeface="+mn-ea"/>
              </a:rPr>
              <a:t>	Is </a:t>
            </a:r>
            <a:r>
              <a:rPr lang="en-US" sz="2400" dirty="0">
                <a:sym typeface="+mn-ea"/>
              </a:rPr>
              <a:t>it possible that the actor will encounter an error condition 	at  </a:t>
            </a:r>
            <a:r>
              <a:rPr lang="en-US" sz="2400" dirty="0" smtClean="0">
                <a:sym typeface="+mn-ea"/>
              </a:rPr>
              <a:t>some </a:t>
            </a:r>
            <a:r>
              <a:rPr lang="en-US" sz="2400" dirty="0">
                <a:sym typeface="+mn-ea"/>
              </a:rPr>
              <a:t>point? If so, what</a:t>
            </a:r>
            <a:r>
              <a:rPr lang="en-US" sz="2400" dirty="0" smtClean="0">
                <a:sym typeface="+mn-ea"/>
              </a:rPr>
              <a:t>?</a:t>
            </a:r>
            <a:endParaRPr lang="en-US" sz="2400" dirty="0" smtClean="0"/>
          </a:p>
          <a:p>
            <a:pPr marL="114300" indent="0" algn="just">
              <a:buFont typeface="+mj-lt"/>
              <a:buNone/>
            </a:pPr>
            <a:r>
              <a:rPr lang="en-US" sz="2400" dirty="0" smtClean="0">
                <a:sym typeface="+mn-ea"/>
              </a:rPr>
              <a:t>	Is </a:t>
            </a:r>
            <a:r>
              <a:rPr lang="en-US" sz="2400" dirty="0">
                <a:sym typeface="+mn-ea"/>
              </a:rPr>
              <a:t>it possible that the actor will encounter some other 	behavior at some point? If so, what? </a:t>
            </a:r>
            <a:endParaRPr lang="en-US" sz="2400" dirty="0"/>
          </a:p>
          <a:p>
            <a:pPr marL="114300" indent="0" algn="just">
              <a:buNone/>
            </a:pPr>
            <a:r>
              <a:rPr lang="en-US" sz="2400" dirty="0" smtClean="0">
                <a:sym typeface="+mn-ea"/>
              </a:rPr>
              <a:t>	</a:t>
            </a:r>
            <a:r>
              <a:rPr lang="en-US" sz="2400" b="1" dirty="0" smtClean="0">
                <a:solidFill>
                  <a:srgbClr val="FF0000"/>
                </a:solidFill>
                <a:sym typeface="+mn-ea"/>
              </a:rPr>
              <a:t>Writing a Formal Use </a:t>
            </a:r>
            <a:r>
              <a:rPr lang="en-US" sz="2400" b="1" dirty="0">
                <a:solidFill>
                  <a:srgbClr val="FF0000"/>
                </a:solidFill>
                <a:sym typeface="+mn-ea"/>
              </a:rPr>
              <a:t>Case</a:t>
            </a:r>
            <a:endParaRPr lang="en-US" sz="2400" b="1" dirty="0">
              <a:solidFill>
                <a:srgbClr val="FF0000"/>
              </a:solidFill>
            </a:endParaRPr>
          </a:p>
          <a:p>
            <a:pPr algn="just"/>
            <a:endParaRPr lang="en-US" sz="2400" b="1" dirty="0">
              <a:solidFill>
                <a:srgbClr val="FF0000"/>
              </a:solidFill>
            </a:endParaRPr>
          </a:p>
        </p:txBody>
      </p:sp>
    </p:spTree>
    <p:extLst>
      <p:ext uri="{BB962C8B-B14F-4D97-AF65-F5344CB8AC3E}">
        <p14:creationId xmlns:p14="http://schemas.microsoft.com/office/powerpoint/2010/main" xmlns="" val="5634325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744585" cy="1143000"/>
          </a:xfrm>
        </p:spPr>
        <p:txBody>
          <a:bodyPr>
            <a:normAutofit fontScale="90000"/>
          </a:bodyPr>
          <a:lstStyle/>
          <a:p>
            <a:r>
              <a:rPr lang="en-US" sz="4000" b="1" dirty="0" smtClean="0">
                <a:sym typeface="+mn-ea"/>
              </a:rPr>
              <a:t>Preliminary use case diagram for safe home </a:t>
            </a:r>
            <a:endParaRPr lang="en-US" b="1"/>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748155" y="1374140"/>
            <a:ext cx="6014720" cy="53282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602964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941705"/>
          </a:xfrm>
        </p:spPr>
        <p:txBody>
          <a:bodyPr/>
          <a:lstStyle/>
          <a:p>
            <a:r>
              <a:rPr lang="en-US" b="1"/>
              <a:t>Usecase Diagram Food ordering</a:t>
            </a:r>
          </a:p>
        </p:txBody>
      </p:sp>
      <p:pic>
        <p:nvPicPr>
          <p:cNvPr id="4" name="Content Placeholder 3" descr="New Doc 2022-09-07 13.27.22_3 (1)"/>
          <p:cNvPicPr>
            <a:picLocks noGrp="1" noChangeAspect="1"/>
          </p:cNvPicPr>
          <p:nvPr>
            <p:ph idx="1"/>
          </p:nvPr>
        </p:nvPicPr>
        <p:blipFill>
          <a:blip r:embed="rId2"/>
          <a:stretch>
            <a:fillRect/>
          </a:stretch>
        </p:blipFill>
        <p:spPr>
          <a:xfrm>
            <a:off x="457200" y="1031875"/>
            <a:ext cx="8153400" cy="5506085"/>
          </a:xfrm>
          <a:prstGeom prst="rect">
            <a:avLst/>
          </a:prstGeom>
        </p:spPr>
      </p:pic>
    </p:spTree>
    <p:extLst>
      <p:ext uri="{BB962C8B-B14F-4D97-AF65-F5344CB8AC3E}">
        <p14:creationId xmlns:p14="http://schemas.microsoft.com/office/powerpoint/2010/main" xmlns="" val="10328345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f200b30a3edb38dff3e8ce6389f0ac7b.png"/>
          <p:cNvPicPr>
            <a:picLocks noChangeAspect="1"/>
          </p:cNvPicPr>
          <p:nvPr/>
        </p:nvPicPr>
        <p:blipFill>
          <a:blip r:embed="rId2"/>
          <a:stretch>
            <a:fillRect/>
          </a:stretch>
        </p:blipFill>
        <p:spPr>
          <a:xfrm>
            <a:off x="609600" y="32085"/>
            <a:ext cx="7162800" cy="6636781"/>
          </a:xfrm>
          <a:prstGeom prst="rect">
            <a:avLst/>
          </a:prstGeom>
        </p:spPr>
      </p:pic>
    </p:spTree>
    <p:extLst>
      <p:ext uri="{BB962C8B-B14F-4D97-AF65-F5344CB8AC3E}">
        <p14:creationId xmlns:p14="http://schemas.microsoft.com/office/powerpoint/2010/main" xmlns="" val="18326286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21690"/>
          </a:xfrm>
        </p:spPr>
        <p:txBody>
          <a:bodyPr>
            <a:normAutofit/>
          </a:bodyPr>
          <a:lstStyle/>
          <a:p>
            <a:r>
              <a:rPr lang="en-US" b="1" dirty="0" smtClean="0">
                <a:sym typeface="+mn-ea"/>
              </a:rPr>
              <a:t>Writing a Formal Use case</a:t>
            </a:r>
            <a:endParaRPr lang="en-US" b="1"/>
          </a:p>
        </p:txBody>
      </p:sp>
      <p:pic>
        <p:nvPicPr>
          <p:cNvPr id="2050" name="Picture 2" descr="C:\Users\Administrator\Downloads\WhatsApp Image 2022-08-18 at 10.23.02 AM.jpeg"/>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619125" y="1048385"/>
            <a:ext cx="7948930" cy="564451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403905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nvSpPr>
        <p:spPr>
          <a:xfrm>
            <a:off x="457200" y="330835"/>
            <a:ext cx="7620000" cy="6125845"/>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marL="114300" indent="0" algn="just">
              <a:buNone/>
            </a:pPr>
            <a:endParaRPr lang="en-US" sz="2600" b="1" i="1" dirty="0" smtClean="0"/>
          </a:p>
          <a:p>
            <a:pPr marL="114300" indent="0" algn="just">
              <a:buNone/>
            </a:pPr>
            <a:endParaRPr lang="en-US" sz="2600" b="1" i="1" dirty="0" smtClean="0"/>
          </a:p>
          <a:p>
            <a:pPr marL="114300" indent="0" algn="just">
              <a:buNone/>
            </a:pPr>
            <a:r>
              <a:rPr lang="en-US" sz="2600" b="1" i="1" dirty="0" smtClean="0"/>
              <a:t>Activity Diagram</a:t>
            </a:r>
          </a:p>
          <a:p>
            <a:pPr algn="just">
              <a:buFont typeface="Wingdings" panose="05000000000000000000" pitchFamily="2" charset="2"/>
              <a:buChar char="v"/>
            </a:pPr>
            <a:r>
              <a:rPr lang="en-US" sz="2600" dirty="0" smtClean="0"/>
              <a:t> Graphical </a:t>
            </a:r>
            <a:r>
              <a:rPr lang="en-US" sz="2600" dirty="0"/>
              <a:t>representation of the flow of interaction within a specific scenario</a:t>
            </a:r>
            <a:endParaRPr lang="en-US" sz="2600" b="1" i="1" dirty="0" smtClean="0"/>
          </a:p>
          <a:p>
            <a:pPr algn="just">
              <a:buFont typeface="Wingdings" panose="05000000000000000000" pitchFamily="2" charset="2"/>
              <a:buChar char="v"/>
            </a:pPr>
            <a:r>
              <a:rPr lang="en-US" sz="2600" b="1" dirty="0">
                <a:solidFill>
                  <a:srgbClr val="00B050"/>
                </a:solidFill>
              </a:rPr>
              <a:t>R</a:t>
            </a:r>
            <a:r>
              <a:rPr lang="en-US" sz="2600" b="1" dirty="0" smtClean="0">
                <a:solidFill>
                  <a:srgbClr val="00B050"/>
                </a:solidFill>
              </a:rPr>
              <a:t>ounded </a:t>
            </a:r>
            <a:r>
              <a:rPr lang="en-US" sz="2600" b="1" dirty="0">
                <a:solidFill>
                  <a:srgbClr val="00B050"/>
                </a:solidFill>
              </a:rPr>
              <a:t>rectangles</a:t>
            </a:r>
            <a:r>
              <a:rPr lang="en-US" sz="2600" dirty="0"/>
              <a:t> to imply a specific system function</a:t>
            </a:r>
            <a:r>
              <a:rPr lang="en-US" sz="2600" dirty="0" smtClean="0"/>
              <a:t>,</a:t>
            </a:r>
          </a:p>
          <a:p>
            <a:pPr algn="just">
              <a:buFont typeface="Wingdings" panose="05000000000000000000" pitchFamily="2" charset="2"/>
              <a:buChar char="v"/>
            </a:pPr>
            <a:r>
              <a:rPr lang="en-US" sz="2600" dirty="0" smtClean="0"/>
              <a:t> </a:t>
            </a:r>
            <a:r>
              <a:rPr lang="en-US" sz="2600" b="1" dirty="0" smtClean="0">
                <a:solidFill>
                  <a:srgbClr val="00B050"/>
                </a:solidFill>
              </a:rPr>
              <a:t>Arrows</a:t>
            </a:r>
            <a:r>
              <a:rPr lang="en-US" sz="2600" dirty="0" smtClean="0"/>
              <a:t> </a:t>
            </a:r>
            <a:r>
              <a:rPr lang="en-US" sz="2600" dirty="0"/>
              <a:t>to represent flow through the system, </a:t>
            </a:r>
            <a:endParaRPr lang="en-US" sz="2600" dirty="0" smtClean="0"/>
          </a:p>
          <a:p>
            <a:pPr algn="just">
              <a:buFont typeface="Wingdings" panose="05000000000000000000" pitchFamily="2" charset="2"/>
              <a:buChar char="v"/>
            </a:pPr>
            <a:r>
              <a:rPr lang="en-US" sz="2600" b="1" dirty="0">
                <a:solidFill>
                  <a:srgbClr val="00B050"/>
                </a:solidFill>
              </a:rPr>
              <a:t>D</a:t>
            </a:r>
            <a:r>
              <a:rPr lang="en-US" sz="2600" b="1" dirty="0" smtClean="0">
                <a:solidFill>
                  <a:srgbClr val="00B050"/>
                </a:solidFill>
              </a:rPr>
              <a:t>ecision </a:t>
            </a:r>
            <a:r>
              <a:rPr lang="en-US" sz="2600" b="1" dirty="0">
                <a:solidFill>
                  <a:srgbClr val="00B050"/>
                </a:solidFill>
              </a:rPr>
              <a:t>diamonds</a:t>
            </a:r>
            <a:r>
              <a:rPr lang="en-US" sz="2600" dirty="0"/>
              <a:t> to depict a branching decision and </a:t>
            </a:r>
            <a:endParaRPr lang="en-US" sz="2600" dirty="0" smtClean="0"/>
          </a:p>
          <a:p>
            <a:pPr algn="just">
              <a:buFont typeface="Wingdings" panose="05000000000000000000" pitchFamily="2" charset="2"/>
              <a:buChar char="v"/>
            </a:pPr>
            <a:r>
              <a:rPr lang="en-US" sz="2600" b="1" dirty="0">
                <a:solidFill>
                  <a:srgbClr val="00B050"/>
                </a:solidFill>
              </a:rPr>
              <a:t>S</a:t>
            </a:r>
            <a:r>
              <a:rPr lang="en-US" sz="2600" b="1" dirty="0" smtClean="0">
                <a:solidFill>
                  <a:srgbClr val="00B050"/>
                </a:solidFill>
              </a:rPr>
              <a:t>olid </a:t>
            </a:r>
            <a:r>
              <a:rPr lang="en-US" sz="2600" b="1" dirty="0">
                <a:solidFill>
                  <a:srgbClr val="00B050"/>
                </a:solidFill>
              </a:rPr>
              <a:t>horizontal</a:t>
            </a:r>
            <a:r>
              <a:rPr lang="en-US" sz="2600" dirty="0"/>
              <a:t> lines to indicate that parallel activities are occurring</a:t>
            </a:r>
          </a:p>
        </p:txBody>
      </p:sp>
      <p:sp>
        <p:nvSpPr>
          <p:cNvPr id="2" name="Title 1"/>
          <p:cNvSpPr>
            <a:spLocks noGrp="1"/>
          </p:cNvSpPr>
          <p:nvPr>
            <p:ph type="title"/>
          </p:nvPr>
        </p:nvSpPr>
        <p:spPr>
          <a:xfrm>
            <a:off x="457200" y="22543"/>
            <a:ext cx="8229600" cy="1143000"/>
          </a:xfrm>
        </p:spPr>
        <p:txBody>
          <a:bodyPr>
            <a:normAutofit/>
          </a:bodyPr>
          <a:lstStyle/>
          <a:p>
            <a:r>
              <a:rPr lang="en-US" b="1">
                <a:sym typeface="+mn-ea"/>
              </a:rPr>
              <a:t>Scenario Based Modeling</a:t>
            </a:r>
            <a:endParaRPr lang="en-US" b="1"/>
          </a:p>
        </p:txBody>
      </p:sp>
    </p:spTree>
    <p:extLst>
      <p:ext uri="{BB962C8B-B14F-4D97-AF65-F5344CB8AC3E}">
        <p14:creationId xmlns:p14="http://schemas.microsoft.com/office/powerpoint/2010/main" xmlns="" val="38473649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083"/>
            <a:ext cx="8229600" cy="1143000"/>
          </a:xfrm>
        </p:spPr>
        <p:txBody>
          <a:bodyPr/>
          <a:lstStyle/>
          <a:p>
            <a:r>
              <a:rPr lang="en-US" b="1"/>
              <a:t>Activity Diagram Room Booking</a:t>
            </a:r>
          </a:p>
        </p:txBody>
      </p:sp>
      <p:pic>
        <p:nvPicPr>
          <p:cNvPr id="4" name="Content Placeholder 3" descr="New Doc 2022-09-07 13.27.22_2"/>
          <p:cNvPicPr>
            <a:picLocks noGrp="1" noChangeAspect="1"/>
          </p:cNvPicPr>
          <p:nvPr>
            <p:ph idx="1"/>
          </p:nvPr>
        </p:nvPicPr>
        <p:blipFill>
          <a:blip r:embed="rId2"/>
          <a:stretch>
            <a:fillRect/>
          </a:stretch>
        </p:blipFill>
        <p:spPr>
          <a:xfrm>
            <a:off x="389255" y="1600200"/>
            <a:ext cx="8223885" cy="4923155"/>
          </a:xfrm>
          <a:prstGeom prst="rect">
            <a:avLst/>
          </a:prstGeom>
        </p:spPr>
      </p:pic>
    </p:spTree>
    <p:extLst>
      <p:ext uri="{BB962C8B-B14F-4D97-AF65-F5344CB8AC3E}">
        <p14:creationId xmlns:p14="http://schemas.microsoft.com/office/powerpoint/2010/main" xmlns="" val="264000690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a:t>Activity Diagram</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76200" y="916510"/>
            <a:ext cx="9067800" cy="569828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0202605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083"/>
            <a:ext cx="8229600" cy="1143000"/>
          </a:xfrm>
        </p:spPr>
        <p:txBody>
          <a:bodyPr>
            <a:normAutofit/>
          </a:bodyPr>
          <a:lstStyle/>
          <a:p>
            <a:r>
              <a:rPr lang="en-US" b="1">
                <a:sym typeface="+mn-ea"/>
              </a:rPr>
              <a:t>Scenario Based Modeling</a:t>
            </a:r>
            <a:endParaRPr lang="en-US" b="1"/>
          </a:p>
        </p:txBody>
      </p:sp>
      <p:sp>
        <p:nvSpPr>
          <p:cNvPr id="3" name="Content Placeholder 2"/>
          <p:cNvSpPr>
            <a:spLocks noGrp="1"/>
          </p:cNvSpPr>
          <p:nvPr>
            <p:ph idx="1"/>
          </p:nvPr>
        </p:nvSpPr>
        <p:spPr>
          <a:xfrm>
            <a:off x="304800" y="1219200"/>
            <a:ext cx="8552815" cy="5523230"/>
          </a:xfrm>
        </p:spPr>
        <p:txBody>
          <a:bodyPr>
            <a:normAutofit fontScale="87500" lnSpcReduction="10000"/>
          </a:bodyPr>
          <a:lstStyle/>
          <a:p>
            <a:pPr marL="114300" indent="0" algn="just">
              <a:buNone/>
            </a:pPr>
            <a:r>
              <a:rPr lang="en-US" b="1" i="1" dirty="0" err="1">
                <a:sym typeface="+mn-ea"/>
              </a:rPr>
              <a:t>Swimlane</a:t>
            </a:r>
            <a:r>
              <a:rPr lang="en-US" b="1" i="1" dirty="0">
                <a:sym typeface="+mn-ea"/>
              </a:rPr>
              <a:t> </a:t>
            </a:r>
            <a:r>
              <a:rPr lang="en-US" b="1" i="1" dirty="0" smtClean="0">
                <a:sym typeface="+mn-ea"/>
              </a:rPr>
              <a:t>Diagrams:</a:t>
            </a:r>
            <a:endParaRPr lang="en-US" b="1" i="1" dirty="0" smtClean="0"/>
          </a:p>
          <a:p>
            <a:pPr marL="114300" indent="0" algn="just">
              <a:buNone/>
            </a:pPr>
            <a:endParaRPr lang="en-US" b="1" i="1" dirty="0"/>
          </a:p>
          <a:p>
            <a:pPr algn="just">
              <a:lnSpc>
                <a:spcPct val="150000"/>
              </a:lnSpc>
              <a:buFont typeface="Wingdings" panose="05000000000000000000" pitchFamily="2" charset="2"/>
              <a:buChar char="v"/>
            </a:pPr>
            <a:r>
              <a:rPr lang="en-US" dirty="0" smtClean="0">
                <a:sym typeface="+mn-ea"/>
              </a:rPr>
              <a:t>Represent </a:t>
            </a:r>
            <a:r>
              <a:rPr lang="en-US" dirty="0">
                <a:sym typeface="+mn-ea"/>
              </a:rPr>
              <a:t>the </a:t>
            </a:r>
            <a:r>
              <a:rPr lang="en-US" b="1" dirty="0">
                <a:solidFill>
                  <a:srgbClr val="00B050"/>
                </a:solidFill>
                <a:sym typeface="+mn-ea"/>
              </a:rPr>
              <a:t>flow of activities</a:t>
            </a:r>
            <a:r>
              <a:rPr lang="en-US" dirty="0">
                <a:sym typeface="+mn-ea"/>
              </a:rPr>
              <a:t> described by the use case </a:t>
            </a:r>
            <a:endParaRPr lang="en-US" dirty="0" smtClean="0"/>
          </a:p>
          <a:p>
            <a:pPr algn="just">
              <a:lnSpc>
                <a:spcPct val="150000"/>
              </a:lnSpc>
              <a:buFont typeface="Wingdings" panose="05000000000000000000" pitchFamily="2" charset="2"/>
              <a:buChar char="v"/>
            </a:pPr>
            <a:r>
              <a:rPr lang="en-US" dirty="0" smtClean="0">
                <a:sym typeface="+mn-ea"/>
              </a:rPr>
              <a:t> At </a:t>
            </a:r>
            <a:r>
              <a:rPr lang="en-US" dirty="0">
                <a:sym typeface="+mn-ea"/>
              </a:rPr>
              <a:t>the same time indicate </a:t>
            </a:r>
            <a:r>
              <a:rPr lang="en-US" b="1" dirty="0">
                <a:solidFill>
                  <a:schemeClr val="accent6">
                    <a:lumMod val="75000"/>
                  </a:schemeClr>
                </a:solidFill>
                <a:sym typeface="+mn-ea"/>
              </a:rPr>
              <a:t>which actor or analysis class</a:t>
            </a:r>
            <a:r>
              <a:rPr lang="en-US" dirty="0">
                <a:sym typeface="+mn-ea"/>
              </a:rPr>
              <a:t> has responsibility for the action described by an activity rectangle. </a:t>
            </a:r>
            <a:endParaRPr lang="en-US" dirty="0" smtClean="0"/>
          </a:p>
          <a:p>
            <a:pPr algn="just">
              <a:lnSpc>
                <a:spcPct val="150000"/>
              </a:lnSpc>
              <a:buFont typeface="Wingdings" panose="05000000000000000000" pitchFamily="2" charset="2"/>
              <a:buChar char="v"/>
            </a:pPr>
            <a:r>
              <a:rPr lang="en-US" b="1" dirty="0" smtClean="0">
                <a:solidFill>
                  <a:schemeClr val="accent6">
                    <a:lumMod val="75000"/>
                  </a:schemeClr>
                </a:solidFill>
                <a:sym typeface="+mn-ea"/>
              </a:rPr>
              <a:t>Responsibilities</a:t>
            </a:r>
            <a:r>
              <a:rPr lang="en-US" dirty="0" smtClean="0">
                <a:sym typeface="+mn-ea"/>
              </a:rPr>
              <a:t> </a:t>
            </a:r>
            <a:r>
              <a:rPr lang="en-US" dirty="0">
                <a:sym typeface="+mn-ea"/>
              </a:rPr>
              <a:t>are represented as parallel segments that divide the diagram </a:t>
            </a:r>
            <a:r>
              <a:rPr lang="en-US" b="1" dirty="0">
                <a:solidFill>
                  <a:schemeClr val="accent3"/>
                </a:solidFill>
                <a:sym typeface="+mn-ea"/>
              </a:rPr>
              <a:t>vertically</a:t>
            </a:r>
            <a:endParaRPr lang="en-US" b="1" i="1" dirty="0"/>
          </a:p>
          <a:p>
            <a:pPr algn="just"/>
            <a:endParaRPr lang="en-US"/>
          </a:p>
        </p:txBody>
      </p:sp>
    </p:spTree>
    <p:extLst>
      <p:ext uri="{BB962C8B-B14F-4D97-AF65-F5344CB8AC3E}">
        <p14:creationId xmlns:p14="http://schemas.microsoft.com/office/powerpoint/2010/main" xmlns="" val="80033962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5883"/>
            <a:ext cx="8229600" cy="1143000"/>
          </a:xfrm>
        </p:spPr>
        <p:txBody>
          <a:bodyPr/>
          <a:lstStyle/>
          <a:p>
            <a:r>
              <a:rPr lang="en-US" b="1"/>
              <a:t>Swimlane Diagram </a:t>
            </a:r>
          </a:p>
        </p:txBody>
      </p:sp>
      <p:pic>
        <p:nvPicPr>
          <p:cNvPr id="4" name="Content Placeholder 3" descr="New Doc 2022-09-07 13.27.22_1"/>
          <p:cNvPicPr>
            <a:picLocks noGrp="1" noChangeAspect="1"/>
          </p:cNvPicPr>
          <p:nvPr>
            <p:ph idx="1"/>
          </p:nvPr>
        </p:nvPicPr>
        <p:blipFill>
          <a:blip r:embed="rId2"/>
          <a:stretch>
            <a:fillRect/>
          </a:stretch>
        </p:blipFill>
        <p:spPr>
          <a:xfrm>
            <a:off x="563880" y="1510030"/>
            <a:ext cx="8017510" cy="4999355"/>
          </a:xfrm>
          <a:prstGeom prst="rect">
            <a:avLst/>
          </a:prstGeom>
        </p:spPr>
      </p:pic>
    </p:spTree>
    <p:extLst>
      <p:ext uri="{BB962C8B-B14F-4D97-AF65-F5344CB8AC3E}">
        <p14:creationId xmlns:p14="http://schemas.microsoft.com/office/powerpoint/2010/main" xmlns="" val="38658664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Content Placeholder 3" descr="fe5a927a-5610-4225-a122-e968eaae732f.png"/>
          <p:cNvPicPr>
            <a:picLocks noGrp="1" noChangeAspect="1"/>
          </p:cNvPicPr>
          <p:nvPr>
            <p:ph idx="1"/>
          </p:nvPr>
        </p:nvPicPr>
        <p:blipFill>
          <a:blip r:embed="rId2">
            <a:extLst>
              <a:ext uri="{28A0092B-C50C-407E-A947-70E740481C1C}">
                <a14:useLocalDpi xmlns:a14="http://schemas.microsoft.com/office/drawing/2010/main" xmlns="" val="0"/>
              </a:ext>
            </a:extLst>
          </a:blip>
          <a:srcRect/>
          <a:stretch>
            <a:fillRect/>
          </a:stretch>
        </p:blipFill>
        <p:spPr>
          <a:xfrm>
            <a:off x="1219200" y="92075"/>
            <a:ext cx="7138988" cy="6704013"/>
          </a:xfrm>
        </p:spPr>
      </p:pic>
    </p:spTree>
    <p:extLst>
      <p:ext uri="{BB962C8B-B14F-4D97-AF65-F5344CB8AC3E}">
        <p14:creationId xmlns:p14="http://schemas.microsoft.com/office/powerpoint/2010/main" xmlns="" val="60837250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732862"/>
          </a:xfrm>
        </p:spPr>
        <p:txBody>
          <a:bodyPr>
            <a:normAutofit fontScale="90000"/>
          </a:bodyPr>
          <a:lstStyle/>
          <a:p>
            <a:r>
              <a:rPr lang="en-US" b="1" dirty="0" err="1">
                <a:sym typeface="+mn-ea"/>
              </a:rPr>
              <a:t>Swimlane</a:t>
            </a:r>
            <a:r>
              <a:rPr lang="en-US" b="1" dirty="0">
                <a:sym typeface="+mn-ea"/>
              </a:rPr>
              <a:t> </a:t>
            </a:r>
            <a:r>
              <a:rPr lang="en-US" b="1" dirty="0" smtClean="0">
                <a:sym typeface="+mn-ea"/>
              </a:rPr>
              <a:t>Diagrams</a:t>
            </a:r>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77648" y="884945"/>
            <a:ext cx="9321648" cy="583970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6062938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6775"/>
          </a:xfrm>
        </p:spPr>
        <p:txBody>
          <a:bodyPr>
            <a:normAutofit/>
          </a:bodyPr>
          <a:lstStyle/>
          <a:p>
            <a:r>
              <a:rPr lang="en-US">
                <a:sym typeface="+mn-ea"/>
              </a:rPr>
              <a:t>Class Based Modeling</a:t>
            </a:r>
            <a:endParaRPr lang="en-US"/>
          </a:p>
        </p:txBody>
      </p:sp>
      <p:sp>
        <p:nvSpPr>
          <p:cNvPr id="3" name="Content Placeholder 2"/>
          <p:cNvSpPr>
            <a:spLocks noGrp="1"/>
          </p:cNvSpPr>
          <p:nvPr>
            <p:ph idx="1"/>
          </p:nvPr>
        </p:nvSpPr>
        <p:spPr>
          <a:xfrm>
            <a:off x="228600" y="838200"/>
            <a:ext cx="8687435" cy="5893435"/>
          </a:xfrm>
        </p:spPr>
        <p:txBody>
          <a:bodyPr>
            <a:noAutofit/>
          </a:bodyPr>
          <a:lstStyle/>
          <a:p>
            <a:pPr algn="just"/>
            <a:r>
              <a:rPr lang="en-US" sz="2500"/>
              <a:t>Class-based modeling takes the </a:t>
            </a:r>
            <a:r>
              <a:rPr lang="en-US" sz="2500" b="1">
                <a:solidFill>
                  <a:srgbClr val="7030A0"/>
                </a:solidFill>
              </a:rPr>
              <a:t>use case and extracts from it the classes, attributes, and operations</a:t>
            </a:r>
            <a:r>
              <a:rPr lang="en-US" sz="2500"/>
              <a:t> the application will use. Like all modeling stages, the </a:t>
            </a:r>
            <a:r>
              <a:rPr lang="en-US" sz="2500" b="1">
                <a:solidFill>
                  <a:srgbClr val="00B050"/>
                </a:solidFill>
              </a:rPr>
              <a:t>end result of class-based modeling is most often a diagram or series of diagrams</a:t>
            </a:r>
            <a:r>
              <a:rPr lang="en-US" sz="2500"/>
              <a:t>, most frequently created using UML.</a:t>
            </a:r>
          </a:p>
          <a:p>
            <a:pPr algn="just"/>
            <a:r>
              <a:rPr lang="en-US" sz="2500"/>
              <a:t>Class-based modeling represents the </a:t>
            </a:r>
            <a:r>
              <a:rPr lang="en-US" sz="2500" b="1">
                <a:solidFill>
                  <a:srgbClr val="00B050"/>
                </a:solidFill>
              </a:rPr>
              <a:t>objects </a:t>
            </a:r>
            <a:r>
              <a:rPr lang="en-US" sz="2500"/>
              <a:t>that the system will manipulate, the operations (also called methods or services) that will be applied to the objects to effect the manipulation, relationships (some hierarchical) between the objects, and the collaborations that occur between the classes that are defined. </a:t>
            </a:r>
          </a:p>
          <a:p>
            <a:pPr algn="just"/>
            <a:r>
              <a:rPr lang="en-US" sz="2500"/>
              <a:t>The elements of a class-based model include </a:t>
            </a:r>
            <a:r>
              <a:rPr lang="en-US" sz="2500" b="1">
                <a:solidFill>
                  <a:srgbClr val="FF0000"/>
                </a:solidFill>
              </a:rPr>
              <a:t>classes and objects, attributes, operations, class responsibility-collaborator (CRC) models, collaboration diagrams, and packages.</a:t>
            </a:r>
          </a:p>
        </p:txBody>
      </p:sp>
    </p:spTree>
    <p:extLst>
      <p:ext uri="{BB962C8B-B14F-4D97-AF65-F5344CB8AC3E}">
        <p14:creationId xmlns:p14="http://schemas.microsoft.com/office/powerpoint/2010/main" xmlns="" val="205165719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noChangeAspect="1"/>
          </p:cNvGraphicFramePr>
          <p:nvPr>
            <p:ph idx="1"/>
          </p:nvPr>
        </p:nvGraphicFramePr>
        <p:xfrm>
          <a:off x="335915" y="213995"/>
          <a:ext cx="8459470" cy="6382385"/>
        </p:xfrm>
        <a:graphic>
          <a:graphicData uri="http://schemas.openxmlformats.org/presentationml/2006/ole">
            <p:oleObj spid="_x0000_s33808" r:id="rId3" imgW="8306960" imgH="4447619" progId="PBrush">
              <p:embed/>
            </p:oleObj>
          </a:graphicData>
        </a:graphic>
      </p:graphicFrame>
    </p:spTree>
    <p:extLst>
      <p:ext uri="{BB962C8B-B14F-4D97-AF65-F5344CB8AC3E}">
        <p14:creationId xmlns:p14="http://schemas.microsoft.com/office/powerpoint/2010/main" xmlns="" val="20347001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903605"/>
          </a:xfrm>
        </p:spPr>
        <p:txBody>
          <a:bodyPr>
            <a:normAutofit/>
          </a:bodyPr>
          <a:lstStyle/>
          <a:p>
            <a:r>
              <a:rPr lang="en-US" b="1">
                <a:sym typeface="+mn-ea"/>
              </a:rPr>
              <a:t>Class Based Modeling</a:t>
            </a:r>
            <a:endParaRPr lang="en-US" b="1"/>
          </a:p>
        </p:txBody>
      </p:sp>
      <p:sp>
        <p:nvSpPr>
          <p:cNvPr id="3" name="Content Placeholder 2"/>
          <p:cNvSpPr>
            <a:spLocks noGrp="1"/>
          </p:cNvSpPr>
          <p:nvPr>
            <p:ph idx="1"/>
          </p:nvPr>
        </p:nvSpPr>
        <p:spPr>
          <a:xfrm>
            <a:off x="307340" y="1188720"/>
            <a:ext cx="8379460" cy="5302250"/>
          </a:xfrm>
        </p:spPr>
        <p:txBody>
          <a:bodyPr/>
          <a:lstStyle/>
          <a:p>
            <a:pPr algn="just">
              <a:buFont typeface="Wingdings" panose="05000000000000000000" charset="0"/>
              <a:buChar char="v"/>
            </a:pPr>
            <a:r>
              <a:rPr lang="en-US"/>
              <a:t>Identifying Analysis Classes</a:t>
            </a:r>
          </a:p>
          <a:p>
            <a:pPr algn="just">
              <a:buFont typeface="Wingdings" panose="05000000000000000000" charset="0"/>
              <a:buChar char="v"/>
            </a:pPr>
            <a:r>
              <a:rPr lang="en-US"/>
              <a:t>Specifying Attributes</a:t>
            </a:r>
          </a:p>
          <a:p>
            <a:pPr algn="just">
              <a:buFont typeface="Wingdings" panose="05000000000000000000" charset="0"/>
              <a:buChar char="v"/>
            </a:pPr>
            <a:r>
              <a:rPr lang="en-US"/>
              <a:t>Defining Operations</a:t>
            </a:r>
          </a:p>
          <a:p>
            <a:pPr algn="just">
              <a:buFont typeface="Wingdings" panose="05000000000000000000" charset="0"/>
              <a:buChar char="v"/>
            </a:pPr>
            <a:r>
              <a:rPr lang="en-US"/>
              <a:t>Class Responsibility Collaborator (CRC) Modeling</a:t>
            </a:r>
          </a:p>
          <a:p>
            <a:pPr algn="just">
              <a:buFont typeface="Wingdings" panose="05000000000000000000" charset="0"/>
              <a:buChar char="v"/>
            </a:pPr>
            <a:r>
              <a:rPr lang="en-US"/>
              <a:t>Associations and Dependencies</a:t>
            </a:r>
          </a:p>
          <a:p>
            <a:pPr algn="just">
              <a:buFont typeface="Wingdings" panose="05000000000000000000" charset="0"/>
              <a:buChar char="v"/>
            </a:pPr>
            <a:r>
              <a:rPr lang="en-US"/>
              <a:t>Analysis Packages</a:t>
            </a:r>
          </a:p>
        </p:txBody>
      </p:sp>
    </p:spTree>
    <p:extLst>
      <p:ext uri="{BB962C8B-B14F-4D97-AF65-F5344CB8AC3E}">
        <p14:creationId xmlns:p14="http://schemas.microsoft.com/office/powerpoint/2010/main" xmlns="" val="4650278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83920"/>
          </a:xfrm>
        </p:spPr>
        <p:txBody>
          <a:bodyPr>
            <a:normAutofit/>
          </a:bodyPr>
          <a:lstStyle/>
          <a:p>
            <a:r>
              <a:rPr lang="en-US" b="1">
                <a:sym typeface="+mn-ea"/>
              </a:rPr>
              <a:t>Identifying Analysis Classes</a:t>
            </a:r>
            <a:endParaRPr lang="en-US" b="1"/>
          </a:p>
        </p:txBody>
      </p:sp>
      <p:sp>
        <p:nvSpPr>
          <p:cNvPr id="3" name="Content Placeholder 2"/>
          <p:cNvSpPr>
            <a:spLocks noGrp="1"/>
          </p:cNvSpPr>
          <p:nvPr>
            <p:ph idx="1"/>
          </p:nvPr>
        </p:nvSpPr>
        <p:spPr>
          <a:xfrm>
            <a:off x="457200" y="974725"/>
            <a:ext cx="8229600" cy="5681980"/>
          </a:xfrm>
        </p:spPr>
        <p:txBody>
          <a:bodyPr>
            <a:normAutofit lnSpcReduction="10000"/>
          </a:bodyPr>
          <a:lstStyle/>
          <a:p>
            <a:pPr algn="just"/>
            <a:r>
              <a:rPr lang="en-US"/>
              <a:t>If you look around a room, there is a set of physical objects that can be easily identified,</a:t>
            </a:r>
          </a:p>
          <a:p>
            <a:pPr marL="0" indent="0" algn="just">
              <a:buNone/>
            </a:pPr>
            <a:r>
              <a:rPr lang="en-US"/>
              <a:t>   classified, and defined (in terms of attributes         and operations). </a:t>
            </a:r>
          </a:p>
          <a:p>
            <a:pPr algn="just"/>
            <a:r>
              <a:rPr lang="en-US"/>
              <a:t>But when you</a:t>
            </a:r>
            <a:r>
              <a:rPr lang="en-US" b="1">
                <a:solidFill>
                  <a:srgbClr val="00B050"/>
                </a:solidFill>
              </a:rPr>
              <a:t>“look around”</a:t>
            </a:r>
            <a:r>
              <a:rPr lang="en-US"/>
              <a:t> the problem space of a software application, </a:t>
            </a:r>
            <a:r>
              <a:rPr lang="en-US" b="1">
                <a:solidFill>
                  <a:srgbClr val="00B0F0"/>
                </a:solidFill>
              </a:rPr>
              <a:t>the classes (and objects) may be more difficult to comprehend.</a:t>
            </a:r>
          </a:p>
          <a:p>
            <a:pPr algn="just"/>
            <a:r>
              <a:rPr lang="en-US"/>
              <a:t>We can begin to identify classes by examining the </a:t>
            </a:r>
            <a:r>
              <a:rPr lang="en-US" b="1">
                <a:solidFill>
                  <a:schemeClr val="accent6">
                    <a:lumMod val="75000"/>
                  </a:schemeClr>
                </a:solidFill>
              </a:rPr>
              <a:t>usage scenarios</a:t>
            </a:r>
            <a:r>
              <a:rPr lang="en-US"/>
              <a:t> developed as part of the requirements model</a:t>
            </a:r>
          </a:p>
        </p:txBody>
      </p:sp>
    </p:spTree>
    <p:extLst>
      <p:ext uri="{BB962C8B-B14F-4D97-AF65-F5344CB8AC3E}">
        <p14:creationId xmlns:p14="http://schemas.microsoft.com/office/powerpoint/2010/main" xmlns="" val="295045683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5175"/>
          </a:xfrm>
        </p:spPr>
        <p:txBody>
          <a:bodyPr>
            <a:normAutofit/>
          </a:bodyPr>
          <a:lstStyle/>
          <a:p>
            <a:r>
              <a:rPr lang="en-US" b="1">
                <a:sym typeface="+mn-ea"/>
              </a:rPr>
              <a:t>Identifying Analysis Classes</a:t>
            </a:r>
            <a:endParaRPr lang="en-US" b="1"/>
          </a:p>
        </p:txBody>
      </p:sp>
      <p:sp>
        <p:nvSpPr>
          <p:cNvPr id="3" name="Content Placeholder 2"/>
          <p:cNvSpPr>
            <a:spLocks noGrp="1"/>
          </p:cNvSpPr>
          <p:nvPr>
            <p:ph idx="1"/>
          </p:nvPr>
        </p:nvSpPr>
        <p:spPr>
          <a:xfrm>
            <a:off x="457200" y="960120"/>
            <a:ext cx="8229600" cy="5639435"/>
          </a:xfrm>
        </p:spPr>
        <p:txBody>
          <a:bodyPr>
            <a:noAutofit/>
          </a:bodyPr>
          <a:lstStyle/>
          <a:p>
            <a:pPr marL="0" indent="0" algn="just">
              <a:buNone/>
            </a:pPr>
            <a:r>
              <a:rPr lang="en-US" sz="2100"/>
              <a:t>Analysis classes manifest themselves in one of the following ways:</a:t>
            </a:r>
          </a:p>
          <a:p>
            <a:pPr marL="0" indent="0" algn="just">
              <a:buNone/>
            </a:pPr>
            <a:r>
              <a:rPr lang="en-US" sz="2100"/>
              <a:t>• </a:t>
            </a:r>
            <a:r>
              <a:rPr lang="en-US" sz="2100" b="1">
                <a:solidFill>
                  <a:schemeClr val="accent6">
                    <a:lumMod val="75000"/>
                  </a:schemeClr>
                </a:solidFill>
              </a:rPr>
              <a:t>External entities</a:t>
            </a:r>
            <a:r>
              <a:rPr lang="en-US" sz="2100"/>
              <a:t> (e.g., other systems, devices, people) that produce or consume information to be used by a computer-based system.</a:t>
            </a:r>
          </a:p>
          <a:p>
            <a:pPr marL="0" indent="0" algn="just">
              <a:buNone/>
            </a:pPr>
            <a:r>
              <a:rPr lang="en-US" sz="2100"/>
              <a:t>• </a:t>
            </a:r>
            <a:r>
              <a:rPr lang="en-US" sz="2100" b="1">
                <a:solidFill>
                  <a:schemeClr val="accent6">
                    <a:lumMod val="75000"/>
                  </a:schemeClr>
                </a:solidFill>
              </a:rPr>
              <a:t>Things</a:t>
            </a:r>
            <a:r>
              <a:rPr lang="en-US" sz="2100"/>
              <a:t> (e.g., reports, displays, letters, signals) that are part of the information domain for the problem.</a:t>
            </a:r>
          </a:p>
          <a:p>
            <a:pPr marL="0" indent="0" algn="just">
              <a:buNone/>
            </a:pPr>
            <a:r>
              <a:rPr lang="en-US" sz="2100"/>
              <a:t>• </a:t>
            </a:r>
            <a:r>
              <a:rPr lang="en-US" sz="2100" b="1">
                <a:solidFill>
                  <a:schemeClr val="accent6">
                    <a:lumMod val="75000"/>
                  </a:schemeClr>
                </a:solidFill>
              </a:rPr>
              <a:t>Occurrences or events</a:t>
            </a:r>
            <a:r>
              <a:rPr lang="en-US" sz="2100"/>
              <a:t> (e.g., a property transfer or the completion of a series of robot movements) that occur within the context of system operation.</a:t>
            </a:r>
          </a:p>
          <a:p>
            <a:pPr marL="0" indent="0" algn="just">
              <a:buNone/>
            </a:pPr>
            <a:r>
              <a:rPr lang="en-US" sz="2100"/>
              <a:t>• </a:t>
            </a:r>
            <a:r>
              <a:rPr lang="en-US" sz="2100" b="1">
                <a:solidFill>
                  <a:schemeClr val="accent6">
                    <a:lumMod val="75000"/>
                  </a:schemeClr>
                </a:solidFill>
              </a:rPr>
              <a:t>Roles</a:t>
            </a:r>
            <a:r>
              <a:rPr lang="en-US" sz="2100"/>
              <a:t> (e.g., manager, engineer, salesperson) played by people who interact with the system.</a:t>
            </a:r>
          </a:p>
          <a:p>
            <a:pPr marL="0" indent="0" algn="just">
              <a:buNone/>
            </a:pPr>
            <a:r>
              <a:rPr lang="en-US" sz="2100"/>
              <a:t>• </a:t>
            </a:r>
            <a:r>
              <a:rPr lang="en-US" sz="2100" b="1">
                <a:solidFill>
                  <a:schemeClr val="accent6">
                    <a:lumMod val="75000"/>
                  </a:schemeClr>
                </a:solidFill>
              </a:rPr>
              <a:t>Organizational units </a:t>
            </a:r>
            <a:r>
              <a:rPr lang="en-US" sz="2100"/>
              <a:t>(e.g., division, group, team) that are relevant to an application.</a:t>
            </a:r>
          </a:p>
          <a:p>
            <a:pPr marL="0" indent="0" algn="just">
              <a:buNone/>
            </a:pPr>
            <a:r>
              <a:rPr lang="en-US" sz="2100"/>
              <a:t>• </a:t>
            </a:r>
            <a:r>
              <a:rPr lang="en-US" sz="2100" b="1">
                <a:solidFill>
                  <a:schemeClr val="accent6">
                    <a:lumMod val="75000"/>
                  </a:schemeClr>
                </a:solidFill>
              </a:rPr>
              <a:t>Places</a:t>
            </a:r>
            <a:r>
              <a:rPr lang="en-US" sz="2100"/>
              <a:t> (e.g., manufacturing floor or loading dock) that establish the context of the problem and the overall function of the system.</a:t>
            </a:r>
          </a:p>
          <a:p>
            <a:pPr marL="0" indent="0" algn="just">
              <a:buNone/>
            </a:pPr>
            <a:r>
              <a:rPr lang="en-US" sz="2100"/>
              <a:t>• </a:t>
            </a:r>
            <a:r>
              <a:rPr lang="en-US" sz="2100" b="1">
                <a:solidFill>
                  <a:schemeClr val="accent6">
                    <a:lumMod val="75000"/>
                  </a:schemeClr>
                </a:solidFill>
              </a:rPr>
              <a:t>Structures </a:t>
            </a:r>
            <a:r>
              <a:rPr lang="en-US" sz="2100"/>
              <a:t>(e.g., sensors, four-wheeled vehicles, or computers) that define a class of objects or related classes of objects.</a:t>
            </a:r>
          </a:p>
        </p:txBody>
      </p:sp>
    </p:spTree>
    <p:extLst>
      <p:ext uri="{BB962C8B-B14F-4D97-AF65-F5344CB8AC3E}">
        <p14:creationId xmlns:p14="http://schemas.microsoft.com/office/powerpoint/2010/main" xmlns="" val="26410959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650" y="76200"/>
            <a:ext cx="8229600" cy="669925"/>
          </a:xfrm>
        </p:spPr>
        <p:txBody>
          <a:bodyPr>
            <a:normAutofit fontScale="90000"/>
          </a:bodyPr>
          <a:lstStyle/>
          <a:p>
            <a:r>
              <a:rPr lang="en-US" b="1"/>
              <a:t>Example.,</a:t>
            </a:r>
          </a:p>
        </p:txBody>
      </p:sp>
      <p:sp>
        <p:nvSpPr>
          <p:cNvPr id="3" name="Content Placeholder 2"/>
          <p:cNvSpPr>
            <a:spLocks noGrp="1"/>
          </p:cNvSpPr>
          <p:nvPr>
            <p:ph sz="half" idx="1"/>
          </p:nvPr>
        </p:nvSpPr>
        <p:spPr>
          <a:xfrm>
            <a:off x="457200" y="843280"/>
            <a:ext cx="8317865" cy="5833110"/>
          </a:xfrm>
        </p:spPr>
        <p:txBody>
          <a:bodyPr/>
          <a:lstStyle/>
          <a:p>
            <a:pPr marL="0" indent="0" algn="just">
              <a:buNone/>
            </a:pPr>
            <a:r>
              <a:rPr lang="en-US"/>
              <a:t>The </a:t>
            </a:r>
            <a:r>
              <a:rPr lang="en-US" b="1">
                <a:solidFill>
                  <a:schemeClr val="accent3"/>
                </a:solidFill>
              </a:rPr>
              <a:t>SafeHome security</a:t>
            </a:r>
            <a:r>
              <a:rPr lang="en-US"/>
              <a:t> function enables the homeowner to configure the security system when it is installed, monitors all sensors connected to the security system, and interacts with the homeowner through the Internet, a PC, or a control panel.</a:t>
            </a:r>
          </a:p>
        </p:txBody>
      </p:sp>
      <p:graphicFrame>
        <p:nvGraphicFramePr>
          <p:cNvPr id="4" name="Content Placeholder 3"/>
          <p:cNvGraphicFramePr>
            <a:graphicFrameLocks noGrp="1"/>
          </p:cNvGraphicFramePr>
          <p:nvPr>
            <p:ph sz="half" idx="2"/>
          </p:nvPr>
        </p:nvGraphicFramePr>
        <p:xfrm>
          <a:off x="685800" y="3151505"/>
          <a:ext cx="7661910" cy="3540760"/>
        </p:xfrm>
        <a:graphic>
          <a:graphicData uri="http://schemas.openxmlformats.org/presentationml/2006/ole">
            <p:oleObj spid="_x0000_s34832" r:id="rId3" imgW="4563112" imgH="3486637" progId="PBrush">
              <p:embed/>
            </p:oleObj>
          </a:graphicData>
        </a:graphic>
      </p:graphicFrame>
    </p:spTree>
    <p:extLst>
      <p:ext uri="{BB962C8B-B14F-4D97-AF65-F5344CB8AC3E}">
        <p14:creationId xmlns:p14="http://schemas.microsoft.com/office/powerpoint/2010/main" xmlns="" val="356265959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69950"/>
          </a:xfrm>
        </p:spPr>
        <p:txBody>
          <a:bodyPr/>
          <a:lstStyle/>
          <a:p>
            <a:r>
              <a:rPr lang="en-US" b="1"/>
              <a:t>Specifying Attributes</a:t>
            </a:r>
          </a:p>
        </p:txBody>
      </p:sp>
      <p:sp>
        <p:nvSpPr>
          <p:cNvPr id="3" name="Content Placeholder 2"/>
          <p:cNvSpPr>
            <a:spLocks noGrp="1"/>
          </p:cNvSpPr>
          <p:nvPr>
            <p:ph sz="half" idx="1"/>
          </p:nvPr>
        </p:nvSpPr>
        <p:spPr>
          <a:xfrm>
            <a:off x="457200" y="953135"/>
            <a:ext cx="8489315" cy="5690235"/>
          </a:xfrm>
        </p:spPr>
        <p:txBody>
          <a:bodyPr/>
          <a:lstStyle/>
          <a:p>
            <a:pPr algn="just"/>
            <a:r>
              <a:rPr lang="en-US"/>
              <a:t>Attributes are the </a:t>
            </a:r>
            <a:r>
              <a:rPr lang="en-US" b="1">
                <a:solidFill>
                  <a:schemeClr val="accent3"/>
                </a:solidFill>
              </a:rPr>
              <a:t>set of Data Objects</a:t>
            </a:r>
            <a:r>
              <a:rPr lang="en-US"/>
              <a:t> that fully define the class within the context of the problem.</a:t>
            </a:r>
          </a:p>
          <a:p>
            <a:pPr algn="just"/>
            <a:r>
              <a:rPr lang="en-US"/>
              <a:t>Attributes describes the </a:t>
            </a:r>
            <a:r>
              <a:rPr lang="en-US" b="1">
                <a:solidFill>
                  <a:srgbClr val="FF0000"/>
                </a:solidFill>
              </a:rPr>
              <a:t>class that has been selected for inclusion</a:t>
            </a:r>
            <a:r>
              <a:rPr lang="en-US"/>
              <a:t> in the requirement model.</a:t>
            </a:r>
          </a:p>
          <a:p>
            <a:pPr algn="just"/>
            <a:endParaRPr lang="en-US"/>
          </a:p>
        </p:txBody>
      </p:sp>
      <p:graphicFrame>
        <p:nvGraphicFramePr>
          <p:cNvPr id="5" name="Content Placeholder 4"/>
          <p:cNvGraphicFramePr>
            <a:graphicFrameLocks noGrp="1"/>
          </p:cNvGraphicFramePr>
          <p:nvPr>
            <p:ph sz="half" idx="2"/>
          </p:nvPr>
        </p:nvGraphicFramePr>
        <p:xfrm>
          <a:off x="621665" y="3106420"/>
          <a:ext cx="8075930" cy="3415665"/>
        </p:xfrm>
        <a:graphic>
          <a:graphicData uri="http://schemas.openxmlformats.org/presentationml/2006/ole">
            <p:oleObj spid="_x0000_s35856" r:id="rId3" imgW="6752381" imgH="2314286" progId="PBrush">
              <p:embed/>
            </p:oleObj>
          </a:graphicData>
        </a:graphic>
      </p:graphicFrame>
    </p:spTree>
    <p:extLst>
      <p:ext uri="{BB962C8B-B14F-4D97-AF65-F5344CB8AC3E}">
        <p14:creationId xmlns:p14="http://schemas.microsoft.com/office/powerpoint/2010/main" xmlns="" val="307793991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555" y="29210"/>
            <a:ext cx="8229600" cy="843915"/>
          </a:xfrm>
        </p:spPr>
        <p:txBody>
          <a:bodyPr/>
          <a:lstStyle/>
          <a:p>
            <a:r>
              <a:rPr lang="en-US" b="1"/>
              <a:t>Defining Operations</a:t>
            </a:r>
          </a:p>
        </p:txBody>
      </p:sp>
      <p:sp>
        <p:nvSpPr>
          <p:cNvPr id="3" name="Content Placeholder 2"/>
          <p:cNvSpPr>
            <a:spLocks noGrp="1"/>
          </p:cNvSpPr>
          <p:nvPr>
            <p:ph sz="half" idx="1"/>
          </p:nvPr>
        </p:nvSpPr>
        <p:spPr>
          <a:xfrm>
            <a:off x="292100" y="873125"/>
            <a:ext cx="8663305" cy="5798185"/>
          </a:xfrm>
        </p:spPr>
        <p:txBody>
          <a:bodyPr>
            <a:normAutofit/>
          </a:bodyPr>
          <a:lstStyle/>
          <a:p>
            <a:pPr algn="just"/>
            <a:r>
              <a:rPr lang="en-US"/>
              <a:t>Operations </a:t>
            </a:r>
            <a:r>
              <a:rPr lang="en-US" b="1">
                <a:solidFill>
                  <a:srgbClr val="FF0000"/>
                </a:solidFill>
              </a:rPr>
              <a:t>define the behavior of an object</a:t>
            </a:r>
            <a:r>
              <a:rPr lang="en-US"/>
              <a:t>. Although many different types of operations exist, they can generally be divided into </a:t>
            </a:r>
            <a:r>
              <a:rPr lang="en-US" b="1">
                <a:solidFill>
                  <a:schemeClr val="tx2">
                    <a:lumMod val="60000"/>
                    <a:lumOff val="40000"/>
                  </a:schemeClr>
                </a:solidFill>
              </a:rPr>
              <a:t>four broad categories</a:t>
            </a:r>
            <a:r>
              <a:rPr lang="en-US"/>
              <a:t>: </a:t>
            </a:r>
          </a:p>
          <a:p>
            <a:pPr marL="0" indent="0" algn="just">
              <a:buNone/>
            </a:pPr>
            <a:r>
              <a:rPr lang="en-US"/>
              <a:t>(1) operations that manipulate data in some way (e.g., adding, deleting, reformatting, selecting),</a:t>
            </a:r>
          </a:p>
          <a:p>
            <a:pPr marL="0" indent="0" algn="just">
              <a:buNone/>
            </a:pPr>
            <a:r>
              <a:rPr lang="en-US"/>
              <a:t>(2) operations that perform a </a:t>
            </a:r>
            <a:r>
              <a:rPr lang="en-US" b="1">
                <a:solidFill>
                  <a:schemeClr val="tx2">
                    <a:lumMod val="60000"/>
                    <a:lumOff val="40000"/>
                  </a:schemeClr>
                </a:solidFill>
              </a:rPr>
              <a:t>computation</a:t>
            </a:r>
            <a:r>
              <a:rPr lang="en-US"/>
              <a:t>, </a:t>
            </a:r>
          </a:p>
          <a:p>
            <a:pPr marL="0" indent="0" algn="just">
              <a:buNone/>
            </a:pPr>
            <a:r>
              <a:rPr lang="en-US"/>
              <a:t>(3) operations that inquire about the </a:t>
            </a:r>
            <a:r>
              <a:rPr lang="en-US" b="1">
                <a:solidFill>
                  <a:schemeClr val="tx2">
                    <a:lumMod val="60000"/>
                    <a:lumOff val="40000"/>
                  </a:schemeClr>
                </a:solidFill>
              </a:rPr>
              <a:t>state of an object</a:t>
            </a:r>
            <a:r>
              <a:rPr lang="en-US"/>
              <a:t>, </a:t>
            </a:r>
          </a:p>
          <a:p>
            <a:pPr marL="0" indent="0" algn="just">
              <a:buNone/>
            </a:pPr>
            <a:r>
              <a:rPr lang="en-US"/>
              <a:t>(4) operations that monitor an object for the occurrence of a controlling event.</a:t>
            </a:r>
          </a:p>
          <a:p>
            <a:pPr algn="just"/>
            <a:r>
              <a:rPr lang="en-US"/>
              <a:t>These functions are accomplished by operating on attributes and/or associations</a:t>
            </a:r>
          </a:p>
          <a:p>
            <a:pPr algn="just"/>
            <a:endParaRPr lang="en-US"/>
          </a:p>
        </p:txBody>
      </p:sp>
    </p:spTree>
    <p:extLst>
      <p:ext uri="{BB962C8B-B14F-4D97-AF65-F5344CB8AC3E}">
        <p14:creationId xmlns:p14="http://schemas.microsoft.com/office/powerpoint/2010/main" xmlns="" val="335566640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083"/>
            <a:ext cx="8229600" cy="1143000"/>
          </a:xfrm>
        </p:spPr>
        <p:txBody>
          <a:bodyPr>
            <a:normAutofit/>
          </a:bodyPr>
          <a:lstStyle/>
          <a:p>
            <a:r>
              <a:rPr lang="en-US" b="1">
                <a:sym typeface="+mn-ea"/>
              </a:rPr>
              <a:t>Defining Operations</a:t>
            </a:r>
            <a:endParaRPr lang="en-US" b="1"/>
          </a:p>
        </p:txBody>
      </p:sp>
      <p:graphicFrame>
        <p:nvGraphicFramePr>
          <p:cNvPr id="5" name="Content Placeholder 4"/>
          <p:cNvGraphicFramePr>
            <a:graphicFrameLocks noGrp="1" noChangeAspect="1"/>
          </p:cNvGraphicFramePr>
          <p:nvPr>
            <p:ph sz="half" idx="2"/>
          </p:nvPr>
        </p:nvGraphicFramePr>
        <p:xfrm>
          <a:off x="2431415" y="1392555"/>
          <a:ext cx="3933825" cy="5120005"/>
        </p:xfrm>
        <a:graphic>
          <a:graphicData uri="http://schemas.openxmlformats.org/presentationml/2006/ole">
            <p:oleObj spid="_x0000_s36880" r:id="rId3" imgW="1980952" imgH="2610214" progId="PBrush">
              <p:embed/>
            </p:oleObj>
          </a:graphicData>
        </a:graphic>
      </p:graphicFrame>
    </p:spTree>
    <p:extLst>
      <p:ext uri="{BB962C8B-B14F-4D97-AF65-F5344CB8AC3E}">
        <p14:creationId xmlns:p14="http://schemas.microsoft.com/office/powerpoint/2010/main" xmlns="" val="269205872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285" y="152400"/>
            <a:ext cx="8854440" cy="832485"/>
          </a:xfrm>
        </p:spPr>
        <p:txBody>
          <a:bodyPr>
            <a:normAutofit fontScale="90000"/>
          </a:bodyPr>
          <a:lstStyle/>
          <a:p>
            <a:r>
              <a:rPr lang="en-US" b="1"/>
              <a:t>Class-Responsibility-Collaborator (CRC)</a:t>
            </a:r>
          </a:p>
        </p:txBody>
      </p:sp>
      <p:sp>
        <p:nvSpPr>
          <p:cNvPr id="3" name="Content Placeholder 2"/>
          <p:cNvSpPr>
            <a:spLocks noGrp="1"/>
          </p:cNvSpPr>
          <p:nvPr>
            <p:ph sz="half" idx="1"/>
          </p:nvPr>
        </p:nvSpPr>
        <p:spPr>
          <a:xfrm>
            <a:off x="457200" y="1003300"/>
            <a:ext cx="8218170" cy="5487670"/>
          </a:xfrm>
        </p:spPr>
        <p:txBody>
          <a:bodyPr>
            <a:normAutofit lnSpcReduction="10000"/>
          </a:bodyPr>
          <a:lstStyle/>
          <a:p>
            <a:pPr algn="just"/>
            <a:r>
              <a:rPr lang="en-US"/>
              <a:t>Class-responsibility-collaborator (CRC) modeling [Wir90] provides a simple means for </a:t>
            </a:r>
            <a:r>
              <a:rPr lang="en-US" b="1">
                <a:solidFill>
                  <a:schemeClr val="tx2">
                    <a:lumMod val="60000"/>
                    <a:lumOff val="40000"/>
                  </a:schemeClr>
                </a:solidFill>
              </a:rPr>
              <a:t>identifying and organizing the classes</a:t>
            </a:r>
            <a:r>
              <a:rPr lang="en-US"/>
              <a:t> that are relevant to system or product requirements.</a:t>
            </a:r>
          </a:p>
          <a:p>
            <a:pPr algn="just"/>
            <a:r>
              <a:rPr lang="en-US"/>
              <a:t>Used to identify and organize classes</a:t>
            </a:r>
          </a:p>
          <a:p>
            <a:pPr algn="just"/>
            <a:r>
              <a:rPr lang="en-US"/>
              <a:t> A CRC model is really a </a:t>
            </a:r>
            <a:r>
              <a:rPr lang="en-US" b="1">
                <a:solidFill>
                  <a:srgbClr val="00B050"/>
                </a:solidFill>
              </a:rPr>
              <a:t>collection of standard index cards that represent classes. </a:t>
            </a:r>
          </a:p>
          <a:p>
            <a:pPr algn="just"/>
            <a:r>
              <a:rPr lang="en-US"/>
              <a:t>The cards are divided into </a:t>
            </a:r>
            <a:r>
              <a:rPr lang="en-US" b="1">
                <a:solidFill>
                  <a:srgbClr val="FFC000"/>
                </a:solidFill>
              </a:rPr>
              <a:t>three sections</a:t>
            </a:r>
            <a:r>
              <a:rPr lang="en-US"/>
              <a:t>. Along the </a:t>
            </a:r>
            <a:r>
              <a:rPr lang="en-US" b="1">
                <a:solidFill>
                  <a:srgbClr val="FF0000"/>
                </a:solidFill>
              </a:rPr>
              <a:t>top of the card you write the name of the class</a:t>
            </a:r>
            <a:r>
              <a:rPr lang="en-US"/>
              <a:t>. </a:t>
            </a:r>
          </a:p>
          <a:p>
            <a:pPr algn="just"/>
            <a:r>
              <a:rPr lang="en-US"/>
              <a:t>In the body of the card you list the class </a:t>
            </a:r>
            <a:r>
              <a:rPr lang="en-US" b="1">
                <a:solidFill>
                  <a:srgbClr val="FFC000"/>
                </a:solidFill>
              </a:rPr>
              <a:t>responsibilities on the left</a:t>
            </a:r>
            <a:r>
              <a:rPr lang="en-US"/>
              <a:t> and the </a:t>
            </a:r>
            <a:r>
              <a:rPr lang="en-US" b="1">
                <a:solidFill>
                  <a:srgbClr val="00B050"/>
                </a:solidFill>
              </a:rPr>
              <a:t>collaborators on the right.</a:t>
            </a:r>
          </a:p>
        </p:txBody>
      </p:sp>
    </p:spTree>
    <p:extLst>
      <p:ext uri="{BB962C8B-B14F-4D97-AF65-F5344CB8AC3E}">
        <p14:creationId xmlns:p14="http://schemas.microsoft.com/office/powerpoint/2010/main" xmlns="" val="132252918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 y="274955"/>
            <a:ext cx="8503920" cy="898525"/>
          </a:xfrm>
        </p:spPr>
        <p:txBody>
          <a:bodyPr>
            <a:normAutofit fontScale="90000"/>
          </a:bodyPr>
          <a:lstStyle/>
          <a:p>
            <a:r>
              <a:rPr lang="en-US" b="1">
                <a:sym typeface="+mn-ea"/>
              </a:rPr>
              <a:t>Class-Responsibility-Collaborator (CRC)</a:t>
            </a:r>
            <a:endParaRPr lang="en-US" b="1"/>
          </a:p>
        </p:txBody>
      </p:sp>
      <p:graphicFrame>
        <p:nvGraphicFramePr>
          <p:cNvPr id="5" name="Content Placeholder 4"/>
          <p:cNvGraphicFramePr>
            <a:graphicFrameLocks noGrp="1" noChangeAspect="1"/>
          </p:cNvGraphicFramePr>
          <p:nvPr>
            <p:ph sz="half" idx="1"/>
          </p:nvPr>
        </p:nvGraphicFramePr>
        <p:xfrm>
          <a:off x="556260" y="1524000"/>
          <a:ext cx="8162290" cy="4687570"/>
        </p:xfrm>
        <a:graphic>
          <a:graphicData uri="http://schemas.openxmlformats.org/presentationml/2006/ole">
            <p:oleObj spid="_x0000_s37904" r:id="rId3" imgW="7857143" imgH="2572109" progId="PBrush">
              <p:embed/>
            </p:oleObj>
          </a:graphicData>
        </a:graphic>
      </p:graphicFrame>
    </p:spTree>
    <p:extLst>
      <p:ext uri="{BB962C8B-B14F-4D97-AF65-F5344CB8AC3E}">
        <p14:creationId xmlns:p14="http://schemas.microsoft.com/office/powerpoint/2010/main" xmlns="" val="42552143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150" y="152400"/>
            <a:ext cx="8451850" cy="1143000"/>
          </a:xfrm>
        </p:spPr>
        <p:txBody>
          <a:bodyPr>
            <a:normAutofit fontScale="90000"/>
          </a:bodyPr>
          <a:lstStyle/>
          <a:p>
            <a:r>
              <a:rPr lang="en-US" b="1">
                <a:sym typeface="+mn-ea"/>
              </a:rPr>
              <a:t>Class-Responsibility-Collaborator (CRC)</a:t>
            </a:r>
            <a:endParaRPr lang="en-US" b="1"/>
          </a:p>
        </p:txBody>
      </p:sp>
      <p:graphicFrame>
        <p:nvGraphicFramePr>
          <p:cNvPr id="5" name="Content Placeholder 4"/>
          <p:cNvGraphicFramePr>
            <a:graphicFrameLocks noGrp="1" noChangeAspect="1"/>
          </p:cNvGraphicFramePr>
          <p:nvPr>
            <p:ph sz="half" idx="1"/>
          </p:nvPr>
        </p:nvGraphicFramePr>
        <p:xfrm>
          <a:off x="334645" y="1536700"/>
          <a:ext cx="8343265" cy="4972050"/>
        </p:xfrm>
        <a:graphic>
          <a:graphicData uri="http://schemas.openxmlformats.org/presentationml/2006/ole">
            <p:oleObj spid="_x0000_s38928" r:id="rId3" imgW="5885714" imgH="3438095" progId="PBrush">
              <p:embed/>
            </p:oleObj>
          </a:graphicData>
        </a:graphic>
      </p:graphicFrame>
    </p:spTree>
    <p:extLst>
      <p:ext uri="{BB962C8B-B14F-4D97-AF65-F5344CB8AC3E}">
        <p14:creationId xmlns:p14="http://schemas.microsoft.com/office/powerpoint/2010/main" xmlns="" val="410487194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275" y="274955"/>
            <a:ext cx="8518525" cy="826770"/>
          </a:xfrm>
        </p:spPr>
        <p:txBody>
          <a:bodyPr>
            <a:normAutofit fontScale="90000"/>
          </a:bodyPr>
          <a:lstStyle/>
          <a:p>
            <a:r>
              <a:rPr lang="en-US" b="1">
                <a:sym typeface="+mn-ea"/>
              </a:rPr>
              <a:t>Class-Responsibility-Collaborator (CRC)</a:t>
            </a:r>
            <a:endParaRPr lang="en-US" b="1"/>
          </a:p>
        </p:txBody>
      </p:sp>
      <p:graphicFrame>
        <p:nvGraphicFramePr>
          <p:cNvPr id="5" name="Content Placeholder 4"/>
          <p:cNvGraphicFramePr>
            <a:graphicFrameLocks noGrp="1" noChangeAspect="1"/>
          </p:cNvGraphicFramePr>
          <p:nvPr>
            <p:ph sz="half" idx="1"/>
          </p:nvPr>
        </p:nvGraphicFramePr>
        <p:xfrm>
          <a:off x="354330" y="1280160"/>
          <a:ext cx="8332470" cy="5382260"/>
        </p:xfrm>
        <a:graphic>
          <a:graphicData uri="http://schemas.openxmlformats.org/presentationml/2006/ole">
            <p:oleObj spid="_x0000_s39952" r:id="rId3" imgW="7714286" imgH="4544059" progId="PBrush">
              <p:embed/>
            </p:oleObj>
          </a:graphicData>
        </a:graphic>
      </p:graphicFrame>
    </p:spTree>
    <p:extLst>
      <p:ext uri="{BB962C8B-B14F-4D97-AF65-F5344CB8AC3E}">
        <p14:creationId xmlns:p14="http://schemas.microsoft.com/office/powerpoint/2010/main" xmlns="" val="24344686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275" y="274955"/>
            <a:ext cx="8731250" cy="898525"/>
          </a:xfrm>
        </p:spPr>
        <p:txBody>
          <a:bodyPr>
            <a:normAutofit fontScale="90000"/>
          </a:bodyPr>
          <a:lstStyle/>
          <a:p>
            <a:r>
              <a:rPr lang="en-US" b="1">
                <a:sym typeface="+mn-ea"/>
              </a:rPr>
              <a:t>Class-Responsibility-Collaborator (CRC)</a:t>
            </a:r>
            <a:endParaRPr lang="en-US" b="1"/>
          </a:p>
        </p:txBody>
      </p:sp>
      <p:sp>
        <p:nvSpPr>
          <p:cNvPr id="3" name="Content Placeholder 2"/>
          <p:cNvSpPr>
            <a:spLocks noGrp="1"/>
          </p:cNvSpPr>
          <p:nvPr>
            <p:ph sz="half" idx="1"/>
          </p:nvPr>
        </p:nvSpPr>
        <p:spPr>
          <a:xfrm>
            <a:off x="457200" y="1050925"/>
            <a:ext cx="8155940" cy="5577205"/>
          </a:xfrm>
        </p:spPr>
        <p:txBody>
          <a:bodyPr>
            <a:normAutofit fontScale="97500"/>
          </a:bodyPr>
          <a:lstStyle/>
          <a:p>
            <a:pPr marL="0" indent="0" algn="just">
              <a:buNone/>
            </a:pPr>
            <a:r>
              <a:rPr lang="en-US" b="1">
                <a:solidFill>
                  <a:srgbClr val="FF0000"/>
                </a:solidFill>
              </a:rPr>
              <a:t>Responsibilities</a:t>
            </a:r>
            <a:r>
              <a:rPr lang="en-US"/>
              <a:t>:</a:t>
            </a:r>
          </a:p>
          <a:p>
            <a:pPr marL="0" indent="0" algn="just">
              <a:buNone/>
            </a:pPr>
            <a:r>
              <a:rPr lang="en-US"/>
              <a:t>Five guidelines for allocating responsibilities to classes.</a:t>
            </a:r>
          </a:p>
          <a:p>
            <a:pPr marL="0" indent="0" algn="just">
              <a:buNone/>
            </a:pPr>
            <a:r>
              <a:rPr lang="en-US"/>
              <a:t>1. System intelligence should be </a:t>
            </a:r>
            <a:r>
              <a:rPr lang="en-US" b="1">
                <a:solidFill>
                  <a:srgbClr val="00B050"/>
                </a:solidFill>
              </a:rPr>
              <a:t>distributed across classes</a:t>
            </a:r>
            <a:r>
              <a:rPr lang="en-US"/>
              <a:t> to best address the needs of the problem.</a:t>
            </a:r>
          </a:p>
          <a:p>
            <a:pPr marL="0" indent="0" algn="just">
              <a:buNone/>
            </a:pPr>
            <a:r>
              <a:rPr lang="en-US"/>
              <a:t>2. Each responsibility should be </a:t>
            </a:r>
            <a:r>
              <a:rPr lang="en-US" b="1">
                <a:solidFill>
                  <a:srgbClr val="00B050"/>
                </a:solidFill>
              </a:rPr>
              <a:t>stated as generally as possible.</a:t>
            </a:r>
          </a:p>
          <a:p>
            <a:pPr marL="0" indent="0" algn="just">
              <a:buNone/>
            </a:pPr>
            <a:r>
              <a:rPr lang="en-US"/>
              <a:t>3. </a:t>
            </a:r>
            <a:r>
              <a:rPr lang="en-US" b="1">
                <a:solidFill>
                  <a:srgbClr val="00B050"/>
                </a:solidFill>
              </a:rPr>
              <a:t>Information and the behavior</a:t>
            </a:r>
            <a:r>
              <a:rPr lang="en-US"/>
              <a:t> related to it should reside </a:t>
            </a:r>
            <a:r>
              <a:rPr lang="en-US" b="1">
                <a:solidFill>
                  <a:schemeClr val="accent6">
                    <a:lumMod val="75000"/>
                  </a:schemeClr>
                </a:solidFill>
              </a:rPr>
              <a:t>within the same class</a:t>
            </a:r>
            <a:r>
              <a:rPr lang="en-US"/>
              <a:t>.</a:t>
            </a:r>
          </a:p>
          <a:p>
            <a:pPr marL="0" indent="0" algn="just">
              <a:buNone/>
            </a:pPr>
            <a:r>
              <a:rPr lang="en-US"/>
              <a:t>4. Information about </a:t>
            </a:r>
            <a:r>
              <a:rPr lang="en-US" b="1">
                <a:solidFill>
                  <a:schemeClr val="accent6">
                    <a:lumMod val="75000"/>
                  </a:schemeClr>
                </a:solidFill>
              </a:rPr>
              <a:t>one thing should be localized</a:t>
            </a:r>
            <a:r>
              <a:rPr lang="en-US"/>
              <a:t> with a single class, not distributed across multiple classes.</a:t>
            </a:r>
          </a:p>
          <a:p>
            <a:pPr marL="0" indent="0" algn="just">
              <a:buNone/>
            </a:pPr>
            <a:r>
              <a:rPr lang="en-US"/>
              <a:t>5. Responsibilities </a:t>
            </a:r>
            <a:r>
              <a:rPr lang="en-US" b="1">
                <a:solidFill>
                  <a:srgbClr val="00B0F0"/>
                </a:solidFill>
              </a:rPr>
              <a:t>should be shared among related classes</a:t>
            </a:r>
            <a:r>
              <a:rPr lang="en-US"/>
              <a:t>, when appropriate.</a:t>
            </a:r>
          </a:p>
        </p:txBody>
      </p:sp>
    </p:spTree>
    <p:extLst>
      <p:ext uri="{BB962C8B-B14F-4D97-AF65-F5344CB8AC3E}">
        <p14:creationId xmlns:p14="http://schemas.microsoft.com/office/powerpoint/2010/main" xmlns="" val="35222430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810" y="76200"/>
            <a:ext cx="8716645" cy="950595"/>
          </a:xfrm>
        </p:spPr>
        <p:txBody>
          <a:bodyPr>
            <a:normAutofit fontScale="90000"/>
          </a:bodyPr>
          <a:lstStyle/>
          <a:p>
            <a:r>
              <a:rPr lang="en-US" b="1">
                <a:sym typeface="+mn-ea"/>
              </a:rPr>
              <a:t>Class-Responsibility-Collaborator (CRC)</a:t>
            </a:r>
            <a:endParaRPr lang="en-US" b="1"/>
          </a:p>
        </p:txBody>
      </p:sp>
      <p:graphicFrame>
        <p:nvGraphicFramePr>
          <p:cNvPr id="5" name="Content Placeholder 4"/>
          <p:cNvGraphicFramePr>
            <a:graphicFrameLocks noGrp="1" noChangeAspect="1"/>
          </p:cNvGraphicFramePr>
          <p:nvPr>
            <p:ph sz="half" idx="1"/>
          </p:nvPr>
        </p:nvGraphicFramePr>
        <p:xfrm>
          <a:off x="423545" y="1140460"/>
          <a:ext cx="8275955" cy="5471160"/>
        </p:xfrm>
        <a:graphic>
          <a:graphicData uri="http://schemas.openxmlformats.org/presentationml/2006/ole">
            <p:oleObj spid="_x0000_s40976" r:id="rId3" imgW="8466667" imgH="4258269" progId="PBrush">
              <p:embed/>
            </p:oleObj>
          </a:graphicData>
        </a:graphic>
      </p:graphicFrame>
    </p:spTree>
    <p:extLst>
      <p:ext uri="{BB962C8B-B14F-4D97-AF65-F5344CB8AC3E}">
        <p14:creationId xmlns:p14="http://schemas.microsoft.com/office/powerpoint/2010/main" xmlns="" val="60595666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307340" y="142240"/>
          <a:ext cx="8646160" cy="6573520"/>
        </p:xfrm>
        <a:graphic>
          <a:graphicData uri="http://schemas.openxmlformats.org/presentationml/2006/ole">
            <p:oleObj spid="_x0000_s42000" r:id="rId3" imgW="8542857" imgH="4514286" progId="PBrush">
              <p:embed/>
            </p:oleObj>
          </a:graphicData>
        </a:graphic>
      </p:graphicFrame>
    </p:spTree>
    <p:extLst>
      <p:ext uri="{BB962C8B-B14F-4D97-AF65-F5344CB8AC3E}">
        <p14:creationId xmlns:p14="http://schemas.microsoft.com/office/powerpoint/2010/main" xmlns="" val="40309242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320675" y="236220"/>
          <a:ext cx="8550275" cy="6427470"/>
        </p:xfrm>
        <a:graphic>
          <a:graphicData uri="http://schemas.openxmlformats.org/presentationml/2006/ole">
            <p:oleObj spid="_x0000_s43024" r:id="rId3" imgW="6876190" imgH="4495238" progId="PBrush">
              <p:embed/>
            </p:oleObj>
          </a:graphicData>
        </a:graphic>
      </p:graphicFrame>
    </p:spTree>
    <p:extLst>
      <p:ext uri="{BB962C8B-B14F-4D97-AF65-F5344CB8AC3E}">
        <p14:creationId xmlns:p14="http://schemas.microsoft.com/office/powerpoint/2010/main" xmlns="" val="332203322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368300" y="368935"/>
          <a:ext cx="8335010" cy="6187440"/>
        </p:xfrm>
        <a:graphic>
          <a:graphicData uri="http://schemas.openxmlformats.org/presentationml/2006/ole">
            <p:oleObj spid="_x0000_s44048" r:id="rId3" imgW="7497221" imgH="4486901" progId="PBrush">
              <p:embed/>
            </p:oleObj>
          </a:graphicData>
        </a:graphic>
      </p:graphicFrame>
    </p:spTree>
    <p:extLst>
      <p:ext uri="{BB962C8B-B14F-4D97-AF65-F5344CB8AC3E}">
        <p14:creationId xmlns:p14="http://schemas.microsoft.com/office/powerpoint/2010/main" xmlns="" val="313835602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noChangeAspect="1"/>
          </p:cNvGraphicFramePr>
          <p:nvPr>
            <p:ph sz="half" idx="1"/>
          </p:nvPr>
        </p:nvGraphicFramePr>
        <p:xfrm>
          <a:off x="533400" y="0"/>
          <a:ext cx="8356600" cy="4378325"/>
        </p:xfrm>
        <a:graphic>
          <a:graphicData uri="http://schemas.openxmlformats.org/presentationml/2006/ole">
            <p:oleObj spid="_x0000_s45086" r:id="rId3" imgW="8980952" imgH="3610479" progId="PBrush">
              <p:embed/>
            </p:oleObj>
          </a:graphicData>
        </a:graphic>
      </p:graphicFrame>
      <p:graphicFrame>
        <p:nvGraphicFramePr>
          <p:cNvPr id="7" name="Content Placeholder 6"/>
          <p:cNvGraphicFramePr>
            <a:graphicFrameLocks noGrp="1" noChangeAspect="1"/>
          </p:cNvGraphicFramePr>
          <p:nvPr>
            <p:ph sz="half" idx="2"/>
          </p:nvPr>
        </p:nvGraphicFramePr>
        <p:xfrm>
          <a:off x="2668905" y="4157345"/>
          <a:ext cx="5458460" cy="2576195"/>
        </p:xfrm>
        <a:graphic>
          <a:graphicData uri="http://schemas.openxmlformats.org/presentationml/2006/ole">
            <p:oleObj spid="_x0000_s45087" r:id="rId4" imgW="4990476" imgH="3048426" progId="PBrush">
              <p:embed/>
            </p:oleObj>
          </a:graphicData>
        </a:graphic>
      </p:graphicFrame>
    </p:spTree>
    <p:extLst>
      <p:ext uri="{BB962C8B-B14F-4D97-AF65-F5344CB8AC3E}">
        <p14:creationId xmlns:p14="http://schemas.microsoft.com/office/powerpoint/2010/main" xmlns="" val="325658878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noChangeAspect="1"/>
          </p:cNvGraphicFramePr>
          <p:nvPr>
            <p:ph sz="half" idx="1"/>
          </p:nvPr>
        </p:nvGraphicFramePr>
        <p:xfrm>
          <a:off x="456565" y="152400"/>
          <a:ext cx="8230235" cy="3503295"/>
        </p:xfrm>
        <a:graphic>
          <a:graphicData uri="http://schemas.openxmlformats.org/presentationml/2006/ole">
            <p:oleObj spid="_x0000_s46110" r:id="rId3" imgW="6687483" imgH="3561905" progId="PBrush">
              <p:embed/>
            </p:oleObj>
          </a:graphicData>
        </a:graphic>
      </p:graphicFrame>
      <p:graphicFrame>
        <p:nvGraphicFramePr>
          <p:cNvPr id="7" name="Content Placeholder 6"/>
          <p:cNvGraphicFramePr>
            <a:graphicFrameLocks noGrp="1" noChangeAspect="1"/>
          </p:cNvGraphicFramePr>
          <p:nvPr>
            <p:ph sz="half" idx="2"/>
          </p:nvPr>
        </p:nvGraphicFramePr>
        <p:xfrm>
          <a:off x="920115" y="3627120"/>
          <a:ext cx="7444105" cy="3096260"/>
        </p:xfrm>
        <a:graphic>
          <a:graphicData uri="http://schemas.openxmlformats.org/presentationml/2006/ole">
            <p:oleObj spid="_x0000_s46111" r:id="rId4" imgW="5495238" imgH="3247619" progId="PBrush">
              <p:embed/>
            </p:oleObj>
          </a:graphicData>
        </a:graphic>
      </p:graphicFrame>
    </p:spTree>
    <p:extLst>
      <p:ext uri="{BB962C8B-B14F-4D97-AF65-F5344CB8AC3E}">
        <p14:creationId xmlns:p14="http://schemas.microsoft.com/office/powerpoint/2010/main" xmlns="" val="304595274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noChangeAspect="1"/>
          </p:cNvGraphicFramePr>
          <p:nvPr>
            <p:ph sz="half" idx="1"/>
          </p:nvPr>
        </p:nvGraphicFramePr>
        <p:xfrm>
          <a:off x="457200" y="159385"/>
          <a:ext cx="8298815" cy="4639310"/>
        </p:xfrm>
        <a:graphic>
          <a:graphicData uri="http://schemas.openxmlformats.org/presentationml/2006/ole">
            <p:oleObj spid="_x0000_s47134" r:id="rId3" imgW="9038095" imgH="4191585" progId="PBrush">
              <p:embed/>
            </p:oleObj>
          </a:graphicData>
        </a:graphic>
      </p:graphicFrame>
      <p:graphicFrame>
        <p:nvGraphicFramePr>
          <p:cNvPr id="7" name="Content Placeholder 6"/>
          <p:cNvGraphicFramePr>
            <a:graphicFrameLocks noGrp="1" noChangeAspect="1"/>
          </p:cNvGraphicFramePr>
          <p:nvPr>
            <p:ph sz="half" idx="2"/>
          </p:nvPr>
        </p:nvGraphicFramePr>
        <p:xfrm>
          <a:off x="217805" y="4291330"/>
          <a:ext cx="5725795" cy="2434590"/>
        </p:xfrm>
        <a:graphic>
          <a:graphicData uri="http://schemas.openxmlformats.org/presentationml/2006/ole">
            <p:oleObj spid="_x0000_s47135" r:id="rId4" imgW="5800000" imgH="2180952" progId="PBrush">
              <p:embed/>
            </p:oleObj>
          </a:graphicData>
        </a:graphic>
      </p:graphicFrame>
    </p:spTree>
    <p:extLst>
      <p:ext uri="{BB962C8B-B14F-4D97-AF65-F5344CB8AC3E}">
        <p14:creationId xmlns:p14="http://schemas.microsoft.com/office/powerpoint/2010/main" xmlns="" val="37621589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noChangeAspect="1"/>
          </p:cNvGraphicFramePr>
          <p:nvPr>
            <p:ph sz="half" idx="1"/>
          </p:nvPr>
        </p:nvGraphicFramePr>
        <p:xfrm>
          <a:off x="457200" y="0"/>
          <a:ext cx="8307070" cy="4102100"/>
        </p:xfrm>
        <a:graphic>
          <a:graphicData uri="http://schemas.openxmlformats.org/presentationml/2006/ole">
            <p:oleObj spid="_x0000_s48158" r:id="rId3" imgW="8287907" imgH="4505954" progId="PBrush">
              <p:embed/>
            </p:oleObj>
          </a:graphicData>
        </a:graphic>
      </p:graphicFrame>
      <p:graphicFrame>
        <p:nvGraphicFramePr>
          <p:cNvPr id="7" name="Content Placeholder 6"/>
          <p:cNvGraphicFramePr>
            <a:graphicFrameLocks noGrp="1" noChangeAspect="1"/>
          </p:cNvGraphicFramePr>
          <p:nvPr>
            <p:ph sz="half" idx="2"/>
          </p:nvPr>
        </p:nvGraphicFramePr>
        <p:xfrm>
          <a:off x="383540" y="4069715"/>
          <a:ext cx="8324850" cy="2673350"/>
        </p:xfrm>
        <a:graphic>
          <a:graphicData uri="http://schemas.openxmlformats.org/presentationml/2006/ole">
            <p:oleObj spid="_x0000_s48159" r:id="rId4" imgW="8516539" imgH="3742857" progId="PBrush">
              <p:embed/>
            </p:oleObj>
          </a:graphicData>
        </a:graphic>
      </p:graphicFrame>
    </p:spTree>
    <p:extLst>
      <p:ext uri="{BB962C8B-B14F-4D97-AF65-F5344CB8AC3E}">
        <p14:creationId xmlns:p14="http://schemas.microsoft.com/office/powerpoint/2010/main" xmlns="" val="42307811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noChangeAspect="1"/>
          </p:cNvGraphicFramePr>
          <p:nvPr>
            <p:ph sz="half" idx="1"/>
          </p:nvPr>
        </p:nvGraphicFramePr>
        <p:xfrm>
          <a:off x="457200" y="226060"/>
          <a:ext cx="8289925" cy="5679440"/>
        </p:xfrm>
        <a:graphic>
          <a:graphicData uri="http://schemas.openxmlformats.org/presentationml/2006/ole">
            <p:oleObj spid="_x0000_s49168" r:id="rId3" imgW="7152381" imgH="3982006" progId="PBrush">
              <p:embed/>
            </p:oleObj>
          </a:graphicData>
        </a:graphic>
      </p:graphicFrame>
    </p:spTree>
    <p:extLst>
      <p:ext uri="{BB962C8B-B14F-4D97-AF65-F5344CB8AC3E}">
        <p14:creationId xmlns:p14="http://schemas.microsoft.com/office/powerpoint/2010/main" xmlns="" val="206894054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17880"/>
          </a:xfrm>
        </p:spPr>
        <p:txBody>
          <a:bodyPr/>
          <a:lstStyle/>
          <a:p>
            <a:r>
              <a:rPr lang="en-US" b="1"/>
              <a:t>Analysis Packages</a:t>
            </a:r>
          </a:p>
        </p:txBody>
      </p:sp>
      <p:sp>
        <p:nvSpPr>
          <p:cNvPr id="3" name="Content Placeholder 2"/>
          <p:cNvSpPr>
            <a:spLocks noGrp="1"/>
          </p:cNvSpPr>
          <p:nvPr>
            <p:ph sz="half" idx="1"/>
          </p:nvPr>
        </p:nvSpPr>
        <p:spPr>
          <a:xfrm>
            <a:off x="76200" y="1083310"/>
            <a:ext cx="4038600" cy="5697220"/>
          </a:xfrm>
        </p:spPr>
        <p:txBody>
          <a:bodyPr>
            <a:normAutofit/>
          </a:bodyPr>
          <a:lstStyle/>
          <a:p>
            <a:pPr marL="0" indent="0" algn="just">
              <a:buNone/>
            </a:pPr>
            <a:r>
              <a:rPr lang="en-US"/>
              <a:t>An important part of analysis modeling is </a:t>
            </a:r>
            <a:r>
              <a:rPr lang="en-US" b="1">
                <a:solidFill>
                  <a:srgbClr val="FF0000"/>
                </a:solidFill>
              </a:rPr>
              <a:t>categorization</a:t>
            </a:r>
            <a:r>
              <a:rPr lang="en-US"/>
              <a:t>. That is, various elements of the analysis model (e.g., use cases, analysis classes) are categorized in a manner that packages them as a grouping—</a:t>
            </a:r>
            <a:r>
              <a:rPr lang="en-US" b="1">
                <a:solidFill>
                  <a:srgbClr val="00B050"/>
                </a:solidFill>
              </a:rPr>
              <a:t>called an analysis package</a:t>
            </a:r>
            <a:r>
              <a:rPr lang="en-US"/>
              <a:t>—that is given a representative name.</a:t>
            </a:r>
          </a:p>
        </p:txBody>
      </p:sp>
      <p:graphicFrame>
        <p:nvGraphicFramePr>
          <p:cNvPr id="5" name="Content Placeholder 4"/>
          <p:cNvGraphicFramePr>
            <a:graphicFrameLocks noGrp="1"/>
          </p:cNvGraphicFramePr>
          <p:nvPr>
            <p:ph sz="half" idx="2"/>
          </p:nvPr>
        </p:nvGraphicFramePr>
        <p:xfrm>
          <a:off x="4335145" y="1083310"/>
          <a:ext cx="4626610" cy="5468620"/>
        </p:xfrm>
        <a:graphic>
          <a:graphicData uri="http://schemas.openxmlformats.org/presentationml/2006/ole">
            <p:oleObj spid="_x0000_s50192" r:id="rId3" imgW="4401164" imgH="3495238" progId="PBrush">
              <p:embed/>
            </p:oleObj>
          </a:graphicData>
        </a:graphic>
      </p:graphicFrame>
    </p:spTree>
    <p:extLst>
      <p:ext uri="{BB962C8B-B14F-4D97-AF65-F5344CB8AC3E}">
        <p14:creationId xmlns:p14="http://schemas.microsoft.com/office/powerpoint/2010/main" xmlns="" val="1509279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64770"/>
            <a:ext cx="7924800" cy="915670"/>
          </a:xfrm>
        </p:spPr>
        <p:txBody>
          <a:bodyPr/>
          <a:lstStyle/>
          <a:p>
            <a:pPr algn="ctr"/>
            <a:r>
              <a:rPr lang="en-US" sz="3600"/>
              <a:t>Library Management System</a:t>
            </a:r>
          </a:p>
        </p:txBody>
      </p:sp>
      <p:pic>
        <p:nvPicPr>
          <p:cNvPr id="5" name="Content Placeholder 4" descr="UML-Class-Diagram-for-Library-Management-System"/>
          <p:cNvPicPr>
            <a:picLocks noGrp="1" noChangeAspect="1"/>
          </p:cNvPicPr>
          <p:nvPr>
            <p:ph idx="1"/>
          </p:nvPr>
        </p:nvPicPr>
        <p:blipFill>
          <a:blip r:embed="rId2"/>
          <a:stretch>
            <a:fillRect/>
          </a:stretch>
        </p:blipFill>
        <p:spPr>
          <a:xfrm>
            <a:off x="601980" y="1358900"/>
            <a:ext cx="8067040" cy="5329555"/>
          </a:xfrm>
          <a:prstGeom prst="rect">
            <a:avLst/>
          </a:prstGeom>
        </p:spPr>
      </p:pic>
    </p:spTree>
    <p:extLst>
      <p:ext uri="{BB962C8B-B14F-4D97-AF65-F5344CB8AC3E}">
        <p14:creationId xmlns:p14="http://schemas.microsoft.com/office/powerpoint/2010/main" xmlns="" val="17539316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endParaRPr lang="en-US"/>
          </a:p>
        </p:txBody>
      </p:sp>
      <p:graphicFrame>
        <p:nvGraphicFramePr>
          <p:cNvPr id="5" name="Content Placeholder 4"/>
          <p:cNvGraphicFramePr>
            <a:graphicFrameLocks noGrp="1" noChangeAspect="1"/>
          </p:cNvGraphicFramePr>
          <p:nvPr>
            <p:ph sz="half" idx="1"/>
          </p:nvPr>
        </p:nvGraphicFramePr>
        <p:xfrm>
          <a:off x="381000" y="152400"/>
          <a:ext cx="8491855" cy="3096260"/>
        </p:xfrm>
        <a:graphic>
          <a:graphicData uri="http://schemas.openxmlformats.org/presentationml/2006/ole">
            <p:oleObj spid="_x0000_s51230" r:id="rId3" imgW="9057143" imgH="3715269" progId="PBrush">
              <p:embed/>
            </p:oleObj>
          </a:graphicData>
        </a:graphic>
      </p:graphicFrame>
      <p:graphicFrame>
        <p:nvGraphicFramePr>
          <p:cNvPr id="7" name="Content Placeholder 6"/>
          <p:cNvGraphicFramePr>
            <a:graphicFrameLocks noGrp="1"/>
          </p:cNvGraphicFramePr>
          <p:nvPr>
            <p:ph sz="half" idx="2"/>
          </p:nvPr>
        </p:nvGraphicFramePr>
        <p:xfrm>
          <a:off x="632460" y="3150870"/>
          <a:ext cx="8148320" cy="3562350"/>
        </p:xfrm>
        <a:graphic>
          <a:graphicData uri="http://schemas.openxmlformats.org/presentationml/2006/ole">
            <p:oleObj spid="_x0000_s51231" r:id="rId4" imgW="6668431" imgH="3610479" progId="PBrush">
              <p:embed/>
            </p:oleObj>
          </a:graphicData>
        </a:graphic>
      </p:graphicFrame>
    </p:spTree>
    <p:extLst>
      <p:ext uri="{BB962C8B-B14F-4D97-AF65-F5344CB8AC3E}">
        <p14:creationId xmlns:p14="http://schemas.microsoft.com/office/powerpoint/2010/main" xmlns="" val="292499496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US" b="1" dirty="0" smtClean="0"/>
              <a:t>Collaboration Diagram</a:t>
            </a:r>
            <a:endParaRPr lang="en-IN" b="1" dirty="0"/>
          </a:p>
        </p:txBody>
      </p:sp>
      <p:sp>
        <p:nvSpPr>
          <p:cNvPr id="3" name="Content Placeholder 2"/>
          <p:cNvSpPr>
            <a:spLocks noGrp="1"/>
          </p:cNvSpPr>
          <p:nvPr>
            <p:ph sz="half" idx="1"/>
          </p:nvPr>
        </p:nvSpPr>
        <p:spPr>
          <a:xfrm>
            <a:off x="457200" y="990600"/>
            <a:ext cx="8229600" cy="5715000"/>
          </a:xfrm>
        </p:spPr>
        <p:txBody>
          <a:bodyPr>
            <a:normAutofit lnSpcReduction="10000"/>
          </a:bodyPr>
          <a:lstStyle/>
          <a:p>
            <a:pPr algn="just"/>
            <a:r>
              <a:rPr lang="en-US" dirty="0"/>
              <a:t>A collaboration diagram, also known as a </a:t>
            </a:r>
            <a:r>
              <a:rPr lang="en-US" b="1" dirty="0">
                <a:solidFill>
                  <a:srgbClr val="FF0000"/>
                </a:solidFill>
              </a:rPr>
              <a:t>communication diagram</a:t>
            </a:r>
            <a:r>
              <a:rPr lang="en-US" dirty="0"/>
              <a:t>, is an illustration of the </a:t>
            </a:r>
            <a:r>
              <a:rPr lang="en-US" dirty="0" smtClean="0"/>
              <a:t>relationships and interactions among software objects in the </a:t>
            </a:r>
            <a:r>
              <a:rPr lang="en-US" b="1" dirty="0" smtClean="0">
                <a:solidFill>
                  <a:srgbClr val="00B050"/>
                </a:solidFill>
              </a:rPr>
              <a:t>Unified Modeling Language</a:t>
            </a:r>
            <a:r>
              <a:rPr lang="en-US" dirty="0" smtClean="0"/>
              <a:t>(UML).</a:t>
            </a:r>
          </a:p>
          <a:p>
            <a:pPr algn="just"/>
            <a:r>
              <a:rPr lang="en-US" dirty="0"/>
              <a:t>The four major components of a collaboration diagram are</a:t>
            </a:r>
            <a:r>
              <a:rPr lang="en-US" dirty="0" smtClean="0"/>
              <a:t>:</a:t>
            </a:r>
          </a:p>
          <a:p>
            <a:pPr lvl="1" algn="just">
              <a:buFont typeface="Wingdings" panose="05000000000000000000" pitchFamily="2" charset="2"/>
              <a:buChar char="v"/>
            </a:pPr>
            <a:r>
              <a:rPr lang="en-US" b="1" dirty="0">
                <a:solidFill>
                  <a:srgbClr val="7030A0"/>
                </a:solidFill>
              </a:rPr>
              <a:t>Objects-</a:t>
            </a:r>
            <a:r>
              <a:rPr lang="en-US" dirty="0"/>
              <a:t> Objects are shown as </a:t>
            </a:r>
            <a:r>
              <a:rPr lang="en-US" b="1" dirty="0">
                <a:solidFill>
                  <a:srgbClr val="00B050"/>
                </a:solidFill>
              </a:rPr>
              <a:t>rectangles</a:t>
            </a:r>
            <a:r>
              <a:rPr lang="en-US" dirty="0"/>
              <a:t> with naming labels inside</a:t>
            </a:r>
            <a:r>
              <a:rPr lang="en-US" dirty="0" smtClean="0"/>
              <a:t>.</a:t>
            </a:r>
          </a:p>
          <a:p>
            <a:pPr lvl="1" algn="just">
              <a:buFont typeface="Wingdings" panose="05000000000000000000" pitchFamily="2" charset="2"/>
              <a:buChar char="v"/>
            </a:pPr>
            <a:r>
              <a:rPr lang="en-US" b="1" dirty="0">
                <a:solidFill>
                  <a:srgbClr val="7030A0"/>
                </a:solidFill>
              </a:rPr>
              <a:t>Actors-</a:t>
            </a:r>
            <a:r>
              <a:rPr lang="en-US" dirty="0"/>
              <a:t> Actors are instances that invoke the interaction in the diagram</a:t>
            </a:r>
            <a:r>
              <a:rPr lang="en-US" dirty="0" smtClean="0"/>
              <a:t>.</a:t>
            </a:r>
          </a:p>
          <a:p>
            <a:pPr lvl="1" algn="just">
              <a:buFont typeface="Wingdings" panose="05000000000000000000" pitchFamily="2" charset="2"/>
              <a:buChar char="v"/>
            </a:pPr>
            <a:r>
              <a:rPr lang="en-US" b="1" dirty="0">
                <a:solidFill>
                  <a:srgbClr val="7030A0"/>
                </a:solidFill>
              </a:rPr>
              <a:t>Links-</a:t>
            </a:r>
            <a:r>
              <a:rPr lang="en-US" dirty="0"/>
              <a:t> Links connect </a:t>
            </a:r>
            <a:r>
              <a:rPr lang="en-US" b="1" dirty="0">
                <a:solidFill>
                  <a:srgbClr val="00B050"/>
                </a:solidFill>
              </a:rPr>
              <a:t>objects with actors</a:t>
            </a:r>
            <a:r>
              <a:rPr lang="en-US" dirty="0"/>
              <a:t> and are depicted using a solid line between two elements. </a:t>
            </a:r>
            <a:endParaRPr lang="en-US" dirty="0" smtClean="0"/>
          </a:p>
          <a:p>
            <a:pPr lvl="1" algn="just">
              <a:buFont typeface="Wingdings" panose="05000000000000000000" pitchFamily="2" charset="2"/>
              <a:buChar char="v"/>
            </a:pPr>
            <a:r>
              <a:rPr lang="en-US" b="1" dirty="0">
                <a:solidFill>
                  <a:srgbClr val="7030A0"/>
                </a:solidFill>
              </a:rPr>
              <a:t>Messages- </a:t>
            </a:r>
            <a:r>
              <a:rPr lang="en-US" dirty="0"/>
              <a:t>Messages between objects are shown as a labeled arrow placed near a link.</a:t>
            </a:r>
            <a:endParaRPr lang="en-US" dirty="0" smtClean="0"/>
          </a:p>
        </p:txBody>
      </p:sp>
    </p:spTree>
    <p:extLst>
      <p:ext uri="{BB962C8B-B14F-4D97-AF65-F5344CB8AC3E}">
        <p14:creationId xmlns:p14="http://schemas.microsoft.com/office/powerpoint/2010/main" xmlns="" val="141031204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xmlns="" val="0"/>
              </a:ext>
            </a:extLst>
          </a:blip>
          <a:stretch>
            <a:fillRect/>
          </a:stretch>
        </p:blipFill>
        <p:spPr bwMode="auto">
          <a:xfrm>
            <a:off x="1143000" y="0"/>
            <a:ext cx="6705600" cy="6781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61071168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 y="76200"/>
            <a:ext cx="8955405" cy="944245"/>
          </a:xfrm>
        </p:spPr>
        <p:txBody>
          <a:bodyPr>
            <a:normAutofit fontScale="90000"/>
          </a:bodyPr>
          <a:lstStyle/>
          <a:p>
            <a:r>
              <a:rPr lang="en-US" b="1" dirty="0"/>
              <a:t>Collaboration </a:t>
            </a:r>
            <a:r>
              <a:rPr lang="en-US" b="1" dirty="0" smtClean="0"/>
              <a:t>Diagram for Issuing Book </a:t>
            </a:r>
            <a:endParaRPr lang="en-IN" b="1" dirty="0"/>
          </a:p>
        </p:txBody>
      </p:sp>
      <p:graphicFrame>
        <p:nvGraphicFramePr>
          <p:cNvPr id="7" name="Object 6"/>
          <p:cNvGraphicFramePr>
            <a:graphicFrameLocks noChangeAspect="1"/>
          </p:cNvGraphicFramePr>
          <p:nvPr/>
        </p:nvGraphicFramePr>
        <p:xfrm>
          <a:off x="1219200" y="1020762"/>
          <a:ext cx="6857999" cy="5532438"/>
        </p:xfrm>
        <a:graphic>
          <a:graphicData uri="http://schemas.openxmlformats.org/presentationml/2006/ole">
            <p:oleObj spid="_x0000_s52240" name="Bitmap Image" r:id="rId3" imgW="5048250" imgH="3419475" progId="PBrush">
              <p:embed/>
            </p:oleObj>
          </a:graphicData>
        </a:graphic>
      </p:graphicFrame>
    </p:spTree>
    <p:extLst>
      <p:ext uri="{BB962C8B-B14F-4D97-AF65-F5344CB8AC3E}">
        <p14:creationId xmlns:p14="http://schemas.microsoft.com/office/powerpoint/2010/main" xmlns="" val="103957875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53340"/>
            <a:ext cx="8342630" cy="956945"/>
          </a:xfrm>
        </p:spPr>
        <p:txBody>
          <a:bodyPr>
            <a:normAutofit fontScale="90000"/>
          </a:bodyPr>
          <a:lstStyle/>
          <a:p>
            <a:pPr algn="ctr"/>
            <a:r>
              <a:rPr lang="en-US" sz="3400">
                <a:sym typeface="+mn-ea"/>
              </a:rPr>
              <a:t/>
            </a:r>
            <a:br>
              <a:rPr lang="en-US" sz="3400">
                <a:sym typeface="+mn-ea"/>
              </a:rPr>
            </a:br>
            <a:r>
              <a:rPr lang="en-US" sz="3400">
                <a:sym typeface="+mn-ea"/>
              </a:rPr>
              <a:t/>
            </a:r>
            <a:br>
              <a:rPr lang="en-US" sz="3400">
                <a:sym typeface="+mn-ea"/>
              </a:rPr>
            </a:br>
            <a:r>
              <a:rPr lang="en-US" sz="3400">
                <a:sym typeface="+mn-ea"/>
              </a:rPr>
              <a:t/>
            </a:r>
            <a:br>
              <a:rPr lang="en-US" sz="3400">
                <a:sym typeface="+mn-ea"/>
              </a:rPr>
            </a:br>
            <a:r>
              <a:rPr lang="en-US" sz="3400">
                <a:sym typeface="+mn-ea"/>
              </a:rPr>
              <a:t>Sequence Diagram Example</a:t>
            </a:r>
            <a:endParaRPr lang="en-US" sz="3400"/>
          </a:p>
        </p:txBody>
      </p:sp>
      <p:pic>
        <p:nvPicPr>
          <p:cNvPr id="5" name="Content Placeholder 4" descr="uml sequence diagram for library mgmt issue book"/>
          <p:cNvPicPr>
            <a:picLocks noGrp="1" noChangeAspect="1"/>
          </p:cNvPicPr>
          <p:nvPr>
            <p:ph idx="1"/>
          </p:nvPr>
        </p:nvPicPr>
        <p:blipFill>
          <a:blip r:embed="rId2"/>
          <a:stretch>
            <a:fillRect/>
          </a:stretch>
        </p:blipFill>
        <p:spPr>
          <a:xfrm>
            <a:off x="457835" y="1026795"/>
            <a:ext cx="8183245" cy="5609590"/>
          </a:xfrm>
          <a:prstGeom prst="rect">
            <a:avLst/>
          </a:prstGeom>
        </p:spPr>
      </p:pic>
    </p:spTree>
    <p:extLst>
      <p:ext uri="{BB962C8B-B14F-4D97-AF65-F5344CB8AC3E}">
        <p14:creationId xmlns:p14="http://schemas.microsoft.com/office/powerpoint/2010/main" xmlns="" val="423862008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IN" dirty="0"/>
              <a:t>Quality </a:t>
            </a:r>
            <a:r>
              <a:rPr lang="en-IN" dirty="0" smtClean="0"/>
              <a:t>attributes</a:t>
            </a:r>
            <a:endParaRPr lang="en-IN" dirty="0"/>
          </a:p>
        </p:txBody>
      </p:sp>
      <p:sp>
        <p:nvSpPr>
          <p:cNvPr id="3" name="Content Placeholder 2"/>
          <p:cNvSpPr>
            <a:spLocks noGrp="1"/>
          </p:cNvSpPr>
          <p:nvPr>
            <p:ph sz="half" idx="1"/>
          </p:nvPr>
        </p:nvSpPr>
        <p:spPr>
          <a:xfrm>
            <a:off x="457200" y="762000"/>
            <a:ext cx="8229600" cy="5943600"/>
          </a:xfrm>
        </p:spPr>
        <p:txBody>
          <a:bodyPr>
            <a:normAutofit fontScale="62500" lnSpcReduction="20000"/>
          </a:bodyPr>
          <a:lstStyle/>
          <a:p>
            <a:pPr marL="0" indent="0" algn="l">
              <a:buNone/>
            </a:pPr>
            <a:r>
              <a:rPr lang="en-US" dirty="0"/>
              <a:t>The attributes of </a:t>
            </a:r>
            <a:r>
              <a:rPr lang="en-US" dirty="0" smtClean="0"/>
              <a:t>design </a:t>
            </a:r>
            <a:r>
              <a:rPr lang="en-US" dirty="0"/>
              <a:t>name as </a:t>
            </a:r>
            <a:r>
              <a:rPr lang="en-US" b="1" dirty="0">
                <a:solidFill>
                  <a:schemeClr val="accent6">
                    <a:lumMod val="75000"/>
                  </a:schemeClr>
                </a:solidFill>
              </a:rPr>
              <a:t>'FURPS' </a:t>
            </a:r>
            <a:r>
              <a:rPr lang="en-US" dirty="0"/>
              <a:t>are as follows</a:t>
            </a:r>
            <a:r>
              <a:rPr lang="en-US" dirty="0" smtClean="0"/>
              <a:t>:</a:t>
            </a:r>
          </a:p>
          <a:p>
            <a:pPr marL="0" indent="0" algn="l">
              <a:buNone/>
            </a:pPr>
            <a:r>
              <a:rPr lang="en-US" b="1" dirty="0">
                <a:solidFill>
                  <a:srgbClr val="00B050"/>
                </a:solidFill>
              </a:rPr>
              <a:t>Functionality:</a:t>
            </a:r>
            <a:r>
              <a:rPr lang="en-US" dirty="0"/>
              <a:t/>
            </a:r>
            <a:br>
              <a:rPr lang="en-US" dirty="0"/>
            </a:br>
            <a:r>
              <a:rPr lang="en-US" dirty="0"/>
              <a:t>It evaluates the</a:t>
            </a:r>
            <a:r>
              <a:rPr lang="en-US" b="1" dirty="0">
                <a:solidFill>
                  <a:srgbClr val="00B0F0"/>
                </a:solidFill>
              </a:rPr>
              <a:t> feature set and capabilities</a:t>
            </a:r>
            <a:r>
              <a:rPr lang="en-US" dirty="0"/>
              <a:t> of the program.</a:t>
            </a:r>
            <a:br>
              <a:rPr lang="en-US" dirty="0"/>
            </a:br>
            <a:r>
              <a:rPr lang="en-US" dirty="0"/>
              <a:t/>
            </a:r>
            <a:br>
              <a:rPr lang="en-US" dirty="0"/>
            </a:br>
            <a:r>
              <a:rPr lang="en-US" b="1" dirty="0">
                <a:solidFill>
                  <a:srgbClr val="00B050"/>
                </a:solidFill>
              </a:rPr>
              <a:t>Usability:</a:t>
            </a:r>
            <a:r>
              <a:rPr lang="en-US" dirty="0"/>
              <a:t/>
            </a:r>
            <a:br>
              <a:rPr lang="en-US" dirty="0"/>
            </a:br>
            <a:r>
              <a:rPr lang="en-US" dirty="0"/>
              <a:t>It is accessed by considering the factors such as </a:t>
            </a:r>
            <a:r>
              <a:rPr lang="en-US" b="1" dirty="0">
                <a:solidFill>
                  <a:schemeClr val="accent6">
                    <a:lumMod val="75000"/>
                  </a:schemeClr>
                </a:solidFill>
              </a:rPr>
              <a:t>human factor, overall aesthetics, consistency and documentation</a:t>
            </a:r>
            <a:r>
              <a:rPr lang="en-US" dirty="0"/>
              <a:t>.</a:t>
            </a:r>
            <a:br>
              <a:rPr lang="en-US" dirty="0"/>
            </a:br>
            <a:r>
              <a:rPr lang="en-US" dirty="0"/>
              <a:t/>
            </a:r>
            <a:br>
              <a:rPr lang="en-US" dirty="0"/>
            </a:br>
            <a:r>
              <a:rPr lang="en-US" b="1" dirty="0">
                <a:solidFill>
                  <a:srgbClr val="00B050"/>
                </a:solidFill>
              </a:rPr>
              <a:t>Reliability:</a:t>
            </a:r>
            <a:r>
              <a:rPr lang="en-US" dirty="0"/>
              <a:t/>
            </a:r>
            <a:br>
              <a:rPr lang="en-US" dirty="0"/>
            </a:br>
            <a:r>
              <a:rPr lang="en-US" dirty="0"/>
              <a:t>It is evaluated by measuring parameters like frequency and </a:t>
            </a:r>
            <a:r>
              <a:rPr lang="en-US" b="1" dirty="0">
                <a:solidFill>
                  <a:srgbClr val="FFC000"/>
                </a:solidFill>
              </a:rPr>
              <a:t>security of failure, output result accuracy, the mean-time-to-failure</a:t>
            </a:r>
            <a:r>
              <a:rPr lang="en-US" dirty="0"/>
              <a:t>(MTTF), recovery from failure and </a:t>
            </a:r>
            <a:r>
              <a:rPr lang="en-US" dirty="0" smtClean="0"/>
              <a:t>the </a:t>
            </a:r>
            <a:r>
              <a:rPr lang="en-US" dirty="0"/>
              <a:t>program predictability.</a:t>
            </a:r>
            <a:br>
              <a:rPr lang="en-US" dirty="0"/>
            </a:br>
            <a:r>
              <a:rPr lang="en-US" dirty="0"/>
              <a:t/>
            </a:r>
            <a:br>
              <a:rPr lang="en-US" dirty="0"/>
            </a:br>
            <a:r>
              <a:rPr lang="en-US" sz="2900" b="1" dirty="0">
                <a:solidFill>
                  <a:srgbClr val="00B050"/>
                </a:solidFill>
              </a:rPr>
              <a:t>Performance:</a:t>
            </a:r>
            <a:r>
              <a:rPr lang="en-US" dirty="0"/>
              <a:t/>
            </a:r>
            <a:br>
              <a:rPr lang="en-US" dirty="0"/>
            </a:br>
            <a:r>
              <a:rPr lang="en-US" dirty="0"/>
              <a:t>It is measured by considering processing </a:t>
            </a:r>
            <a:r>
              <a:rPr lang="en-US" b="1" dirty="0">
                <a:solidFill>
                  <a:schemeClr val="accent6">
                    <a:lumMod val="75000"/>
                  </a:schemeClr>
                </a:solidFill>
              </a:rPr>
              <a:t>speed, response time, resource consumption, throughput and efficiency</a:t>
            </a:r>
            <a:r>
              <a:rPr lang="en-US" dirty="0"/>
              <a:t>.</a:t>
            </a:r>
            <a:br>
              <a:rPr lang="en-US" dirty="0"/>
            </a:br>
            <a:r>
              <a:rPr lang="en-US" sz="2900" b="1" dirty="0">
                <a:solidFill>
                  <a:srgbClr val="00B050"/>
                </a:solidFill>
              </a:rPr>
              <a:t/>
            </a:r>
            <a:br>
              <a:rPr lang="en-US" sz="2900" b="1" dirty="0">
                <a:solidFill>
                  <a:srgbClr val="00B050"/>
                </a:solidFill>
              </a:rPr>
            </a:br>
            <a:r>
              <a:rPr lang="en-US" sz="2900" b="1" dirty="0">
                <a:solidFill>
                  <a:srgbClr val="00B050"/>
                </a:solidFill>
              </a:rPr>
              <a:t>Supportability: </a:t>
            </a:r>
            <a:endParaRPr lang="en-US" sz="2900" b="1" dirty="0" smtClean="0">
              <a:solidFill>
                <a:srgbClr val="00B050"/>
              </a:solidFill>
            </a:endParaRPr>
          </a:p>
          <a:p>
            <a:pPr algn="l"/>
            <a:r>
              <a:rPr lang="en-US" sz="2900" dirty="0" smtClean="0"/>
              <a:t>It</a:t>
            </a:r>
            <a:r>
              <a:rPr lang="en-US" sz="2900" b="1" dirty="0" smtClean="0">
                <a:solidFill>
                  <a:srgbClr val="00B050"/>
                </a:solidFill>
              </a:rPr>
              <a:t> </a:t>
            </a:r>
            <a:r>
              <a:rPr lang="en-US" dirty="0"/>
              <a:t>combines the ability to extend the </a:t>
            </a:r>
            <a:r>
              <a:rPr lang="en-US" b="1" dirty="0">
                <a:solidFill>
                  <a:srgbClr val="0070C0"/>
                </a:solidFill>
              </a:rPr>
              <a:t>program, adaptability, serviceability</a:t>
            </a:r>
            <a:r>
              <a:rPr lang="en-US" dirty="0"/>
              <a:t>. These three term defines the maintainability.</a:t>
            </a:r>
          </a:p>
          <a:p>
            <a:pPr algn="l"/>
            <a:r>
              <a:rPr lang="en-US" b="1" dirty="0">
                <a:solidFill>
                  <a:srgbClr val="C00000"/>
                </a:solidFill>
              </a:rPr>
              <a:t>Testability, compatibility and configurability</a:t>
            </a:r>
            <a:r>
              <a:rPr lang="en-US" dirty="0"/>
              <a:t> are the terms using which a system can be easily installed and found the problem easily.</a:t>
            </a:r>
          </a:p>
          <a:p>
            <a:pPr algn="l"/>
            <a:r>
              <a:rPr lang="en-US" dirty="0"/>
              <a:t>Supportability also consists of more</a:t>
            </a:r>
            <a:r>
              <a:rPr lang="en-US" b="1" dirty="0">
                <a:solidFill>
                  <a:srgbClr val="FFC000"/>
                </a:solidFill>
              </a:rPr>
              <a:t> attributes such as compatibility, extensibility, fault tolerance, modularity, reusability, robustness, security, portability, scalability</a:t>
            </a:r>
            <a:r>
              <a:rPr lang="en-US" dirty="0"/>
              <a:t>.</a:t>
            </a:r>
          </a:p>
          <a:p>
            <a:pPr marL="0" indent="0" algn="l">
              <a:buNone/>
            </a:pPr>
            <a:endParaRPr lang="en-IN" dirty="0"/>
          </a:p>
        </p:txBody>
      </p:sp>
    </p:spTree>
    <p:extLst>
      <p:ext uri="{BB962C8B-B14F-4D97-AF65-F5344CB8AC3E}">
        <p14:creationId xmlns:p14="http://schemas.microsoft.com/office/powerpoint/2010/main" xmlns="" val="241122673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08050"/>
          </a:xfrm>
        </p:spPr>
        <p:txBody>
          <a:bodyPr>
            <a:normAutofit/>
          </a:bodyPr>
          <a:lstStyle/>
          <a:p>
            <a:r>
              <a:rPr lang="en-IN" b="1" dirty="0">
                <a:sym typeface="+mn-ea"/>
              </a:rPr>
              <a:t>Design </a:t>
            </a:r>
            <a:r>
              <a:rPr lang="en-US" altLang="en-IN" b="1" dirty="0">
                <a:sym typeface="+mn-ea"/>
              </a:rPr>
              <a:t>C</a:t>
            </a:r>
            <a:r>
              <a:rPr lang="en-IN" b="1" dirty="0" smtClean="0">
                <a:sym typeface="+mn-ea"/>
              </a:rPr>
              <a:t>oncepts</a:t>
            </a:r>
            <a:endParaRPr lang="en-US"/>
          </a:p>
        </p:txBody>
      </p:sp>
      <p:sp>
        <p:nvSpPr>
          <p:cNvPr id="3" name="Content Placeholder 2"/>
          <p:cNvSpPr>
            <a:spLocks noGrp="1"/>
          </p:cNvSpPr>
          <p:nvPr>
            <p:ph sz="half" idx="1"/>
          </p:nvPr>
        </p:nvSpPr>
        <p:spPr>
          <a:xfrm>
            <a:off x="457200" y="1295400"/>
            <a:ext cx="8229600" cy="5300345"/>
          </a:xfrm>
        </p:spPr>
        <p:txBody>
          <a:bodyPr>
            <a:normAutofit/>
          </a:bodyPr>
          <a:lstStyle/>
          <a:p>
            <a:pPr marL="457200" marR="0" lvl="1" indent="0" algn="just" defTabSz="914400" rtl="0" eaLnBrk="1" fontAlgn="base" latinLnBrk="0" hangingPunct="1">
              <a:lnSpc>
                <a:spcPct val="100000"/>
              </a:lnSpc>
              <a:spcBef>
                <a:spcPct val="20000"/>
              </a:spcBef>
              <a:spcAft>
                <a:spcPct val="0"/>
              </a:spcAft>
              <a:buClr>
                <a:schemeClr val="folHlink"/>
              </a:buClr>
              <a:buSzPct val="70000"/>
              <a:buFont typeface="Wingdings" panose="05000000000000000000" pitchFamily="2" charset="2"/>
              <a:buNone/>
              <a:defRPr/>
            </a:pPr>
            <a:r>
              <a:rPr lang="en-US" altLang="en-US" sz="28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The goal of the Good software design is to produce a model or representation that exhibits</a:t>
            </a:r>
            <a:endParaRPr kumimoji="0" lang="en-US"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folHlink"/>
              </a:buClr>
              <a:buSzPct val="70000"/>
              <a:buFont typeface="Wingdings" panose="05000000000000000000" pitchFamily="2" charset="2"/>
              <a:buChar char="n"/>
              <a:defRPr/>
            </a:pPr>
            <a:r>
              <a:rPr lang="en-US" altLang="en-US" sz="2800" b="1" noProof="0" dirty="0">
                <a:ln>
                  <a:noFill/>
                </a:ln>
                <a:solidFill>
                  <a:schemeClr val="folHlink"/>
                </a:solidFill>
                <a:effectLst/>
                <a:uLnTx/>
                <a:uFillTx/>
                <a:latin typeface="Times New Roman" panose="02020603050405020304" pitchFamily="18" charset="0"/>
                <a:cs typeface="Times New Roman" panose="02020603050405020304" pitchFamily="18" charset="0"/>
                <a:sym typeface="+mn-ea"/>
              </a:rPr>
              <a:t>Firmness:</a:t>
            </a:r>
            <a:r>
              <a:rPr lang="en-US" altLang="en-US" sz="28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A program should not have any bugs that inhibit its function. </a:t>
            </a:r>
            <a:endParaRPr kumimoji="0" lang="en-US"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folHlink"/>
              </a:buClr>
              <a:buSzPct val="70000"/>
              <a:buFont typeface="Wingdings" panose="05000000000000000000" pitchFamily="2" charset="2"/>
              <a:buChar char="n"/>
              <a:defRPr/>
            </a:pPr>
            <a:r>
              <a:rPr lang="en-US" altLang="en-US" sz="2800" b="1" noProof="0" dirty="0">
                <a:ln>
                  <a:noFill/>
                </a:ln>
                <a:solidFill>
                  <a:schemeClr val="folHlink"/>
                </a:solidFill>
                <a:effectLst/>
                <a:uLnTx/>
                <a:uFillTx/>
                <a:latin typeface="Times New Roman" panose="02020603050405020304" pitchFamily="18" charset="0"/>
                <a:cs typeface="Times New Roman" panose="02020603050405020304" pitchFamily="18" charset="0"/>
                <a:sym typeface="+mn-ea"/>
              </a:rPr>
              <a:t>Commodity:</a:t>
            </a:r>
            <a:r>
              <a:rPr lang="en-US" altLang="en-US" sz="28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A program should be suitable for the purposes for which it was intended. </a:t>
            </a:r>
            <a:endParaRPr kumimoji="0" lang="en-US"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just" defTabSz="914400" rtl="0" eaLnBrk="1" fontAlgn="base" latinLnBrk="0" hangingPunct="1">
              <a:lnSpc>
                <a:spcPct val="100000"/>
              </a:lnSpc>
              <a:spcBef>
                <a:spcPct val="20000"/>
              </a:spcBef>
              <a:spcAft>
                <a:spcPct val="0"/>
              </a:spcAft>
              <a:buClr>
                <a:schemeClr val="folHlink"/>
              </a:buClr>
              <a:buSzPct val="70000"/>
              <a:buFont typeface="Wingdings" panose="05000000000000000000" pitchFamily="2" charset="2"/>
              <a:buChar char="n"/>
              <a:defRPr/>
            </a:pPr>
            <a:r>
              <a:rPr lang="en-US" altLang="en-US" sz="2800" b="1" noProof="0" dirty="0">
                <a:ln>
                  <a:noFill/>
                </a:ln>
                <a:solidFill>
                  <a:schemeClr val="folHlink"/>
                </a:solidFill>
                <a:effectLst/>
                <a:uLnTx/>
                <a:uFillTx/>
                <a:latin typeface="Times New Roman" panose="02020603050405020304" pitchFamily="18" charset="0"/>
                <a:cs typeface="Times New Roman" panose="02020603050405020304" pitchFamily="18" charset="0"/>
                <a:sym typeface="+mn-ea"/>
              </a:rPr>
              <a:t>Delight:</a:t>
            </a:r>
            <a:r>
              <a:rPr lang="en-US" altLang="en-US" sz="2800" noProof="0" dirty="0">
                <a:ln>
                  <a:noFill/>
                </a:ln>
                <a:solidFill>
                  <a:schemeClr val="folHlink"/>
                </a:solidFill>
                <a:effectLst/>
                <a:uLnTx/>
                <a:uFillTx/>
                <a:latin typeface="Times New Roman" panose="02020603050405020304" pitchFamily="18" charset="0"/>
                <a:cs typeface="Times New Roman" panose="02020603050405020304" pitchFamily="18" charset="0"/>
                <a:sym typeface="+mn-ea"/>
              </a:rPr>
              <a:t> </a:t>
            </a:r>
            <a:r>
              <a:rPr lang="en-US" altLang="en-US" sz="28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The experience of using the program should be pleasurable one.</a:t>
            </a:r>
            <a:endParaRPr kumimoji="0" lang="en-US"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algn="just"/>
            <a:endParaRPr lang="en-US"/>
          </a:p>
        </p:txBody>
      </p:sp>
    </p:spTree>
    <p:extLst>
      <p:ext uri="{BB962C8B-B14F-4D97-AF65-F5344CB8AC3E}">
        <p14:creationId xmlns:p14="http://schemas.microsoft.com/office/powerpoint/2010/main" xmlns="" val="76548407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1755"/>
            <a:ext cx="8229600" cy="945515"/>
          </a:xfrm>
        </p:spPr>
        <p:txBody>
          <a:bodyPr/>
          <a:lstStyle/>
          <a:p>
            <a:r>
              <a:rPr lang="en-US" b="1"/>
              <a:t>Design Model</a:t>
            </a:r>
          </a:p>
        </p:txBody>
      </p:sp>
      <p:pic>
        <p:nvPicPr>
          <p:cNvPr id="5123" name="Picture 1"/>
          <p:cNvPicPr>
            <a:picLocks noGrp="1" noChangeAspect="1"/>
          </p:cNvPicPr>
          <p:nvPr>
            <p:ph sz="half" idx="1"/>
          </p:nvPr>
        </p:nvPicPr>
        <p:blipFill>
          <a:blip r:embed="rId2"/>
          <a:stretch>
            <a:fillRect/>
          </a:stretch>
        </p:blipFill>
        <p:spPr>
          <a:xfrm>
            <a:off x="542925" y="1303020"/>
            <a:ext cx="8143875" cy="5306695"/>
          </a:xfrm>
          <a:prstGeom prst="rect">
            <a:avLst/>
          </a:prstGeom>
          <a:noFill/>
          <a:ln w="9525">
            <a:noFill/>
          </a:ln>
        </p:spPr>
      </p:pic>
    </p:spTree>
    <p:extLst>
      <p:ext uri="{BB962C8B-B14F-4D97-AF65-F5344CB8AC3E}">
        <p14:creationId xmlns:p14="http://schemas.microsoft.com/office/powerpoint/2010/main" xmlns="" val="103941010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IN" b="1" dirty="0"/>
              <a:t>Design </a:t>
            </a:r>
            <a:r>
              <a:rPr lang="en-US" altLang="en-IN" b="1" dirty="0"/>
              <a:t>C</a:t>
            </a:r>
            <a:r>
              <a:rPr lang="en-IN" b="1" dirty="0" smtClean="0"/>
              <a:t>oncepts</a:t>
            </a:r>
            <a:endParaRPr lang="en-IN" b="1" dirty="0"/>
          </a:p>
        </p:txBody>
      </p:sp>
      <p:sp>
        <p:nvSpPr>
          <p:cNvPr id="3" name="Content Placeholder 2"/>
          <p:cNvSpPr>
            <a:spLocks noGrp="1"/>
          </p:cNvSpPr>
          <p:nvPr>
            <p:ph sz="half" idx="1"/>
          </p:nvPr>
        </p:nvSpPr>
        <p:spPr>
          <a:xfrm>
            <a:off x="457200" y="838200"/>
            <a:ext cx="8382000" cy="5881370"/>
          </a:xfrm>
        </p:spPr>
        <p:txBody>
          <a:bodyPr>
            <a:normAutofit/>
          </a:bodyPr>
          <a:lstStyle/>
          <a:p>
            <a:pPr marL="0" indent="0" algn="just">
              <a:buNone/>
            </a:pPr>
            <a:r>
              <a:rPr lang="en-US" dirty="0"/>
              <a:t>A set of </a:t>
            </a:r>
            <a:r>
              <a:rPr lang="en-US" b="1" dirty="0">
                <a:solidFill>
                  <a:srgbClr val="0070C0"/>
                </a:solidFill>
              </a:rPr>
              <a:t>fundamental software design concepts</a:t>
            </a:r>
            <a:r>
              <a:rPr lang="en-US" dirty="0"/>
              <a:t> has evolved over the history of Software Engineering.</a:t>
            </a:r>
          </a:p>
          <a:p>
            <a:pPr marL="0" indent="0" algn="just">
              <a:buNone/>
            </a:pPr>
            <a:r>
              <a:rPr lang="en-US" dirty="0"/>
              <a:t>Each provides the software designer with a foundation from which more sophisticated design methods can be applied. Each helps you answer the following questions:</a:t>
            </a:r>
          </a:p>
          <a:p>
            <a:pPr algn="just"/>
            <a:r>
              <a:rPr lang="en-US" b="1" dirty="0">
                <a:solidFill>
                  <a:srgbClr val="00B050"/>
                </a:solidFill>
              </a:rPr>
              <a:t>What criteria can be used to partition software into individual components?</a:t>
            </a:r>
          </a:p>
          <a:p>
            <a:pPr algn="just"/>
            <a:r>
              <a:rPr lang="en-US" b="1" dirty="0">
                <a:solidFill>
                  <a:srgbClr val="00B050"/>
                </a:solidFill>
              </a:rPr>
              <a:t>How is function or data structure detail separated from a conceptual representation of the software?</a:t>
            </a:r>
          </a:p>
          <a:p>
            <a:pPr algn="just"/>
            <a:r>
              <a:rPr lang="en-US" b="1" dirty="0">
                <a:solidFill>
                  <a:srgbClr val="00B050"/>
                </a:solidFill>
              </a:rPr>
              <a:t>What uniform criteria define the technical quality of a software design?</a:t>
            </a:r>
          </a:p>
          <a:p>
            <a:pPr marL="0" indent="0" algn="just">
              <a:buNone/>
            </a:pPr>
            <a:endParaRPr lang="en-US" b="1" dirty="0">
              <a:solidFill>
                <a:srgbClr val="00B050"/>
              </a:solidFill>
            </a:endParaRPr>
          </a:p>
        </p:txBody>
      </p:sp>
    </p:spTree>
    <p:extLst>
      <p:ext uri="{BB962C8B-B14F-4D97-AF65-F5344CB8AC3E}">
        <p14:creationId xmlns:p14="http://schemas.microsoft.com/office/powerpoint/2010/main" xmlns="" val="328646528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41375"/>
          </a:xfrm>
        </p:spPr>
        <p:txBody>
          <a:bodyPr>
            <a:normAutofit/>
          </a:bodyPr>
          <a:lstStyle/>
          <a:p>
            <a:r>
              <a:rPr lang="en-IN" b="1" dirty="0">
                <a:sym typeface="+mn-ea"/>
              </a:rPr>
              <a:t>Design </a:t>
            </a:r>
            <a:r>
              <a:rPr lang="en-US" altLang="en-IN" b="1" dirty="0">
                <a:sym typeface="+mn-ea"/>
              </a:rPr>
              <a:t>C</a:t>
            </a:r>
            <a:r>
              <a:rPr lang="en-IN" b="1" dirty="0" smtClean="0">
                <a:sym typeface="+mn-ea"/>
              </a:rPr>
              <a:t>oncepts</a:t>
            </a:r>
            <a:endParaRPr lang="en-US"/>
          </a:p>
        </p:txBody>
      </p:sp>
      <p:sp>
        <p:nvSpPr>
          <p:cNvPr id="3" name="Content Placeholder 2"/>
          <p:cNvSpPr>
            <a:spLocks noGrp="1"/>
          </p:cNvSpPr>
          <p:nvPr>
            <p:ph sz="half" idx="1"/>
          </p:nvPr>
        </p:nvSpPr>
        <p:spPr>
          <a:xfrm>
            <a:off x="457200" y="1050925"/>
            <a:ext cx="8265160" cy="5515610"/>
          </a:xfrm>
        </p:spPr>
        <p:txBody>
          <a:bodyPr>
            <a:normAutofit fontScale="97500"/>
          </a:bodyPr>
          <a:lstStyle/>
          <a:p>
            <a:pPr marL="0" indent="0" algn="just">
              <a:buNone/>
            </a:pPr>
            <a:r>
              <a:rPr lang="en-US" dirty="0">
                <a:sym typeface="+mn-ea"/>
              </a:rPr>
              <a:t>The set of fundamental software design concepts are as follows</a:t>
            </a:r>
            <a:r>
              <a:rPr lang="en-US" dirty="0" smtClean="0">
                <a:sym typeface="+mn-ea"/>
              </a:rPr>
              <a:t>:</a:t>
            </a:r>
            <a:endParaRPr lang="en-US" dirty="0" smtClean="0"/>
          </a:p>
          <a:p>
            <a:pPr algn="just">
              <a:buFont typeface="Wingdings" panose="05000000000000000000" pitchFamily="2" charset="2"/>
              <a:buChar char="v"/>
            </a:pPr>
            <a:r>
              <a:rPr lang="en-IN" b="1" dirty="0" smtClean="0">
                <a:solidFill>
                  <a:srgbClr val="7030A0"/>
                </a:solidFill>
                <a:sym typeface="+mn-ea"/>
              </a:rPr>
              <a:t>Abstraction</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Architecture</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Patterns</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Modularity</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Information hiding</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Functional independence</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Refinement</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Refactoring</a:t>
            </a:r>
            <a:endParaRPr lang="en-IN" b="1" dirty="0" smtClean="0">
              <a:solidFill>
                <a:srgbClr val="7030A0"/>
              </a:solidFill>
            </a:endParaRPr>
          </a:p>
          <a:p>
            <a:pPr algn="just">
              <a:buFont typeface="Wingdings" panose="05000000000000000000" pitchFamily="2" charset="2"/>
              <a:buChar char="v"/>
            </a:pPr>
            <a:r>
              <a:rPr lang="en-IN" b="1" dirty="0" smtClean="0">
                <a:solidFill>
                  <a:srgbClr val="7030A0"/>
                </a:solidFill>
                <a:sym typeface="+mn-ea"/>
              </a:rPr>
              <a:t>Design </a:t>
            </a:r>
            <a:r>
              <a:rPr lang="en-IN" b="1" dirty="0">
                <a:solidFill>
                  <a:srgbClr val="7030A0"/>
                </a:solidFill>
                <a:sym typeface="+mn-ea"/>
              </a:rPr>
              <a:t>classes</a:t>
            </a:r>
            <a:endParaRPr lang="en-IN" dirty="0">
              <a:solidFill>
                <a:srgbClr val="7030A0"/>
              </a:solidFill>
            </a:endParaRPr>
          </a:p>
          <a:p>
            <a:endParaRPr lang="en-US"/>
          </a:p>
        </p:txBody>
      </p:sp>
    </p:spTree>
    <p:extLst>
      <p:ext uri="{BB962C8B-B14F-4D97-AF65-F5344CB8AC3E}">
        <p14:creationId xmlns:p14="http://schemas.microsoft.com/office/powerpoint/2010/main" xmlns="" val="179789353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835" y="76200"/>
            <a:ext cx="8229600" cy="826770"/>
          </a:xfrm>
        </p:spPr>
        <p:txBody>
          <a:bodyPr>
            <a:normAutofit/>
          </a:bodyPr>
          <a:lstStyle/>
          <a:p>
            <a:r>
              <a:rPr lang="en-IN" b="1" dirty="0">
                <a:sym typeface="+mn-ea"/>
              </a:rPr>
              <a:t>Design </a:t>
            </a:r>
            <a:r>
              <a:rPr lang="en-US" altLang="en-IN" b="1" dirty="0">
                <a:sym typeface="+mn-ea"/>
              </a:rPr>
              <a:t>C</a:t>
            </a:r>
            <a:r>
              <a:rPr lang="en-IN" b="1" dirty="0" smtClean="0">
                <a:sym typeface="+mn-ea"/>
              </a:rPr>
              <a:t>oncepts</a:t>
            </a:r>
            <a:endParaRPr lang="en-US"/>
          </a:p>
        </p:txBody>
      </p:sp>
      <p:sp>
        <p:nvSpPr>
          <p:cNvPr id="3" name="Content Placeholder 2"/>
          <p:cNvSpPr>
            <a:spLocks noGrp="1"/>
          </p:cNvSpPr>
          <p:nvPr>
            <p:ph sz="half" idx="1"/>
          </p:nvPr>
        </p:nvSpPr>
        <p:spPr>
          <a:xfrm>
            <a:off x="457835" y="988695"/>
            <a:ext cx="8229600" cy="5689600"/>
          </a:xfrm>
        </p:spPr>
        <p:txBody>
          <a:bodyPr>
            <a:normAutofit fontScale="80000" lnSpcReduction="10000"/>
          </a:bodyPr>
          <a:lstStyle/>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Abstraction</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data, procedure, control</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Architecture</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the overall structure of the software</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Patterns</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”conveys the essence” of a proven design solution</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Separation of concerns</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any complex problem can be more easily handled if it is subdivided into pieces</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Modularity</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compartmentalization of data and function</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Hiding</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controlled interfaces</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Functional independence</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single-minded function and low coupling</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Refinement</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elaboration of detail for all abstractions</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Aspects</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a mechanism for understanding how global requirements affect design</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Refactoring</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a reorganization technique that simplifies the design</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OO design concepts</a:t>
            </a:r>
            <a:endParaRPr lang="en-US" altLang="en-US" dirty="0">
              <a:latin typeface="Times New Roman" panose="02020603050405020304" pitchFamily="18" charset="0"/>
              <a:cs typeface="Times New Roman" panose="02020603050405020304" pitchFamily="18" charset="0"/>
            </a:endParaRPr>
          </a:p>
          <a:p>
            <a:pPr algn="just" eaLnBrk="1" hangingPunct="1">
              <a:lnSpc>
                <a:spcPct val="90000"/>
              </a:lnSpc>
            </a:pPr>
            <a:r>
              <a:rPr lang="en-US" altLang="en-US" dirty="0">
                <a:solidFill>
                  <a:schemeClr val="folHlink"/>
                </a:solidFill>
                <a:latin typeface="Times New Roman" panose="02020603050405020304" pitchFamily="18" charset="0"/>
                <a:cs typeface="Times New Roman" panose="02020603050405020304" pitchFamily="18" charset="0"/>
                <a:sym typeface="+mn-ea"/>
              </a:rPr>
              <a:t>Design Classes</a:t>
            </a:r>
            <a:r>
              <a:rPr lang="en-US" altLang="en-US" dirty="0">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provide design detail that will enable analysis classes to be implemented</a:t>
            </a:r>
            <a:endParaRPr lang="en-US" altLang="en-US" dirty="0">
              <a:latin typeface="Times New Roman" panose="02020603050405020304" pitchFamily="18" charset="0"/>
              <a:ea typeface="Times New Roman" panose="02020603050405020304" pitchFamily="18" charset="0"/>
            </a:endParaRPr>
          </a:p>
          <a:p>
            <a:pPr algn="just"/>
            <a:endParaRPr lang="en-US"/>
          </a:p>
        </p:txBody>
      </p:sp>
    </p:spTree>
    <p:extLst>
      <p:ext uri="{BB962C8B-B14F-4D97-AF65-F5344CB8AC3E}">
        <p14:creationId xmlns:p14="http://schemas.microsoft.com/office/powerpoint/2010/main" xmlns="" val="15216055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6940"/>
          </a:xfrm>
        </p:spPr>
        <p:txBody>
          <a:bodyPr/>
          <a:lstStyle/>
          <a:p>
            <a:r>
              <a:rPr lang="en-US" b="1"/>
              <a:t>Abstraction</a:t>
            </a:r>
          </a:p>
        </p:txBody>
      </p:sp>
      <p:sp>
        <p:nvSpPr>
          <p:cNvPr id="3" name="Content Placeholder 2"/>
          <p:cNvSpPr>
            <a:spLocks noGrp="1"/>
          </p:cNvSpPr>
          <p:nvPr>
            <p:ph sz="half" idx="1"/>
          </p:nvPr>
        </p:nvSpPr>
        <p:spPr>
          <a:xfrm>
            <a:off x="457200" y="988695"/>
            <a:ext cx="8294370" cy="5610860"/>
          </a:xfrm>
        </p:spPr>
        <p:txBody>
          <a:bodyPr>
            <a:normAutofit/>
          </a:bodyPr>
          <a:lstStyle/>
          <a:p>
            <a:pPr algn="just"/>
            <a:r>
              <a:rPr lang="en-US"/>
              <a:t>Abstraction is the </a:t>
            </a:r>
            <a:r>
              <a:rPr lang="en-US" b="1">
                <a:solidFill>
                  <a:srgbClr val="FF0000"/>
                </a:solidFill>
              </a:rPr>
              <a:t>act of representing essential features</a:t>
            </a:r>
            <a:r>
              <a:rPr lang="en-US"/>
              <a:t> without </a:t>
            </a:r>
            <a:r>
              <a:rPr lang="en-US" b="1">
                <a:solidFill>
                  <a:srgbClr val="00B050"/>
                </a:solidFill>
              </a:rPr>
              <a:t>including the background</a:t>
            </a:r>
            <a:r>
              <a:rPr lang="en-US"/>
              <a:t> details or explanations.</a:t>
            </a:r>
          </a:p>
          <a:p>
            <a:pPr algn="just"/>
            <a:r>
              <a:rPr lang="en-US"/>
              <a:t>The abstraction is used to </a:t>
            </a:r>
            <a:r>
              <a:rPr lang="en-US" b="1">
                <a:solidFill>
                  <a:srgbClr val="FFC000"/>
                </a:solidFill>
              </a:rPr>
              <a:t>reduce complexity</a:t>
            </a:r>
            <a:r>
              <a:rPr lang="en-US"/>
              <a:t> and allow efficient design and implementation of complex software systems. </a:t>
            </a:r>
          </a:p>
          <a:p>
            <a:pPr algn="just"/>
            <a:r>
              <a:rPr lang="en-US"/>
              <a:t>Many levels of </a:t>
            </a:r>
            <a:r>
              <a:rPr lang="en-US" b="1">
                <a:solidFill>
                  <a:srgbClr val="FFC000"/>
                </a:solidFill>
              </a:rPr>
              <a:t>abstraction can be posed</a:t>
            </a:r>
            <a:r>
              <a:rPr lang="en-US"/>
              <a:t>.</a:t>
            </a:r>
          </a:p>
          <a:p>
            <a:pPr algn="just"/>
            <a:r>
              <a:rPr lang="en-US"/>
              <a:t> At the </a:t>
            </a:r>
            <a:r>
              <a:rPr lang="en-US" b="1">
                <a:solidFill>
                  <a:srgbClr val="C00000"/>
                </a:solidFill>
              </a:rPr>
              <a:t>highest level of abstraction</a:t>
            </a:r>
            <a:r>
              <a:rPr lang="en-US"/>
              <a:t>, a solution is stated in broad terms using the language of the problem environment. </a:t>
            </a:r>
          </a:p>
          <a:p>
            <a:pPr algn="just"/>
            <a:r>
              <a:rPr lang="en-US"/>
              <a:t>At </a:t>
            </a:r>
            <a:r>
              <a:rPr lang="en-US" b="1">
                <a:solidFill>
                  <a:srgbClr val="C00000"/>
                </a:solidFill>
              </a:rPr>
              <a:t>lower levels of abstraction</a:t>
            </a:r>
            <a:r>
              <a:rPr lang="en-US"/>
              <a:t>, a more detailed description of the solution is provided.</a:t>
            </a:r>
          </a:p>
        </p:txBody>
      </p:sp>
    </p:spTree>
    <p:extLst>
      <p:ext uri="{BB962C8B-B14F-4D97-AF65-F5344CB8AC3E}">
        <p14:creationId xmlns:p14="http://schemas.microsoft.com/office/powerpoint/2010/main" xmlns="" val="393061024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70255"/>
          </a:xfrm>
        </p:spPr>
        <p:txBody>
          <a:bodyPr>
            <a:normAutofit/>
          </a:bodyPr>
          <a:lstStyle/>
          <a:p>
            <a:r>
              <a:rPr lang="en-US" b="1">
                <a:sym typeface="+mn-ea"/>
              </a:rPr>
              <a:t>Abstraction</a:t>
            </a:r>
            <a:endParaRPr lang="en-US" b="1"/>
          </a:p>
        </p:txBody>
      </p:sp>
      <p:sp>
        <p:nvSpPr>
          <p:cNvPr id="3" name="Content Placeholder 2"/>
          <p:cNvSpPr>
            <a:spLocks noGrp="1"/>
          </p:cNvSpPr>
          <p:nvPr>
            <p:ph sz="half" idx="1"/>
          </p:nvPr>
        </p:nvSpPr>
        <p:spPr>
          <a:xfrm>
            <a:off x="457200" y="940435"/>
            <a:ext cx="8369935" cy="5702935"/>
          </a:xfrm>
        </p:spPr>
        <p:txBody>
          <a:bodyPr>
            <a:normAutofit/>
          </a:bodyPr>
          <a:lstStyle/>
          <a:p>
            <a:pPr marL="0" indent="0" algn="just">
              <a:buNone/>
            </a:pPr>
            <a:r>
              <a:rPr lang="en-US" b="1">
                <a:solidFill>
                  <a:srgbClr val="FFC000"/>
                </a:solidFill>
                <a:sym typeface="+mn-ea"/>
              </a:rPr>
              <a:t>Procedural Abstraction</a:t>
            </a:r>
            <a:endParaRPr lang="en-US"/>
          </a:p>
          <a:p>
            <a:pPr algn="just"/>
            <a:r>
              <a:rPr lang="en-US"/>
              <a:t>A </a:t>
            </a:r>
            <a:r>
              <a:rPr lang="en-US" b="1"/>
              <a:t>procedural abstraction</a:t>
            </a:r>
            <a:r>
              <a:rPr lang="en-US"/>
              <a:t> refers to a </a:t>
            </a:r>
            <a:r>
              <a:rPr lang="en-US" b="1">
                <a:solidFill>
                  <a:srgbClr val="00B050"/>
                </a:solidFill>
              </a:rPr>
              <a:t>sequence of instructions</a:t>
            </a:r>
            <a:r>
              <a:rPr lang="en-US"/>
              <a:t> that have a specific and limited function. The name of a procedural abstraction implies the functions, but specific details are suppressed.</a:t>
            </a:r>
          </a:p>
          <a:p>
            <a:pPr algn="just"/>
            <a:r>
              <a:rPr lang="en-US"/>
              <a:t>An example of a procedural abstraction would be the word </a:t>
            </a:r>
            <a:r>
              <a:rPr lang="en-US" b="1">
                <a:solidFill>
                  <a:srgbClr val="C00000"/>
                </a:solidFill>
              </a:rPr>
              <a:t>open for a door</a:t>
            </a:r>
            <a:r>
              <a:rPr lang="en-US"/>
              <a:t>. Open implies a long sequence of procedural steps.</a:t>
            </a:r>
          </a:p>
          <a:p>
            <a:pPr algn="just"/>
            <a:r>
              <a:rPr lang="en-US"/>
              <a:t>e.g., </a:t>
            </a:r>
            <a:r>
              <a:rPr lang="en-US" b="1">
                <a:solidFill>
                  <a:srgbClr val="7030A0"/>
                </a:solidFill>
              </a:rPr>
              <a:t>walk to the door, reach out and grasp knob, turn knob and pull door, step away from moving door, etc.)</a:t>
            </a:r>
            <a:r>
              <a:rPr lang="en-US"/>
              <a:t>.</a:t>
            </a:r>
          </a:p>
          <a:p>
            <a:pPr algn="just"/>
            <a:endParaRPr lang="en-US"/>
          </a:p>
        </p:txBody>
      </p:sp>
    </p:spTree>
    <p:extLst>
      <p:ext uri="{BB962C8B-B14F-4D97-AF65-F5344CB8AC3E}">
        <p14:creationId xmlns:p14="http://schemas.microsoft.com/office/powerpoint/2010/main" xmlns="" val="252785937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08025"/>
          </a:xfrm>
        </p:spPr>
        <p:txBody>
          <a:bodyPr>
            <a:normAutofit fontScale="90000"/>
          </a:bodyPr>
          <a:lstStyle/>
          <a:p>
            <a:r>
              <a:rPr lang="en-US" b="1">
                <a:sym typeface="+mn-ea"/>
              </a:rPr>
              <a:t>Abstraction</a:t>
            </a:r>
            <a:endParaRPr lang="en-US"/>
          </a:p>
        </p:txBody>
      </p:sp>
      <p:sp>
        <p:nvSpPr>
          <p:cNvPr id="3" name="Content Placeholder 2"/>
          <p:cNvSpPr>
            <a:spLocks noGrp="1"/>
          </p:cNvSpPr>
          <p:nvPr>
            <p:ph sz="half" idx="1"/>
          </p:nvPr>
        </p:nvSpPr>
        <p:spPr>
          <a:xfrm>
            <a:off x="457200" y="763905"/>
            <a:ext cx="8228965" cy="5940425"/>
          </a:xfrm>
        </p:spPr>
        <p:txBody>
          <a:bodyPr>
            <a:normAutofit/>
          </a:bodyPr>
          <a:lstStyle/>
          <a:p>
            <a:pPr marL="0" indent="0" algn="just">
              <a:buNone/>
            </a:pPr>
            <a:r>
              <a:rPr lang="en-US" b="1">
                <a:solidFill>
                  <a:srgbClr val="FFC000"/>
                </a:solidFill>
              </a:rPr>
              <a:t>Data Abstraction</a:t>
            </a:r>
          </a:p>
          <a:p>
            <a:pPr algn="just"/>
            <a:r>
              <a:rPr lang="en-US"/>
              <a:t>A data abstraction is a </a:t>
            </a:r>
            <a:r>
              <a:rPr lang="en-US" b="1">
                <a:solidFill>
                  <a:srgbClr val="00B050"/>
                </a:solidFill>
              </a:rPr>
              <a:t>named collection of data</a:t>
            </a:r>
            <a:r>
              <a:rPr lang="en-US"/>
              <a:t> that describes a data object. </a:t>
            </a:r>
          </a:p>
          <a:p>
            <a:pPr algn="just"/>
            <a:r>
              <a:rPr lang="en-US"/>
              <a:t>In the context of the procedural abstraction open, we can define a </a:t>
            </a:r>
            <a:r>
              <a:rPr lang="en-US" b="1">
                <a:solidFill>
                  <a:srgbClr val="7030A0"/>
                </a:solidFill>
              </a:rPr>
              <a:t>data abstraction called door</a:t>
            </a:r>
            <a:r>
              <a:rPr lang="en-US"/>
              <a:t>. </a:t>
            </a:r>
          </a:p>
          <a:p>
            <a:pPr algn="just"/>
            <a:r>
              <a:rPr lang="en-US"/>
              <a:t>Like any data object, the data abstraction for door would</a:t>
            </a:r>
            <a:r>
              <a:rPr lang="en-US" b="1">
                <a:solidFill>
                  <a:srgbClr val="FFC000"/>
                </a:solidFill>
              </a:rPr>
              <a:t> encompass a set of attributes</a:t>
            </a:r>
            <a:r>
              <a:rPr lang="en-US"/>
              <a:t> that describe the door (e.g., door type, swing direction, opening mechanism, weight, dimensions). </a:t>
            </a:r>
          </a:p>
          <a:p>
            <a:pPr algn="just"/>
            <a:r>
              <a:rPr lang="en-US"/>
              <a:t>It follows that the </a:t>
            </a:r>
            <a:r>
              <a:rPr lang="en-US" b="1">
                <a:solidFill>
                  <a:srgbClr val="C00000"/>
                </a:solidFill>
              </a:rPr>
              <a:t>procedural abstraction</a:t>
            </a:r>
            <a:r>
              <a:rPr lang="en-US"/>
              <a:t> open would make use of information contained in the </a:t>
            </a:r>
            <a:r>
              <a:rPr lang="en-US" b="1">
                <a:solidFill>
                  <a:srgbClr val="00B050"/>
                </a:solidFill>
              </a:rPr>
              <a:t>attributes of the data abstraction door</a:t>
            </a:r>
            <a:r>
              <a:rPr lang="en-US"/>
              <a:t>.</a:t>
            </a:r>
          </a:p>
          <a:p>
            <a:pPr algn="just"/>
            <a:endParaRPr lang="en-US"/>
          </a:p>
        </p:txBody>
      </p:sp>
    </p:spTree>
    <p:extLst>
      <p:ext uri="{BB962C8B-B14F-4D97-AF65-F5344CB8AC3E}">
        <p14:creationId xmlns:p14="http://schemas.microsoft.com/office/powerpoint/2010/main" xmlns="" val="372143795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805" y="76200"/>
            <a:ext cx="8229600" cy="950595"/>
          </a:xfrm>
        </p:spPr>
        <p:txBody>
          <a:bodyPr/>
          <a:lstStyle/>
          <a:p>
            <a:r>
              <a:rPr lang="en-US" b="1"/>
              <a:t>Architecture</a:t>
            </a:r>
          </a:p>
        </p:txBody>
      </p:sp>
      <p:sp>
        <p:nvSpPr>
          <p:cNvPr id="3" name="Content Placeholder 2"/>
          <p:cNvSpPr>
            <a:spLocks noGrp="1"/>
          </p:cNvSpPr>
          <p:nvPr>
            <p:ph sz="half" idx="1"/>
          </p:nvPr>
        </p:nvSpPr>
        <p:spPr>
          <a:xfrm>
            <a:off x="457200" y="1026160"/>
            <a:ext cx="8244205" cy="5635625"/>
          </a:xfrm>
        </p:spPr>
        <p:txBody>
          <a:bodyPr>
            <a:normAutofit lnSpcReduction="10000"/>
          </a:bodyPr>
          <a:lstStyle/>
          <a:p>
            <a:pPr algn="just"/>
            <a:r>
              <a:rPr lang="en-US"/>
              <a:t>Software architecture alludes to </a:t>
            </a:r>
            <a:r>
              <a:rPr lang="en-US" b="1">
                <a:solidFill>
                  <a:srgbClr val="C00000"/>
                </a:solidFill>
              </a:rPr>
              <a:t>“the overall structure of the software and the ways in which that structure provides conceptual integrity for a system”</a:t>
            </a:r>
            <a:r>
              <a:rPr lang="en-US"/>
              <a:t>.</a:t>
            </a:r>
          </a:p>
          <a:p>
            <a:pPr algn="just"/>
            <a:r>
              <a:rPr lang="en-US"/>
              <a:t>In its simplest form, architecture is the </a:t>
            </a:r>
            <a:r>
              <a:rPr lang="en-US" b="1">
                <a:solidFill>
                  <a:srgbClr val="00B0F0"/>
                </a:solidFill>
              </a:rPr>
              <a:t>structure or organization of program components</a:t>
            </a:r>
            <a:r>
              <a:rPr lang="en-US"/>
              <a:t> (modules), the manner in which these components interact, and the structure of data that are used by the components.</a:t>
            </a:r>
          </a:p>
          <a:p>
            <a:pPr algn="just"/>
            <a:r>
              <a:rPr lang="en-US"/>
              <a:t>set of </a:t>
            </a:r>
            <a:r>
              <a:rPr lang="en-US" b="1">
                <a:solidFill>
                  <a:srgbClr val="00B050"/>
                </a:solidFill>
              </a:rPr>
              <a:t>properties</a:t>
            </a:r>
            <a:r>
              <a:rPr lang="en-US"/>
              <a:t> that should be specified as part of an architectural design:</a:t>
            </a:r>
          </a:p>
          <a:p>
            <a:pPr lvl="1" algn="just">
              <a:buFont typeface="Wingdings" panose="05000000000000000000" charset="0"/>
              <a:buChar char="Ø"/>
            </a:pPr>
            <a:r>
              <a:rPr lang="en-US">
                <a:solidFill>
                  <a:srgbClr val="FFC000"/>
                </a:solidFill>
              </a:rPr>
              <a:t>	</a:t>
            </a:r>
            <a:r>
              <a:rPr lang="en-US" b="1">
                <a:solidFill>
                  <a:srgbClr val="FFC000"/>
                </a:solidFill>
              </a:rPr>
              <a:t>Structural properties</a:t>
            </a:r>
          </a:p>
          <a:p>
            <a:pPr lvl="1" algn="just">
              <a:buFont typeface="Wingdings" panose="05000000000000000000" charset="0"/>
              <a:buChar char="Ø"/>
            </a:pPr>
            <a:r>
              <a:rPr lang="en-US" b="1">
                <a:solidFill>
                  <a:srgbClr val="FFC000"/>
                </a:solidFill>
              </a:rPr>
              <a:t>	Extra-functional properties</a:t>
            </a:r>
          </a:p>
          <a:p>
            <a:pPr lvl="1" algn="just">
              <a:buFont typeface="Wingdings" panose="05000000000000000000" charset="0"/>
              <a:buChar char="Ø"/>
            </a:pPr>
            <a:r>
              <a:rPr lang="en-US" b="1">
                <a:solidFill>
                  <a:srgbClr val="FFC000"/>
                </a:solidFill>
              </a:rPr>
              <a:t>	Families of related systems</a:t>
            </a:r>
          </a:p>
        </p:txBody>
      </p:sp>
    </p:spTree>
    <p:extLst>
      <p:ext uri="{BB962C8B-B14F-4D97-AF65-F5344CB8AC3E}">
        <p14:creationId xmlns:p14="http://schemas.microsoft.com/office/powerpoint/2010/main" xmlns="" val="62287082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623570"/>
          </a:xfrm>
        </p:spPr>
        <p:txBody>
          <a:bodyPr>
            <a:normAutofit fontScale="90000"/>
          </a:bodyPr>
          <a:lstStyle/>
          <a:p>
            <a:r>
              <a:rPr lang="en-US" b="1">
                <a:sym typeface="+mn-ea"/>
              </a:rPr>
              <a:t/>
            </a:r>
            <a:br>
              <a:rPr lang="en-US" b="1">
                <a:sym typeface="+mn-ea"/>
              </a:rPr>
            </a:br>
            <a:r>
              <a:rPr lang="en-US" b="1">
                <a:sym typeface="+mn-ea"/>
              </a:rPr>
              <a:t>Architecture</a:t>
            </a:r>
            <a:r>
              <a:rPr lang="en-US" b="1"/>
              <a:t/>
            </a:r>
            <a:br>
              <a:rPr lang="en-US" b="1"/>
            </a:br>
            <a:endParaRPr lang="en-US"/>
          </a:p>
        </p:txBody>
      </p:sp>
      <p:sp>
        <p:nvSpPr>
          <p:cNvPr id="3" name="Content Placeholder 2"/>
          <p:cNvSpPr>
            <a:spLocks noGrp="1"/>
          </p:cNvSpPr>
          <p:nvPr>
            <p:ph sz="half" idx="1"/>
          </p:nvPr>
        </p:nvSpPr>
        <p:spPr>
          <a:xfrm>
            <a:off x="419100" y="819150"/>
            <a:ext cx="8267700" cy="5935345"/>
          </a:xfrm>
        </p:spPr>
        <p:txBody>
          <a:bodyPr>
            <a:normAutofit fontScale="90000" lnSpcReduction="20000"/>
          </a:bodyPr>
          <a:lstStyle/>
          <a:p>
            <a:pPr marL="0" indent="0" algn="just">
              <a:buNone/>
            </a:pPr>
            <a:r>
              <a:rPr lang="en-US" b="1">
                <a:sym typeface="+mn-ea"/>
              </a:rPr>
              <a:t>Structural properties</a:t>
            </a:r>
            <a:r>
              <a:rPr lang="en-US">
                <a:sym typeface="+mn-ea"/>
              </a:rPr>
              <a:t>:</a:t>
            </a:r>
            <a:endParaRPr lang="en-US"/>
          </a:p>
          <a:p>
            <a:pPr algn="just"/>
            <a:r>
              <a:rPr lang="en-US"/>
              <a:t>This aspect of the architectural design representation defines the </a:t>
            </a:r>
            <a:r>
              <a:rPr lang="en-US" b="1">
                <a:solidFill>
                  <a:srgbClr val="FFC000"/>
                </a:solidFill>
              </a:rPr>
              <a:t>components of a system</a:t>
            </a:r>
            <a:r>
              <a:rPr lang="en-US"/>
              <a:t> (e.g., modules, objects, filters) and the manner in which those components are </a:t>
            </a:r>
            <a:r>
              <a:rPr lang="en-US" b="1">
                <a:solidFill>
                  <a:srgbClr val="00B050"/>
                </a:solidFill>
              </a:rPr>
              <a:t>packaged and interact</a:t>
            </a:r>
            <a:r>
              <a:rPr lang="en-US"/>
              <a:t> with one another.</a:t>
            </a:r>
          </a:p>
          <a:p>
            <a:pPr marL="0" indent="0" algn="just">
              <a:buNone/>
            </a:pPr>
            <a:r>
              <a:rPr lang="en-US" b="1">
                <a:sym typeface="+mn-ea"/>
              </a:rPr>
              <a:t>Extra-functional properties</a:t>
            </a:r>
            <a:r>
              <a:rPr lang="en-US">
                <a:sym typeface="+mn-ea"/>
              </a:rPr>
              <a:t>:</a:t>
            </a:r>
            <a:endParaRPr lang="en-US"/>
          </a:p>
          <a:p>
            <a:pPr algn="just"/>
            <a:r>
              <a:rPr lang="en-US"/>
              <a:t>The architectural design description should address</a:t>
            </a:r>
          </a:p>
          <a:p>
            <a:pPr marL="0" indent="0" algn="just">
              <a:buNone/>
            </a:pPr>
            <a:r>
              <a:rPr lang="en-US"/>
              <a:t>     </a:t>
            </a:r>
            <a:r>
              <a:rPr lang="en-US" b="1">
                <a:solidFill>
                  <a:srgbClr val="00B050"/>
                </a:solidFill>
              </a:rPr>
              <a:t>how the design architecture</a:t>
            </a:r>
            <a:r>
              <a:rPr lang="en-US"/>
              <a:t> achieves requirements                             for </a:t>
            </a:r>
            <a:r>
              <a:rPr lang="en-US" b="1">
                <a:solidFill>
                  <a:srgbClr val="C00000"/>
                </a:solidFill>
              </a:rPr>
              <a:t>performance, capacity, reliability, security, adaptability,</a:t>
            </a:r>
            <a:r>
              <a:rPr lang="en-US"/>
              <a:t> and other system characteristics.</a:t>
            </a:r>
          </a:p>
          <a:p>
            <a:pPr marL="0" indent="0" algn="just">
              <a:buNone/>
            </a:pPr>
            <a:r>
              <a:rPr lang="en-US" b="1">
                <a:sym typeface="+mn-ea"/>
              </a:rPr>
              <a:t>Families of related systems:</a:t>
            </a:r>
            <a:endParaRPr lang="en-US" b="1"/>
          </a:p>
          <a:p>
            <a:pPr algn="just"/>
            <a:r>
              <a:rPr lang="en-US"/>
              <a:t>The architectural design should draw upon </a:t>
            </a:r>
            <a:r>
              <a:rPr lang="en-US" b="1">
                <a:solidFill>
                  <a:srgbClr val="00B050"/>
                </a:solidFill>
              </a:rPr>
              <a:t>repeatable patterns that are commonly encountered</a:t>
            </a:r>
            <a:r>
              <a:rPr lang="en-US"/>
              <a:t> in the design of families of similar systems. </a:t>
            </a:r>
          </a:p>
          <a:p>
            <a:pPr algn="just"/>
            <a:r>
              <a:rPr lang="en-US"/>
              <a:t>In essence, the design should have the </a:t>
            </a:r>
            <a:r>
              <a:rPr lang="en-US" b="1">
                <a:solidFill>
                  <a:srgbClr val="C00000"/>
                </a:solidFill>
              </a:rPr>
              <a:t>ability to reuse architectural building blocks.</a:t>
            </a:r>
          </a:p>
        </p:txBody>
      </p:sp>
    </p:spTree>
    <p:extLst>
      <p:ext uri="{BB962C8B-B14F-4D97-AF65-F5344CB8AC3E}">
        <p14:creationId xmlns:p14="http://schemas.microsoft.com/office/powerpoint/2010/main" xmlns="" val="133316309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990"/>
            <a:ext cx="8229600" cy="996950"/>
          </a:xfrm>
        </p:spPr>
        <p:txBody>
          <a:bodyPr>
            <a:normAutofit fontScale="90000"/>
          </a:bodyPr>
          <a:lstStyle/>
          <a:p>
            <a:r>
              <a:rPr lang="en-US" b="1">
                <a:sym typeface="+mn-ea"/>
              </a:rPr>
              <a:t/>
            </a:r>
            <a:br>
              <a:rPr lang="en-US" b="1">
                <a:sym typeface="+mn-ea"/>
              </a:rPr>
            </a:br>
            <a:r>
              <a:rPr lang="en-US" b="1">
                <a:sym typeface="+mn-ea"/>
              </a:rPr>
              <a:t>Architecture</a:t>
            </a:r>
            <a:r>
              <a:rPr lang="en-US"/>
              <a:t/>
            </a:r>
            <a:br>
              <a:rPr lang="en-US"/>
            </a:br>
            <a:endParaRPr lang="en-US"/>
          </a:p>
        </p:txBody>
      </p:sp>
      <p:sp>
        <p:nvSpPr>
          <p:cNvPr id="3" name="Content Placeholder 2"/>
          <p:cNvSpPr>
            <a:spLocks noGrp="1"/>
          </p:cNvSpPr>
          <p:nvPr>
            <p:ph sz="half" idx="1"/>
          </p:nvPr>
        </p:nvSpPr>
        <p:spPr>
          <a:xfrm>
            <a:off x="457200" y="979170"/>
            <a:ext cx="8229600" cy="5592445"/>
          </a:xfrm>
        </p:spPr>
        <p:txBody>
          <a:bodyPr>
            <a:normAutofit fontScale="85000" lnSpcReduction="20000"/>
          </a:bodyPr>
          <a:lstStyle/>
          <a:p>
            <a:pPr algn="just"/>
            <a:r>
              <a:rPr lang="en-US"/>
              <a:t>The architectural design can be represented using </a:t>
            </a:r>
            <a:r>
              <a:rPr lang="en-US" b="1">
                <a:solidFill>
                  <a:srgbClr val="C00000"/>
                </a:solidFill>
              </a:rPr>
              <a:t>one or more</a:t>
            </a:r>
            <a:r>
              <a:rPr lang="en-US"/>
              <a:t> of a number of different models.</a:t>
            </a:r>
          </a:p>
          <a:p>
            <a:pPr algn="just"/>
            <a:r>
              <a:rPr lang="en-US" b="1">
                <a:solidFill>
                  <a:srgbClr val="0070C0"/>
                </a:solidFill>
              </a:rPr>
              <a:t>Structural models</a:t>
            </a:r>
            <a:r>
              <a:rPr lang="en-US"/>
              <a:t>: Represent architecture as an </a:t>
            </a:r>
            <a:r>
              <a:rPr lang="en-US" b="1">
                <a:solidFill>
                  <a:srgbClr val="00B050"/>
                </a:solidFill>
              </a:rPr>
              <a:t>organized collection</a:t>
            </a:r>
            <a:r>
              <a:rPr lang="en-US"/>
              <a:t> of program components. </a:t>
            </a:r>
          </a:p>
          <a:p>
            <a:pPr algn="just"/>
            <a:r>
              <a:rPr lang="en-US" b="1">
                <a:solidFill>
                  <a:srgbClr val="0070C0"/>
                </a:solidFill>
              </a:rPr>
              <a:t>Framework models</a:t>
            </a:r>
            <a:r>
              <a:rPr lang="en-US"/>
              <a:t>: </a:t>
            </a:r>
            <a:r>
              <a:rPr lang="en-US" b="1">
                <a:solidFill>
                  <a:srgbClr val="FF0000"/>
                </a:solidFill>
              </a:rPr>
              <a:t>Increase the level of design abstraction</a:t>
            </a:r>
            <a:r>
              <a:rPr lang="en-US"/>
              <a:t> by attempting to identify repeatable architectural design frameworks that are encountered in similar types of applications.</a:t>
            </a:r>
          </a:p>
          <a:p>
            <a:pPr algn="just"/>
            <a:r>
              <a:rPr lang="en-US" b="1">
                <a:solidFill>
                  <a:srgbClr val="0070C0"/>
                </a:solidFill>
              </a:rPr>
              <a:t>Dynamic models</a:t>
            </a:r>
            <a:r>
              <a:rPr lang="en-US"/>
              <a:t> : Address the </a:t>
            </a:r>
            <a:r>
              <a:rPr lang="en-US" b="1">
                <a:solidFill>
                  <a:schemeClr val="accent6">
                    <a:lumMod val="75000"/>
                  </a:schemeClr>
                </a:solidFill>
              </a:rPr>
              <a:t>behavioral aspects of the program architecture</a:t>
            </a:r>
            <a:r>
              <a:rPr lang="en-US"/>
              <a:t>, indicating how the structure or system configuration may change as a function of external events.</a:t>
            </a:r>
          </a:p>
          <a:p>
            <a:pPr algn="just"/>
            <a:r>
              <a:rPr lang="en-US" b="1">
                <a:solidFill>
                  <a:srgbClr val="0070C0"/>
                </a:solidFill>
              </a:rPr>
              <a:t>Process models</a:t>
            </a:r>
            <a:r>
              <a:rPr lang="en-US"/>
              <a:t> :Focus on the design of the </a:t>
            </a:r>
            <a:r>
              <a:rPr lang="en-US" b="1">
                <a:solidFill>
                  <a:schemeClr val="accent6">
                    <a:lumMod val="75000"/>
                  </a:schemeClr>
                </a:solidFill>
              </a:rPr>
              <a:t>business or technical process</a:t>
            </a:r>
            <a:r>
              <a:rPr lang="en-US"/>
              <a:t> that the system must accommodate.</a:t>
            </a:r>
          </a:p>
          <a:p>
            <a:pPr algn="just"/>
            <a:r>
              <a:rPr lang="en-US" b="1">
                <a:solidFill>
                  <a:srgbClr val="0070C0"/>
                </a:solidFill>
              </a:rPr>
              <a:t>Functional models</a:t>
            </a:r>
            <a:r>
              <a:rPr lang="en-US"/>
              <a:t> : can be used to represent the </a:t>
            </a:r>
            <a:r>
              <a:rPr lang="en-US" b="1">
                <a:solidFill>
                  <a:srgbClr val="7030A0"/>
                </a:solidFill>
              </a:rPr>
              <a:t>functional hierarchy</a:t>
            </a:r>
            <a:r>
              <a:rPr lang="en-US"/>
              <a:t> of a system.</a:t>
            </a:r>
          </a:p>
          <a:p>
            <a:pPr algn="just"/>
            <a:r>
              <a:rPr lang="en-US"/>
              <a:t>A number of different architectural description languages (ADLs) have been developed to represent these models.</a:t>
            </a:r>
          </a:p>
        </p:txBody>
      </p:sp>
    </p:spTree>
    <p:extLst>
      <p:ext uri="{BB962C8B-B14F-4D97-AF65-F5344CB8AC3E}">
        <p14:creationId xmlns:p14="http://schemas.microsoft.com/office/powerpoint/2010/main" xmlns="" val="120191205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94385"/>
          </a:xfrm>
        </p:spPr>
        <p:txBody>
          <a:bodyPr/>
          <a:lstStyle/>
          <a:p>
            <a:r>
              <a:rPr lang="en-US" b="1"/>
              <a:t>Patterns</a:t>
            </a:r>
          </a:p>
        </p:txBody>
      </p:sp>
      <p:sp>
        <p:nvSpPr>
          <p:cNvPr id="3" name="Content Placeholder 2"/>
          <p:cNvSpPr>
            <a:spLocks noGrp="1"/>
          </p:cNvSpPr>
          <p:nvPr>
            <p:ph sz="half" idx="1"/>
          </p:nvPr>
        </p:nvSpPr>
        <p:spPr>
          <a:xfrm>
            <a:off x="457200" y="898525"/>
            <a:ext cx="8305800" cy="5227955"/>
          </a:xfrm>
        </p:spPr>
        <p:txBody>
          <a:bodyPr>
            <a:normAutofit/>
          </a:bodyPr>
          <a:lstStyle/>
          <a:p>
            <a:pPr algn="just"/>
            <a:r>
              <a:rPr lang="en-US" b="1"/>
              <a:t>Brad Appleton</a:t>
            </a:r>
            <a:r>
              <a:rPr lang="en-US"/>
              <a:t> defines a design pattern in the following manner: “A pattern is a named nugget of insight which </a:t>
            </a:r>
            <a:r>
              <a:rPr lang="en-US" b="1">
                <a:solidFill>
                  <a:srgbClr val="7030A0"/>
                </a:solidFill>
              </a:rPr>
              <a:t>conveys the essence of a proven solution</a:t>
            </a:r>
            <a:r>
              <a:rPr lang="en-US"/>
              <a:t> to a recurring problem within a certain context amidst competing concerns”.</a:t>
            </a:r>
          </a:p>
          <a:p>
            <a:pPr algn="just"/>
            <a:r>
              <a:rPr lang="en-US"/>
              <a:t>Design pattern describes a </a:t>
            </a:r>
            <a:r>
              <a:rPr lang="en-US" b="1">
                <a:solidFill>
                  <a:srgbClr val="00B050"/>
                </a:solidFill>
              </a:rPr>
              <a:t>design structure</a:t>
            </a:r>
            <a:r>
              <a:rPr lang="en-US"/>
              <a:t> that solves a particular design problem within a specific context and amid </a:t>
            </a:r>
            <a:r>
              <a:rPr lang="en-US" b="1">
                <a:solidFill>
                  <a:srgbClr val="00B050"/>
                </a:solidFill>
              </a:rPr>
              <a:t>“forces”</a:t>
            </a:r>
            <a:r>
              <a:rPr lang="en-US"/>
              <a:t> that may have an impact</a:t>
            </a:r>
          </a:p>
          <a:p>
            <a:pPr marL="0" indent="0" algn="just">
              <a:buNone/>
            </a:pPr>
            <a:r>
              <a:rPr lang="en-US"/>
              <a:t> on the manner in which the pattern is </a:t>
            </a:r>
            <a:r>
              <a:rPr lang="en-US" b="1">
                <a:solidFill>
                  <a:srgbClr val="0070C0"/>
                </a:solidFill>
              </a:rPr>
              <a:t>applied and used</a:t>
            </a:r>
            <a:r>
              <a:rPr lang="en-US"/>
              <a:t>.</a:t>
            </a:r>
          </a:p>
        </p:txBody>
      </p:sp>
    </p:spTree>
    <p:extLst>
      <p:ext uri="{BB962C8B-B14F-4D97-AF65-F5344CB8AC3E}">
        <p14:creationId xmlns:p14="http://schemas.microsoft.com/office/powerpoint/2010/main" xmlns="" val="82031430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6150"/>
          </a:xfrm>
        </p:spPr>
        <p:txBody>
          <a:bodyPr>
            <a:normAutofit/>
          </a:bodyPr>
          <a:lstStyle/>
          <a:p>
            <a:r>
              <a:rPr lang="en-US" b="1">
                <a:sym typeface="+mn-ea"/>
              </a:rPr>
              <a:t>Patterns</a:t>
            </a:r>
            <a:endParaRPr lang="en-US" b="1"/>
          </a:p>
        </p:txBody>
      </p:sp>
      <p:sp>
        <p:nvSpPr>
          <p:cNvPr id="3" name="Content Placeholder 2"/>
          <p:cNvSpPr>
            <a:spLocks noGrp="1"/>
          </p:cNvSpPr>
          <p:nvPr>
            <p:ph sz="half" idx="1"/>
          </p:nvPr>
        </p:nvSpPr>
        <p:spPr>
          <a:xfrm>
            <a:off x="457200" y="1250950"/>
            <a:ext cx="8211820" cy="5382895"/>
          </a:xfrm>
        </p:spPr>
        <p:txBody>
          <a:bodyPr>
            <a:normAutofit/>
          </a:bodyPr>
          <a:lstStyle/>
          <a:p>
            <a:pPr algn="just"/>
            <a:r>
              <a:rPr lang="en-US"/>
              <a:t>The intent of each design pattern is to provide a description that enables a designer to determine:</a:t>
            </a:r>
          </a:p>
          <a:p>
            <a:pPr marL="0" indent="0" algn="just">
              <a:buNone/>
            </a:pPr>
            <a:endParaRPr lang="en-US"/>
          </a:p>
          <a:p>
            <a:pPr marL="0" indent="0" algn="just">
              <a:buNone/>
            </a:pPr>
            <a:r>
              <a:rPr lang="en-US"/>
              <a:t>(1) whether the </a:t>
            </a:r>
            <a:r>
              <a:rPr lang="en-US" b="1">
                <a:solidFill>
                  <a:srgbClr val="0070C0"/>
                </a:solidFill>
              </a:rPr>
              <a:t>pattern is applicable</a:t>
            </a:r>
            <a:r>
              <a:rPr lang="en-US"/>
              <a:t> to the current work,</a:t>
            </a:r>
          </a:p>
          <a:p>
            <a:pPr marL="0" indent="0" algn="just">
              <a:buNone/>
            </a:pPr>
            <a:r>
              <a:rPr lang="en-US"/>
              <a:t>(2) whether the </a:t>
            </a:r>
            <a:r>
              <a:rPr lang="en-US" b="1">
                <a:solidFill>
                  <a:srgbClr val="00B050"/>
                </a:solidFill>
              </a:rPr>
              <a:t>pattern can be reused</a:t>
            </a:r>
            <a:r>
              <a:rPr lang="en-US"/>
              <a:t> (hence, saving design time), and </a:t>
            </a:r>
          </a:p>
          <a:p>
            <a:pPr marL="0" indent="0" algn="just">
              <a:buNone/>
            </a:pPr>
            <a:r>
              <a:rPr lang="en-US"/>
              <a:t>(3) whether the </a:t>
            </a:r>
            <a:r>
              <a:rPr lang="en-US" b="1">
                <a:solidFill>
                  <a:schemeClr val="accent6">
                    <a:lumMod val="75000"/>
                  </a:schemeClr>
                </a:solidFill>
              </a:rPr>
              <a:t>pattern can serve as a guide</a:t>
            </a:r>
            <a:r>
              <a:rPr lang="en-US"/>
              <a:t> for developing a similar, but functionally or structurally</a:t>
            </a:r>
          </a:p>
          <a:p>
            <a:pPr marL="0" indent="0" algn="just">
              <a:buNone/>
            </a:pPr>
            <a:r>
              <a:rPr lang="en-US"/>
              <a:t>different pattern.</a:t>
            </a:r>
          </a:p>
        </p:txBody>
      </p:sp>
    </p:spTree>
    <p:extLst>
      <p:ext uri="{BB962C8B-B14F-4D97-AF65-F5344CB8AC3E}">
        <p14:creationId xmlns:p14="http://schemas.microsoft.com/office/powerpoint/2010/main" xmlns="" val="271154607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89000"/>
          </a:xfrm>
        </p:spPr>
        <p:txBody>
          <a:bodyPr/>
          <a:lstStyle/>
          <a:p>
            <a:r>
              <a:rPr lang="en-US" b="1"/>
              <a:t>Separation of Concerns</a:t>
            </a:r>
          </a:p>
        </p:txBody>
      </p:sp>
      <p:sp>
        <p:nvSpPr>
          <p:cNvPr id="3" name="Content Placeholder 2"/>
          <p:cNvSpPr>
            <a:spLocks noGrp="1"/>
          </p:cNvSpPr>
          <p:nvPr>
            <p:ph sz="half" idx="1"/>
          </p:nvPr>
        </p:nvSpPr>
        <p:spPr>
          <a:xfrm>
            <a:off x="457200" y="949325"/>
            <a:ext cx="8228965" cy="5741035"/>
          </a:xfrm>
        </p:spPr>
        <p:txBody>
          <a:bodyPr>
            <a:noAutofit/>
          </a:bodyPr>
          <a:lstStyle/>
          <a:p>
            <a:pPr algn="just"/>
            <a:r>
              <a:rPr lang="en-US" sz="2400"/>
              <a:t>Separation of concerns is a </a:t>
            </a:r>
            <a:r>
              <a:rPr lang="en-US" sz="2400" b="1">
                <a:solidFill>
                  <a:schemeClr val="accent6">
                    <a:lumMod val="75000"/>
                  </a:schemeClr>
                </a:solidFill>
              </a:rPr>
              <a:t>design concept</a:t>
            </a:r>
            <a:r>
              <a:rPr lang="en-US" sz="2400"/>
              <a:t> that suggests that any </a:t>
            </a:r>
            <a:r>
              <a:rPr lang="en-US" sz="2400" b="1">
                <a:solidFill>
                  <a:schemeClr val="accent4">
                    <a:lumMod val="75000"/>
                  </a:schemeClr>
                </a:solidFill>
              </a:rPr>
              <a:t>complex problem</a:t>
            </a:r>
            <a:r>
              <a:rPr lang="en-US" sz="2400"/>
              <a:t> can be more easily handled if it is </a:t>
            </a:r>
            <a:r>
              <a:rPr lang="en-US" sz="2400" b="1">
                <a:solidFill>
                  <a:srgbClr val="00B050"/>
                </a:solidFill>
              </a:rPr>
              <a:t>subdivided into pieces</a:t>
            </a:r>
            <a:r>
              <a:rPr lang="en-US" sz="2400"/>
              <a:t> that can each be solved and/or optimized independently. </a:t>
            </a:r>
          </a:p>
          <a:p>
            <a:pPr algn="just"/>
            <a:r>
              <a:rPr lang="en-US" sz="2400"/>
              <a:t>A concern is a </a:t>
            </a:r>
            <a:r>
              <a:rPr lang="en-US" sz="2400" b="1">
                <a:solidFill>
                  <a:srgbClr val="FFC000"/>
                </a:solidFill>
              </a:rPr>
              <a:t>feature or behavior</a:t>
            </a:r>
            <a:r>
              <a:rPr lang="en-US" sz="2400"/>
              <a:t> that is specified as part of the requirements model for the software. </a:t>
            </a:r>
          </a:p>
          <a:p>
            <a:pPr algn="just"/>
            <a:r>
              <a:rPr lang="en-US" sz="2400"/>
              <a:t>By separating concerns into smaller, and therefore more manageable pieces, </a:t>
            </a:r>
            <a:r>
              <a:rPr lang="en-US" sz="2400" b="1">
                <a:solidFill>
                  <a:srgbClr val="FFC000"/>
                </a:solidFill>
              </a:rPr>
              <a:t>a problem takes less effort and time to solve.</a:t>
            </a:r>
          </a:p>
          <a:p>
            <a:pPr algn="just"/>
            <a:r>
              <a:rPr lang="en-US" sz="2400"/>
              <a:t>For two problems,</a:t>
            </a:r>
            <a:r>
              <a:rPr lang="en-US" sz="2400" b="1">
                <a:solidFill>
                  <a:schemeClr val="accent6">
                    <a:lumMod val="75000"/>
                  </a:schemeClr>
                </a:solidFill>
              </a:rPr>
              <a:t> p1 and p2</a:t>
            </a:r>
            <a:r>
              <a:rPr lang="en-US" sz="2400"/>
              <a:t>, if the perceived complexity of p1 is greater than the perceived complexity of p2, it follows that the </a:t>
            </a:r>
            <a:r>
              <a:rPr lang="en-US" sz="2400" b="1">
                <a:solidFill>
                  <a:srgbClr val="C00000"/>
                </a:solidFill>
              </a:rPr>
              <a:t>effort required to solve p1 is greater</a:t>
            </a:r>
            <a:r>
              <a:rPr lang="en-US" sz="2400"/>
              <a:t> than the effort required to solve p2. As a general case, this result is intuitively obvious.</a:t>
            </a:r>
          </a:p>
          <a:p>
            <a:pPr algn="just"/>
            <a:endParaRPr lang="en-US" sz="2400"/>
          </a:p>
        </p:txBody>
      </p:sp>
    </p:spTree>
    <p:extLst>
      <p:ext uri="{BB962C8B-B14F-4D97-AF65-F5344CB8AC3E}">
        <p14:creationId xmlns:p14="http://schemas.microsoft.com/office/powerpoint/2010/main" xmlns="" val="265663842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79780"/>
          </a:xfrm>
        </p:spPr>
        <p:txBody>
          <a:bodyPr>
            <a:normAutofit fontScale="90000"/>
          </a:bodyPr>
          <a:lstStyle/>
          <a:p>
            <a:r>
              <a:rPr lang="en-US" b="1">
                <a:sym typeface="+mn-ea"/>
              </a:rPr>
              <a:t/>
            </a:r>
            <a:br>
              <a:rPr lang="en-US" b="1">
                <a:sym typeface="+mn-ea"/>
              </a:rPr>
            </a:br>
            <a:r>
              <a:rPr lang="en-US" b="1">
                <a:sym typeface="+mn-ea"/>
              </a:rPr>
              <a:t>Separation of Concerns</a:t>
            </a:r>
            <a:r>
              <a:rPr lang="en-US" b="1"/>
              <a:t/>
            </a:r>
            <a:br>
              <a:rPr lang="en-US" b="1"/>
            </a:br>
            <a:endParaRPr lang="en-US"/>
          </a:p>
        </p:txBody>
      </p:sp>
      <p:sp>
        <p:nvSpPr>
          <p:cNvPr id="3" name="Content Placeholder 2"/>
          <p:cNvSpPr>
            <a:spLocks noGrp="1"/>
          </p:cNvSpPr>
          <p:nvPr>
            <p:ph sz="half" idx="1"/>
          </p:nvPr>
        </p:nvSpPr>
        <p:spPr>
          <a:xfrm>
            <a:off x="457200" y="1264285"/>
            <a:ext cx="8229600" cy="5288915"/>
          </a:xfrm>
        </p:spPr>
        <p:txBody>
          <a:bodyPr>
            <a:normAutofit/>
          </a:bodyPr>
          <a:lstStyle/>
          <a:p>
            <a:pPr algn="just"/>
            <a:r>
              <a:rPr lang="en-US">
                <a:sym typeface="+mn-ea"/>
              </a:rPr>
              <a:t>It does not </a:t>
            </a:r>
            <a:r>
              <a:rPr lang="en-US" b="1">
                <a:solidFill>
                  <a:srgbClr val="FF0000"/>
                </a:solidFill>
                <a:sym typeface="+mn-ea"/>
              </a:rPr>
              <a:t>take more time to solve</a:t>
            </a:r>
            <a:r>
              <a:rPr lang="en-US">
                <a:sym typeface="+mn-ea"/>
              </a:rPr>
              <a:t> a difficult problem.</a:t>
            </a:r>
            <a:endParaRPr lang="en-US"/>
          </a:p>
          <a:p>
            <a:pPr algn="just"/>
            <a:r>
              <a:rPr lang="en-US">
                <a:sym typeface="+mn-ea"/>
              </a:rPr>
              <a:t>Separation of concerns is manifested in other related design concepts: </a:t>
            </a:r>
            <a:endParaRPr lang="en-US"/>
          </a:p>
          <a:p>
            <a:pPr marL="0" indent="0" algn="just">
              <a:buFont typeface="Wingdings" panose="05000000000000000000" charset="0"/>
              <a:buNone/>
            </a:pPr>
            <a:r>
              <a:rPr lang="en-US" b="1">
                <a:solidFill>
                  <a:srgbClr val="00B0F0"/>
                </a:solidFill>
                <a:sym typeface="+mn-ea"/>
              </a:rPr>
              <a:t>	Modularity, </a:t>
            </a:r>
            <a:endParaRPr lang="en-US" b="1">
              <a:solidFill>
                <a:srgbClr val="00B0F0"/>
              </a:solidFill>
            </a:endParaRPr>
          </a:p>
          <a:p>
            <a:pPr marL="0" indent="0" algn="just">
              <a:buNone/>
            </a:pPr>
            <a:r>
              <a:rPr lang="en-US" b="1">
                <a:solidFill>
                  <a:srgbClr val="00B0F0"/>
                </a:solidFill>
                <a:sym typeface="+mn-ea"/>
              </a:rPr>
              <a:t>	Aspects, </a:t>
            </a:r>
            <a:endParaRPr lang="en-US" b="1">
              <a:solidFill>
                <a:srgbClr val="00B0F0"/>
              </a:solidFill>
            </a:endParaRPr>
          </a:p>
          <a:p>
            <a:pPr marL="0" indent="0" algn="just">
              <a:buNone/>
            </a:pPr>
            <a:r>
              <a:rPr lang="en-US" b="1">
                <a:solidFill>
                  <a:srgbClr val="00B0F0"/>
                </a:solidFill>
                <a:sym typeface="+mn-ea"/>
              </a:rPr>
              <a:t>	Functional Independence, </a:t>
            </a:r>
            <a:endParaRPr lang="en-US" b="1">
              <a:solidFill>
                <a:srgbClr val="00B0F0"/>
              </a:solidFill>
            </a:endParaRPr>
          </a:p>
          <a:p>
            <a:pPr marL="0" indent="0" algn="just">
              <a:buNone/>
            </a:pPr>
            <a:r>
              <a:rPr lang="en-US" b="1">
                <a:solidFill>
                  <a:srgbClr val="00B0F0"/>
                </a:solidFill>
                <a:sym typeface="+mn-ea"/>
              </a:rPr>
              <a:t>	Refinement.</a:t>
            </a:r>
            <a:endParaRPr lang="en-US" b="1">
              <a:solidFill>
                <a:srgbClr val="00B0F0"/>
              </a:solidFill>
            </a:endParaRPr>
          </a:p>
          <a:p>
            <a:endParaRPr lang="en-US" b="1">
              <a:solidFill>
                <a:srgbClr val="00B0F0"/>
              </a:solidFill>
            </a:endParaRPr>
          </a:p>
        </p:txBody>
      </p:sp>
    </p:spTree>
    <p:extLst>
      <p:ext uri="{BB962C8B-B14F-4D97-AF65-F5344CB8AC3E}">
        <p14:creationId xmlns:p14="http://schemas.microsoft.com/office/powerpoint/2010/main" xmlns="" val="156903448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955" y="76200"/>
            <a:ext cx="8229600" cy="794385"/>
          </a:xfrm>
        </p:spPr>
        <p:txBody>
          <a:bodyPr>
            <a:normAutofit/>
          </a:bodyPr>
          <a:lstStyle/>
          <a:p>
            <a:r>
              <a:rPr lang="en-US" b="1"/>
              <a:t>Modularity</a:t>
            </a:r>
          </a:p>
        </p:txBody>
      </p:sp>
      <p:sp>
        <p:nvSpPr>
          <p:cNvPr id="3" name="Content Placeholder 2"/>
          <p:cNvSpPr>
            <a:spLocks noGrp="1"/>
          </p:cNvSpPr>
          <p:nvPr>
            <p:ph sz="half" idx="1"/>
          </p:nvPr>
        </p:nvSpPr>
        <p:spPr>
          <a:xfrm>
            <a:off x="457200" y="946150"/>
            <a:ext cx="8301355" cy="5744845"/>
          </a:xfrm>
        </p:spPr>
        <p:txBody>
          <a:bodyPr>
            <a:normAutofit/>
          </a:bodyPr>
          <a:lstStyle/>
          <a:p>
            <a:pPr algn="just"/>
            <a:r>
              <a:rPr lang="en-US"/>
              <a:t>Modularity is the most </a:t>
            </a:r>
            <a:r>
              <a:rPr lang="en-US" b="1">
                <a:solidFill>
                  <a:srgbClr val="FFC000"/>
                </a:solidFill>
              </a:rPr>
              <a:t>common manifestation</a:t>
            </a:r>
            <a:r>
              <a:rPr lang="en-US"/>
              <a:t> of separation of concerns. </a:t>
            </a:r>
          </a:p>
          <a:p>
            <a:pPr algn="just"/>
            <a:r>
              <a:rPr lang="en-US"/>
              <a:t>Software is </a:t>
            </a:r>
            <a:r>
              <a:rPr lang="en-US" b="1">
                <a:solidFill>
                  <a:srgbClr val="C00000"/>
                </a:solidFill>
              </a:rPr>
              <a:t>divided into separately named and addressable components</a:t>
            </a:r>
            <a:r>
              <a:rPr lang="en-US"/>
              <a:t>, sometimes called modules, that are integrated to satisfy problem requirements.</a:t>
            </a:r>
          </a:p>
          <a:p>
            <a:pPr algn="just"/>
            <a:r>
              <a:rPr lang="en-US"/>
              <a:t>It has been stated that </a:t>
            </a:r>
            <a:r>
              <a:rPr lang="en-US" b="1">
                <a:solidFill>
                  <a:srgbClr val="00B050"/>
                </a:solidFill>
              </a:rPr>
              <a:t>“modularity is the single attribute of software that allows a program to be intellectually manageable”</a:t>
            </a:r>
            <a:endParaRPr lang="en-US"/>
          </a:p>
          <a:p>
            <a:pPr marL="0" indent="0" algn="just">
              <a:buNone/>
            </a:pPr>
            <a:endParaRPr lang="en-US"/>
          </a:p>
        </p:txBody>
      </p:sp>
    </p:spTree>
    <p:extLst>
      <p:ext uri="{BB962C8B-B14F-4D97-AF65-F5344CB8AC3E}">
        <p14:creationId xmlns:p14="http://schemas.microsoft.com/office/powerpoint/2010/main" xmlns="" val="396835601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08990"/>
          </a:xfrm>
        </p:spPr>
        <p:txBody>
          <a:bodyPr>
            <a:normAutofit/>
          </a:bodyPr>
          <a:lstStyle/>
          <a:p>
            <a:r>
              <a:rPr lang="en-US" b="1">
                <a:sym typeface="+mn-ea"/>
              </a:rPr>
              <a:t>Modularity</a:t>
            </a:r>
            <a:endParaRPr lang="en-US"/>
          </a:p>
        </p:txBody>
      </p:sp>
      <p:sp>
        <p:nvSpPr>
          <p:cNvPr id="3" name="Content Placeholder 2"/>
          <p:cNvSpPr>
            <a:spLocks noGrp="1"/>
          </p:cNvSpPr>
          <p:nvPr>
            <p:ph sz="half" idx="1"/>
          </p:nvPr>
        </p:nvSpPr>
        <p:spPr>
          <a:xfrm>
            <a:off x="457200" y="911860"/>
            <a:ext cx="8315960" cy="5214620"/>
          </a:xfrm>
        </p:spPr>
        <p:txBody>
          <a:bodyPr/>
          <a:lstStyle/>
          <a:p>
            <a:pPr algn="just"/>
            <a:r>
              <a:rPr lang="en-US"/>
              <a:t>However, as the number of </a:t>
            </a:r>
            <a:r>
              <a:rPr lang="en-US" b="1">
                <a:solidFill>
                  <a:srgbClr val="00B050"/>
                </a:solidFill>
              </a:rPr>
              <a:t>modules grows</a:t>
            </a:r>
            <a:r>
              <a:rPr lang="en-US"/>
              <a:t>, the effort (cost) associated with integrating the </a:t>
            </a:r>
            <a:r>
              <a:rPr lang="en-US" b="1">
                <a:solidFill>
                  <a:srgbClr val="0070C0"/>
                </a:solidFill>
              </a:rPr>
              <a:t>modules also grows</a:t>
            </a:r>
            <a:r>
              <a:rPr lang="en-US"/>
              <a:t>.</a:t>
            </a:r>
          </a:p>
        </p:txBody>
      </p:sp>
      <p:graphicFrame>
        <p:nvGraphicFramePr>
          <p:cNvPr id="5" name="Content Placeholder 4"/>
          <p:cNvGraphicFramePr>
            <a:graphicFrameLocks noGrp="1"/>
          </p:cNvGraphicFramePr>
          <p:nvPr>
            <p:ph sz="half" idx="2"/>
          </p:nvPr>
        </p:nvGraphicFramePr>
        <p:xfrm>
          <a:off x="2105025" y="3008630"/>
          <a:ext cx="5561965" cy="3433445"/>
        </p:xfrm>
        <a:graphic>
          <a:graphicData uri="http://schemas.openxmlformats.org/presentationml/2006/ole">
            <p:oleObj spid="_x0000_s53264" r:id="rId3" imgW="4923810" imgH="2876190" progId="PBrush">
              <p:embed/>
            </p:oleObj>
          </a:graphicData>
        </a:graphic>
      </p:graphicFrame>
    </p:spTree>
    <p:extLst>
      <p:ext uri="{BB962C8B-B14F-4D97-AF65-F5344CB8AC3E}">
        <p14:creationId xmlns:p14="http://schemas.microsoft.com/office/powerpoint/2010/main" xmlns="" val="851837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64870"/>
          </a:xfrm>
        </p:spPr>
        <p:txBody>
          <a:bodyPr/>
          <a:lstStyle/>
          <a:p>
            <a:r>
              <a:rPr lang="en-US" b="1"/>
              <a:t>Information Hiding</a:t>
            </a:r>
          </a:p>
        </p:txBody>
      </p:sp>
      <p:sp>
        <p:nvSpPr>
          <p:cNvPr id="3" name="Content Placeholder 2"/>
          <p:cNvSpPr>
            <a:spLocks noGrp="1"/>
          </p:cNvSpPr>
          <p:nvPr>
            <p:ph sz="half" idx="1"/>
          </p:nvPr>
        </p:nvSpPr>
        <p:spPr>
          <a:xfrm>
            <a:off x="457200" y="1127125"/>
            <a:ext cx="8273415" cy="5377815"/>
          </a:xfrm>
        </p:spPr>
        <p:txBody>
          <a:bodyPr>
            <a:normAutofit/>
          </a:bodyPr>
          <a:lstStyle/>
          <a:p>
            <a:pPr algn="just"/>
            <a:r>
              <a:rPr lang="en-US"/>
              <a:t>The principle of information hiding suggests that modules be </a:t>
            </a:r>
            <a:r>
              <a:rPr lang="en-US" b="1">
                <a:solidFill>
                  <a:srgbClr val="FFC000"/>
                </a:solidFill>
              </a:rPr>
              <a:t>“characterized by design decisions that hides from all others.”</a:t>
            </a:r>
            <a:endParaRPr lang="en-US"/>
          </a:p>
          <a:p>
            <a:pPr algn="just"/>
            <a:r>
              <a:rPr lang="en-US"/>
              <a:t> In other words, modules should be specified and designed so that information contained within a module is </a:t>
            </a:r>
            <a:r>
              <a:rPr lang="en-US" b="1">
                <a:solidFill>
                  <a:srgbClr val="C00000"/>
                </a:solidFill>
              </a:rPr>
              <a:t>inaccessible to other modules</a:t>
            </a:r>
            <a:r>
              <a:rPr lang="en-US"/>
              <a:t> that have no need for such information.</a:t>
            </a:r>
          </a:p>
          <a:p>
            <a:pPr algn="just"/>
            <a:r>
              <a:rPr lang="en-US"/>
              <a:t>The use of </a:t>
            </a:r>
            <a:r>
              <a:rPr lang="en-US" b="1">
                <a:solidFill>
                  <a:srgbClr val="FF0000"/>
                </a:solidFill>
              </a:rPr>
              <a:t>information hiding</a:t>
            </a:r>
            <a:r>
              <a:rPr lang="en-US"/>
              <a:t> as a design criterion for modular systems provides the greatest benefits when </a:t>
            </a:r>
            <a:r>
              <a:rPr lang="en-US" b="1">
                <a:solidFill>
                  <a:srgbClr val="00B050"/>
                </a:solidFill>
              </a:rPr>
              <a:t>modifications are required during testing</a:t>
            </a:r>
            <a:r>
              <a:rPr lang="en-US"/>
              <a:t> and later during software maintenance.</a:t>
            </a:r>
          </a:p>
        </p:txBody>
      </p:sp>
    </p:spTree>
    <p:extLst>
      <p:ext uri="{BB962C8B-B14F-4D97-AF65-F5344CB8AC3E}">
        <p14:creationId xmlns:p14="http://schemas.microsoft.com/office/powerpoint/2010/main" xmlns="" val="32622857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41375"/>
          </a:xfrm>
        </p:spPr>
        <p:txBody>
          <a:bodyPr/>
          <a:lstStyle/>
          <a:p>
            <a:r>
              <a:rPr lang="en-US" b="1"/>
              <a:t>Functional Independence</a:t>
            </a:r>
          </a:p>
        </p:txBody>
      </p:sp>
      <p:sp>
        <p:nvSpPr>
          <p:cNvPr id="3" name="Content Placeholder 2"/>
          <p:cNvSpPr>
            <a:spLocks noGrp="1"/>
          </p:cNvSpPr>
          <p:nvPr>
            <p:ph sz="half" idx="1"/>
          </p:nvPr>
        </p:nvSpPr>
        <p:spPr>
          <a:xfrm>
            <a:off x="457200" y="946150"/>
            <a:ext cx="8348980" cy="5668645"/>
          </a:xfrm>
        </p:spPr>
        <p:txBody>
          <a:bodyPr>
            <a:normAutofit/>
          </a:bodyPr>
          <a:lstStyle/>
          <a:p>
            <a:pPr algn="just">
              <a:buFont typeface="Arial" panose="020B0604020202020204" pitchFamily="34" charset="0"/>
              <a:buChar char="•"/>
            </a:pPr>
            <a:r>
              <a:rPr lang="en-US"/>
              <a:t>The concept of </a:t>
            </a:r>
            <a:r>
              <a:rPr lang="en-US" b="1">
                <a:solidFill>
                  <a:srgbClr val="00B050"/>
                </a:solidFill>
              </a:rPr>
              <a:t>functional independence</a:t>
            </a:r>
            <a:r>
              <a:rPr lang="en-US"/>
              <a:t> is a direct outgrowth of separation of concerns, modularity, and the concepts of </a:t>
            </a:r>
            <a:r>
              <a:rPr lang="en-US" b="1">
                <a:solidFill>
                  <a:srgbClr val="FF0000"/>
                </a:solidFill>
              </a:rPr>
              <a:t>abstraction and information hiding</a:t>
            </a:r>
            <a:r>
              <a:rPr lang="en-US"/>
              <a:t>.</a:t>
            </a:r>
          </a:p>
          <a:p>
            <a:pPr algn="just">
              <a:buFont typeface="Arial" panose="020B0604020202020204" pitchFamily="34" charset="0"/>
              <a:buChar char="•"/>
            </a:pPr>
            <a:r>
              <a:rPr lang="en-US"/>
              <a:t> Functional independence is achieved by developing modules with </a:t>
            </a:r>
            <a:r>
              <a:rPr lang="en-US" b="1">
                <a:solidFill>
                  <a:srgbClr val="00B0F0"/>
                </a:solidFill>
              </a:rPr>
              <a:t>“single minded” function and an “aversion”</a:t>
            </a:r>
            <a:r>
              <a:rPr lang="en-US"/>
              <a:t> to excessive interaction with other modules.</a:t>
            </a:r>
          </a:p>
          <a:p>
            <a:pPr algn="just"/>
            <a:r>
              <a:rPr lang="en-US"/>
              <a:t>Independence is assessed using two qualitative criteria: </a:t>
            </a:r>
          </a:p>
          <a:p>
            <a:pPr lvl="1" algn="just"/>
            <a:r>
              <a:rPr lang="en-US" b="1">
                <a:solidFill>
                  <a:srgbClr val="FF0000"/>
                </a:solidFill>
              </a:rPr>
              <a:t>Cohesion </a:t>
            </a:r>
          </a:p>
          <a:p>
            <a:pPr lvl="1" algn="just"/>
            <a:r>
              <a:rPr lang="en-US" b="1">
                <a:solidFill>
                  <a:srgbClr val="FF0000"/>
                </a:solidFill>
              </a:rPr>
              <a:t> Coupling</a:t>
            </a:r>
          </a:p>
        </p:txBody>
      </p:sp>
    </p:spTree>
    <p:extLst>
      <p:ext uri="{BB962C8B-B14F-4D97-AF65-F5344CB8AC3E}">
        <p14:creationId xmlns:p14="http://schemas.microsoft.com/office/powerpoint/2010/main" xmlns="" val="262044416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675005"/>
          </a:xfrm>
        </p:spPr>
        <p:txBody>
          <a:bodyPr>
            <a:normAutofit fontScale="90000"/>
          </a:bodyPr>
          <a:lstStyle/>
          <a:p>
            <a:r>
              <a:rPr lang="en-US" b="1">
                <a:sym typeface="+mn-ea"/>
              </a:rPr>
              <a:t>Cohesion</a:t>
            </a:r>
            <a:endParaRPr lang="en-US" b="1"/>
          </a:p>
        </p:txBody>
      </p:sp>
      <p:sp>
        <p:nvSpPr>
          <p:cNvPr id="3" name="Content Placeholder 2"/>
          <p:cNvSpPr>
            <a:spLocks noGrp="1"/>
          </p:cNvSpPr>
          <p:nvPr>
            <p:ph sz="half" idx="1"/>
          </p:nvPr>
        </p:nvSpPr>
        <p:spPr>
          <a:xfrm>
            <a:off x="457200" y="802640"/>
            <a:ext cx="8240395" cy="5777865"/>
          </a:xfrm>
        </p:spPr>
        <p:txBody>
          <a:bodyPr>
            <a:normAutofit/>
          </a:bodyPr>
          <a:lstStyle/>
          <a:p>
            <a:pPr algn="just"/>
            <a:r>
              <a:rPr lang="en-US"/>
              <a:t>Cohesion is an </a:t>
            </a:r>
            <a:r>
              <a:rPr lang="en-US" b="1">
                <a:solidFill>
                  <a:srgbClr val="FF0000"/>
                </a:solidFill>
              </a:rPr>
              <a:t>indication of the relative functional</a:t>
            </a:r>
            <a:r>
              <a:rPr lang="en-US"/>
              <a:t> strength of a module.</a:t>
            </a:r>
          </a:p>
          <a:p>
            <a:pPr algn="just"/>
            <a:r>
              <a:rPr lang="en-US"/>
              <a:t>Cohesion is a natural extension of the </a:t>
            </a:r>
            <a:r>
              <a:rPr lang="en-US" b="1">
                <a:solidFill>
                  <a:srgbClr val="FFC000"/>
                </a:solidFill>
              </a:rPr>
              <a:t>information-hiding</a:t>
            </a:r>
            <a:r>
              <a:rPr lang="en-US"/>
              <a:t> concept</a:t>
            </a:r>
          </a:p>
          <a:p>
            <a:pPr algn="just"/>
            <a:r>
              <a:rPr lang="en-US"/>
              <a:t>A cohesive module performs a </a:t>
            </a:r>
            <a:r>
              <a:rPr lang="en-US" b="1">
                <a:solidFill>
                  <a:srgbClr val="00B050"/>
                </a:solidFill>
              </a:rPr>
              <a:t>single task</a:t>
            </a:r>
            <a:r>
              <a:rPr lang="en-US"/>
              <a:t>, requiring little interaction with other components in other parts of a program. </a:t>
            </a:r>
          </a:p>
          <a:p>
            <a:pPr algn="just"/>
            <a:r>
              <a:rPr lang="en-US"/>
              <a:t>Stated simply, a </a:t>
            </a:r>
            <a:r>
              <a:rPr lang="en-US" b="1">
                <a:solidFill>
                  <a:srgbClr val="C00000"/>
                </a:solidFill>
              </a:rPr>
              <a:t>cohesive module</a:t>
            </a:r>
            <a:r>
              <a:rPr lang="en-US"/>
              <a:t> should (ideally) do just one thing. </a:t>
            </a:r>
          </a:p>
          <a:p>
            <a:pPr algn="just"/>
            <a:r>
              <a:rPr lang="en-US"/>
              <a:t>Although you should always strive for </a:t>
            </a:r>
            <a:r>
              <a:rPr lang="en-US" b="1">
                <a:solidFill>
                  <a:srgbClr val="00B050"/>
                </a:solidFill>
              </a:rPr>
              <a:t>high cohesion</a:t>
            </a:r>
            <a:endParaRPr lang="en-US"/>
          </a:p>
          <a:p>
            <a:pPr marL="0" indent="0" algn="just">
              <a:buNone/>
            </a:pPr>
            <a:r>
              <a:rPr lang="en-US"/>
              <a:t>    (i.e., single-mindedness)</a:t>
            </a:r>
          </a:p>
        </p:txBody>
      </p:sp>
    </p:spTree>
    <p:extLst>
      <p:ext uri="{BB962C8B-B14F-4D97-AF65-F5344CB8AC3E}">
        <p14:creationId xmlns:p14="http://schemas.microsoft.com/office/powerpoint/2010/main" xmlns="" val="332941002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55980"/>
          </a:xfrm>
        </p:spPr>
        <p:txBody>
          <a:bodyPr/>
          <a:lstStyle/>
          <a:p>
            <a:r>
              <a:rPr lang="en-US" b="1">
                <a:sym typeface="+mn-ea"/>
              </a:rPr>
              <a:t>Coupling</a:t>
            </a:r>
            <a:endParaRPr lang="en-US" b="1"/>
          </a:p>
        </p:txBody>
      </p:sp>
      <p:sp>
        <p:nvSpPr>
          <p:cNvPr id="3" name="Content Placeholder 2"/>
          <p:cNvSpPr>
            <a:spLocks noGrp="1"/>
          </p:cNvSpPr>
          <p:nvPr>
            <p:ph sz="half" idx="1"/>
          </p:nvPr>
        </p:nvSpPr>
        <p:spPr>
          <a:xfrm>
            <a:off x="457200" y="932180"/>
            <a:ext cx="8211185" cy="5648325"/>
          </a:xfrm>
        </p:spPr>
        <p:txBody>
          <a:bodyPr>
            <a:normAutofit/>
          </a:bodyPr>
          <a:lstStyle/>
          <a:p>
            <a:pPr algn="just"/>
            <a:r>
              <a:rPr lang="en-US"/>
              <a:t>Coupling is an indication of the </a:t>
            </a:r>
            <a:r>
              <a:rPr lang="en-US" b="1">
                <a:solidFill>
                  <a:srgbClr val="00B050"/>
                </a:solidFill>
              </a:rPr>
              <a:t>relative interdependence</a:t>
            </a:r>
            <a:r>
              <a:rPr lang="en-US"/>
              <a:t> among modules.</a:t>
            </a:r>
          </a:p>
          <a:p>
            <a:pPr algn="just"/>
            <a:r>
              <a:rPr lang="en-US"/>
              <a:t>Coupling is an indication of interconnection among modules in a software structure.</a:t>
            </a:r>
          </a:p>
          <a:p>
            <a:pPr algn="just"/>
            <a:r>
              <a:rPr lang="en-US"/>
              <a:t>Coupling depends on the </a:t>
            </a:r>
            <a:r>
              <a:rPr lang="en-US" b="1">
                <a:solidFill>
                  <a:srgbClr val="C00000"/>
                </a:solidFill>
              </a:rPr>
              <a:t>interface complexity between modules</a:t>
            </a:r>
            <a:r>
              <a:rPr lang="en-US"/>
              <a:t>, the point at which entry or reference is made to a module, and what data pass across the interface.</a:t>
            </a:r>
          </a:p>
          <a:p>
            <a:pPr algn="just"/>
            <a:r>
              <a:rPr lang="en-US"/>
              <a:t>In software design, you should </a:t>
            </a:r>
            <a:r>
              <a:rPr lang="en-US" b="1">
                <a:solidFill>
                  <a:srgbClr val="0070C0"/>
                </a:solidFill>
              </a:rPr>
              <a:t>strive for the lowest possible</a:t>
            </a:r>
            <a:r>
              <a:rPr lang="en-US"/>
              <a:t> coupling.</a:t>
            </a:r>
          </a:p>
        </p:txBody>
      </p:sp>
    </p:spTree>
    <p:extLst>
      <p:ext uri="{BB962C8B-B14F-4D97-AF65-F5344CB8AC3E}">
        <p14:creationId xmlns:p14="http://schemas.microsoft.com/office/powerpoint/2010/main" xmlns="" val="371616126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21995"/>
          </a:xfrm>
        </p:spPr>
        <p:txBody>
          <a:bodyPr>
            <a:normAutofit fontScale="90000"/>
          </a:bodyPr>
          <a:lstStyle/>
          <a:p>
            <a:r>
              <a:rPr lang="en-US" b="1"/>
              <a:t>Refinement</a:t>
            </a:r>
          </a:p>
        </p:txBody>
      </p:sp>
      <p:sp>
        <p:nvSpPr>
          <p:cNvPr id="3" name="Content Placeholder 2"/>
          <p:cNvSpPr>
            <a:spLocks noGrp="1"/>
          </p:cNvSpPr>
          <p:nvPr>
            <p:ph sz="half" idx="1"/>
          </p:nvPr>
        </p:nvSpPr>
        <p:spPr>
          <a:xfrm>
            <a:off x="457200" y="835660"/>
            <a:ext cx="8225155" cy="5290820"/>
          </a:xfrm>
        </p:spPr>
        <p:txBody>
          <a:bodyPr/>
          <a:lstStyle/>
          <a:p>
            <a:pPr algn="just"/>
            <a:r>
              <a:rPr lang="en-US"/>
              <a:t>Stepwise refinement is a </a:t>
            </a:r>
            <a:r>
              <a:rPr lang="en-US" b="1">
                <a:solidFill>
                  <a:srgbClr val="0070C0"/>
                </a:solidFill>
              </a:rPr>
              <a:t>top-down design strategy</a:t>
            </a:r>
            <a:r>
              <a:rPr lang="en-US"/>
              <a:t>.</a:t>
            </a:r>
          </a:p>
          <a:p>
            <a:pPr algn="just"/>
            <a:r>
              <a:rPr lang="en-US"/>
              <a:t>Refinement is actually a </a:t>
            </a:r>
            <a:r>
              <a:rPr lang="en-US" b="1">
                <a:solidFill>
                  <a:srgbClr val="FF0000"/>
                </a:solidFill>
              </a:rPr>
              <a:t>process of elaboration</a:t>
            </a:r>
            <a:r>
              <a:rPr lang="en-US"/>
              <a:t>.</a:t>
            </a:r>
          </a:p>
          <a:p>
            <a:pPr algn="just"/>
            <a:r>
              <a:rPr lang="en-US" b="1">
                <a:solidFill>
                  <a:srgbClr val="00B050"/>
                </a:solidFill>
              </a:rPr>
              <a:t>Abstraction and refinement</a:t>
            </a:r>
            <a:r>
              <a:rPr lang="en-US"/>
              <a:t> are complementary concepts. </a:t>
            </a:r>
          </a:p>
          <a:p>
            <a:pPr algn="just"/>
            <a:r>
              <a:rPr lang="en-US"/>
              <a:t>Abstraction enables you to specify procedure and data internally but</a:t>
            </a:r>
            <a:r>
              <a:rPr lang="en-US" b="1">
                <a:solidFill>
                  <a:srgbClr val="00B050"/>
                </a:solidFill>
              </a:rPr>
              <a:t> suppress the need for “outsiders”</a:t>
            </a:r>
            <a:r>
              <a:rPr lang="en-US"/>
              <a:t> to have knowledge of low-level details. </a:t>
            </a:r>
          </a:p>
          <a:p>
            <a:pPr algn="just"/>
            <a:r>
              <a:rPr lang="en-US"/>
              <a:t>Refinement helps you to </a:t>
            </a:r>
            <a:r>
              <a:rPr lang="en-US" b="1">
                <a:solidFill>
                  <a:srgbClr val="FF0000"/>
                </a:solidFill>
              </a:rPr>
              <a:t>reveal low-level details as design progresses</a:t>
            </a:r>
            <a:r>
              <a:rPr lang="en-US"/>
              <a:t>.</a:t>
            </a:r>
          </a:p>
        </p:txBody>
      </p:sp>
    </p:spTree>
    <p:extLst>
      <p:ext uri="{BB962C8B-B14F-4D97-AF65-F5344CB8AC3E}">
        <p14:creationId xmlns:p14="http://schemas.microsoft.com/office/powerpoint/2010/main" xmlns="" val="257888939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12800"/>
          </a:xfrm>
        </p:spPr>
        <p:txBody>
          <a:bodyPr/>
          <a:lstStyle/>
          <a:p>
            <a:r>
              <a:rPr lang="en-US" b="1"/>
              <a:t>Aspects and Refactoring</a:t>
            </a:r>
          </a:p>
        </p:txBody>
      </p:sp>
      <p:sp>
        <p:nvSpPr>
          <p:cNvPr id="3" name="Content Placeholder 2"/>
          <p:cNvSpPr>
            <a:spLocks noGrp="1"/>
          </p:cNvSpPr>
          <p:nvPr>
            <p:ph sz="half" idx="1"/>
          </p:nvPr>
        </p:nvSpPr>
        <p:spPr>
          <a:xfrm>
            <a:off x="457200" y="930910"/>
            <a:ext cx="8229600" cy="5807075"/>
          </a:xfrm>
        </p:spPr>
        <p:txBody>
          <a:bodyPr>
            <a:normAutofit fontScale="90000"/>
          </a:bodyPr>
          <a:lstStyle/>
          <a:p>
            <a:pPr marL="0" indent="0" algn="just">
              <a:buNone/>
            </a:pPr>
            <a:r>
              <a:rPr lang="en-US" b="1">
                <a:solidFill>
                  <a:srgbClr val="FF0000"/>
                </a:solidFill>
              </a:rPr>
              <a:t>Aspects</a:t>
            </a:r>
            <a:endParaRPr lang="en-US"/>
          </a:p>
          <a:p>
            <a:pPr algn="just"/>
            <a:r>
              <a:rPr lang="en-US"/>
              <a:t>An aspect is a </a:t>
            </a:r>
            <a:r>
              <a:rPr lang="en-US" b="1">
                <a:solidFill>
                  <a:srgbClr val="00B050"/>
                </a:solidFill>
              </a:rPr>
              <a:t>representation of a crosscutting concern</a:t>
            </a:r>
            <a:r>
              <a:rPr lang="en-US"/>
              <a:t>. </a:t>
            </a:r>
          </a:p>
          <a:p>
            <a:pPr algn="just"/>
            <a:r>
              <a:rPr lang="en-US"/>
              <a:t>A crosscutting concern is some characteristic of the system that applies across many different requirements.</a:t>
            </a:r>
          </a:p>
          <a:p>
            <a:pPr marL="0" indent="0" algn="just">
              <a:buNone/>
            </a:pPr>
            <a:r>
              <a:rPr lang="en-US" b="1">
                <a:solidFill>
                  <a:srgbClr val="FF0000"/>
                </a:solidFill>
              </a:rPr>
              <a:t>Refactoring</a:t>
            </a:r>
            <a:endParaRPr lang="en-US"/>
          </a:p>
          <a:p>
            <a:pPr algn="just"/>
            <a:r>
              <a:rPr lang="en-US"/>
              <a:t>“Refactoring is the </a:t>
            </a:r>
            <a:r>
              <a:rPr lang="en-US" b="1">
                <a:solidFill>
                  <a:srgbClr val="00B050"/>
                </a:solidFill>
              </a:rPr>
              <a:t>process of changing a software system</a:t>
            </a:r>
            <a:r>
              <a:rPr lang="en-US"/>
              <a:t> in such a way that it </a:t>
            </a:r>
            <a:r>
              <a:rPr lang="en-US" b="1">
                <a:solidFill>
                  <a:srgbClr val="FFC000"/>
                </a:solidFill>
              </a:rPr>
              <a:t>does not alter the external behavior</a:t>
            </a:r>
            <a:r>
              <a:rPr lang="en-US"/>
              <a:t> of the code [design] yet improves its internal structure.”</a:t>
            </a:r>
          </a:p>
          <a:p>
            <a:pPr algn="just"/>
            <a:r>
              <a:rPr lang="en-US"/>
              <a:t>An important design activity suggested for many agile methods, </a:t>
            </a:r>
            <a:r>
              <a:rPr lang="en-US" b="1">
                <a:solidFill>
                  <a:srgbClr val="00B050"/>
                </a:solidFill>
              </a:rPr>
              <a:t>refactoring is a reorganization technique</a:t>
            </a:r>
            <a:r>
              <a:rPr lang="en-US"/>
              <a:t> that simplifies the </a:t>
            </a:r>
            <a:r>
              <a:rPr lang="en-US" b="1">
                <a:solidFill>
                  <a:schemeClr val="accent6">
                    <a:lumMod val="75000"/>
                  </a:schemeClr>
                </a:solidFill>
              </a:rPr>
              <a:t>design (or code) of a component without changing its function or behavior</a:t>
            </a:r>
            <a:r>
              <a:rPr lang="en-US"/>
              <a:t>.</a:t>
            </a:r>
          </a:p>
        </p:txBody>
      </p:sp>
    </p:spTree>
    <p:extLst>
      <p:ext uri="{BB962C8B-B14F-4D97-AF65-F5344CB8AC3E}">
        <p14:creationId xmlns:p14="http://schemas.microsoft.com/office/powerpoint/2010/main" xmlns="" val="349870949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b="1"/>
              <a:t>Object-Oriented Design Concepts</a:t>
            </a:r>
          </a:p>
        </p:txBody>
      </p:sp>
      <p:sp>
        <p:nvSpPr>
          <p:cNvPr id="3" name="Content Placeholder 2"/>
          <p:cNvSpPr>
            <a:spLocks noGrp="1"/>
          </p:cNvSpPr>
          <p:nvPr>
            <p:ph sz="half" idx="1"/>
          </p:nvPr>
        </p:nvSpPr>
        <p:spPr>
          <a:xfrm>
            <a:off x="457200" y="1250315"/>
            <a:ext cx="8087360" cy="5320665"/>
          </a:xfrm>
        </p:spPr>
        <p:txBody>
          <a:bodyPr/>
          <a:lstStyle/>
          <a:p>
            <a:pPr algn="just"/>
            <a:r>
              <a:rPr lang="en-US"/>
              <a:t>The object-oriented (OO) paradigm is widely used in modern software engineering. </a:t>
            </a:r>
          </a:p>
          <a:p>
            <a:pPr algn="just"/>
            <a:r>
              <a:rPr lang="en-US"/>
              <a:t>OO design concepts such as </a:t>
            </a:r>
          </a:p>
          <a:p>
            <a:pPr lvl="1" algn="just">
              <a:buFont typeface="Wingdings" panose="05000000000000000000" charset="0"/>
              <a:buChar char="v"/>
            </a:pPr>
            <a:r>
              <a:rPr lang="en-US" sz="2800" b="1">
                <a:solidFill>
                  <a:schemeClr val="accent6">
                    <a:lumMod val="75000"/>
                  </a:schemeClr>
                </a:solidFill>
              </a:rPr>
              <a:t>Classes and Objects </a:t>
            </a:r>
          </a:p>
          <a:p>
            <a:pPr lvl="1" algn="just">
              <a:buFont typeface="Wingdings" panose="05000000000000000000" charset="0"/>
              <a:buChar char="v"/>
            </a:pPr>
            <a:r>
              <a:rPr lang="en-US" sz="2800" b="1">
                <a:solidFill>
                  <a:schemeClr val="accent6">
                    <a:lumMod val="75000"/>
                  </a:schemeClr>
                </a:solidFill>
              </a:rPr>
              <a:t>Inheritance </a:t>
            </a:r>
            <a:endParaRPr lang="en-US" b="1">
              <a:solidFill>
                <a:schemeClr val="accent6">
                  <a:lumMod val="75000"/>
                </a:schemeClr>
              </a:solidFill>
            </a:endParaRPr>
          </a:p>
          <a:p>
            <a:pPr lvl="1" algn="just">
              <a:buFont typeface="Wingdings" panose="05000000000000000000" charset="0"/>
              <a:buChar char="v"/>
            </a:pPr>
            <a:r>
              <a:rPr lang="en-US" sz="2800" b="1">
                <a:solidFill>
                  <a:schemeClr val="accent6">
                    <a:lumMod val="75000"/>
                  </a:schemeClr>
                </a:solidFill>
              </a:rPr>
              <a:t>Message Passing </a:t>
            </a:r>
          </a:p>
          <a:p>
            <a:pPr lvl="1" algn="just">
              <a:buFont typeface="Wingdings" panose="05000000000000000000" charset="0"/>
              <a:buChar char="v"/>
            </a:pPr>
            <a:r>
              <a:rPr lang="en-US" sz="2800" b="1">
                <a:solidFill>
                  <a:schemeClr val="accent6">
                    <a:lumMod val="75000"/>
                  </a:schemeClr>
                </a:solidFill>
              </a:rPr>
              <a:t>Polymorphism</a:t>
            </a:r>
          </a:p>
          <a:p>
            <a:pPr marL="457200" lvl="1" indent="0" algn="just">
              <a:buNone/>
            </a:pPr>
            <a:r>
              <a:rPr lang="en-US"/>
              <a:t>are widely used.</a:t>
            </a:r>
          </a:p>
        </p:txBody>
      </p:sp>
    </p:spTree>
    <p:extLst>
      <p:ext uri="{BB962C8B-B14F-4D97-AF65-F5344CB8AC3E}">
        <p14:creationId xmlns:p14="http://schemas.microsoft.com/office/powerpoint/2010/main" xmlns="" val="269797946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9950"/>
          </a:xfrm>
        </p:spPr>
        <p:txBody>
          <a:bodyPr/>
          <a:lstStyle/>
          <a:p>
            <a:r>
              <a:rPr lang="en-US" b="1"/>
              <a:t>Design Classes</a:t>
            </a:r>
          </a:p>
        </p:txBody>
      </p:sp>
      <p:sp>
        <p:nvSpPr>
          <p:cNvPr id="3" name="Content Placeholder 2"/>
          <p:cNvSpPr>
            <a:spLocks noGrp="1"/>
          </p:cNvSpPr>
          <p:nvPr>
            <p:ph sz="half" idx="1"/>
          </p:nvPr>
        </p:nvSpPr>
        <p:spPr>
          <a:xfrm>
            <a:off x="457200" y="821690"/>
            <a:ext cx="8378190" cy="5654675"/>
          </a:xfrm>
        </p:spPr>
        <p:txBody>
          <a:bodyPr>
            <a:normAutofit/>
          </a:bodyPr>
          <a:lstStyle/>
          <a:p>
            <a:pPr algn="just"/>
            <a:r>
              <a:rPr lang="en-US"/>
              <a:t>A set of design classes that refine the analysis classes by providing design detail that will enable the classes to be implemented, and </a:t>
            </a:r>
            <a:r>
              <a:rPr lang="en-US" b="1">
                <a:solidFill>
                  <a:schemeClr val="accent6">
                    <a:lumMod val="75000"/>
                  </a:schemeClr>
                </a:solidFill>
              </a:rPr>
              <a:t>implement a software infrastructure</a:t>
            </a:r>
            <a:r>
              <a:rPr lang="en-US"/>
              <a:t> that supports the business solution.</a:t>
            </a:r>
          </a:p>
          <a:p>
            <a:pPr algn="just"/>
            <a:r>
              <a:rPr lang="en-US"/>
              <a:t>Five different types of </a:t>
            </a:r>
            <a:r>
              <a:rPr lang="en-US" b="1">
                <a:solidFill>
                  <a:srgbClr val="00B050"/>
                </a:solidFill>
              </a:rPr>
              <a:t>design classes</a:t>
            </a:r>
            <a:r>
              <a:rPr lang="en-US"/>
              <a:t>, each representing a different layer of the design architecture, can be developed:</a:t>
            </a:r>
          </a:p>
          <a:p>
            <a:pPr algn="just"/>
            <a:r>
              <a:rPr lang="en-US"/>
              <a:t>User interface classes define all </a:t>
            </a:r>
            <a:r>
              <a:rPr lang="en-US" b="1">
                <a:solidFill>
                  <a:srgbClr val="FF0000"/>
                </a:solidFill>
              </a:rPr>
              <a:t>abstractions that are necessary for human computer interaction</a:t>
            </a:r>
            <a:r>
              <a:rPr lang="en-US"/>
              <a:t> (HCI). </a:t>
            </a:r>
          </a:p>
          <a:p>
            <a:pPr algn="just"/>
            <a:r>
              <a:rPr lang="en-US"/>
              <a:t>The design classes for the interface may be visual representations of the elements of the metaphor.</a:t>
            </a:r>
          </a:p>
        </p:txBody>
      </p:sp>
    </p:spTree>
    <p:extLst>
      <p:ext uri="{BB962C8B-B14F-4D97-AF65-F5344CB8AC3E}">
        <p14:creationId xmlns:p14="http://schemas.microsoft.com/office/powerpoint/2010/main" xmlns="" val="264609413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61060"/>
          </a:xfrm>
        </p:spPr>
        <p:txBody>
          <a:bodyPr>
            <a:normAutofit/>
          </a:bodyPr>
          <a:lstStyle/>
          <a:p>
            <a:r>
              <a:rPr lang="en-US" b="1">
                <a:sym typeface="+mn-ea"/>
              </a:rPr>
              <a:t>Design Classes</a:t>
            </a:r>
            <a:endParaRPr lang="en-US"/>
          </a:p>
        </p:txBody>
      </p:sp>
      <p:sp>
        <p:nvSpPr>
          <p:cNvPr id="3" name="Content Placeholder 2"/>
          <p:cNvSpPr>
            <a:spLocks noGrp="1"/>
          </p:cNvSpPr>
          <p:nvPr>
            <p:ph sz="half" idx="1"/>
          </p:nvPr>
        </p:nvSpPr>
        <p:spPr>
          <a:xfrm>
            <a:off x="457200" y="1013460"/>
            <a:ext cx="8259445" cy="5648960"/>
          </a:xfrm>
        </p:spPr>
        <p:txBody>
          <a:bodyPr>
            <a:normAutofit fontScale="97500" lnSpcReduction="10000"/>
          </a:bodyPr>
          <a:lstStyle/>
          <a:p>
            <a:pPr algn="just"/>
            <a:r>
              <a:rPr lang="en-US" b="1">
                <a:solidFill>
                  <a:srgbClr val="FF0000"/>
                </a:solidFill>
              </a:rPr>
              <a:t>Business domain classes</a:t>
            </a:r>
            <a:r>
              <a:rPr lang="en-US"/>
              <a:t> are often </a:t>
            </a:r>
            <a:r>
              <a:rPr lang="en-US" b="1">
                <a:solidFill>
                  <a:srgbClr val="00B0F0"/>
                </a:solidFill>
              </a:rPr>
              <a:t>refinements of the analysis classes defined earlier</a:t>
            </a:r>
            <a:r>
              <a:rPr lang="en-US"/>
              <a:t>. The classes identify the attributes and services (methods) that are required to implement some element of the business domain.</a:t>
            </a:r>
          </a:p>
          <a:p>
            <a:pPr algn="just"/>
            <a:r>
              <a:rPr lang="en-US" b="1">
                <a:solidFill>
                  <a:srgbClr val="FF0000"/>
                </a:solidFill>
              </a:rPr>
              <a:t>Process classes</a:t>
            </a:r>
            <a:r>
              <a:rPr lang="en-US"/>
              <a:t> implement </a:t>
            </a:r>
            <a:r>
              <a:rPr lang="en-US" b="1">
                <a:solidFill>
                  <a:srgbClr val="FFC000"/>
                </a:solidFill>
              </a:rPr>
              <a:t>lower-level business abstractions</a:t>
            </a:r>
            <a:r>
              <a:rPr lang="en-US"/>
              <a:t> required to fully manage the business domain classes.</a:t>
            </a:r>
          </a:p>
          <a:p>
            <a:pPr algn="just"/>
            <a:r>
              <a:rPr lang="en-US" b="1">
                <a:solidFill>
                  <a:srgbClr val="FF0000"/>
                </a:solidFill>
              </a:rPr>
              <a:t>Persistent classes</a:t>
            </a:r>
            <a:r>
              <a:rPr lang="en-US"/>
              <a:t> represent </a:t>
            </a:r>
            <a:r>
              <a:rPr lang="en-US" b="1">
                <a:solidFill>
                  <a:srgbClr val="00B0F0"/>
                </a:solidFill>
              </a:rPr>
              <a:t>data stores (e.g., a database)</a:t>
            </a:r>
            <a:r>
              <a:rPr lang="en-US"/>
              <a:t> that will persist beyond the execution of the software.</a:t>
            </a:r>
          </a:p>
          <a:p>
            <a:pPr algn="just"/>
            <a:r>
              <a:rPr lang="en-US" b="1">
                <a:solidFill>
                  <a:srgbClr val="FF0000"/>
                </a:solidFill>
              </a:rPr>
              <a:t>System classes</a:t>
            </a:r>
            <a:r>
              <a:rPr lang="en-US"/>
              <a:t> implement </a:t>
            </a:r>
            <a:r>
              <a:rPr lang="en-US" b="1">
                <a:solidFill>
                  <a:srgbClr val="0070C0"/>
                </a:solidFill>
              </a:rPr>
              <a:t>software management and control functions</a:t>
            </a:r>
            <a:r>
              <a:rPr lang="en-US"/>
              <a:t> that enable the system to operate and communicate within its computing environment and with the outside world.</a:t>
            </a:r>
          </a:p>
        </p:txBody>
      </p:sp>
    </p:spTree>
    <p:extLst>
      <p:ext uri="{BB962C8B-B14F-4D97-AF65-F5344CB8AC3E}">
        <p14:creationId xmlns:p14="http://schemas.microsoft.com/office/powerpoint/2010/main" xmlns="" val="277243506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365" y="152083"/>
            <a:ext cx="8229600" cy="1143000"/>
          </a:xfrm>
        </p:spPr>
        <p:txBody>
          <a:bodyPr>
            <a:normAutofit/>
          </a:bodyPr>
          <a:lstStyle/>
          <a:p>
            <a:r>
              <a:rPr lang="en-US" b="1">
                <a:sym typeface="+mn-ea"/>
              </a:rPr>
              <a:t>Design Classes</a:t>
            </a:r>
            <a:endParaRPr lang="en-US"/>
          </a:p>
        </p:txBody>
      </p:sp>
      <p:sp>
        <p:nvSpPr>
          <p:cNvPr id="3" name="Content Placeholder 2"/>
          <p:cNvSpPr>
            <a:spLocks noGrp="1"/>
          </p:cNvSpPr>
          <p:nvPr>
            <p:ph sz="half" idx="1"/>
          </p:nvPr>
        </p:nvSpPr>
        <p:spPr>
          <a:xfrm>
            <a:off x="457200" y="1600200"/>
            <a:ext cx="8329930" cy="4526280"/>
          </a:xfrm>
        </p:spPr>
        <p:txBody>
          <a:bodyPr/>
          <a:lstStyle/>
          <a:p>
            <a:r>
              <a:rPr lang="en-US"/>
              <a:t>Four characteristics of a well-formed design class:</a:t>
            </a:r>
          </a:p>
          <a:p>
            <a:pPr>
              <a:buFont typeface="Wingdings" panose="05000000000000000000" charset="0"/>
              <a:buChar char="Ø"/>
            </a:pPr>
            <a:r>
              <a:rPr lang="en-US">
                <a:solidFill>
                  <a:srgbClr val="00B050"/>
                </a:solidFill>
              </a:rPr>
              <a:t>	</a:t>
            </a:r>
            <a:r>
              <a:rPr lang="en-US" b="1">
                <a:solidFill>
                  <a:srgbClr val="00B050"/>
                </a:solidFill>
              </a:rPr>
              <a:t>Complete and sufficient</a:t>
            </a:r>
          </a:p>
          <a:p>
            <a:pPr>
              <a:buFont typeface="Wingdings" panose="05000000000000000000" charset="0"/>
              <a:buChar char="Ø"/>
            </a:pPr>
            <a:r>
              <a:rPr lang="en-US" b="1">
                <a:solidFill>
                  <a:srgbClr val="00B050"/>
                </a:solidFill>
              </a:rPr>
              <a:t>	Primitiveness</a:t>
            </a:r>
          </a:p>
          <a:p>
            <a:pPr>
              <a:buFont typeface="Wingdings" panose="05000000000000000000" charset="0"/>
              <a:buChar char="Ø"/>
            </a:pPr>
            <a:r>
              <a:rPr lang="en-US" b="1">
                <a:solidFill>
                  <a:srgbClr val="00B050"/>
                </a:solidFill>
              </a:rPr>
              <a:t>	High cohesion</a:t>
            </a:r>
          </a:p>
          <a:p>
            <a:pPr>
              <a:buFont typeface="Wingdings" panose="05000000000000000000" charset="0"/>
              <a:buChar char="Ø"/>
            </a:pPr>
            <a:r>
              <a:rPr lang="en-US" b="1">
                <a:solidFill>
                  <a:srgbClr val="00B050"/>
                </a:solidFill>
              </a:rPr>
              <a:t>	Low coupling</a:t>
            </a:r>
          </a:p>
        </p:txBody>
      </p:sp>
    </p:spTree>
    <p:extLst>
      <p:ext uri="{BB962C8B-B14F-4D97-AF65-F5344CB8AC3E}">
        <p14:creationId xmlns:p14="http://schemas.microsoft.com/office/powerpoint/2010/main" xmlns="" val="1610823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TotalTime>
  <Words>7377</Words>
  <Application>Microsoft Office PowerPoint</Application>
  <PresentationFormat>On-screen Show (4:3)</PresentationFormat>
  <Paragraphs>968</Paragraphs>
  <Slides>178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178</vt:i4>
      </vt:variant>
    </vt:vector>
  </HeadingPairs>
  <TitlesOfParts>
    <vt:vector size="180" baseType="lpstr">
      <vt:lpstr>Office Theme</vt:lpstr>
      <vt:lpstr>Bitmap Image</vt:lpstr>
      <vt:lpstr>AGILE METHODOLOGIES </vt:lpstr>
      <vt:lpstr>AGILE METHODOLOGIES Course Outcomes</vt:lpstr>
      <vt:lpstr> 22CSC51 - AGILE METHODOLOGIES Course Outcomes </vt:lpstr>
      <vt:lpstr>What is Software?</vt:lpstr>
      <vt:lpstr>Characteristics</vt:lpstr>
      <vt:lpstr>Software Application Domains</vt:lpstr>
      <vt:lpstr>Software Application Domains</vt:lpstr>
      <vt:lpstr>Software Engineering</vt:lpstr>
      <vt:lpstr>Slide 9</vt:lpstr>
      <vt:lpstr>Software Engineering Layers</vt:lpstr>
      <vt:lpstr>Layer 1 – Quality Focus</vt:lpstr>
      <vt:lpstr>Quality?</vt:lpstr>
      <vt:lpstr>Layer 2 – Process</vt:lpstr>
      <vt:lpstr>PROCESS?</vt:lpstr>
      <vt:lpstr>Layer 3 – Methods</vt:lpstr>
      <vt:lpstr>Layer 4 – Tools</vt:lpstr>
      <vt:lpstr>"Which layer is most important?" </vt:lpstr>
      <vt:lpstr>"Why is Process above Methods?" </vt:lpstr>
      <vt:lpstr>Software Process and Process Model</vt:lpstr>
      <vt:lpstr>Activities-Major phases.</vt:lpstr>
      <vt:lpstr>Slide 21</vt:lpstr>
      <vt:lpstr>Slide 22</vt:lpstr>
      <vt:lpstr>What is an Action?</vt:lpstr>
      <vt:lpstr>Slide 24</vt:lpstr>
      <vt:lpstr>What is a Task?</vt:lpstr>
      <vt:lpstr>Action Requirement Gathering</vt:lpstr>
      <vt:lpstr>Characteristics of High-Quality Software</vt:lpstr>
      <vt:lpstr>Why Process Models?</vt:lpstr>
      <vt:lpstr>Slide 29</vt:lpstr>
      <vt:lpstr>Slide 30</vt:lpstr>
      <vt:lpstr>Generic Process Model</vt:lpstr>
      <vt:lpstr>Activity 1: Communication</vt:lpstr>
      <vt:lpstr>Purpose </vt:lpstr>
      <vt:lpstr>Activities </vt:lpstr>
      <vt:lpstr>Generic Process Model</vt:lpstr>
      <vt:lpstr>Task Set</vt:lpstr>
      <vt:lpstr>Process Flow</vt:lpstr>
      <vt:lpstr>Process Flow</vt:lpstr>
      <vt:lpstr>Waterfall Model</vt:lpstr>
      <vt:lpstr>The Waterfall Model</vt:lpstr>
      <vt:lpstr>Slide 41</vt:lpstr>
      <vt:lpstr>Slide 42</vt:lpstr>
      <vt:lpstr>Slide 43</vt:lpstr>
      <vt:lpstr>Incremental Model</vt:lpstr>
      <vt:lpstr>Incremental Model</vt:lpstr>
      <vt:lpstr>Incremental Model</vt:lpstr>
      <vt:lpstr>Incremental Model</vt:lpstr>
      <vt:lpstr>Incremental Model</vt:lpstr>
      <vt:lpstr>When to use Incremental models?</vt:lpstr>
      <vt:lpstr>Slide 50</vt:lpstr>
      <vt:lpstr>Slide 51</vt:lpstr>
      <vt:lpstr>Evolutionary Models</vt:lpstr>
      <vt:lpstr>Evolutionary Process Models</vt:lpstr>
      <vt:lpstr>Prototyping Model</vt:lpstr>
      <vt:lpstr>Prototyping Model</vt:lpstr>
      <vt:lpstr>Slide 56</vt:lpstr>
      <vt:lpstr>Prototyping Model</vt:lpstr>
      <vt:lpstr>Prototyping Model</vt:lpstr>
      <vt:lpstr>Prototyping Model</vt:lpstr>
      <vt:lpstr>Prototype Focus</vt:lpstr>
      <vt:lpstr>Spiral Focus</vt:lpstr>
      <vt:lpstr>Types of Risk in Spiral</vt:lpstr>
      <vt:lpstr>2. Cost Risk</vt:lpstr>
      <vt:lpstr>3. Schedule Risk</vt:lpstr>
      <vt:lpstr>4. Requirement Risk</vt:lpstr>
      <vt:lpstr>5. Security Risk</vt:lpstr>
      <vt:lpstr>Spiral Model</vt:lpstr>
      <vt:lpstr>Slide 68</vt:lpstr>
      <vt:lpstr>Spiral Model</vt:lpstr>
      <vt:lpstr>Spiral Model</vt:lpstr>
      <vt:lpstr>Slide 71</vt:lpstr>
      <vt:lpstr>Concurrent Development Model</vt:lpstr>
      <vt:lpstr> Concurrent Development Model </vt:lpstr>
      <vt:lpstr>Slide 74</vt:lpstr>
      <vt:lpstr>Requirement Engineering</vt:lpstr>
      <vt:lpstr>Requirement Engineering</vt:lpstr>
      <vt:lpstr>Slide 77</vt:lpstr>
      <vt:lpstr>Feasibility Study</vt:lpstr>
      <vt:lpstr>Requirement Elicitation and Analysis</vt:lpstr>
      <vt:lpstr>Requirement Elicitation and Analysis</vt:lpstr>
      <vt:lpstr>Software Requirements</vt:lpstr>
      <vt:lpstr>Functional Requirements</vt:lpstr>
      <vt:lpstr>Non-Functional Requirements</vt:lpstr>
      <vt:lpstr> Requirement Elicitation and Analysis </vt:lpstr>
      <vt:lpstr>Requirements Analysis</vt:lpstr>
      <vt:lpstr>Requirements Analysis Process</vt:lpstr>
      <vt:lpstr>Requirements Analysis Process</vt:lpstr>
      <vt:lpstr>Requirements Analysis Process</vt:lpstr>
      <vt:lpstr>Requirements Analysis Process</vt:lpstr>
      <vt:lpstr>Requirements Analysis Process</vt:lpstr>
      <vt:lpstr>Requirements Analysis Process</vt:lpstr>
      <vt:lpstr>Software Requirement Specification</vt:lpstr>
      <vt:lpstr>Software Requirement Specification</vt:lpstr>
      <vt:lpstr>Software Requirement Validation</vt:lpstr>
      <vt:lpstr> Software Requirement Validation </vt:lpstr>
      <vt:lpstr>Software Requirement Management</vt:lpstr>
      <vt:lpstr>Requirement Engineering task</vt:lpstr>
      <vt:lpstr>Requirement Engineering task</vt:lpstr>
      <vt:lpstr>Inception Task</vt:lpstr>
      <vt:lpstr>Elicitation task</vt:lpstr>
      <vt:lpstr>Elaboration</vt:lpstr>
      <vt:lpstr>Negotiation</vt:lpstr>
      <vt:lpstr>Specification</vt:lpstr>
      <vt:lpstr>Validation</vt:lpstr>
      <vt:lpstr>Requirement management</vt:lpstr>
      <vt:lpstr>Requirement Modeling</vt:lpstr>
      <vt:lpstr>Slide 107</vt:lpstr>
      <vt:lpstr>Scenario Based Modeling</vt:lpstr>
      <vt:lpstr>Scenario Based Modeling</vt:lpstr>
      <vt:lpstr>Preliminary use case diagram for safe home </vt:lpstr>
      <vt:lpstr>Usecase Diagram Food ordering</vt:lpstr>
      <vt:lpstr>Slide 112</vt:lpstr>
      <vt:lpstr>Writing a Formal Use case</vt:lpstr>
      <vt:lpstr>Scenario Based Modeling</vt:lpstr>
      <vt:lpstr>Activity Diagram Room Booking</vt:lpstr>
      <vt:lpstr>Activity Diagram</vt:lpstr>
      <vt:lpstr>Scenario Based Modeling</vt:lpstr>
      <vt:lpstr>Swimlane Diagram </vt:lpstr>
      <vt:lpstr>Slide 119</vt:lpstr>
      <vt:lpstr>Swimlane Diagrams</vt:lpstr>
      <vt:lpstr>Class Based Modeling</vt:lpstr>
      <vt:lpstr>Slide 122</vt:lpstr>
      <vt:lpstr>Class Based Modeling</vt:lpstr>
      <vt:lpstr>Identifying Analysis Classes</vt:lpstr>
      <vt:lpstr>Identifying Analysis Classes</vt:lpstr>
      <vt:lpstr>Example.,</vt:lpstr>
      <vt:lpstr>Specifying Attributes</vt:lpstr>
      <vt:lpstr>Defining Operations</vt:lpstr>
      <vt:lpstr>Defining Operations</vt:lpstr>
      <vt:lpstr>Class-Responsibility-Collaborator (CRC)</vt:lpstr>
      <vt:lpstr>Class-Responsibility-Collaborator (CRC)</vt:lpstr>
      <vt:lpstr>Class-Responsibility-Collaborator (CRC)</vt:lpstr>
      <vt:lpstr>Class-Responsibility-Collaborator (CRC)</vt:lpstr>
      <vt:lpstr>Class-Responsibility-Collaborator (CRC)</vt:lpstr>
      <vt:lpstr>Class-Responsibility-Collaborator (CRC)</vt:lpstr>
      <vt:lpstr>Slide 136</vt:lpstr>
      <vt:lpstr>Slide 137</vt:lpstr>
      <vt:lpstr>Slide 138</vt:lpstr>
      <vt:lpstr>Slide 139</vt:lpstr>
      <vt:lpstr>Slide 140</vt:lpstr>
      <vt:lpstr>Slide 141</vt:lpstr>
      <vt:lpstr>Slide 142</vt:lpstr>
      <vt:lpstr>Slide 143</vt:lpstr>
      <vt:lpstr>Analysis Packages</vt:lpstr>
      <vt:lpstr>Library Management System</vt:lpstr>
      <vt:lpstr>Slide 146</vt:lpstr>
      <vt:lpstr>Collaboration Diagram</vt:lpstr>
      <vt:lpstr>Slide 148</vt:lpstr>
      <vt:lpstr>Collaboration Diagram for Issuing Book </vt:lpstr>
      <vt:lpstr>   Sequence Diagram Example</vt:lpstr>
      <vt:lpstr>Quality attributes</vt:lpstr>
      <vt:lpstr>Design Concepts</vt:lpstr>
      <vt:lpstr>Design Model</vt:lpstr>
      <vt:lpstr>Design Concepts</vt:lpstr>
      <vt:lpstr>Design Concepts</vt:lpstr>
      <vt:lpstr>Design Concepts</vt:lpstr>
      <vt:lpstr>Abstraction</vt:lpstr>
      <vt:lpstr>Abstraction</vt:lpstr>
      <vt:lpstr>Abstraction</vt:lpstr>
      <vt:lpstr>Architecture</vt:lpstr>
      <vt:lpstr> Architecture </vt:lpstr>
      <vt:lpstr> Architecture </vt:lpstr>
      <vt:lpstr>Patterns</vt:lpstr>
      <vt:lpstr>Patterns</vt:lpstr>
      <vt:lpstr>Separation of Concerns</vt:lpstr>
      <vt:lpstr> Separation of Concerns </vt:lpstr>
      <vt:lpstr>Modularity</vt:lpstr>
      <vt:lpstr>Modularity</vt:lpstr>
      <vt:lpstr>Information Hiding</vt:lpstr>
      <vt:lpstr>Functional Independence</vt:lpstr>
      <vt:lpstr>Cohesion</vt:lpstr>
      <vt:lpstr>Coupling</vt:lpstr>
      <vt:lpstr>Refinement</vt:lpstr>
      <vt:lpstr>Aspects and Refactoring</vt:lpstr>
      <vt:lpstr>Object-Oriented Design Concepts</vt:lpstr>
      <vt:lpstr>Design Classes</vt:lpstr>
      <vt:lpstr>Design Classes</vt:lpstr>
      <vt:lpstr>Design Classes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UNIT-III Arrays and Functions</dc:title>
  <dc:creator>Muthuraja</dc:creator>
  <cp:lastModifiedBy>User</cp:lastModifiedBy>
  <cp:revision>581</cp:revision>
  <dcterms:created xsi:type="dcterms:W3CDTF">2021-10-24T06:29:00Z</dcterms:created>
  <dcterms:modified xsi:type="dcterms:W3CDTF">2026-07-08T05:19:15Z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0E5290576EAB44F9BD4CB07F4B0EFE85</vt:lpwstr>
  </property>
  <property fmtid="{D5CDD505-2E9C-101B-9397-08002B2CF9AE}" pid="3" name="KSOProductBuildVer">
    <vt:lpwstr>1033-11.2.0.11486</vt:lpwstr>
  </property>
</Properties>
</file>