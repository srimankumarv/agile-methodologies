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99.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s/slide79.xml" ContentType="application/vnd.openxmlformats-officedocument.presentationml.slide+xml"/>
  <Override PartName="/ppt/slides/slide10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5"/>
  </p:notesMasterIdLst>
  <p:sldIdLst>
    <p:sldId id="867" r:id="rId2"/>
    <p:sldId id="866" r:id="rId3"/>
    <p:sldId id="1486" r:id="rId4"/>
    <p:sldId id="1487" r:id="rId5"/>
    <p:sldId id="1193" r:id="rId6"/>
    <p:sldId id="1515" r:id="rId7"/>
    <p:sldId id="1457" r:id="rId8"/>
    <p:sldId id="1516" r:id="rId9"/>
    <p:sldId id="1517" r:id="rId10"/>
    <p:sldId id="1518" r:id="rId11"/>
    <p:sldId id="1519" r:id="rId12"/>
    <p:sldId id="1520" r:id="rId13"/>
    <p:sldId id="1529" r:id="rId14"/>
    <p:sldId id="1521" r:id="rId15"/>
    <p:sldId id="1530" r:id="rId16"/>
    <p:sldId id="1531" r:id="rId17"/>
    <p:sldId id="1633" r:id="rId18"/>
    <p:sldId id="1634" r:id="rId19"/>
    <p:sldId id="1561" r:id="rId20"/>
    <p:sldId id="1589" r:id="rId21"/>
    <p:sldId id="1590" r:id="rId22"/>
    <p:sldId id="1591" r:id="rId23"/>
    <p:sldId id="1592" r:id="rId24"/>
    <p:sldId id="1593" r:id="rId25"/>
    <p:sldId id="1594" r:id="rId26"/>
    <p:sldId id="1595" r:id="rId27"/>
    <p:sldId id="1596" r:id="rId28"/>
    <p:sldId id="1597" r:id="rId29"/>
    <p:sldId id="1598" r:id="rId30"/>
    <p:sldId id="1599" r:id="rId31"/>
    <p:sldId id="1600" r:id="rId32"/>
    <p:sldId id="1601" r:id="rId33"/>
    <p:sldId id="1602" r:id="rId34"/>
    <p:sldId id="1635" r:id="rId35"/>
    <p:sldId id="1603" r:id="rId36"/>
    <p:sldId id="1604" r:id="rId37"/>
    <p:sldId id="1605" r:id="rId38"/>
    <p:sldId id="1636" r:id="rId39"/>
    <p:sldId id="1637" r:id="rId40"/>
    <p:sldId id="1638" r:id="rId41"/>
    <p:sldId id="1639" r:id="rId42"/>
    <p:sldId id="1640" r:id="rId43"/>
    <p:sldId id="1641" r:id="rId44"/>
    <p:sldId id="1642" r:id="rId45"/>
    <p:sldId id="1643" r:id="rId46"/>
    <p:sldId id="1644" r:id="rId47"/>
    <p:sldId id="1645" r:id="rId48"/>
    <p:sldId id="1646" r:id="rId49"/>
    <p:sldId id="1651" r:id="rId50"/>
    <p:sldId id="1650" r:id="rId51"/>
    <p:sldId id="1649" r:id="rId52"/>
    <p:sldId id="1647" r:id="rId53"/>
    <p:sldId id="1648" r:id="rId54"/>
    <p:sldId id="1697" r:id="rId55"/>
    <p:sldId id="1698" r:id="rId56"/>
    <p:sldId id="1699" r:id="rId57"/>
    <p:sldId id="1700" r:id="rId58"/>
    <p:sldId id="1701" r:id="rId59"/>
    <p:sldId id="1702" r:id="rId60"/>
    <p:sldId id="1703" r:id="rId61"/>
    <p:sldId id="1704" r:id="rId62"/>
    <p:sldId id="1705" r:id="rId63"/>
    <p:sldId id="1706" r:id="rId64"/>
    <p:sldId id="1707" r:id="rId65"/>
    <p:sldId id="1708" r:id="rId66"/>
    <p:sldId id="1709" r:id="rId67"/>
    <p:sldId id="1710" r:id="rId68"/>
    <p:sldId id="1711" r:id="rId69"/>
    <p:sldId id="1712" r:id="rId70"/>
    <p:sldId id="1714" r:id="rId71"/>
    <p:sldId id="1713" r:id="rId72"/>
    <p:sldId id="1715" r:id="rId73"/>
    <p:sldId id="1716" r:id="rId74"/>
    <p:sldId id="1717" r:id="rId75"/>
    <p:sldId id="1718" r:id="rId76"/>
    <p:sldId id="1719" r:id="rId77"/>
    <p:sldId id="1720" r:id="rId78"/>
    <p:sldId id="1721" r:id="rId79"/>
    <p:sldId id="1722" r:id="rId80"/>
    <p:sldId id="1723" r:id="rId81"/>
    <p:sldId id="1724" r:id="rId82"/>
    <p:sldId id="1725" r:id="rId83"/>
    <p:sldId id="1726" r:id="rId84"/>
    <p:sldId id="1727" r:id="rId85"/>
    <p:sldId id="1728" r:id="rId86"/>
    <p:sldId id="1729" r:id="rId87"/>
    <p:sldId id="1522" r:id="rId88"/>
    <p:sldId id="1523" r:id="rId89"/>
    <p:sldId id="1524" r:id="rId90"/>
    <p:sldId id="1525" r:id="rId91"/>
    <p:sldId id="1526" r:id="rId92"/>
    <p:sldId id="1527" r:id="rId93"/>
    <p:sldId id="1528" r:id="rId94"/>
    <p:sldId id="1458" r:id="rId95"/>
    <p:sldId id="1460" r:id="rId96"/>
    <p:sldId id="1461" r:id="rId97"/>
    <p:sldId id="1465" r:id="rId98"/>
    <p:sldId id="1467" r:id="rId99"/>
    <p:sldId id="1468" r:id="rId100"/>
    <p:sldId id="1469" r:id="rId101"/>
    <p:sldId id="1473" r:id="rId102"/>
    <p:sldId id="1470" r:id="rId103"/>
    <p:sldId id="1471" r:id="rId104"/>
    <p:sldId id="1472" r:id="rId105"/>
    <p:sldId id="1474" r:id="rId106"/>
    <p:sldId id="1475" r:id="rId107"/>
    <p:sldId id="1476" r:id="rId108"/>
    <p:sldId id="1477" r:id="rId109"/>
    <p:sldId id="1478" r:id="rId110"/>
    <p:sldId id="1479" r:id="rId111"/>
    <p:sldId id="1480" r:id="rId112"/>
    <p:sldId id="1484" r:id="rId113"/>
    <p:sldId id="1485" r:id="rId1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256">
          <p15:clr>
            <a:srgbClr val="A4A3A4"/>
          </p15:clr>
        </p15:guide>
        <p15:guide id="2" pos="2917">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uthuraja" initials="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7" d="100"/>
          <a:sy n="77" d="100"/>
        </p:scale>
        <p:origin x="-1541" y="-72"/>
      </p:cViewPr>
      <p:guideLst>
        <p:guide orient="horz" pos="2256"/>
        <p:guide pos="2917"/>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7.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8.png"/></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image" Target="../media/image29.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2D761C-6E19-4D7C-A16B-838A9211D8BF}" type="datetimeFigureOut">
              <a:rPr lang="en-US" smtClean="0"/>
              <a:pPr/>
              <a:t>9/2/2026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D930DEB-A895-42C2-8FBD-39937F01E9C7}" type="slidenum">
              <a:rPr lang="en-US" smtClean="0"/>
              <a:pPr/>
              <a:t>‹#›</a:t>
            </a:fld>
            <a:endParaRPr lang="en-US"/>
          </a:p>
        </p:txBody>
      </p:sp>
    </p:spTree>
    <p:extLst>
      <p:ext uri="{BB962C8B-B14F-4D97-AF65-F5344CB8AC3E}">
        <p14:creationId xmlns:p14="http://schemas.microsoft.com/office/powerpoint/2010/main" xmlns="" val="3579454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6CA33E9-0D0F-477E-A75B-99F131C13536}" type="datetimeFigureOut">
              <a:rPr lang="en-US" smtClean="0"/>
              <a:pPr/>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CA33E9-0D0F-477E-A75B-99F131C13536}" type="datetimeFigureOut">
              <a:rPr lang="en-US" smtClean="0"/>
              <a:pPr/>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6CA33E9-0D0F-477E-A75B-99F131C13536}" type="datetimeFigureOut">
              <a:rPr lang="en-US" smtClean="0"/>
              <a:pPr/>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6CA33E9-0D0F-477E-A75B-99F131C13536}" type="datetimeFigureOut">
              <a:rPr lang="en-US" smtClean="0"/>
              <a:pPr/>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6CA33E9-0D0F-477E-A75B-99F131C13536}" type="datetimeFigureOut">
              <a:rPr lang="en-US" smtClean="0"/>
              <a:pPr/>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6CA33E9-0D0F-477E-A75B-99F131C13536}" type="datetimeFigureOut">
              <a:rPr lang="en-US" smtClean="0"/>
              <a:pPr/>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CA33E9-0D0F-477E-A75B-99F131C13536}" type="datetimeFigureOut">
              <a:rPr lang="en-US" smtClean="0"/>
              <a:pPr/>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6CA33E9-0D0F-477E-A75B-99F131C13536}" type="datetimeFigureOut">
              <a:rPr lang="en-US" smtClean="0"/>
              <a:pPr/>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6CA33E9-0D0F-477E-A75B-99F131C13536}" type="datetimeFigureOut">
              <a:rPr lang="en-US" smtClean="0"/>
              <a:pPr/>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CA33E9-0D0F-477E-A75B-99F131C13536}" type="datetimeFigureOut">
              <a:rPr lang="en-US" smtClean="0"/>
              <a:pPr/>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CA33E9-0D0F-477E-A75B-99F131C13536}" type="datetimeFigureOut">
              <a:rPr lang="en-US" smtClean="0"/>
              <a:pPr/>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CA33E9-0D0F-477E-A75B-99F131C13536}" type="datetimeFigureOut">
              <a:rPr lang="en-US" smtClean="0"/>
              <a:pPr/>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356FB3-E5AC-425B-8FB2-AE5BB05658F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4.xml"/><Relationship Id="rId1" Type="http://schemas.openxmlformats.org/officeDocument/2006/relationships/vmlDrawing" Target="../drawings/vmlDrawing2.v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3.vml"/></Relationships>
</file>

<file path=ppt/slides/_rels/slide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4.v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5.v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6.vml"/></Relationships>
</file>

<file path=ppt/slides/_rels/slide8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7.vml"/></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8.vml"/></Relationships>
</file>

<file path=ppt/slides/_rels/slide9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9.vml"/></Relationships>
</file>

<file path=ppt/slides/_rels/slide10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10.vml"/><Relationship Id="rId4" Type="http://schemas.openxmlformats.org/officeDocument/2006/relationships/oleObject" Target="../embeddings/oleObject11.bin"/></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483360"/>
            <a:ext cx="8229600" cy="1412240"/>
          </a:xfrm>
        </p:spPr>
        <p:txBody>
          <a:bodyPr>
            <a:normAutofit fontScale="90000"/>
          </a:bodyPr>
          <a:lstStyle/>
          <a:p>
            <a:r>
              <a:rPr lang="en-US" sz="4890" b="1" smtClean="0">
                <a:solidFill>
                  <a:srgbClr val="FF0000"/>
                </a:solidFill>
                <a:sym typeface="+mn-ea"/>
              </a:rPr>
              <a:t>22CSC51 </a:t>
            </a:r>
            <a:r>
              <a:rPr lang="en-US" sz="4890" b="1" dirty="0" smtClean="0">
                <a:solidFill>
                  <a:srgbClr val="FF0000"/>
                </a:solidFill>
                <a:sym typeface="+mn-ea"/>
              </a:rPr>
              <a:t>- AGILE METHODOLOGIES</a:t>
            </a:r>
            <a:br>
              <a:rPr lang="en-US" sz="4890" b="1" dirty="0" smtClean="0">
                <a:solidFill>
                  <a:srgbClr val="FF0000"/>
                </a:solidFill>
                <a:sym typeface="+mn-ea"/>
              </a:rPr>
            </a:br>
            <a:endParaRPr lang="en-US" sz="4890" b="1" dirty="0" smtClean="0">
              <a:solidFill>
                <a:srgbClr val="FF0000"/>
              </a:solidFill>
              <a:sym typeface="+mn-ea"/>
            </a:endParaRPr>
          </a:p>
        </p:txBody>
      </p:sp>
      <p:sp>
        <p:nvSpPr>
          <p:cNvPr id="3" name="Content Placeholder 2"/>
          <p:cNvSpPr>
            <a:spLocks noGrp="1"/>
          </p:cNvSpPr>
          <p:nvPr>
            <p:ph idx="1"/>
          </p:nvPr>
        </p:nvSpPr>
        <p:spPr>
          <a:xfrm>
            <a:off x="4099560" y="3514090"/>
            <a:ext cx="4587240" cy="3201670"/>
          </a:xfrm>
        </p:spPr>
        <p:txBody>
          <a:bodyPr>
            <a:normAutofit/>
          </a:bodyPr>
          <a:lstStyle/>
          <a:p>
            <a:pPr marL="0" indent="0" algn="l">
              <a:buNone/>
            </a:pPr>
            <a:r>
              <a:rPr lang="en-US" b="1" dirty="0"/>
              <a:t>Prepared By,</a:t>
            </a:r>
            <a:endParaRPr lang="en-US" dirty="0"/>
          </a:p>
          <a:p>
            <a:pPr marL="0" indent="0" algn="l">
              <a:buNone/>
            </a:pPr>
            <a:r>
              <a:rPr lang="en-US" b="1" dirty="0" err="1" smtClean="0">
                <a:solidFill>
                  <a:srgbClr val="00B050"/>
                </a:solidFill>
              </a:rPr>
              <a:t>Ms.A.KIRUTHIKA</a:t>
            </a:r>
            <a:r>
              <a:rPr lang="en-US" b="1" dirty="0" smtClean="0">
                <a:solidFill>
                  <a:srgbClr val="00B050"/>
                </a:solidFill>
              </a:rPr>
              <a:t>,</a:t>
            </a:r>
            <a:endParaRPr lang="en-US" dirty="0"/>
          </a:p>
          <a:p>
            <a:pPr marL="0" indent="0" algn="l">
              <a:buNone/>
            </a:pPr>
            <a:r>
              <a:rPr lang="en-US" dirty="0"/>
              <a:t>Assistant Professor</a:t>
            </a:r>
          </a:p>
          <a:p>
            <a:pPr marL="0" indent="0" algn="l">
              <a:buNone/>
            </a:pPr>
            <a:r>
              <a:rPr lang="en-US" smtClean="0"/>
              <a:t>Department of </a:t>
            </a:r>
            <a:r>
              <a:rPr lang="en-US" dirty="0"/>
              <a:t>CSE</a:t>
            </a:r>
          </a:p>
          <a:p>
            <a:pPr marL="0" indent="0" algn="l">
              <a:buNone/>
            </a:pPr>
            <a:r>
              <a:rPr lang="en-US" dirty="0" err="1"/>
              <a:t>Kongu</a:t>
            </a:r>
            <a:r>
              <a:rPr lang="en-US" dirty="0"/>
              <a:t> Engineering College</a:t>
            </a:r>
          </a:p>
        </p:txBody>
      </p:sp>
      <p:sp>
        <p:nvSpPr>
          <p:cNvPr id="4" name="Text Box 3"/>
          <p:cNvSpPr txBox="1"/>
          <p:nvPr/>
        </p:nvSpPr>
        <p:spPr>
          <a:xfrm>
            <a:off x="2623820" y="4953000"/>
            <a:ext cx="309880" cy="368300"/>
          </a:xfrm>
          <a:prstGeom prst="rect">
            <a:avLst/>
          </a:prstGeom>
          <a:noFill/>
        </p:spPr>
        <p:txBody>
          <a:bodyPr wrap="none" rtlCol="0">
            <a:spAutoFit/>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4475" y="1189990"/>
            <a:ext cx="8716645" cy="5598795"/>
          </a:xfrm>
        </p:spPr>
        <p:txBody>
          <a:bodyPr>
            <a:noAutofit/>
          </a:bodyPr>
          <a:lstStyle/>
          <a:p>
            <a:pPr marL="0" indent="0" algn="ctr">
              <a:buNone/>
            </a:pPr>
            <a:r>
              <a:rPr lang="en-US" sz="3600" b="1" dirty="0" smtClean="0">
                <a:sym typeface="+mn-ea"/>
              </a:rPr>
              <a:t>	</a:t>
            </a:r>
            <a:endParaRPr lang="en-US" sz="3600" b="1" dirty="0" smtClean="0"/>
          </a:p>
          <a:p>
            <a:pPr marL="0" indent="0" algn="ctr">
              <a:buNone/>
            </a:pPr>
            <a:endParaRPr lang="en-US" sz="3600" b="1" dirty="0" smtClean="0">
              <a:solidFill>
                <a:srgbClr val="FF0000"/>
              </a:solidFill>
              <a:sym typeface="+mn-ea"/>
            </a:endParaRPr>
          </a:p>
          <a:p>
            <a:pPr marL="0" indent="0" algn="ctr">
              <a:buNone/>
            </a:pPr>
            <a:r>
              <a:rPr lang="en-US" sz="4000" b="1" dirty="0" smtClean="0">
                <a:solidFill>
                  <a:srgbClr val="FF0000"/>
                </a:solidFill>
                <a:sym typeface="+mn-ea"/>
              </a:rPr>
              <a:t> Unit - III </a:t>
            </a:r>
          </a:p>
          <a:p>
            <a:pPr marL="0" indent="0" algn="ctr">
              <a:buNone/>
            </a:pPr>
            <a:r>
              <a:rPr lang="en-US" sz="4000" b="1" dirty="0" smtClean="0">
                <a:solidFill>
                  <a:srgbClr val="FF0000"/>
                </a:solidFill>
                <a:sym typeface="+mn-ea"/>
              </a:rPr>
              <a:t>	XP and Incremental Design, Lean, and Kanban </a:t>
            </a:r>
            <a:r>
              <a:rPr lang="en-US" sz="3600" b="1" dirty="0" smtClean="0">
                <a:solidFill>
                  <a:srgbClr val="FF0000"/>
                </a:solidFill>
                <a:sym typeface="+mn-ea"/>
              </a:rPr>
              <a:t>	</a:t>
            </a:r>
          </a:p>
          <a:p>
            <a:pPr marL="0" indent="0" algn="ctr">
              <a:buNone/>
            </a:pPr>
            <a:r>
              <a:rPr lang="en-US" sz="3600" b="1" dirty="0" smtClean="0">
                <a:sym typeface="+mn-ea"/>
              </a:rPr>
              <a:t> </a:t>
            </a:r>
            <a:endParaRPr lang="en-US" sz="3600" b="1" dirty="0" smtClean="0"/>
          </a:p>
          <a:p>
            <a:pPr marL="0" indent="0" algn="ctr">
              <a:buNone/>
            </a:pPr>
            <a:endParaRPr lang="en-US" sz="3600" b="1" dirty="0" smtClean="0"/>
          </a:p>
          <a:p>
            <a:pPr algn="ctr"/>
            <a:endParaRPr lang="en-US" sz="3600" b="1"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75030"/>
          </a:xfrm>
        </p:spPr>
        <p:txBody>
          <a:bodyPr/>
          <a:lstStyle/>
          <a:p>
            <a:r>
              <a:rPr lang="en-US" b="1"/>
              <a:t>XP Extreme Programming </a:t>
            </a:r>
          </a:p>
        </p:txBody>
      </p:sp>
      <p:sp>
        <p:nvSpPr>
          <p:cNvPr id="3" name="Content Placeholder 2"/>
          <p:cNvSpPr>
            <a:spLocks noGrp="1"/>
          </p:cNvSpPr>
          <p:nvPr>
            <p:ph sz="half" idx="1"/>
          </p:nvPr>
        </p:nvSpPr>
        <p:spPr>
          <a:xfrm>
            <a:off x="457200" y="974725"/>
            <a:ext cx="8315960" cy="5716270"/>
          </a:xfrm>
        </p:spPr>
        <p:txBody>
          <a:bodyPr>
            <a:normAutofit fontScale="90000" lnSpcReduction="10000"/>
          </a:bodyPr>
          <a:lstStyle/>
          <a:p>
            <a:pPr algn="just"/>
            <a:r>
              <a:rPr lang="en-US"/>
              <a:t>XP is a </a:t>
            </a:r>
            <a:r>
              <a:rPr lang="en-US" b="1">
                <a:solidFill>
                  <a:srgbClr val="00B0F0"/>
                </a:solidFill>
              </a:rPr>
              <a:t>lightweight, efficient, low-risk, flexible, predictable, scientific, and fun way</a:t>
            </a:r>
            <a:r>
              <a:rPr lang="en-US"/>
              <a:t> to develop </a:t>
            </a:r>
            <a:r>
              <a:rPr lang="en-US" b="1">
                <a:solidFill>
                  <a:schemeClr val="accent6">
                    <a:lumMod val="75000"/>
                  </a:schemeClr>
                </a:solidFill>
              </a:rPr>
              <a:t>software</a:t>
            </a:r>
            <a:r>
              <a:rPr lang="en-US"/>
              <a:t>.</a:t>
            </a:r>
          </a:p>
          <a:p>
            <a:pPr algn="just"/>
            <a:r>
              <a:rPr lang="en-US"/>
              <a:t>Suitable for </a:t>
            </a:r>
            <a:r>
              <a:rPr lang="en-US" b="1">
                <a:solidFill>
                  <a:srgbClr val="7030A0"/>
                </a:solidFill>
              </a:rPr>
              <a:t>small to medium sized</a:t>
            </a:r>
            <a:r>
              <a:rPr lang="en-US"/>
              <a:t> projects that works under vague and rapidly changing environment, usually ranged from </a:t>
            </a:r>
            <a:r>
              <a:rPr lang="en-US" b="1">
                <a:solidFill>
                  <a:srgbClr val="FF0000"/>
                </a:solidFill>
              </a:rPr>
              <a:t>6 to 15 months</a:t>
            </a:r>
            <a:r>
              <a:rPr lang="en-US"/>
              <a:t>.</a:t>
            </a:r>
          </a:p>
          <a:p>
            <a:pPr algn="just"/>
            <a:r>
              <a:rPr lang="en-US"/>
              <a:t>XP was used by small teams ranging from </a:t>
            </a:r>
            <a:r>
              <a:rPr lang="en-US" b="1">
                <a:solidFill>
                  <a:srgbClr val="00B050"/>
                </a:solidFill>
              </a:rPr>
              <a:t>two to twelve members.</a:t>
            </a:r>
          </a:p>
          <a:p>
            <a:pPr algn="just"/>
            <a:r>
              <a:rPr lang="en-US"/>
              <a:t>Kent Beck in 1999 invented XP to meet the changing requirements needed in the market place.</a:t>
            </a:r>
          </a:p>
          <a:p>
            <a:pPr algn="just"/>
            <a:r>
              <a:rPr lang="en-US" b="1">
                <a:solidFill>
                  <a:srgbClr val="00B050"/>
                </a:solidFill>
              </a:rPr>
              <a:t>Goals:</a:t>
            </a:r>
          </a:p>
          <a:p>
            <a:pPr lvl="1" algn="just">
              <a:buFont typeface="Wingdings" panose="05000000000000000000" charset="0"/>
              <a:buChar char="ü"/>
            </a:pPr>
            <a:r>
              <a:rPr lang="en-US" b="1">
                <a:solidFill>
                  <a:schemeClr val="accent6"/>
                </a:solidFill>
              </a:rPr>
              <a:t> Minimize unnecessary work</a:t>
            </a:r>
          </a:p>
          <a:p>
            <a:pPr lvl="1" algn="just">
              <a:buFont typeface="Wingdings" panose="05000000000000000000" charset="0"/>
              <a:buChar char="ü"/>
            </a:pPr>
            <a:r>
              <a:rPr lang="en-US" b="1">
                <a:solidFill>
                  <a:schemeClr val="accent6"/>
                </a:solidFill>
              </a:rPr>
              <a:t> Maximize communication and feedback</a:t>
            </a:r>
          </a:p>
          <a:p>
            <a:pPr lvl="1" algn="just">
              <a:buFont typeface="Wingdings" panose="05000000000000000000" charset="0"/>
              <a:buChar char="ü"/>
            </a:pPr>
            <a:r>
              <a:rPr lang="en-US" b="1">
                <a:solidFill>
                  <a:schemeClr val="accent6"/>
                </a:solidFill>
              </a:rPr>
              <a:t>Make sure that developers do most important work</a:t>
            </a:r>
          </a:p>
          <a:p>
            <a:pPr lvl="1" algn="just">
              <a:buFont typeface="Wingdings" panose="05000000000000000000" charset="0"/>
              <a:buChar char="ü"/>
            </a:pPr>
            <a:r>
              <a:rPr lang="en-US" b="1">
                <a:solidFill>
                  <a:schemeClr val="accent6"/>
                </a:solidFill>
              </a:rPr>
              <a:t>Make system flexible, ready to meet any change in requirements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noChangeAspect="1"/>
          </p:cNvGraphicFramePr>
          <p:nvPr>
            <p:ph sz="half" idx="1"/>
          </p:nvPr>
        </p:nvGraphicFramePr>
        <p:xfrm>
          <a:off x="457200" y="354965"/>
          <a:ext cx="8229600" cy="6275070"/>
        </p:xfrm>
        <a:graphic>
          <a:graphicData uri="http://schemas.openxmlformats.org/presentationml/2006/ole">
            <p:oleObj spid="_x0000_s1035" r:id="rId3" imgW="6342857" imgH="3685714" progId="PBrush">
              <p:embed/>
            </p:oleObj>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955" y="76200"/>
            <a:ext cx="8229600" cy="798195"/>
          </a:xfrm>
        </p:spPr>
        <p:txBody>
          <a:bodyPr/>
          <a:lstStyle/>
          <a:p>
            <a:r>
              <a:rPr lang="en-US" b="1">
                <a:sym typeface="+mn-ea"/>
              </a:rPr>
              <a:t>XP Variables</a:t>
            </a:r>
            <a:endParaRPr lang="en-US" b="1"/>
          </a:p>
        </p:txBody>
      </p:sp>
      <p:sp>
        <p:nvSpPr>
          <p:cNvPr id="3" name="Content Placeholder 2"/>
          <p:cNvSpPr>
            <a:spLocks noGrp="1"/>
          </p:cNvSpPr>
          <p:nvPr>
            <p:ph sz="half" idx="1"/>
          </p:nvPr>
        </p:nvSpPr>
        <p:spPr>
          <a:xfrm>
            <a:off x="457200" y="931545"/>
            <a:ext cx="8301355" cy="5785485"/>
          </a:xfrm>
        </p:spPr>
        <p:txBody>
          <a:bodyPr>
            <a:noAutofit/>
          </a:bodyPr>
          <a:lstStyle/>
          <a:p>
            <a:pPr algn="just"/>
            <a:r>
              <a:rPr lang="en-US" sz="2100"/>
              <a:t>XP regards a software development project as a system of four control “variables”:</a:t>
            </a:r>
          </a:p>
          <a:p>
            <a:pPr marL="0" indent="0" algn="just">
              <a:buNone/>
            </a:pPr>
            <a:r>
              <a:rPr lang="en-US" sz="2100"/>
              <a:t>	</a:t>
            </a:r>
            <a:r>
              <a:rPr lang="en-US" sz="2100" b="1">
                <a:solidFill>
                  <a:schemeClr val="accent6"/>
                </a:solidFill>
              </a:rPr>
              <a:t>1. Cost			3. </a:t>
            </a:r>
            <a:r>
              <a:rPr lang="en-US" sz="2100" b="1">
                <a:solidFill>
                  <a:schemeClr val="accent6"/>
                </a:solidFill>
                <a:sym typeface="+mn-ea"/>
              </a:rPr>
              <a:t>Quality</a:t>
            </a:r>
            <a:endParaRPr lang="en-US" sz="2100" b="1">
              <a:solidFill>
                <a:schemeClr val="accent6"/>
              </a:solidFill>
            </a:endParaRPr>
          </a:p>
          <a:p>
            <a:pPr marL="0" indent="0" algn="just">
              <a:buFont typeface="Wingdings" panose="05000000000000000000" charset="0"/>
              <a:buNone/>
            </a:pPr>
            <a:r>
              <a:rPr lang="en-US" sz="2100" b="1">
                <a:solidFill>
                  <a:schemeClr val="accent6"/>
                </a:solidFill>
                <a:sym typeface="+mn-ea"/>
              </a:rPr>
              <a:t>	2. Scope		4. Time</a:t>
            </a:r>
            <a:endParaRPr lang="en-US" sz="2100" b="1">
              <a:solidFill>
                <a:schemeClr val="accent6"/>
              </a:solidFill>
            </a:endParaRPr>
          </a:p>
          <a:p>
            <a:pPr marL="0" indent="0" algn="just">
              <a:buFont typeface="Wingdings" panose="05000000000000000000" charset="0"/>
              <a:buNone/>
            </a:pPr>
            <a:r>
              <a:rPr lang="en-US" sz="2100" b="1">
                <a:solidFill>
                  <a:schemeClr val="accent6"/>
                </a:solidFill>
              </a:rPr>
              <a:t>Cost</a:t>
            </a:r>
          </a:p>
          <a:p>
            <a:pPr marL="0" indent="0" algn="just">
              <a:buFont typeface="Wingdings" panose="05000000000000000000" charset="0"/>
              <a:buNone/>
            </a:pPr>
            <a:r>
              <a:rPr lang="en-US" sz="2100"/>
              <a:t>The amount of money to be spent. The </a:t>
            </a:r>
            <a:r>
              <a:rPr lang="en-US" sz="2100" b="1">
                <a:solidFill>
                  <a:srgbClr val="FF0000"/>
                </a:solidFill>
              </a:rPr>
              <a:t>resources</a:t>
            </a:r>
            <a:r>
              <a:rPr lang="en-US" sz="2100"/>
              <a:t> (how many developers, equipment etc.) available for the project are directly related to this variable.</a:t>
            </a:r>
          </a:p>
          <a:p>
            <a:pPr marL="0" indent="0" algn="just">
              <a:buFont typeface="Wingdings" panose="05000000000000000000" charset="0"/>
              <a:buNone/>
            </a:pPr>
            <a:r>
              <a:rPr lang="en-US" sz="2100" b="1">
                <a:solidFill>
                  <a:schemeClr val="accent6"/>
                </a:solidFill>
              </a:rPr>
              <a:t>Time</a:t>
            </a:r>
          </a:p>
          <a:p>
            <a:pPr marL="0" indent="0" algn="just">
              <a:buFont typeface="Wingdings" panose="05000000000000000000" charset="0"/>
              <a:buNone/>
            </a:pPr>
            <a:r>
              <a:rPr lang="en-US" sz="2100"/>
              <a:t>Determines when the </a:t>
            </a:r>
            <a:r>
              <a:rPr lang="en-US" sz="2100" b="1">
                <a:solidFill>
                  <a:srgbClr val="00B0F0"/>
                </a:solidFill>
              </a:rPr>
              <a:t>system (release) should</a:t>
            </a:r>
            <a:r>
              <a:rPr lang="en-US" sz="2100"/>
              <a:t> be done.</a:t>
            </a:r>
          </a:p>
          <a:p>
            <a:pPr marL="0" indent="0" algn="just">
              <a:buFont typeface="Wingdings" panose="05000000000000000000" charset="0"/>
              <a:buNone/>
            </a:pPr>
            <a:r>
              <a:rPr lang="en-US" sz="2100" b="1">
                <a:solidFill>
                  <a:schemeClr val="accent6"/>
                </a:solidFill>
              </a:rPr>
              <a:t>Quality</a:t>
            </a:r>
          </a:p>
          <a:p>
            <a:pPr marL="0" indent="0" algn="just">
              <a:buFont typeface="Wingdings" panose="05000000000000000000" charset="0"/>
              <a:buNone/>
            </a:pPr>
            <a:r>
              <a:rPr lang="en-US" sz="2100"/>
              <a:t>The </a:t>
            </a:r>
            <a:r>
              <a:rPr lang="en-US" sz="2100" b="1">
                <a:solidFill>
                  <a:srgbClr val="00B050"/>
                </a:solidFill>
              </a:rPr>
              <a:t>correctness of the system</a:t>
            </a:r>
            <a:r>
              <a:rPr lang="en-US" sz="2100"/>
              <a:t> (as defined by the customer) and how well tested it will be.</a:t>
            </a:r>
          </a:p>
          <a:p>
            <a:pPr marL="0" indent="0" algn="just">
              <a:buFont typeface="Wingdings" panose="05000000000000000000" charset="0"/>
              <a:buNone/>
            </a:pPr>
            <a:r>
              <a:rPr lang="en-US" sz="2100" b="1">
                <a:solidFill>
                  <a:schemeClr val="accent6"/>
                </a:solidFill>
              </a:rPr>
              <a:t>Scope</a:t>
            </a:r>
          </a:p>
          <a:p>
            <a:pPr marL="0" indent="0" algn="just">
              <a:buFont typeface="Wingdings" panose="05000000000000000000" charset="0"/>
              <a:buNone/>
            </a:pPr>
            <a:r>
              <a:rPr lang="en-US" sz="2100"/>
              <a:t>Describes what and </a:t>
            </a:r>
            <a:r>
              <a:rPr lang="en-US" sz="2100" b="1">
                <a:solidFill>
                  <a:srgbClr val="FF0000"/>
                </a:solidFill>
              </a:rPr>
              <a:t>how much will be done </a:t>
            </a:r>
            <a:r>
              <a:rPr lang="en-US" sz="2100"/>
              <a:t>(functionality).</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5883"/>
            <a:ext cx="8229600" cy="1143000"/>
          </a:xfrm>
        </p:spPr>
        <p:txBody>
          <a:bodyPr/>
          <a:lstStyle/>
          <a:p>
            <a:r>
              <a:rPr lang="en-US" b="1"/>
              <a:t>Relationship between Variables</a:t>
            </a:r>
          </a:p>
        </p:txBody>
      </p:sp>
      <p:sp>
        <p:nvSpPr>
          <p:cNvPr id="4" name="Content Placeholder 3"/>
          <p:cNvSpPr>
            <a:spLocks noGrp="1"/>
          </p:cNvSpPr>
          <p:nvPr>
            <p:ph sz="half" idx="2"/>
          </p:nvPr>
        </p:nvSpPr>
        <p:spPr/>
        <p:txBody>
          <a:bodyPr>
            <a:normAutofit fontScale="92500" lnSpcReduction="10000"/>
          </a:bodyPr>
          <a:lstStyle/>
          <a:p>
            <a:pPr algn="just"/>
            <a:r>
              <a:rPr lang="en-US"/>
              <a:t>Time is the </a:t>
            </a:r>
            <a:r>
              <a:rPr lang="en-US" b="1">
                <a:solidFill>
                  <a:srgbClr val="FF0000"/>
                </a:solidFill>
              </a:rPr>
              <a:t>central variable</a:t>
            </a:r>
            <a:r>
              <a:rPr lang="en-US"/>
              <a:t> in XP.</a:t>
            </a:r>
          </a:p>
          <a:p>
            <a:pPr algn="just"/>
            <a:r>
              <a:rPr lang="en-US" b="1">
                <a:solidFill>
                  <a:srgbClr val="7030A0"/>
                </a:solidFill>
              </a:rPr>
              <a:t>Increasing quality</a:t>
            </a:r>
            <a:r>
              <a:rPr lang="en-US"/>
              <a:t> can increase the time</a:t>
            </a:r>
          </a:p>
          <a:p>
            <a:pPr algn="just"/>
            <a:r>
              <a:rPr lang="en-US" b="1">
                <a:solidFill>
                  <a:srgbClr val="7030A0"/>
                </a:solidFill>
              </a:rPr>
              <a:t>Increasing scope</a:t>
            </a:r>
            <a:r>
              <a:rPr lang="en-US"/>
              <a:t> means more time is needed</a:t>
            </a:r>
          </a:p>
          <a:p>
            <a:pPr algn="just"/>
            <a:r>
              <a:rPr lang="en-US" b="1">
                <a:solidFill>
                  <a:srgbClr val="7030A0"/>
                </a:solidFill>
              </a:rPr>
              <a:t>Increasing cost</a:t>
            </a:r>
            <a:r>
              <a:rPr lang="en-US"/>
              <a:t> (hiring more developers or providing better equipment) can mean less time</a:t>
            </a:r>
          </a:p>
        </p:txBody>
      </p:sp>
      <p:graphicFrame>
        <p:nvGraphicFramePr>
          <p:cNvPr id="5" name="Content Placeholder 4"/>
          <p:cNvGraphicFramePr>
            <a:graphicFrameLocks noGrp="1" noChangeAspect="1"/>
          </p:cNvGraphicFramePr>
          <p:nvPr>
            <p:ph sz="half" idx="1"/>
          </p:nvPr>
        </p:nvGraphicFramePr>
        <p:xfrm>
          <a:off x="448945" y="1689100"/>
          <a:ext cx="3722370" cy="4352925"/>
        </p:xfrm>
        <a:graphic>
          <a:graphicData uri="http://schemas.openxmlformats.org/presentationml/2006/ole">
            <p:oleObj spid="_x0000_s2059" r:id="rId3" imgW="3390476" imgH="2924583" progId="PBrush">
              <p:embed/>
            </p:oleObj>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9960"/>
          </a:xfrm>
        </p:spPr>
        <p:txBody>
          <a:bodyPr>
            <a:normAutofit/>
          </a:bodyPr>
          <a:lstStyle/>
          <a:p>
            <a:r>
              <a:rPr lang="en-US" b="1">
                <a:sym typeface="+mn-ea"/>
              </a:rPr>
              <a:t>XP Values</a:t>
            </a:r>
            <a:endParaRPr lang="en-US" b="1"/>
          </a:p>
        </p:txBody>
      </p:sp>
      <p:sp>
        <p:nvSpPr>
          <p:cNvPr id="3" name="Content Placeholder 2"/>
          <p:cNvSpPr>
            <a:spLocks noGrp="1"/>
          </p:cNvSpPr>
          <p:nvPr>
            <p:ph sz="half" idx="1"/>
          </p:nvPr>
        </p:nvSpPr>
        <p:spPr>
          <a:xfrm>
            <a:off x="232410" y="1600200"/>
            <a:ext cx="4263390" cy="4950460"/>
          </a:xfrm>
        </p:spPr>
        <p:txBody>
          <a:bodyPr>
            <a:normAutofit/>
          </a:bodyPr>
          <a:lstStyle/>
          <a:p>
            <a:pPr marL="0" indent="0" algn="just">
              <a:buNone/>
            </a:pPr>
            <a:r>
              <a:rPr lang="en-US">
                <a:solidFill>
                  <a:schemeClr val="tx1"/>
                </a:solidFill>
              </a:rPr>
              <a:t>XP defines four </a:t>
            </a:r>
            <a:r>
              <a:rPr lang="en-US" b="1">
                <a:solidFill>
                  <a:srgbClr val="7030A0"/>
                </a:solidFill>
              </a:rPr>
              <a:t>“values”</a:t>
            </a:r>
            <a:r>
              <a:rPr lang="en-US">
                <a:solidFill>
                  <a:schemeClr val="tx1"/>
                </a:solidFill>
              </a:rPr>
              <a:t> which are used as guidelines throughout development.</a:t>
            </a:r>
          </a:p>
          <a:p>
            <a:pPr algn="just">
              <a:buFont typeface="Wingdings" panose="05000000000000000000" charset="0"/>
              <a:buChar char="v"/>
            </a:pPr>
            <a:r>
              <a:rPr lang="en-US" b="1">
                <a:solidFill>
                  <a:srgbClr val="FF0000"/>
                </a:solidFill>
              </a:rPr>
              <a:t>Communication</a:t>
            </a:r>
          </a:p>
          <a:p>
            <a:pPr algn="just">
              <a:buFont typeface="Wingdings" panose="05000000000000000000" charset="0"/>
              <a:buChar char="v"/>
            </a:pPr>
            <a:r>
              <a:rPr lang="en-US" b="1">
                <a:solidFill>
                  <a:srgbClr val="FF0000"/>
                </a:solidFill>
              </a:rPr>
              <a:t>Simplicity</a:t>
            </a:r>
          </a:p>
          <a:p>
            <a:pPr algn="just">
              <a:buFont typeface="Wingdings" panose="05000000000000000000" charset="0"/>
              <a:buChar char="v"/>
            </a:pPr>
            <a:r>
              <a:rPr lang="en-US" b="1">
                <a:solidFill>
                  <a:srgbClr val="FF0000"/>
                </a:solidFill>
              </a:rPr>
              <a:t>Feedback</a:t>
            </a:r>
          </a:p>
          <a:p>
            <a:pPr algn="just">
              <a:buFont typeface="Wingdings" panose="05000000000000000000" charset="0"/>
              <a:buChar char="v"/>
            </a:pPr>
            <a:r>
              <a:rPr lang="en-US" b="1">
                <a:solidFill>
                  <a:srgbClr val="FF0000"/>
                </a:solidFill>
              </a:rPr>
              <a:t>Courage</a:t>
            </a:r>
          </a:p>
          <a:p>
            <a:pPr algn="just">
              <a:buFont typeface="Wingdings" panose="05000000000000000000" charset="0"/>
              <a:buChar char="v"/>
            </a:pPr>
            <a:r>
              <a:rPr lang="en-US" b="1">
                <a:solidFill>
                  <a:srgbClr val="FF0000"/>
                </a:solidFill>
              </a:rPr>
              <a:t>Respect</a:t>
            </a:r>
          </a:p>
          <a:p>
            <a:pPr marL="0" indent="0" algn="just">
              <a:buFont typeface="Wingdings" panose="05000000000000000000" charset="0"/>
              <a:buNone/>
            </a:pPr>
            <a:endParaRPr lang="en-US" b="1">
              <a:solidFill>
                <a:srgbClr val="FF0000"/>
              </a:solidFill>
            </a:endParaRPr>
          </a:p>
        </p:txBody>
      </p:sp>
      <p:pic>
        <p:nvPicPr>
          <p:cNvPr id="4" name="Content Placeholder 3" descr="XP-Values-1"/>
          <p:cNvPicPr>
            <a:picLocks noGrp="1" noChangeAspect="1"/>
          </p:cNvPicPr>
          <p:nvPr>
            <p:ph sz="half" idx="2"/>
          </p:nvPr>
        </p:nvPicPr>
        <p:blipFill>
          <a:blip r:embed="rId2"/>
          <a:stretch>
            <a:fillRect/>
          </a:stretch>
        </p:blipFill>
        <p:spPr>
          <a:xfrm>
            <a:off x="4648200" y="1844040"/>
            <a:ext cx="4038600" cy="40386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87095"/>
          </a:xfrm>
        </p:spPr>
        <p:txBody>
          <a:bodyPr>
            <a:normAutofit/>
          </a:bodyPr>
          <a:lstStyle/>
          <a:p>
            <a:r>
              <a:rPr lang="en-US" b="1">
                <a:sym typeface="+mn-ea"/>
              </a:rPr>
              <a:t>XP Values</a:t>
            </a:r>
            <a:endParaRPr lang="en-US"/>
          </a:p>
        </p:txBody>
      </p:sp>
      <p:sp>
        <p:nvSpPr>
          <p:cNvPr id="3" name="Content Placeholder 2"/>
          <p:cNvSpPr>
            <a:spLocks noGrp="1"/>
          </p:cNvSpPr>
          <p:nvPr>
            <p:ph sz="half" idx="1"/>
          </p:nvPr>
        </p:nvSpPr>
        <p:spPr>
          <a:xfrm>
            <a:off x="457200" y="1090295"/>
            <a:ext cx="8237855" cy="5550535"/>
          </a:xfrm>
        </p:spPr>
        <p:txBody>
          <a:bodyPr>
            <a:normAutofit/>
          </a:bodyPr>
          <a:lstStyle/>
          <a:p>
            <a:pPr algn="just">
              <a:buFont typeface="Wingdings" panose="05000000000000000000" charset="0"/>
              <a:buChar char="v"/>
            </a:pPr>
            <a:r>
              <a:rPr lang="en-US" b="1">
                <a:solidFill>
                  <a:srgbClr val="FF0000"/>
                </a:solidFill>
              </a:rPr>
              <a:t>Communication</a:t>
            </a:r>
          </a:p>
          <a:p>
            <a:pPr algn="just"/>
            <a:r>
              <a:rPr lang="en-US"/>
              <a:t>Good </a:t>
            </a:r>
            <a:r>
              <a:rPr lang="en-US" b="1">
                <a:solidFill>
                  <a:srgbClr val="00B0F0"/>
                </a:solidFill>
              </a:rPr>
              <a:t>communication is one of the key factors </a:t>
            </a:r>
            <a:r>
              <a:rPr lang="en-US"/>
              <a:t>necessary for the success of software projects. </a:t>
            </a:r>
          </a:p>
          <a:p>
            <a:pPr algn="just"/>
            <a:r>
              <a:rPr lang="en-US"/>
              <a:t>Customers </a:t>
            </a:r>
            <a:r>
              <a:rPr lang="en-US" b="1">
                <a:solidFill>
                  <a:srgbClr val="00B050"/>
                </a:solidFill>
              </a:rPr>
              <a:t>need to communicate</a:t>
            </a:r>
            <a:r>
              <a:rPr lang="en-US"/>
              <a:t> the requirements to the </a:t>
            </a:r>
            <a:r>
              <a:rPr lang="en-US" b="1">
                <a:solidFill>
                  <a:srgbClr val="FFC000"/>
                </a:solidFill>
              </a:rPr>
              <a:t>developers</a:t>
            </a:r>
            <a:r>
              <a:rPr lang="en-US"/>
              <a:t>. Developers communicate ideas and design to each other and so on.</a:t>
            </a:r>
          </a:p>
          <a:p>
            <a:pPr algn="just"/>
            <a:r>
              <a:rPr lang="en-US"/>
              <a:t>A lot of problems can be </a:t>
            </a:r>
            <a:r>
              <a:rPr lang="en-US" b="1">
                <a:solidFill>
                  <a:srgbClr val="0070C0"/>
                </a:solidFill>
              </a:rPr>
              <a:t>traced to a breakdown</a:t>
            </a:r>
            <a:r>
              <a:rPr lang="en-US"/>
              <a:t> in communication.</a:t>
            </a:r>
          </a:p>
          <a:p>
            <a:pPr algn="just"/>
            <a:r>
              <a:rPr lang="en-US"/>
              <a:t>XP tries to keep communication flowing in a variety of ways.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59155"/>
          </a:xfrm>
        </p:spPr>
        <p:txBody>
          <a:bodyPr>
            <a:normAutofit/>
          </a:bodyPr>
          <a:lstStyle/>
          <a:p>
            <a:r>
              <a:rPr lang="en-US" b="1">
                <a:sym typeface="+mn-ea"/>
              </a:rPr>
              <a:t>XP Values</a:t>
            </a:r>
            <a:endParaRPr lang="en-US"/>
          </a:p>
        </p:txBody>
      </p:sp>
      <p:sp>
        <p:nvSpPr>
          <p:cNvPr id="3" name="Content Placeholder 2"/>
          <p:cNvSpPr>
            <a:spLocks noGrp="1"/>
          </p:cNvSpPr>
          <p:nvPr>
            <p:ph sz="half" idx="1"/>
          </p:nvPr>
        </p:nvSpPr>
        <p:spPr>
          <a:xfrm>
            <a:off x="457200" y="917575"/>
            <a:ext cx="8147685" cy="5784850"/>
          </a:xfrm>
        </p:spPr>
        <p:txBody>
          <a:bodyPr>
            <a:normAutofit fontScale="90000" lnSpcReduction="10000"/>
          </a:bodyPr>
          <a:lstStyle/>
          <a:p>
            <a:pPr algn="just">
              <a:buFont typeface="Wingdings" panose="05000000000000000000" charset="0"/>
              <a:buChar char="v"/>
            </a:pPr>
            <a:r>
              <a:rPr lang="en-US" b="1">
                <a:solidFill>
                  <a:srgbClr val="FF0000"/>
                </a:solidFill>
              </a:rPr>
              <a:t>Simplicity</a:t>
            </a:r>
          </a:p>
          <a:p>
            <a:pPr algn="just"/>
            <a:r>
              <a:rPr lang="en-US"/>
              <a:t>XP strives for </a:t>
            </a:r>
            <a:r>
              <a:rPr lang="en-US" b="1">
                <a:solidFill>
                  <a:srgbClr val="7030A0"/>
                </a:solidFill>
              </a:rPr>
              <a:t>simple systems</a:t>
            </a:r>
            <a:r>
              <a:rPr lang="en-US"/>
              <a:t>. This means, they should be </a:t>
            </a:r>
            <a:r>
              <a:rPr lang="en-US" b="1">
                <a:solidFill>
                  <a:srgbClr val="00B050"/>
                </a:solidFill>
              </a:rPr>
              <a:t>as simple as possible</a:t>
            </a:r>
            <a:r>
              <a:rPr lang="en-US"/>
              <a:t> but they </a:t>
            </a:r>
            <a:r>
              <a:rPr lang="en-US" b="1">
                <a:solidFill>
                  <a:schemeClr val="accent4">
                    <a:lumMod val="75000"/>
                  </a:schemeClr>
                </a:solidFill>
              </a:rPr>
              <a:t>must work</a:t>
            </a:r>
            <a:r>
              <a:rPr lang="en-US"/>
              <a:t>.</a:t>
            </a:r>
          </a:p>
          <a:p>
            <a:pPr algn="just"/>
            <a:r>
              <a:rPr lang="en-US"/>
              <a:t>XP also strives for simplicity in the methodology.</a:t>
            </a:r>
          </a:p>
          <a:p>
            <a:pPr algn="just"/>
            <a:r>
              <a:rPr lang="en-US"/>
              <a:t>It </a:t>
            </a:r>
            <a:r>
              <a:rPr lang="en-US" b="1">
                <a:solidFill>
                  <a:schemeClr val="accent6"/>
                </a:solidFill>
              </a:rPr>
              <a:t>reduces the amount of artifacts</a:t>
            </a:r>
            <a:r>
              <a:rPr lang="en-US"/>
              <a:t> to an absolute minimum</a:t>
            </a:r>
          </a:p>
          <a:p>
            <a:pPr marL="0" indent="0" algn="just">
              <a:buNone/>
            </a:pPr>
            <a:r>
              <a:rPr lang="en-US"/>
              <a:t>	</a:t>
            </a:r>
            <a:r>
              <a:rPr lang="en-US" b="1"/>
              <a:t>– the requirements (User Stories), plans (Planning 	Game) and the product (code).</a:t>
            </a:r>
            <a:endParaRPr lang="en-US"/>
          </a:p>
          <a:p>
            <a:pPr algn="just"/>
            <a:r>
              <a:rPr lang="en-US"/>
              <a:t>The practices and techniques can be learned in a matter of hours</a:t>
            </a:r>
          </a:p>
          <a:p>
            <a:pPr algn="just"/>
            <a:r>
              <a:rPr lang="en-US"/>
              <a:t>The main reason for the desire for </a:t>
            </a:r>
            <a:r>
              <a:rPr lang="en-US" b="1">
                <a:solidFill>
                  <a:schemeClr val="accent6"/>
                </a:solidFill>
              </a:rPr>
              <a:t>simplicity</a:t>
            </a:r>
            <a:r>
              <a:rPr lang="en-US"/>
              <a:t> is that XP tries to cope with changes and other risks. </a:t>
            </a:r>
          </a:p>
          <a:p>
            <a:pPr algn="just"/>
            <a:r>
              <a:rPr lang="en-US"/>
              <a:t>Simplicity means that you always strive to </a:t>
            </a:r>
            <a:r>
              <a:rPr lang="en-US" b="1">
                <a:solidFill>
                  <a:srgbClr val="0070C0"/>
                </a:solidFill>
              </a:rPr>
              <a:t>“Do The Simplest Thing That Could Possibly Work”</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5455" y="75883"/>
            <a:ext cx="8229600" cy="1143000"/>
          </a:xfrm>
        </p:spPr>
        <p:txBody>
          <a:bodyPr>
            <a:normAutofit/>
          </a:bodyPr>
          <a:lstStyle/>
          <a:p>
            <a:r>
              <a:rPr lang="en-US" b="1">
                <a:sym typeface="+mn-ea"/>
              </a:rPr>
              <a:t>XP Values</a:t>
            </a:r>
            <a:endParaRPr lang="en-US"/>
          </a:p>
        </p:txBody>
      </p:sp>
      <p:sp>
        <p:nvSpPr>
          <p:cNvPr id="3" name="Content Placeholder 2"/>
          <p:cNvSpPr>
            <a:spLocks noGrp="1"/>
          </p:cNvSpPr>
          <p:nvPr>
            <p:ph sz="half" idx="1"/>
          </p:nvPr>
        </p:nvSpPr>
        <p:spPr>
          <a:xfrm>
            <a:off x="457200" y="1260475"/>
            <a:ext cx="8237855" cy="5290185"/>
          </a:xfrm>
        </p:spPr>
        <p:txBody>
          <a:bodyPr/>
          <a:lstStyle/>
          <a:p>
            <a:pPr algn="just">
              <a:buFont typeface="Wingdings" panose="05000000000000000000" charset="0"/>
              <a:buChar char="v"/>
            </a:pPr>
            <a:r>
              <a:rPr lang="en-US" b="1">
                <a:solidFill>
                  <a:srgbClr val="FF0000"/>
                </a:solidFill>
              </a:rPr>
              <a:t>Feedback</a:t>
            </a:r>
          </a:p>
          <a:p>
            <a:pPr algn="just"/>
            <a:r>
              <a:rPr lang="en-US"/>
              <a:t>XP is a </a:t>
            </a:r>
            <a:r>
              <a:rPr lang="en-US" b="1">
                <a:solidFill>
                  <a:srgbClr val="00B050"/>
                </a:solidFill>
              </a:rPr>
              <a:t>feedback-driven process</a:t>
            </a:r>
            <a:r>
              <a:rPr lang="en-US"/>
              <a:t>. You need feedback at all scales, whether you are a customer, manager or developer.</a:t>
            </a:r>
          </a:p>
          <a:p>
            <a:pPr marL="457200" lvl="1" indent="-457200" algn="just">
              <a:buFont typeface="Arial" panose="020B0604020202020204" pitchFamily="34" charset="0"/>
              <a:buChar char="•"/>
            </a:pPr>
            <a:r>
              <a:rPr lang="en-US" sz="2800">
                <a:sym typeface="+mn-ea"/>
              </a:rPr>
              <a:t>In XP feedback is especially </a:t>
            </a:r>
            <a:r>
              <a:rPr lang="en-US" sz="2800" b="1">
                <a:solidFill>
                  <a:schemeClr val="accent6">
                    <a:lumMod val="75000"/>
                  </a:schemeClr>
                </a:solidFill>
                <a:sym typeface="+mn-ea"/>
              </a:rPr>
              <a:t>relevant to business</a:t>
            </a:r>
            <a:r>
              <a:rPr lang="en-US" sz="2800">
                <a:sym typeface="+mn-ea"/>
              </a:rPr>
              <a:t> because it is the base for influencing the process.</a:t>
            </a:r>
            <a:endParaRPr lang="en-US"/>
          </a:p>
          <a:p>
            <a:pPr algn="just"/>
            <a:r>
              <a:rPr lang="en-US"/>
              <a:t>Feedback has two important characteristics.</a:t>
            </a:r>
          </a:p>
          <a:p>
            <a:pPr lvl="1" algn="just"/>
            <a:r>
              <a:rPr lang="en-US" b="1">
                <a:solidFill>
                  <a:srgbClr val="0070C0"/>
                </a:solidFill>
              </a:rPr>
              <a:t>The first is quality.</a:t>
            </a:r>
          </a:p>
          <a:p>
            <a:pPr lvl="1" algn="just"/>
            <a:r>
              <a:rPr lang="en-US" b="1">
                <a:solidFill>
                  <a:srgbClr val="0070C0"/>
                </a:solidFill>
              </a:rPr>
              <a:t>The second is time.</a:t>
            </a:r>
          </a:p>
          <a:p>
            <a:pPr marL="457200" lvl="1" indent="0" algn="just">
              <a:buNone/>
            </a:pPr>
            <a:endParaRPr lang="en-US" b="1">
              <a:solidFill>
                <a:srgbClr val="0070C0"/>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1860"/>
          </a:xfrm>
        </p:spPr>
        <p:txBody>
          <a:bodyPr>
            <a:normAutofit/>
          </a:bodyPr>
          <a:lstStyle/>
          <a:p>
            <a:r>
              <a:rPr lang="en-US" b="1">
                <a:sym typeface="+mn-ea"/>
              </a:rPr>
              <a:t>XP Values</a:t>
            </a:r>
            <a:endParaRPr lang="en-US"/>
          </a:p>
        </p:txBody>
      </p:sp>
      <p:sp>
        <p:nvSpPr>
          <p:cNvPr id="3" name="Content Placeholder 2"/>
          <p:cNvSpPr>
            <a:spLocks noGrp="1"/>
          </p:cNvSpPr>
          <p:nvPr>
            <p:ph sz="half" idx="1"/>
          </p:nvPr>
        </p:nvSpPr>
        <p:spPr>
          <a:xfrm>
            <a:off x="457200" y="1186815"/>
            <a:ext cx="8161020" cy="5363210"/>
          </a:xfrm>
        </p:spPr>
        <p:txBody>
          <a:bodyPr/>
          <a:lstStyle/>
          <a:p>
            <a:pPr algn="just">
              <a:buFont typeface="Wingdings" panose="05000000000000000000" charset="0"/>
              <a:buChar char="v"/>
            </a:pPr>
            <a:r>
              <a:rPr lang="en-US" b="1">
                <a:solidFill>
                  <a:srgbClr val="FF0000"/>
                </a:solidFill>
              </a:rPr>
              <a:t>Courage</a:t>
            </a:r>
          </a:p>
          <a:p>
            <a:pPr algn="just"/>
            <a:r>
              <a:rPr lang="en-US"/>
              <a:t>This is a </a:t>
            </a:r>
            <a:r>
              <a:rPr lang="en-US" b="1">
                <a:solidFill>
                  <a:srgbClr val="00B050"/>
                </a:solidFill>
              </a:rPr>
              <a:t>somewhat vague</a:t>
            </a:r>
            <a:r>
              <a:rPr lang="en-US"/>
              <a:t> value. </a:t>
            </a:r>
          </a:p>
          <a:p>
            <a:pPr algn="just"/>
            <a:r>
              <a:rPr lang="en-US"/>
              <a:t>It includes </a:t>
            </a:r>
            <a:r>
              <a:rPr lang="en-US" b="1">
                <a:solidFill>
                  <a:srgbClr val="00B0F0"/>
                </a:solidFill>
              </a:rPr>
              <a:t>courage</a:t>
            </a:r>
            <a:r>
              <a:rPr lang="en-US"/>
              <a:t> as well as a certain amount of </a:t>
            </a:r>
            <a:r>
              <a:rPr lang="en-US" b="1">
                <a:solidFill>
                  <a:srgbClr val="FF0000"/>
                </a:solidFill>
              </a:rPr>
              <a:t>aggressiveness</a:t>
            </a:r>
            <a:r>
              <a:rPr lang="en-US"/>
              <a:t>. </a:t>
            </a:r>
          </a:p>
          <a:p>
            <a:pPr algn="just"/>
            <a:r>
              <a:rPr lang="en-US"/>
              <a:t>Courage is needed because a lot of the rules and practices are </a:t>
            </a:r>
            <a:r>
              <a:rPr lang="en-US" b="1">
                <a:solidFill>
                  <a:srgbClr val="FF0000"/>
                </a:solidFill>
              </a:rPr>
              <a:t>“extreme”</a:t>
            </a:r>
            <a:r>
              <a:rPr lang="en-US"/>
              <a:t> in the way that they go against “tradition” or </a:t>
            </a:r>
            <a:r>
              <a:rPr lang="en-US" b="1">
                <a:solidFill>
                  <a:srgbClr val="00B050"/>
                </a:solidFill>
              </a:rPr>
              <a:t>“wisdom”</a:t>
            </a:r>
            <a:r>
              <a:rPr lang="en-US"/>
              <a:t> of software engineering.</a:t>
            </a:r>
          </a:p>
          <a:p>
            <a:pPr algn="just"/>
            <a:r>
              <a:rPr lang="en-US"/>
              <a:t>Aggressiveness is the </a:t>
            </a:r>
            <a:r>
              <a:rPr lang="en-US" b="1">
                <a:solidFill>
                  <a:srgbClr val="00B0F0"/>
                </a:solidFill>
              </a:rPr>
              <a:t>attitude towards the implementation</a:t>
            </a:r>
            <a:r>
              <a:rPr lang="en-US"/>
              <a:t> of the system.</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normAutofit/>
          </a:bodyPr>
          <a:lstStyle/>
          <a:p>
            <a:r>
              <a:rPr lang="en-US" b="1">
                <a:sym typeface="+mn-ea"/>
              </a:rPr>
              <a:t>XP Values</a:t>
            </a:r>
            <a:endParaRPr lang="en-US"/>
          </a:p>
        </p:txBody>
      </p:sp>
      <p:sp>
        <p:nvSpPr>
          <p:cNvPr id="3" name="Content Placeholder 2"/>
          <p:cNvSpPr>
            <a:spLocks noGrp="1"/>
          </p:cNvSpPr>
          <p:nvPr>
            <p:ph sz="half" idx="1"/>
          </p:nvPr>
        </p:nvSpPr>
        <p:spPr>
          <a:xfrm>
            <a:off x="457200" y="1600200"/>
            <a:ext cx="8313420" cy="4526280"/>
          </a:xfrm>
        </p:spPr>
        <p:txBody>
          <a:bodyPr>
            <a:normAutofit/>
          </a:bodyPr>
          <a:lstStyle/>
          <a:p>
            <a:pPr algn="just">
              <a:buFont typeface="Wingdings" panose="05000000000000000000" charset="0"/>
              <a:buChar char="v"/>
            </a:pPr>
            <a:r>
              <a:rPr lang="en-US" b="1">
                <a:solidFill>
                  <a:srgbClr val="FF0000"/>
                </a:solidFill>
                <a:sym typeface="+mn-ea"/>
              </a:rPr>
              <a:t>Respect</a:t>
            </a:r>
          </a:p>
          <a:p>
            <a:pPr algn="just"/>
            <a:r>
              <a:rPr lang="en-US">
                <a:sym typeface="+mn-ea"/>
              </a:rPr>
              <a:t>Team members </a:t>
            </a:r>
            <a:r>
              <a:rPr lang="en-US" b="1">
                <a:solidFill>
                  <a:schemeClr val="accent6">
                    <a:lumMod val="75000"/>
                  </a:schemeClr>
                </a:solidFill>
                <a:sym typeface="+mn-ea"/>
              </a:rPr>
              <a:t>respect each other</a:t>
            </a:r>
            <a:endParaRPr lang="en-US" b="1">
              <a:solidFill>
                <a:schemeClr val="accent6">
                  <a:lumMod val="75000"/>
                </a:schemeClr>
              </a:solidFill>
            </a:endParaRPr>
          </a:p>
          <a:p>
            <a:pPr algn="just"/>
            <a:r>
              <a:rPr lang="en-US">
                <a:sym typeface="+mn-ea"/>
              </a:rPr>
              <a:t>When team members have </a:t>
            </a:r>
            <a:r>
              <a:rPr lang="en-US" b="1">
                <a:solidFill>
                  <a:srgbClr val="00B050"/>
                </a:solidFill>
                <a:sym typeface="+mn-ea"/>
              </a:rPr>
              <a:t>mutual respect</a:t>
            </a:r>
            <a:r>
              <a:rPr lang="en-US">
                <a:sym typeface="+mn-ea"/>
              </a:rPr>
              <a:t>, they’re able to </a:t>
            </a:r>
            <a:r>
              <a:rPr lang="en-US" b="1">
                <a:solidFill>
                  <a:srgbClr val="7030A0"/>
                </a:solidFill>
                <a:sym typeface="+mn-ea"/>
              </a:rPr>
              <a:t>trust</a:t>
            </a:r>
            <a:r>
              <a:rPr lang="en-US">
                <a:sym typeface="+mn-ea"/>
              </a:rPr>
              <a:t> each other to do a good job with the work they’ve taken on.</a:t>
            </a:r>
            <a:endParaRPr lang="en-US"/>
          </a:p>
          <a:p>
            <a:pPr algn="just"/>
            <a:r>
              <a:rPr lang="en-US">
                <a:sym typeface="+mn-ea"/>
              </a:rPr>
              <a:t>But that respect doesn’t always come easily to programmers and other technical people.</a:t>
            </a:r>
            <a:endParaRPr lang="en-US"/>
          </a:p>
          <a:p>
            <a:pPr algn="just"/>
            <a:r>
              <a:rPr lang="en-US">
                <a:sym typeface="+mn-ea"/>
              </a:rPr>
              <a:t>A good </a:t>
            </a:r>
            <a:r>
              <a:rPr lang="en-US" b="1">
                <a:solidFill>
                  <a:srgbClr val="0070C0"/>
                </a:solidFill>
                <a:sym typeface="+mn-ea"/>
              </a:rPr>
              <a:t>XP</a:t>
            </a:r>
            <a:r>
              <a:rPr lang="en-US">
                <a:sym typeface="+mn-ea"/>
              </a:rPr>
              <a:t> finds ways to increase the team members’ mutual respect for each other.</a:t>
            </a:r>
            <a:endParaRPr lang="en-US"/>
          </a:p>
          <a:p>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lstStyle/>
          <a:p>
            <a:r>
              <a:rPr lang="en-US" b="1"/>
              <a:t>XP Principles</a:t>
            </a:r>
          </a:p>
        </p:txBody>
      </p:sp>
      <p:sp>
        <p:nvSpPr>
          <p:cNvPr id="7" name="Content Placeholder 6"/>
          <p:cNvSpPr>
            <a:spLocks noGrp="1"/>
          </p:cNvSpPr>
          <p:nvPr>
            <p:ph sz="half" idx="1"/>
          </p:nvPr>
        </p:nvSpPr>
        <p:spPr/>
        <p:txBody>
          <a:bodyPr/>
          <a:lstStyle/>
          <a:p>
            <a:pPr algn="just"/>
            <a:r>
              <a:rPr lang="en-US" b="1"/>
              <a:t>Humanity</a:t>
            </a:r>
          </a:p>
          <a:p>
            <a:pPr algn="just"/>
            <a:r>
              <a:rPr lang="en-US" b="1"/>
              <a:t>Economics</a:t>
            </a:r>
          </a:p>
          <a:p>
            <a:pPr algn="just"/>
            <a:r>
              <a:rPr lang="en-US" b="1"/>
              <a:t>Mutual benefit</a:t>
            </a:r>
          </a:p>
          <a:p>
            <a:pPr algn="just"/>
            <a:r>
              <a:rPr lang="en-US" b="1"/>
              <a:t>Self similarity</a:t>
            </a:r>
          </a:p>
          <a:p>
            <a:pPr algn="just"/>
            <a:r>
              <a:rPr lang="en-US" b="1"/>
              <a:t>Improvement</a:t>
            </a:r>
          </a:p>
          <a:p>
            <a:pPr algn="just"/>
            <a:r>
              <a:rPr lang="en-US" b="1"/>
              <a:t>Diversity</a:t>
            </a:r>
          </a:p>
          <a:p>
            <a:pPr algn="just"/>
            <a:r>
              <a:rPr lang="en-US" b="1"/>
              <a:t>Reflection</a:t>
            </a:r>
          </a:p>
          <a:p>
            <a:pPr marL="0" indent="0" algn="just">
              <a:buNone/>
            </a:pPr>
            <a:endParaRPr lang="en-US" b="1"/>
          </a:p>
        </p:txBody>
      </p:sp>
      <p:sp>
        <p:nvSpPr>
          <p:cNvPr id="8" name="Content Placeholder 6"/>
          <p:cNvSpPr/>
          <p:nvPr/>
        </p:nvSpPr>
        <p:spPr>
          <a:xfrm>
            <a:off x="4267200" y="1676400"/>
            <a:ext cx="4038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algn="just"/>
            <a:r>
              <a:rPr lang="en-US" b="1">
                <a:sym typeface="+mn-ea"/>
              </a:rPr>
              <a:t>Flow</a:t>
            </a:r>
            <a:endParaRPr lang="en-US" b="1"/>
          </a:p>
          <a:p>
            <a:pPr algn="just"/>
            <a:r>
              <a:rPr lang="en-US" b="1"/>
              <a:t>Opportunity</a:t>
            </a:r>
          </a:p>
          <a:p>
            <a:pPr algn="just"/>
            <a:r>
              <a:rPr lang="en-US" b="1"/>
              <a:t>Redundancy</a:t>
            </a:r>
          </a:p>
          <a:p>
            <a:pPr algn="just"/>
            <a:r>
              <a:rPr lang="en-US" b="1"/>
              <a:t>Failure</a:t>
            </a:r>
          </a:p>
          <a:p>
            <a:pPr algn="just"/>
            <a:r>
              <a:rPr lang="en-US" b="1"/>
              <a:t>Quality</a:t>
            </a:r>
          </a:p>
          <a:p>
            <a:pPr algn="just"/>
            <a:r>
              <a:rPr lang="en-US" b="1"/>
              <a:t>Accepted responsibility</a:t>
            </a:r>
          </a:p>
          <a:p>
            <a:pPr algn="just"/>
            <a:r>
              <a:rPr lang="en-US" b="1"/>
              <a:t>Baby steps</a:t>
            </a:r>
          </a:p>
          <a:p>
            <a:pPr marL="0" indent="0" algn="just">
              <a:buNone/>
            </a:pPr>
            <a:endParaRPr lang="en-US" b="1"/>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4870"/>
          </a:xfrm>
        </p:spPr>
        <p:txBody>
          <a:bodyPr>
            <a:normAutofit/>
          </a:bodyPr>
          <a:lstStyle/>
          <a:p>
            <a:r>
              <a:rPr lang="en-US" b="1">
                <a:sym typeface="+mn-ea"/>
              </a:rPr>
              <a:t>XP Principles</a:t>
            </a:r>
            <a:endParaRPr lang="en-US"/>
          </a:p>
        </p:txBody>
      </p:sp>
      <p:sp>
        <p:nvSpPr>
          <p:cNvPr id="3" name="Content Placeholder 2"/>
          <p:cNvSpPr>
            <a:spLocks noGrp="1"/>
          </p:cNvSpPr>
          <p:nvPr>
            <p:ph sz="half" idx="1"/>
          </p:nvPr>
        </p:nvSpPr>
        <p:spPr>
          <a:xfrm>
            <a:off x="342900" y="833755"/>
            <a:ext cx="8516620" cy="5794375"/>
          </a:xfrm>
        </p:spPr>
        <p:txBody>
          <a:bodyPr>
            <a:normAutofit fontScale="97500" lnSpcReduction="10000"/>
          </a:bodyPr>
          <a:lstStyle/>
          <a:p>
            <a:pPr algn="just">
              <a:buFont typeface="Wingdings" panose="05000000000000000000" charset="0"/>
              <a:buChar char="v"/>
            </a:pPr>
            <a:r>
              <a:rPr lang="en-US" b="1">
                <a:solidFill>
                  <a:schemeClr val="accent6"/>
                </a:solidFill>
              </a:rPr>
              <a:t>Humanity</a:t>
            </a:r>
          </a:p>
          <a:p>
            <a:pPr algn="just"/>
            <a:r>
              <a:rPr lang="en-US"/>
              <a:t>Remember that </a:t>
            </a:r>
            <a:r>
              <a:rPr lang="en-US" b="1">
                <a:solidFill>
                  <a:srgbClr val="00B0F0"/>
                </a:solidFill>
              </a:rPr>
              <a:t>software is built by people</a:t>
            </a:r>
            <a:r>
              <a:rPr lang="en-US"/>
              <a:t>, and there’s a balance between the needs of each team member and the project’s needs.</a:t>
            </a:r>
          </a:p>
          <a:p>
            <a:pPr algn="just">
              <a:buFont typeface="Wingdings" panose="05000000000000000000" charset="0"/>
              <a:buChar char="v"/>
            </a:pPr>
            <a:r>
              <a:rPr lang="en-US" b="1">
                <a:solidFill>
                  <a:schemeClr val="accent6"/>
                </a:solidFill>
              </a:rPr>
              <a:t>Economics</a:t>
            </a:r>
          </a:p>
          <a:p>
            <a:pPr algn="just"/>
            <a:r>
              <a:rPr lang="en-US"/>
              <a:t>Somebody is always </a:t>
            </a:r>
            <a:r>
              <a:rPr lang="en-US" b="1">
                <a:solidFill>
                  <a:srgbClr val="00B0F0"/>
                </a:solidFill>
              </a:rPr>
              <a:t>paying for software project</a:t>
            </a:r>
            <a:r>
              <a:rPr lang="en-US"/>
              <a:t> and everybody has to keep the budget in mind.</a:t>
            </a:r>
          </a:p>
          <a:p>
            <a:pPr algn="just">
              <a:buFont typeface="Wingdings" panose="05000000000000000000" charset="0"/>
              <a:buChar char="v"/>
            </a:pPr>
            <a:r>
              <a:rPr lang="en-US" b="1">
                <a:solidFill>
                  <a:schemeClr val="accent6"/>
                </a:solidFill>
              </a:rPr>
              <a:t>Mutual benefit</a:t>
            </a:r>
          </a:p>
          <a:p>
            <a:pPr algn="just"/>
            <a:r>
              <a:rPr lang="en-US"/>
              <a:t>Search for practices that </a:t>
            </a:r>
            <a:r>
              <a:rPr lang="en-US" b="1">
                <a:solidFill>
                  <a:srgbClr val="00B0F0"/>
                </a:solidFill>
              </a:rPr>
              <a:t>benefit the individual</a:t>
            </a:r>
            <a:r>
              <a:rPr lang="en-US"/>
              <a:t>, the </a:t>
            </a:r>
            <a:r>
              <a:rPr lang="en-US" b="1">
                <a:solidFill>
                  <a:srgbClr val="FF0000"/>
                </a:solidFill>
              </a:rPr>
              <a:t>team,</a:t>
            </a:r>
            <a:r>
              <a:rPr lang="en-US"/>
              <a:t> and the customer together.</a:t>
            </a:r>
          </a:p>
          <a:p>
            <a:pPr algn="just">
              <a:buFont typeface="Wingdings" panose="05000000000000000000" charset="0"/>
              <a:buChar char="v"/>
            </a:pPr>
            <a:r>
              <a:rPr lang="en-US" b="1">
                <a:solidFill>
                  <a:schemeClr val="accent6"/>
                </a:solidFill>
              </a:rPr>
              <a:t>Self Similarity</a:t>
            </a:r>
          </a:p>
          <a:p>
            <a:pPr algn="just"/>
            <a:r>
              <a:rPr lang="en-US"/>
              <a:t>The pattern of a </a:t>
            </a:r>
            <a:r>
              <a:rPr lang="en-US" b="1">
                <a:solidFill>
                  <a:srgbClr val="FF0000"/>
                </a:solidFill>
              </a:rPr>
              <a:t>monthly cycle</a:t>
            </a:r>
            <a:r>
              <a:rPr lang="en-US"/>
              <a:t> is the same as a weekly cycle and the same as a daily cycle.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680085"/>
          </a:xfrm>
        </p:spPr>
        <p:txBody>
          <a:bodyPr>
            <a:normAutofit fontScale="90000"/>
          </a:bodyPr>
          <a:lstStyle/>
          <a:p>
            <a:r>
              <a:rPr lang="en-US" b="1">
                <a:sym typeface="+mn-ea"/>
              </a:rPr>
              <a:t>XP Principles</a:t>
            </a:r>
            <a:endParaRPr lang="en-US"/>
          </a:p>
        </p:txBody>
      </p:sp>
      <p:sp>
        <p:nvSpPr>
          <p:cNvPr id="3" name="Content Placeholder 2"/>
          <p:cNvSpPr>
            <a:spLocks noGrp="1"/>
          </p:cNvSpPr>
          <p:nvPr>
            <p:ph sz="half" idx="1"/>
          </p:nvPr>
        </p:nvSpPr>
        <p:spPr>
          <a:xfrm>
            <a:off x="457200" y="911860"/>
            <a:ext cx="8237855" cy="5777865"/>
          </a:xfrm>
        </p:spPr>
        <p:txBody>
          <a:bodyPr>
            <a:noAutofit/>
          </a:bodyPr>
          <a:lstStyle/>
          <a:p>
            <a:pPr algn="just">
              <a:buFont typeface="Wingdings" panose="05000000000000000000" charset="0"/>
              <a:buChar char="v"/>
            </a:pPr>
            <a:r>
              <a:rPr lang="en-US" sz="2100" b="1">
                <a:solidFill>
                  <a:schemeClr val="accent6"/>
                </a:solidFill>
              </a:rPr>
              <a:t>Improvement</a:t>
            </a:r>
          </a:p>
          <a:p>
            <a:pPr algn="just"/>
            <a:r>
              <a:rPr lang="en-US" sz="2100"/>
              <a:t>Do your </a:t>
            </a:r>
            <a:r>
              <a:rPr lang="en-US" sz="2100" b="1">
                <a:solidFill>
                  <a:srgbClr val="7030A0"/>
                </a:solidFill>
              </a:rPr>
              <a:t>best today,</a:t>
            </a:r>
            <a:r>
              <a:rPr lang="en-US" sz="2100"/>
              <a:t> and stay aware of what you need to do to get better tomorrow.</a:t>
            </a:r>
          </a:p>
          <a:p>
            <a:pPr algn="just">
              <a:buFont typeface="Wingdings" panose="05000000000000000000" charset="0"/>
              <a:buChar char="v"/>
            </a:pPr>
            <a:r>
              <a:rPr lang="en-US" sz="2100" b="1">
                <a:solidFill>
                  <a:schemeClr val="accent6"/>
                </a:solidFill>
              </a:rPr>
              <a:t>Diversity</a:t>
            </a:r>
          </a:p>
          <a:p>
            <a:pPr algn="just"/>
            <a:r>
              <a:rPr lang="en-US" sz="2100"/>
              <a:t>Lots of different </a:t>
            </a:r>
            <a:r>
              <a:rPr lang="en-US" sz="2100" b="1">
                <a:solidFill>
                  <a:srgbClr val="7030A0"/>
                </a:solidFill>
              </a:rPr>
              <a:t>opinions and perspectives</a:t>
            </a:r>
            <a:r>
              <a:rPr lang="en-US" sz="2100"/>
              <a:t> work together to come up with better solutions.</a:t>
            </a:r>
          </a:p>
          <a:p>
            <a:pPr algn="just">
              <a:buFont typeface="Wingdings" panose="05000000000000000000" charset="0"/>
              <a:buChar char="v"/>
            </a:pPr>
            <a:r>
              <a:rPr lang="en-US" sz="2100" b="1">
                <a:solidFill>
                  <a:schemeClr val="accent6"/>
                </a:solidFill>
              </a:rPr>
              <a:t>Reflection</a:t>
            </a:r>
          </a:p>
          <a:p>
            <a:pPr algn="just"/>
            <a:r>
              <a:rPr lang="en-US" sz="2100"/>
              <a:t>Good teams stay aware of </a:t>
            </a:r>
            <a:r>
              <a:rPr lang="en-US" sz="2100" b="1">
                <a:solidFill>
                  <a:srgbClr val="00B0F0"/>
                </a:solidFill>
              </a:rPr>
              <a:t>what’s working and what isn’t in their software process.</a:t>
            </a:r>
          </a:p>
          <a:p>
            <a:pPr algn="just">
              <a:buFont typeface="Wingdings" panose="05000000000000000000" charset="0"/>
              <a:buChar char="v"/>
            </a:pPr>
            <a:r>
              <a:rPr lang="en-US" sz="2100" b="1">
                <a:solidFill>
                  <a:schemeClr val="accent6"/>
                </a:solidFill>
              </a:rPr>
              <a:t>Flow</a:t>
            </a:r>
          </a:p>
          <a:p>
            <a:pPr algn="just"/>
            <a:r>
              <a:rPr lang="en-US" sz="2100"/>
              <a:t>Constant delivery means a </a:t>
            </a:r>
            <a:r>
              <a:rPr lang="en-US" sz="2100" b="1">
                <a:solidFill>
                  <a:srgbClr val="FF0000"/>
                </a:solidFill>
              </a:rPr>
              <a:t>continuous flow of development</a:t>
            </a:r>
            <a:r>
              <a:rPr lang="en-US" sz="2100"/>
              <a:t> work, not distinct phases.</a:t>
            </a:r>
          </a:p>
          <a:p>
            <a:pPr algn="just">
              <a:buFont typeface="Wingdings" panose="05000000000000000000" charset="0"/>
              <a:buChar char="v"/>
            </a:pPr>
            <a:r>
              <a:rPr lang="en-US" sz="2100" b="1">
                <a:solidFill>
                  <a:schemeClr val="accent6"/>
                </a:solidFill>
              </a:rPr>
              <a:t>Opportunity</a:t>
            </a:r>
          </a:p>
          <a:p>
            <a:pPr algn="just"/>
            <a:r>
              <a:rPr lang="en-US" sz="2100"/>
              <a:t>Each problem the </a:t>
            </a:r>
            <a:r>
              <a:rPr lang="en-US" sz="2100" b="1">
                <a:solidFill>
                  <a:srgbClr val="00B050"/>
                </a:solidFill>
              </a:rPr>
              <a:t>team encounters is a chance to lear</a:t>
            </a:r>
            <a:r>
              <a:rPr lang="en-US" sz="2100"/>
              <a:t>n something new about software development.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05180"/>
          </a:xfrm>
        </p:spPr>
        <p:txBody>
          <a:bodyPr>
            <a:normAutofit/>
          </a:bodyPr>
          <a:lstStyle/>
          <a:p>
            <a:r>
              <a:rPr lang="en-US" b="1">
                <a:sym typeface="+mn-ea"/>
              </a:rPr>
              <a:t>XP Principles</a:t>
            </a:r>
            <a:endParaRPr lang="en-US"/>
          </a:p>
        </p:txBody>
      </p:sp>
      <p:sp>
        <p:nvSpPr>
          <p:cNvPr id="3" name="Content Placeholder 2"/>
          <p:cNvSpPr>
            <a:spLocks noGrp="1"/>
          </p:cNvSpPr>
          <p:nvPr>
            <p:ph sz="half" idx="1"/>
          </p:nvPr>
        </p:nvSpPr>
        <p:spPr>
          <a:xfrm>
            <a:off x="457200" y="939800"/>
            <a:ext cx="8209280" cy="5625465"/>
          </a:xfrm>
        </p:spPr>
        <p:txBody>
          <a:bodyPr>
            <a:noAutofit/>
          </a:bodyPr>
          <a:lstStyle/>
          <a:p>
            <a:pPr algn="just">
              <a:buFont typeface="Wingdings" panose="05000000000000000000" charset="0"/>
              <a:buChar char="v"/>
            </a:pPr>
            <a:r>
              <a:rPr lang="en-US" sz="2200" b="1">
                <a:solidFill>
                  <a:schemeClr val="accent6"/>
                </a:solidFill>
              </a:rPr>
              <a:t>Redundancy</a:t>
            </a:r>
          </a:p>
          <a:p>
            <a:pPr algn="just"/>
            <a:r>
              <a:rPr lang="en-US" sz="2200"/>
              <a:t>Even though it can seem </a:t>
            </a:r>
            <a:r>
              <a:rPr lang="en-US" sz="2200" b="1">
                <a:solidFill>
                  <a:srgbClr val="00B050"/>
                </a:solidFill>
              </a:rPr>
              <a:t>wasteful at first blus</a:t>
            </a:r>
            <a:r>
              <a:rPr lang="en-US" sz="2200"/>
              <a:t>h, redundancy avoids big quality problems.</a:t>
            </a:r>
          </a:p>
          <a:p>
            <a:pPr algn="just">
              <a:buFont typeface="Wingdings" panose="05000000000000000000" charset="0"/>
              <a:buChar char="v"/>
            </a:pPr>
            <a:r>
              <a:rPr lang="en-US" sz="2200" b="1">
                <a:solidFill>
                  <a:schemeClr val="accent6"/>
                </a:solidFill>
              </a:rPr>
              <a:t>Failure</a:t>
            </a:r>
          </a:p>
          <a:p>
            <a:pPr algn="just"/>
            <a:r>
              <a:rPr lang="en-US" sz="2200"/>
              <a:t>You can </a:t>
            </a:r>
            <a:r>
              <a:rPr lang="en-US" sz="2200" b="1">
                <a:solidFill>
                  <a:srgbClr val="00B0F0"/>
                </a:solidFill>
              </a:rPr>
              <a:t>learn a lot from failing</a:t>
            </a:r>
            <a:r>
              <a:rPr lang="en-US" sz="2200"/>
              <a:t>. It’s OK to try things that don’t work.</a:t>
            </a:r>
          </a:p>
          <a:p>
            <a:pPr algn="just">
              <a:buFont typeface="Wingdings" panose="05000000000000000000" charset="0"/>
              <a:buChar char="v"/>
            </a:pPr>
            <a:r>
              <a:rPr lang="en-US" sz="2200" b="1">
                <a:solidFill>
                  <a:schemeClr val="accent6"/>
                </a:solidFill>
              </a:rPr>
              <a:t>Quality</a:t>
            </a:r>
          </a:p>
          <a:p>
            <a:pPr algn="just"/>
            <a:r>
              <a:rPr lang="en-US" sz="2200"/>
              <a:t>You </a:t>
            </a:r>
            <a:r>
              <a:rPr lang="en-US" sz="2200" b="1">
                <a:solidFill>
                  <a:srgbClr val="00B050"/>
                </a:solidFill>
              </a:rPr>
              <a:t>can’t</a:t>
            </a:r>
            <a:r>
              <a:rPr lang="en-US" sz="2200"/>
              <a:t> </a:t>
            </a:r>
            <a:r>
              <a:rPr lang="en-US" sz="2200" b="1">
                <a:solidFill>
                  <a:srgbClr val="00B0F0"/>
                </a:solidFill>
              </a:rPr>
              <a:t>deliver faster by accepting</a:t>
            </a:r>
            <a:r>
              <a:rPr lang="en-US" sz="2200"/>
              <a:t> a lower quality product.</a:t>
            </a:r>
          </a:p>
          <a:p>
            <a:pPr algn="just">
              <a:buFont typeface="Wingdings" panose="05000000000000000000" charset="0"/>
              <a:buChar char="v"/>
            </a:pPr>
            <a:r>
              <a:rPr lang="en-US" sz="2200" b="1">
                <a:solidFill>
                  <a:schemeClr val="accent6"/>
                </a:solidFill>
              </a:rPr>
              <a:t>Accepted responsibility</a:t>
            </a:r>
          </a:p>
          <a:p>
            <a:pPr algn="just"/>
            <a:r>
              <a:rPr lang="en-US" sz="2200"/>
              <a:t>If someone is </a:t>
            </a:r>
            <a:r>
              <a:rPr lang="en-US" sz="2200" b="1">
                <a:solidFill>
                  <a:srgbClr val="00B050"/>
                </a:solidFill>
              </a:rPr>
              <a:t>responsible for something</a:t>
            </a:r>
            <a:r>
              <a:rPr lang="en-US" sz="2200"/>
              <a:t>, they need to have the authority to get it done.</a:t>
            </a:r>
          </a:p>
          <a:p>
            <a:pPr algn="just">
              <a:buFont typeface="Wingdings" panose="05000000000000000000" charset="0"/>
              <a:buChar char="v"/>
            </a:pPr>
            <a:r>
              <a:rPr lang="en-US" sz="2200" b="1">
                <a:solidFill>
                  <a:schemeClr val="accent6"/>
                </a:solidFill>
              </a:rPr>
              <a:t>Baby steps</a:t>
            </a:r>
          </a:p>
          <a:p>
            <a:pPr algn="just"/>
            <a:r>
              <a:rPr lang="en-US" sz="2200"/>
              <a:t>Take </a:t>
            </a:r>
            <a:r>
              <a:rPr lang="en-US" sz="2200" b="1">
                <a:solidFill>
                  <a:schemeClr val="accent6">
                    <a:lumMod val="50000"/>
                  </a:schemeClr>
                </a:solidFill>
              </a:rPr>
              <a:t>small steps in the right direction</a:t>
            </a:r>
            <a:r>
              <a:rPr lang="en-US" sz="2200"/>
              <a:t> rather than making wholesale changes when adopting new practices.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ym typeface="+mn-ea"/>
              </a:rPr>
              <a:t>XP Practices</a:t>
            </a:r>
            <a:endParaRPr lang="en-US" b="1"/>
          </a:p>
        </p:txBody>
      </p:sp>
      <p:sp>
        <p:nvSpPr>
          <p:cNvPr id="3" name="Content Placeholder 2"/>
          <p:cNvSpPr>
            <a:spLocks noGrp="1"/>
          </p:cNvSpPr>
          <p:nvPr>
            <p:ph sz="half" idx="1"/>
          </p:nvPr>
        </p:nvSpPr>
        <p:spPr>
          <a:xfrm>
            <a:off x="457200" y="1600200"/>
            <a:ext cx="8273415" cy="4526280"/>
          </a:xfrm>
        </p:spPr>
        <p:txBody>
          <a:bodyPr/>
          <a:lstStyle/>
          <a:p>
            <a:pPr marL="0" indent="0" algn="just">
              <a:buNone/>
            </a:pPr>
            <a:r>
              <a:rPr lang="en-US" dirty="0" smtClean="0">
                <a:sym typeface="+mn-ea"/>
              </a:rPr>
              <a:t>There are 13 Primary Practices . These are grouped into the following 4 Categories</a:t>
            </a:r>
            <a:endParaRPr lang="en-US" dirty="0" smtClean="0"/>
          </a:p>
          <a:p>
            <a:pPr algn="just"/>
            <a:r>
              <a:rPr lang="en-US" b="1" dirty="0" smtClean="0">
                <a:solidFill>
                  <a:schemeClr val="accent6"/>
                </a:solidFill>
                <a:sym typeface="+mn-ea"/>
              </a:rPr>
              <a:t>Programming Practices</a:t>
            </a:r>
            <a:endParaRPr lang="en-US" b="1" dirty="0" smtClean="0">
              <a:solidFill>
                <a:schemeClr val="accent6"/>
              </a:solidFill>
            </a:endParaRPr>
          </a:p>
          <a:p>
            <a:pPr algn="just"/>
            <a:r>
              <a:rPr lang="en-US" b="1" dirty="0" smtClean="0">
                <a:solidFill>
                  <a:schemeClr val="accent6"/>
                </a:solidFill>
                <a:sym typeface="+mn-ea"/>
              </a:rPr>
              <a:t>Integration Practices</a:t>
            </a:r>
            <a:endParaRPr lang="en-US" b="1" dirty="0" smtClean="0">
              <a:solidFill>
                <a:schemeClr val="accent6"/>
              </a:solidFill>
            </a:endParaRPr>
          </a:p>
          <a:p>
            <a:pPr algn="just"/>
            <a:r>
              <a:rPr lang="en-US" b="1" dirty="0" smtClean="0">
                <a:solidFill>
                  <a:schemeClr val="accent6"/>
                </a:solidFill>
                <a:sym typeface="+mn-ea"/>
              </a:rPr>
              <a:t>Planning Practices</a:t>
            </a:r>
            <a:endParaRPr lang="en-US" b="1" dirty="0" smtClean="0">
              <a:solidFill>
                <a:schemeClr val="accent6"/>
              </a:solidFill>
            </a:endParaRPr>
          </a:p>
          <a:p>
            <a:pPr algn="just"/>
            <a:r>
              <a:rPr lang="en-US" b="1" dirty="0" smtClean="0">
                <a:solidFill>
                  <a:schemeClr val="accent6"/>
                </a:solidFill>
                <a:sym typeface="+mn-ea"/>
              </a:rPr>
              <a:t>Team Practices</a:t>
            </a:r>
            <a:endParaRPr lang="en-US" b="1" dirty="0" smtClean="0">
              <a:solidFill>
                <a:schemeClr val="accent6"/>
              </a:solidFill>
            </a:endParaRPr>
          </a:p>
          <a:p>
            <a:pPr algn="just"/>
            <a:endParaRPr lang="en-US" b="1" dirty="0" smtClean="0">
              <a:solidFill>
                <a:schemeClr val="accent6"/>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5883"/>
            <a:ext cx="8229600" cy="1143000"/>
          </a:xfrm>
        </p:spPr>
        <p:txBody>
          <a:bodyPr/>
          <a:lstStyle/>
          <a:p>
            <a:r>
              <a:rPr lang="en-US" b="1"/>
              <a:t>XP Practices</a:t>
            </a:r>
          </a:p>
        </p:txBody>
      </p:sp>
      <p:pic>
        <p:nvPicPr>
          <p:cNvPr id="1026" name="Picture 2"/>
          <p:cNvPicPr>
            <a:picLocks noGrp="1" noChangeAspect="1" noChangeArrowheads="1"/>
          </p:cNvPicPr>
          <p:nvPr>
            <p:ph sz="half" idx="1"/>
          </p:nvPr>
        </p:nvPicPr>
        <p:blipFill>
          <a:blip r:embed="rId2">
            <a:extLst>
              <a:ext uri="{28A0092B-C50C-407E-A947-70E740481C1C}">
                <a14:useLocalDpi xmlns:a14="http://schemas.microsoft.com/office/drawing/2010/main" xmlns="" val="0"/>
              </a:ext>
            </a:extLst>
          </a:blip>
          <a:srcRect/>
          <a:stretch>
            <a:fillRect/>
          </a:stretch>
        </p:blipFill>
        <p:spPr bwMode="auto">
          <a:xfrm>
            <a:off x="457200" y="1510030"/>
            <a:ext cx="8228965" cy="511556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7153"/>
            <a:ext cx="8229600" cy="1143000"/>
          </a:xfrm>
        </p:spPr>
        <p:txBody>
          <a:bodyPr/>
          <a:lstStyle/>
          <a:p>
            <a:r>
              <a:rPr lang="en-US" b="1"/>
              <a:t>XP Practices</a:t>
            </a:r>
          </a:p>
        </p:txBody>
      </p:sp>
      <p:sp>
        <p:nvSpPr>
          <p:cNvPr id="3" name="Content Placeholder 2"/>
          <p:cNvSpPr>
            <a:spLocks noGrp="1"/>
          </p:cNvSpPr>
          <p:nvPr>
            <p:ph sz="half" idx="1"/>
          </p:nvPr>
        </p:nvSpPr>
        <p:spPr>
          <a:xfrm>
            <a:off x="228600" y="1600200"/>
            <a:ext cx="4038600" cy="2668270"/>
          </a:xfrm>
        </p:spPr>
        <p:txBody>
          <a:bodyPr>
            <a:normAutofit fontScale="92500" lnSpcReduction="10000"/>
          </a:bodyPr>
          <a:lstStyle/>
          <a:p>
            <a:pPr marL="0" indent="0" algn="just">
              <a:buNone/>
            </a:pPr>
            <a:r>
              <a:rPr lang="en-US" b="1">
                <a:solidFill>
                  <a:srgbClr val="FF0000"/>
                </a:solidFill>
              </a:rPr>
              <a:t>Business or Planning Practices</a:t>
            </a:r>
            <a:endParaRPr lang="en-US"/>
          </a:p>
          <a:p>
            <a:pPr marL="0" indent="0" algn="just">
              <a:buNone/>
            </a:pPr>
            <a:r>
              <a:rPr lang="en-US"/>
              <a:t>1. The Planning Game</a:t>
            </a:r>
          </a:p>
          <a:p>
            <a:pPr marL="0" indent="0" algn="just">
              <a:buNone/>
            </a:pPr>
            <a:r>
              <a:rPr lang="en-US"/>
              <a:t>2. Small Release</a:t>
            </a:r>
          </a:p>
          <a:p>
            <a:pPr marL="0" indent="0" algn="just">
              <a:buNone/>
            </a:pPr>
            <a:r>
              <a:rPr lang="en-US"/>
              <a:t>3.Metaphor</a:t>
            </a:r>
          </a:p>
          <a:p>
            <a:pPr marL="0" indent="0" algn="just">
              <a:buNone/>
            </a:pPr>
            <a:r>
              <a:rPr lang="en-US"/>
              <a:t>4.On Site Customer</a:t>
            </a:r>
          </a:p>
        </p:txBody>
      </p:sp>
      <p:sp>
        <p:nvSpPr>
          <p:cNvPr id="4" name="Content Placeholder 3"/>
          <p:cNvSpPr>
            <a:spLocks noGrp="1"/>
          </p:cNvSpPr>
          <p:nvPr>
            <p:ph sz="half" idx="2"/>
          </p:nvPr>
        </p:nvSpPr>
        <p:spPr>
          <a:xfrm>
            <a:off x="4953000" y="1600200"/>
            <a:ext cx="4038600" cy="4525963"/>
          </a:xfrm>
        </p:spPr>
        <p:txBody>
          <a:bodyPr>
            <a:normAutofit fontScale="92500" lnSpcReduction="10000"/>
          </a:bodyPr>
          <a:lstStyle/>
          <a:p>
            <a:pPr marL="0" indent="0" algn="just">
              <a:buNone/>
            </a:pPr>
            <a:r>
              <a:rPr lang="en-US" b="1">
                <a:solidFill>
                  <a:srgbClr val="FF0000"/>
                </a:solidFill>
              </a:rPr>
              <a:t>Team Work Practices</a:t>
            </a:r>
            <a:endParaRPr lang="en-US"/>
          </a:p>
          <a:p>
            <a:pPr marL="0" indent="0" algn="just">
              <a:buNone/>
            </a:pPr>
            <a:r>
              <a:rPr lang="en-US"/>
              <a:t>1. Collective Ownership</a:t>
            </a:r>
          </a:p>
          <a:p>
            <a:pPr marL="0" indent="0" algn="just">
              <a:buNone/>
            </a:pPr>
            <a:r>
              <a:rPr lang="en-US"/>
              <a:t>2. Coding Standard</a:t>
            </a:r>
          </a:p>
          <a:p>
            <a:pPr marL="0" indent="0" algn="just">
              <a:buNone/>
            </a:pPr>
            <a:r>
              <a:rPr lang="en-US"/>
              <a:t>3. Refactoring</a:t>
            </a:r>
          </a:p>
          <a:p>
            <a:pPr marL="0" indent="0" algn="just">
              <a:buNone/>
            </a:pPr>
            <a:r>
              <a:rPr lang="en-US"/>
              <a:t>4. 40 Hours a week</a:t>
            </a:r>
          </a:p>
        </p:txBody>
      </p:sp>
      <p:sp>
        <p:nvSpPr>
          <p:cNvPr id="5" name="Content Placeholder 2"/>
          <p:cNvSpPr>
            <a:spLocks noGrp="1"/>
          </p:cNvSpPr>
          <p:nvPr/>
        </p:nvSpPr>
        <p:spPr>
          <a:xfrm>
            <a:off x="228600" y="4648200"/>
            <a:ext cx="4430395" cy="209804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solidFill>
                  <a:srgbClr val="FF0000"/>
                </a:solidFill>
              </a:rPr>
              <a:t>Programming  Practices</a:t>
            </a:r>
            <a:endParaRPr lang="en-US"/>
          </a:p>
          <a:p>
            <a:pPr marL="0" indent="0">
              <a:buNone/>
            </a:pPr>
            <a:r>
              <a:rPr lang="en-US"/>
              <a:t>1. Simple Design</a:t>
            </a:r>
          </a:p>
          <a:p>
            <a:pPr marL="0" indent="0" algn="just">
              <a:buNone/>
            </a:pPr>
            <a:r>
              <a:rPr lang="en-US"/>
              <a:t>2. Test Driven Development</a:t>
            </a:r>
          </a:p>
          <a:p>
            <a:pPr marL="0" indent="0">
              <a:buNone/>
            </a:pPr>
            <a:r>
              <a:rPr lang="en-US"/>
              <a:t>3. </a:t>
            </a:r>
            <a:r>
              <a:rPr lang="en-US">
                <a:sym typeface="+mn-ea"/>
              </a:rPr>
              <a:t>Pair Programming</a:t>
            </a:r>
            <a:endParaRPr lang="en-US"/>
          </a:p>
        </p:txBody>
      </p:sp>
      <p:sp>
        <p:nvSpPr>
          <p:cNvPr id="6" name="Content Placeholder 2"/>
          <p:cNvSpPr>
            <a:spLocks noGrp="1"/>
          </p:cNvSpPr>
          <p:nvPr/>
        </p:nvSpPr>
        <p:spPr>
          <a:xfrm>
            <a:off x="4713605" y="4724400"/>
            <a:ext cx="4241165" cy="209804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solidFill>
                  <a:srgbClr val="FF0000"/>
                </a:solidFill>
              </a:rPr>
              <a:t>Integration Practices</a:t>
            </a:r>
            <a:endParaRPr lang="en-US"/>
          </a:p>
          <a:p>
            <a:pPr marL="0" indent="0" algn="just">
              <a:buNone/>
            </a:pPr>
            <a:r>
              <a:rPr lang="en-US"/>
              <a:t>1. Continuous Integration</a:t>
            </a:r>
          </a:p>
          <a:p>
            <a:pPr marL="0" indent="0">
              <a:buNone/>
            </a:pPr>
            <a:r>
              <a:rPr lang="en-US"/>
              <a:t>2. 10 Minute Build</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425" y="76200"/>
            <a:ext cx="8229600" cy="750570"/>
          </a:xfrm>
        </p:spPr>
        <p:txBody>
          <a:bodyPr>
            <a:normAutofit fontScale="90000"/>
          </a:bodyPr>
          <a:lstStyle/>
          <a:p>
            <a:r>
              <a:rPr lang="en-US" b="1"/>
              <a:t>XP Practices</a:t>
            </a:r>
          </a:p>
        </p:txBody>
      </p:sp>
      <p:sp>
        <p:nvSpPr>
          <p:cNvPr id="3" name="Content Placeholder 2"/>
          <p:cNvSpPr>
            <a:spLocks noGrp="1"/>
          </p:cNvSpPr>
          <p:nvPr>
            <p:ph sz="half" idx="1"/>
          </p:nvPr>
        </p:nvSpPr>
        <p:spPr>
          <a:xfrm>
            <a:off x="457200" y="864235"/>
            <a:ext cx="8273415" cy="5811520"/>
          </a:xfrm>
        </p:spPr>
        <p:txBody>
          <a:bodyPr>
            <a:normAutofit lnSpcReduction="10000"/>
          </a:bodyPr>
          <a:lstStyle/>
          <a:p>
            <a:pPr algn="just"/>
            <a:r>
              <a:rPr lang="en-US" b="1">
                <a:solidFill>
                  <a:srgbClr val="FFC000"/>
                </a:solidFill>
              </a:rPr>
              <a:t>The Planning Game—</a:t>
            </a:r>
            <a:r>
              <a:rPr lang="en-US"/>
              <a:t>Quickly determine the scope of the </a:t>
            </a:r>
            <a:r>
              <a:rPr lang="en-US" b="1">
                <a:solidFill>
                  <a:srgbClr val="00B050"/>
                </a:solidFill>
              </a:rPr>
              <a:t>next release by combining business priorities and technical estimates</a:t>
            </a:r>
            <a:r>
              <a:rPr lang="en-US"/>
              <a:t>. As reality overtakes the plan, update the plan.</a:t>
            </a:r>
          </a:p>
          <a:p>
            <a:pPr algn="just"/>
            <a:r>
              <a:rPr lang="en-US" b="1">
                <a:solidFill>
                  <a:srgbClr val="FFC000"/>
                </a:solidFill>
              </a:rPr>
              <a:t>Small releases—</a:t>
            </a:r>
            <a:r>
              <a:rPr lang="en-US"/>
              <a:t>Put a </a:t>
            </a:r>
            <a:r>
              <a:rPr lang="en-US" b="1">
                <a:solidFill>
                  <a:schemeClr val="accent6"/>
                </a:solidFill>
              </a:rPr>
              <a:t>simple system</a:t>
            </a:r>
            <a:r>
              <a:rPr lang="en-US"/>
              <a:t> into production quickly, then release new versions on a very short cycle.</a:t>
            </a:r>
          </a:p>
          <a:p>
            <a:pPr algn="just"/>
            <a:r>
              <a:rPr lang="en-US" b="1">
                <a:solidFill>
                  <a:srgbClr val="FFC000"/>
                </a:solidFill>
              </a:rPr>
              <a:t>Metaphor—</a:t>
            </a:r>
            <a:r>
              <a:rPr lang="en-US"/>
              <a:t>Guide all development with a simple shared story of how the </a:t>
            </a:r>
            <a:r>
              <a:rPr lang="en-US" b="1">
                <a:solidFill>
                  <a:srgbClr val="0070C0"/>
                </a:solidFill>
              </a:rPr>
              <a:t>whole system works</a:t>
            </a:r>
            <a:r>
              <a:rPr lang="en-US"/>
              <a:t>.</a:t>
            </a:r>
          </a:p>
          <a:p>
            <a:pPr algn="just"/>
            <a:r>
              <a:rPr lang="en-US" b="1">
                <a:solidFill>
                  <a:srgbClr val="FFC000"/>
                </a:solidFill>
              </a:rPr>
              <a:t>Simple design—</a:t>
            </a:r>
            <a:r>
              <a:rPr lang="en-US"/>
              <a:t>The system should be designed as </a:t>
            </a:r>
            <a:r>
              <a:rPr lang="en-US" b="1">
                <a:solidFill>
                  <a:schemeClr val="accent6">
                    <a:lumMod val="75000"/>
                  </a:schemeClr>
                </a:solidFill>
              </a:rPr>
              <a:t>simply as possible</a:t>
            </a:r>
            <a:r>
              <a:rPr lang="en-US"/>
              <a:t> at any given moment. </a:t>
            </a:r>
          </a:p>
          <a:p>
            <a:pPr algn="just"/>
            <a:r>
              <a:rPr lang="en-US"/>
              <a:t>Extra complexity is removed as soon as it is discovered.</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56285"/>
          </a:xfrm>
        </p:spPr>
        <p:txBody>
          <a:bodyPr>
            <a:normAutofit fontScale="90000"/>
          </a:bodyPr>
          <a:lstStyle/>
          <a:p>
            <a:r>
              <a:rPr lang="en-US" b="1">
                <a:sym typeface="+mn-ea"/>
              </a:rPr>
              <a:t>XP Practices</a:t>
            </a:r>
            <a:endParaRPr lang="en-US" b="1"/>
          </a:p>
        </p:txBody>
      </p:sp>
      <p:sp>
        <p:nvSpPr>
          <p:cNvPr id="3" name="Content Placeholder 2"/>
          <p:cNvSpPr>
            <a:spLocks noGrp="1"/>
          </p:cNvSpPr>
          <p:nvPr>
            <p:ph sz="half" idx="1"/>
          </p:nvPr>
        </p:nvSpPr>
        <p:spPr>
          <a:xfrm>
            <a:off x="457200" y="1093470"/>
            <a:ext cx="8288020" cy="5597525"/>
          </a:xfrm>
        </p:spPr>
        <p:txBody>
          <a:bodyPr>
            <a:normAutofit/>
          </a:bodyPr>
          <a:lstStyle/>
          <a:p>
            <a:pPr algn="just"/>
            <a:r>
              <a:rPr lang="en-US" b="1">
                <a:solidFill>
                  <a:srgbClr val="FFC000"/>
                </a:solidFill>
              </a:rPr>
              <a:t>Testing—</a:t>
            </a:r>
            <a:r>
              <a:rPr lang="en-US"/>
              <a:t>Programmers continually write </a:t>
            </a:r>
            <a:r>
              <a:rPr lang="en-US" b="1">
                <a:solidFill>
                  <a:schemeClr val="accent6">
                    <a:lumMod val="75000"/>
                  </a:schemeClr>
                </a:solidFill>
              </a:rPr>
              <a:t>unit tests,</a:t>
            </a:r>
            <a:r>
              <a:rPr lang="en-US"/>
              <a:t> which must run flawlessly for development to continue. </a:t>
            </a:r>
          </a:p>
          <a:p>
            <a:pPr algn="just"/>
            <a:r>
              <a:rPr lang="en-US"/>
              <a:t>Customers write tests demonstrating that features are finished.</a:t>
            </a:r>
          </a:p>
          <a:p>
            <a:pPr algn="just"/>
            <a:r>
              <a:rPr lang="en-US" b="1">
                <a:solidFill>
                  <a:srgbClr val="FFC000"/>
                </a:solidFill>
              </a:rPr>
              <a:t>Refactoring—</a:t>
            </a:r>
            <a:r>
              <a:rPr lang="en-US"/>
              <a:t>Programmers </a:t>
            </a:r>
            <a:r>
              <a:rPr lang="en-US" b="1">
                <a:solidFill>
                  <a:schemeClr val="accent6">
                    <a:lumMod val="75000"/>
                  </a:schemeClr>
                </a:solidFill>
              </a:rPr>
              <a:t>restructure</a:t>
            </a:r>
            <a:r>
              <a:rPr lang="en-US"/>
              <a:t> the system </a:t>
            </a:r>
            <a:r>
              <a:rPr lang="en-US" b="1">
                <a:solidFill>
                  <a:srgbClr val="00B0F0"/>
                </a:solidFill>
              </a:rPr>
              <a:t>without changing its behavior</a:t>
            </a:r>
            <a:r>
              <a:rPr lang="en-US"/>
              <a:t> to remove duplication, improve communication, simplify, or add flexibility.</a:t>
            </a:r>
          </a:p>
          <a:p>
            <a:pPr algn="just"/>
            <a:r>
              <a:rPr lang="en-US" b="1">
                <a:solidFill>
                  <a:srgbClr val="FFC000"/>
                </a:solidFill>
              </a:rPr>
              <a:t>Pair programming—</a:t>
            </a:r>
            <a:r>
              <a:rPr lang="en-US"/>
              <a:t>All production code is written with </a:t>
            </a:r>
            <a:r>
              <a:rPr lang="en-US" b="1">
                <a:solidFill>
                  <a:schemeClr val="accent2">
                    <a:lumMod val="60000"/>
                    <a:lumOff val="40000"/>
                  </a:schemeClr>
                </a:solidFill>
              </a:rPr>
              <a:t>two programmers at one</a:t>
            </a:r>
            <a:r>
              <a:rPr lang="en-US"/>
              <a:t> machine.</a:t>
            </a:r>
          </a:p>
          <a:p>
            <a:pPr algn="just"/>
            <a:r>
              <a:rPr lang="en-US" b="1">
                <a:solidFill>
                  <a:srgbClr val="FFC000"/>
                </a:solidFill>
              </a:rPr>
              <a:t>Collective ownership—</a:t>
            </a:r>
            <a:r>
              <a:rPr lang="en-US"/>
              <a:t>Anyone can </a:t>
            </a:r>
            <a:r>
              <a:rPr lang="en-US" b="1">
                <a:solidFill>
                  <a:srgbClr val="00B0F0"/>
                </a:solidFill>
              </a:rPr>
              <a:t>change any code</a:t>
            </a:r>
            <a:r>
              <a:rPr lang="en-US"/>
              <a:t> anywhere in the system at any time.</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69950"/>
          </a:xfrm>
        </p:spPr>
        <p:txBody>
          <a:bodyPr>
            <a:normAutofit/>
          </a:bodyPr>
          <a:lstStyle/>
          <a:p>
            <a:r>
              <a:rPr lang="en-US" b="1">
                <a:sym typeface="+mn-ea"/>
              </a:rPr>
              <a:t>XP Practices</a:t>
            </a:r>
            <a:endParaRPr lang="en-US" b="1"/>
          </a:p>
        </p:txBody>
      </p:sp>
      <p:sp>
        <p:nvSpPr>
          <p:cNvPr id="3" name="Content Placeholder 2"/>
          <p:cNvSpPr>
            <a:spLocks noGrp="1"/>
          </p:cNvSpPr>
          <p:nvPr>
            <p:ph sz="half" idx="1"/>
          </p:nvPr>
        </p:nvSpPr>
        <p:spPr>
          <a:xfrm>
            <a:off x="457200" y="1159510"/>
            <a:ext cx="8228965" cy="5455285"/>
          </a:xfrm>
        </p:spPr>
        <p:txBody>
          <a:bodyPr>
            <a:normAutofit/>
          </a:bodyPr>
          <a:lstStyle/>
          <a:p>
            <a:pPr algn="just"/>
            <a:r>
              <a:rPr lang="en-US" b="1">
                <a:solidFill>
                  <a:srgbClr val="FFC000"/>
                </a:solidFill>
              </a:rPr>
              <a:t>Continuous integration—</a:t>
            </a:r>
            <a:r>
              <a:rPr lang="en-US" b="1">
                <a:solidFill>
                  <a:schemeClr val="accent6">
                    <a:lumMod val="75000"/>
                  </a:schemeClr>
                </a:solidFill>
              </a:rPr>
              <a:t>Integrate and build</a:t>
            </a:r>
            <a:r>
              <a:rPr lang="en-US"/>
              <a:t> the system many times a day, every time a task is completed.</a:t>
            </a:r>
          </a:p>
          <a:p>
            <a:pPr algn="just"/>
            <a:r>
              <a:rPr lang="en-US" b="1">
                <a:solidFill>
                  <a:srgbClr val="FFC000"/>
                </a:solidFill>
              </a:rPr>
              <a:t>40 hour week—</a:t>
            </a:r>
            <a:r>
              <a:rPr lang="en-US"/>
              <a:t>Work </a:t>
            </a:r>
            <a:r>
              <a:rPr lang="en-US" b="1">
                <a:solidFill>
                  <a:srgbClr val="00B050"/>
                </a:solidFill>
              </a:rPr>
              <a:t>no more than 40 hours</a:t>
            </a:r>
            <a:r>
              <a:rPr lang="en-US"/>
              <a:t> a week as a rule. </a:t>
            </a:r>
          </a:p>
          <a:p>
            <a:pPr algn="just"/>
            <a:r>
              <a:rPr lang="en-US"/>
              <a:t>Never work overtime a second week in a row.</a:t>
            </a:r>
          </a:p>
          <a:p>
            <a:pPr algn="just"/>
            <a:r>
              <a:rPr lang="en-US" b="1">
                <a:solidFill>
                  <a:srgbClr val="FFC000"/>
                </a:solidFill>
              </a:rPr>
              <a:t>On-site customer—</a:t>
            </a:r>
            <a:r>
              <a:rPr lang="en-US"/>
              <a:t>Include a real, live user on the team, available full-time to answer questions.</a:t>
            </a:r>
          </a:p>
          <a:p>
            <a:pPr algn="just"/>
            <a:r>
              <a:rPr lang="en-US" b="1">
                <a:solidFill>
                  <a:srgbClr val="FFC000"/>
                </a:solidFill>
              </a:rPr>
              <a:t>Coding standards—</a:t>
            </a:r>
            <a:r>
              <a:rPr lang="en-US"/>
              <a:t>Programmers write all code in accordance with rules </a:t>
            </a:r>
            <a:r>
              <a:rPr lang="en-US" b="1">
                <a:solidFill>
                  <a:srgbClr val="0070C0"/>
                </a:solidFill>
              </a:rPr>
              <a:t>emphasizing communication </a:t>
            </a:r>
            <a:r>
              <a:rPr lang="en-US"/>
              <a:t>through the code.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2760" y="76200"/>
            <a:ext cx="8229600" cy="779780"/>
          </a:xfrm>
        </p:spPr>
        <p:txBody>
          <a:bodyPr/>
          <a:lstStyle/>
          <a:p>
            <a:r>
              <a:rPr lang="en-US" b="1"/>
              <a:t>The Planning Game</a:t>
            </a:r>
          </a:p>
        </p:txBody>
      </p:sp>
      <p:sp>
        <p:nvSpPr>
          <p:cNvPr id="3" name="Content Placeholder 2"/>
          <p:cNvSpPr>
            <a:spLocks noGrp="1"/>
          </p:cNvSpPr>
          <p:nvPr>
            <p:ph sz="half" idx="1"/>
          </p:nvPr>
        </p:nvSpPr>
        <p:spPr>
          <a:xfrm>
            <a:off x="457200" y="821690"/>
            <a:ext cx="8301355" cy="5945505"/>
          </a:xfrm>
        </p:spPr>
        <p:txBody>
          <a:bodyPr>
            <a:normAutofit lnSpcReduction="10000"/>
          </a:bodyPr>
          <a:lstStyle/>
          <a:p>
            <a:pPr algn="just"/>
            <a:r>
              <a:rPr lang="en-US"/>
              <a:t>Neither </a:t>
            </a:r>
            <a:r>
              <a:rPr lang="en-US" b="1">
                <a:solidFill>
                  <a:schemeClr val="accent6">
                    <a:lumMod val="75000"/>
                  </a:schemeClr>
                </a:solidFill>
              </a:rPr>
              <a:t>business </a:t>
            </a:r>
            <a:r>
              <a:rPr lang="en-US"/>
              <a:t>considerations nor </a:t>
            </a:r>
            <a:r>
              <a:rPr lang="en-US" b="1">
                <a:solidFill>
                  <a:schemeClr val="accent6">
                    <a:lumMod val="75000"/>
                  </a:schemeClr>
                </a:solidFill>
              </a:rPr>
              <a:t>technical </a:t>
            </a:r>
            <a:r>
              <a:rPr lang="en-US"/>
              <a:t>considerations should be </a:t>
            </a:r>
            <a:r>
              <a:rPr lang="en-US" b="1">
                <a:solidFill>
                  <a:srgbClr val="0070C0"/>
                </a:solidFill>
              </a:rPr>
              <a:t>paramount</a:t>
            </a:r>
            <a:r>
              <a:rPr lang="en-US"/>
              <a:t>.</a:t>
            </a:r>
          </a:p>
          <a:p>
            <a:pPr algn="just"/>
            <a:r>
              <a:rPr lang="en-US"/>
              <a:t>Software development is always an evolving dialog between the </a:t>
            </a:r>
            <a:r>
              <a:rPr lang="en-US" b="1">
                <a:solidFill>
                  <a:srgbClr val="00B050"/>
                </a:solidFill>
              </a:rPr>
              <a:t>possible and the desirable</a:t>
            </a:r>
            <a:r>
              <a:rPr lang="en-US"/>
              <a:t>. </a:t>
            </a:r>
          </a:p>
          <a:p>
            <a:pPr algn="just"/>
            <a:r>
              <a:rPr lang="en-US"/>
              <a:t>The nature of the dialog is that it changes both what is seen to be possible and what is seen to be desirable.</a:t>
            </a:r>
          </a:p>
          <a:p>
            <a:pPr algn="just"/>
            <a:r>
              <a:rPr lang="en-US" b="1">
                <a:solidFill>
                  <a:schemeClr val="tx2">
                    <a:lumMod val="60000"/>
                    <a:lumOff val="40000"/>
                  </a:schemeClr>
                </a:solidFill>
              </a:rPr>
              <a:t>Business people</a:t>
            </a:r>
            <a:r>
              <a:rPr lang="en-US"/>
              <a:t> need to decide about</a:t>
            </a:r>
          </a:p>
          <a:p>
            <a:pPr algn="just"/>
            <a:r>
              <a:rPr lang="en-US" b="1">
                <a:solidFill>
                  <a:srgbClr val="00B050"/>
                </a:solidFill>
              </a:rPr>
              <a:t>Scope—</a:t>
            </a:r>
            <a:r>
              <a:rPr lang="en-US"/>
              <a:t>How much of a </a:t>
            </a:r>
            <a:r>
              <a:rPr lang="en-US" b="1">
                <a:solidFill>
                  <a:srgbClr val="FF0000"/>
                </a:solidFill>
              </a:rPr>
              <a:t>problem must be solved</a:t>
            </a:r>
            <a:r>
              <a:rPr lang="en-US"/>
              <a:t> for the system to be valuable in production?</a:t>
            </a:r>
          </a:p>
          <a:p>
            <a:pPr algn="just"/>
            <a:r>
              <a:rPr lang="en-US" b="1">
                <a:solidFill>
                  <a:srgbClr val="00B050"/>
                </a:solidFill>
              </a:rPr>
              <a:t>Priority—</a:t>
            </a:r>
            <a:r>
              <a:rPr lang="en-US"/>
              <a:t>If you could only have A or B at first, which one do you want? The business person is in a position to determine this, much more so than a programmer.</a:t>
            </a:r>
          </a:p>
          <a:p>
            <a:pPr algn="just"/>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70255"/>
          </a:xfrm>
        </p:spPr>
        <p:txBody>
          <a:bodyPr>
            <a:normAutofit/>
          </a:bodyPr>
          <a:lstStyle/>
          <a:p>
            <a:r>
              <a:rPr lang="en-US" b="1">
                <a:sym typeface="+mn-ea"/>
              </a:rPr>
              <a:t>The Planning Game</a:t>
            </a:r>
            <a:endParaRPr lang="en-US"/>
          </a:p>
        </p:txBody>
      </p:sp>
      <p:sp>
        <p:nvSpPr>
          <p:cNvPr id="3" name="Content Placeholder 2"/>
          <p:cNvSpPr>
            <a:spLocks noGrp="1"/>
          </p:cNvSpPr>
          <p:nvPr>
            <p:ph sz="half" idx="1"/>
          </p:nvPr>
        </p:nvSpPr>
        <p:spPr>
          <a:xfrm>
            <a:off x="457200" y="922020"/>
            <a:ext cx="8228965" cy="5204460"/>
          </a:xfrm>
        </p:spPr>
        <p:txBody>
          <a:bodyPr/>
          <a:lstStyle/>
          <a:p>
            <a:pPr algn="just"/>
            <a:r>
              <a:rPr lang="en-US" b="1">
                <a:solidFill>
                  <a:srgbClr val="00B050"/>
                </a:solidFill>
              </a:rPr>
              <a:t>Composition of releases—</a:t>
            </a:r>
            <a:r>
              <a:rPr lang="en-US"/>
              <a:t>How </a:t>
            </a:r>
            <a:r>
              <a:rPr lang="en-US" b="1">
                <a:solidFill>
                  <a:srgbClr val="FF0000"/>
                </a:solidFill>
              </a:rPr>
              <a:t>much or how little</a:t>
            </a:r>
            <a:r>
              <a:rPr lang="en-US"/>
              <a:t> needs to be done before the business is better off with the software than without it?</a:t>
            </a:r>
          </a:p>
          <a:p>
            <a:pPr algn="just"/>
            <a:r>
              <a:rPr lang="en-US" b="1">
                <a:solidFill>
                  <a:srgbClr val="00B050"/>
                </a:solidFill>
              </a:rPr>
              <a:t>Dates of releases—</a:t>
            </a:r>
            <a:r>
              <a:rPr lang="en-US"/>
              <a:t>What are </a:t>
            </a:r>
            <a:r>
              <a:rPr lang="en-US" b="1">
                <a:solidFill>
                  <a:srgbClr val="FF0000"/>
                </a:solidFill>
              </a:rPr>
              <a:t>important dates</a:t>
            </a:r>
            <a:r>
              <a:rPr lang="en-US"/>
              <a:t> at which the presence of the software (or some of the software) would make a big difference?</a:t>
            </a:r>
          </a:p>
          <a:p>
            <a:pPr algn="just"/>
            <a:r>
              <a:rPr lang="en-US" b="1">
                <a:solidFill>
                  <a:srgbClr val="00B0F0"/>
                </a:solidFill>
                <a:sym typeface="+mn-ea"/>
              </a:rPr>
              <a:t>Technical people</a:t>
            </a:r>
            <a:r>
              <a:rPr lang="en-US">
                <a:sym typeface="+mn-ea"/>
              </a:rPr>
              <a:t> decide about</a:t>
            </a:r>
            <a:endParaRPr lang="en-US"/>
          </a:p>
          <a:p>
            <a:pPr algn="just"/>
            <a:r>
              <a:rPr lang="en-US" b="1">
                <a:solidFill>
                  <a:srgbClr val="FFC000"/>
                </a:solidFill>
                <a:sym typeface="+mn-ea"/>
              </a:rPr>
              <a:t>Estimates—</a:t>
            </a:r>
            <a:r>
              <a:rPr lang="en-US">
                <a:sym typeface="+mn-ea"/>
              </a:rPr>
              <a:t>How long will a feature take to implement?</a:t>
            </a:r>
            <a:endParaRPr lang="en-US"/>
          </a:p>
          <a:p>
            <a:pPr algn="just"/>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765175"/>
          </a:xfrm>
        </p:spPr>
        <p:txBody>
          <a:bodyPr>
            <a:normAutofit fontScale="90000"/>
          </a:bodyPr>
          <a:lstStyle/>
          <a:p>
            <a:r>
              <a:rPr lang="en-US" b="1">
                <a:sym typeface="+mn-ea"/>
              </a:rPr>
              <a:t>The Planning Game</a:t>
            </a:r>
            <a:r>
              <a:rPr lang="en-US"/>
              <a:t/>
            </a:r>
            <a:br>
              <a:rPr lang="en-US"/>
            </a:br>
            <a:endParaRPr lang="en-US"/>
          </a:p>
        </p:txBody>
      </p:sp>
      <p:sp>
        <p:nvSpPr>
          <p:cNvPr id="3" name="Content Placeholder 2"/>
          <p:cNvSpPr>
            <a:spLocks noGrp="1"/>
          </p:cNvSpPr>
          <p:nvPr>
            <p:ph sz="half" idx="1"/>
          </p:nvPr>
        </p:nvSpPr>
        <p:spPr>
          <a:xfrm>
            <a:off x="457200" y="960120"/>
            <a:ext cx="8228965" cy="5749290"/>
          </a:xfrm>
        </p:spPr>
        <p:txBody>
          <a:bodyPr>
            <a:normAutofit/>
          </a:bodyPr>
          <a:lstStyle/>
          <a:p>
            <a:pPr algn="just"/>
            <a:r>
              <a:rPr lang="en-US" b="1">
                <a:solidFill>
                  <a:srgbClr val="FFC000"/>
                </a:solidFill>
              </a:rPr>
              <a:t>Consequences—</a:t>
            </a:r>
            <a:r>
              <a:rPr lang="en-US"/>
              <a:t>There are </a:t>
            </a:r>
            <a:r>
              <a:rPr lang="en-US" b="1">
                <a:solidFill>
                  <a:srgbClr val="FF0000"/>
                </a:solidFill>
              </a:rPr>
              <a:t>strategic business</a:t>
            </a:r>
            <a:r>
              <a:rPr lang="en-US"/>
              <a:t> decisions that should be made only when informed about the technical consequences.</a:t>
            </a:r>
          </a:p>
          <a:p>
            <a:pPr algn="just"/>
            <a:r>
              <a:rPr lang="en-US" b="1">
                <a:solidFill>
                  <a:srgbClr val="FFC000"/>
                </a:solidFill>
              </a:rPr>
              <a:t>Process—</a:t>
            </a:r>
            <a:r>
              <a:rPr lang="en-US"/>
              <a:t>How will the </a:t>
            </a:r>
            <a:r>
              <a:rPr lang="en-US" b="1">
                <a:solidFill>
                  <a:srgbClr val="0070C0"/>
                </a:solidFill>
              </a:rPr>
              <a:t>work and the team</a:t>
            </a:r>
            <a:r>
              <a:rPr lang="en-US"/>
              <a:t> be organized? The team needs to fit the culture in which it will operate.</a:t>
            </a:r>
          </a:p>
          <a:p>
            <a:pPr algn="just"/>
            <a:r>
              <a:rPr lang="en-US" b="1">
                <a:solidFill>
                  <a:srgbClr val="FFC000"/>
                </a:solidFill>
              </a:rPr>
              <a:t>Detailed scheduling—</a:t>
            </a:r>
            <a:r>
              <a:rPr lang="en-US"/>
              <a:t>Within a release, </a:t>
            </a:r>
            <a:r>
              <a:rPr lang="en-US" b="1">
                <a:solidFill>
                  <a:srgbClr val="0070C0"/>
                </a:solidFill>
              </a:rPr>
              <a:t>which stories will be done first?</a:t>
            </a:r>
            <a:r>
              <a:rPr lang="en-US"/>
              <a:t> The programmers need the freedom to schedule the riskiest segments of development first, to reduce the overall risk of the project.</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08990"/>
          </a:xfrm>
        </p:spPr>
        <p:txBody>
          <a:bodyPr/>
          <a:lstStyle/>
          <a:p>
            <a:r>
              <a:rPr lang="en-US" b="1"/>
              <a:t>Small Releases</a:t>
            </a:r>
          </a:p>
        </p:txBody>
      </p:sp>
      <p:sp>
        <p:nvSpPr>
          <p:cNvPr id="3" name="Content Placeholder 2"/>
          <p:cNvSpPr>
            <a:spLocks noGrp="1"/>
          </p:cNvSpPr>
          <p:nvPr>
            <p:ph sz="half" idx="1"/>
          </p:nvPr>
        </p:nvSpPr>
        <p:spPr>
          <a:xfrm>
            <a:off x="457200" y="911860"/>
            <a:ext cx="8364220" cy="5214620"/>
          </a:xfrm>
        </p:spPr>
        <p:txBody>
          <a:bodyPr>
            <a:normAutofit/>
          </a:bodyPr>
          <a:lstStyle/>
          <a:p>
            <a:pPr algn="just"/>
            <a:r>
              <a:rPr lang="en-US"/>
              <a:t>Every </a:t>
            </a:r>
            <a:r>
              <a:rPr lang="en-US" b="1">
                <a:solidFill>
                  <a:srgbClr val="0070C0"/>
                </a:solidFill>
              </a:rPr>
              <a:t>release should</a:t>
            </a:r>
            <a:r>
              <a:rPr lang="en-US"/>
              <a:t> be </a:t>
            </a:r>
            <a:r>
              <a:rPr lang="en-US" b="1">
                <a:solidFill>
                  <a:schemeClr val="accent6">
                    <a:lumMod val="75000"/>
                  </a:schemeClr>
                </a:solidFill>
              </a:rPr>
              <a:t>as small as possible</a:t>
            </a:r>
            <a:r>
              <a:rPr lang="en-US"/>
              <a:t>, containing the most valuable business requirements.</a:t>
            </a:r>
          </a:p>
          <a:p>
            <a:pPr algn="just"/>
            <a:r>
              <a:rPr lang="en-US"/>
              <a:t> The release has to </a:t>
            </a:r>
            <a:r>
              <a:rPr lang="en-US" b="1">
                <a:solidFill>
                  <a:schemeClr val="accent6">
                    <a:lumMod val="75000"/>
                  </a:schemeClr>
                </a:solidFill>
              </a:rPr>
              <a:t>make sense as a whole</a:t>
            </a:r>
            <a:r>
              <a:rPr lang="en-US"/>
              <a:t>—that is, you can't implement half a feature and ship it, just to make the release cycle shorter.</a:t>
            </a:r>
          </a:p>
          <a:p>
            <a:pPr algn="just"/>
            <a:r>
              <a:rPr lang="en-US"/>
              <a:t>It is </a:t>
            </a:r>
            <a:r>
              <a:rPr lang="en-US" b="1">
                <a:solidFill>
                  <a:srgbClr val="00B050"/>
                </a:solidFill>
              </a:rPr>
              <a:t>far better to plan a month</a:t>
            </a:r>
            <a:r>
              <a:rPr lang="en-US"/>
              <a:t> or </a:t>
            </a:r>
            <a:r>
              <a:rPr lang="en-US" b="1">
                <a:solidFill>
                  <a:schemeClr val="accent6"/>
                </a:solidFill>
              </a:rPr>
              <a:t>two at a time </a:t>
            </a:r>
            <a:r>
              <a:rPr lang="en-US"/>
              <a:t>than </a:t>
            </a:r>
            <a:r>
              <a:rPr lang="en-US" b="1">
                <a:solidFill>
                  <a:srgbClr val="00B0F0"/>
                </a:solidFill>
              </a:rPr>
              <a:t>six months or a year</a:t>
            </a:r>
            <a:r>
              <a:rPr lang="en-US"/>
              <a:t> at a time.</a:t>
            </a:r>
          </a:p>
          <a:p>
            <a:pPr algn="just"/>
            <a:r>
              <a:rPr lang="en-US"/>
              <a:t>A company shipping bulky software to customers </a:t>
            </a:r>
            <a:r>
              <a:rPr lang="en-US" b="1">
                <a:solidFill>
                  <a:srgbClr val="FF0000"/>
                </a:solidFill>
              </a:rPr>
              <a:t>might not be able to release</a:t>
            </a:r>
            <a:r>
              <a:rPr lang="en-US"/>
              <a:t> this often. </a:t>
            </a:r>
          </a:p>
          <a:p>
            <a:pPr algn="just"/>
            <a:r>
              <a:rPr lang="en-US"/>
              <a:t>They should still reduce their cycle as much as possible.</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03580"/>
          </a:xfrm>
        </p:spPr>
        <p:txBody>
          <a:bodyPr>
            <a:normAutofit fontScale="90000"/>
          </a:bodyPr>
          <a:lstStyle/>
          <a:p>
            <a:r>
              <a:rPr lang="en-US" b="1"/>
              <a:t>Metaphor</a:t>
            </a:r>
          </a:p>
        </p:txBody>
      </p:sp>
      <p:sp>
        <p:nvSpPr>
          <p:cNvPr id="3" name="Content Placeholder 2"/>
          <p:cNvSpPr>
            <a:spLocks noGrp="1"/>
          </p:cNvSpPr>
          <p:nvPr>
            <p:ph sz="half" idx="1"/>
          </p:nvPr>
        </p:nvSpPr>
        <p:spPr>
          <a:xfrm>
            <a:off x="457200" y="869950"/>
            <a:ext cx="8348980" cy="5716270"/>
          </a:xfrm>
        </p:spPr>
        <p:txBody>
          <a:bodyPr>
            <a:normAutofit fontScale="90000" lnSpcReduction="10000"/>
          </a:bodyPr>
          <a:lstStyle/>
          <a:p>
            <a:pPr algn="just"/>
            <a:r>
              <a:rPr dirty="0">
                <a:latin typeface="Calibri" panose="020F0502020204030204" charset="0"/>
                <a:cs typeface="Calibri" panose="020F0502020204030204" charset="0"/>
                <a:sym typeface="Verdana" panose="020B0604030504040204" pitchFamily="34" charset="0"/>
              </a:rPr>
              <a:t>Extreme Programming teams develop a </a:t>
            </a:r>
            <a:r>
              <a:rPr b="1" dirty="0">
                <a:solidFill>
                  <a:srgbClr val="FF0000"/>
                </a:solidFill>
                <a:latin typeface="Calibri" panose="020F0502020204030204" charset="0"/>
                <a:cs typeface="Calibri" panose="020F0502020204030204" charset="0"/>
                <a:sym typeface="Verdana" panose="020B0604030504040204" pitchFamily="34" charset="0"/>
              </a:rPr>
              <a:t>common </a:t>
            </a:r>
            <a:r>
              <a:rPr b="1" dirty="0" err="1" smtClean="0">
                <a:solidFill>
                  <a:srgbClr val="FF0000"/>
                </a:solidFill>
                <a:latin typeface="Calibri" panose="020F0502020204030204" charset="0"/>
                <a:cs typeface="Calibri" panose="020F0502020204030204" charset="0"/>
                <a:sym typeface="Verdana" panose="020B0604030504040204" pitchFamily="34" charset="0"/>
              </a:rPr>
              <a:t>vision</a:t>
            </a:r>
            <a:r>
              <a:rPr dirty="0" err="1" smtClean="0">
                <a:latin typeface="Calibri" panose="020F0502020204030204" charset="0"/>
                <a:cs typeface="Calibri" panose="020F0502020204030204" charset="0"/>
                <a:sym typeface="Verdana" panose="020B0604030504040204" pitchFamily="34" charset="0"/>
              </a:rPr>
              <a:t>of</a:t>
            </a:r>
            <a:r>
              <a:rPr dirty="0" smtClean="0">
                <a:latin typeface="Calibri" panose="020F0502020204030204" charset="0"/>
                <a:cs typeface="Calibri" panose="020F0502020204030204" charset="0"/>
                <a:sym typeface="Verdana" panose="020B0604030504040204" pitchFamily="34" charset="0"/>
              </a:rPr>
              <a:t> </a:t>
            </a:r>
            <a:r>
              <a:rPr dirty="0">
                <a:latin typeface="Calibri" panose="020F0502020204030204" charset="0"/>
                <a:cs typeface="Calibri" panose="020F0502020204030204" charset="0"/>
                <a:sym typeface="Verdana" panose="020B0604030504040204" pitchFamily="34" charset="0"/>
              </a:rPr>
              <a:t>how the program works, which we call the </a:t>
            </a:r>
            <a:r>
              <a:rPr b="1" dirty="0">
                <a:solidFill>
                  <a:srgbClr val="00B050"/>
                </a:solidFill>
                <a:latin typeface="Calibri" panose="020F0502020204030204" charset="0"/>
                <a:cs typeface="Calibri" panose="020F0502020204030204" charset="0"/>
                <a:sym typeface="Verdana" panose="020B0604030504040204" pitchFamily="34" charset="0"/>
              </a:rPr>
              <a:t>"metaphor"</a:t>
            </a:r>
            <a:r>
              <a:rPr dirty="0">
                <a:latin typeface="Calibri" panose="020F0502020204030204" charset="0"/>
                <a:cs typeface="Calibri" panose="020F0502020204030204" charset="0"/>
                <a:sym typeface="Verdana" panose="020B0604030504040204" pitchFamily="34" charset="0"/>
              </a:rPr>
              <a:t>. </a:t>
            </a:r>
          </a:p>
          <a:p>
            <a:pPr algn="just"/>
            <a:r>
              <a:rPr dirty="0">
                <a:latin typeface="Calibri" panose="020F0502020204030204" charset="0"/>
                <a:cs typeface="Calibri" panose="020F0502020204030204" charset="0"/>
                <a:sym typeface="Verdana" panose="020B0604030504040204" pitchFamily="34" charset="0"/>
              </a:rPr>
              <a:t>At its best, the </a:t>
            </a:r>
            <a:r>
              <a:rPr b="1" dirty="0">
                <a:latin typeface="Calibri" panose="020F0502020204030204" charset="0"/>
                <a:cs typeface="Calibri" panose="020F0502020204030204" charset="0"/>
                <a:sym typeface="Verdana" panose="020B0604030504040204" pitchFamily="34" charset="0"/>
              </a:rPr>
              <a:t>metaphor</a:t>
            </a:r>
            <a:r>
              <a:rPr dirty="0">
                <a:latin typeface="Calibri" panose="020F0502020204030204" charset="0"/>
                <a:cs typeface="Calibri" panose="020F0502020204030204" charset="0"/>
                <a:sym typeface="Verdana" panose="020B0604030504040204" pitchFamily="34" charset="0"/>
              </a:rPr>
              <a:t> is a </a:t>
            </a:r>
            <a:r>
              <a:rPr b="1" dirty="0">
                <a:solidFill>
                  <a:schemeClr val="tx2">
                    <a:lumMod val="60000"/>
                    <a:lumOff val="40000"/>
                  </a:schemeClr>
                </a:solidFill>
                <a:latin typeface="Calibri" panose="020F0502020204030204" charset="0"/>
                <a:cs typeface="Calibri" panose="020F0502020204030204" charset="0"/>
                <a:sym typeface="Verdana" panose="020B0604030504040204" pitchFamily="34" charset="0"/>
              </a:rPr>
              <a:t>simple evocative description</a:t>
            </a:r>
            <a:r>
              <a:rPr dirty="0">
                <a:latin typeface="Calibri" panose="020F0502020204030204" charset="0"/>
                <a:cs typeface="Calibri" panose="020F0502020204030204" charset="0"/>
                <a:sym typeface="Verdana" panose="020B0604030504040204" pitchFamily="34" charset="0"/>
              </a:rPr>
              <a:t> of how the </a:t>
            </a:r>
            <a:r>
              <a:rPr b="1" dirty="0">
                <a:solidFill>
                  <a:schemeClr val="accent6">
                    <a:lumMod val="60000"/>
                    <a:lumOff val="40000"/>
                  </a:schemeClr>
                </a:solidFill>
                <a:latin typeface="Calibri" panose="020F0502020204030204" charset="0"/>
                <a:cs typeface="Calibri" panose="020F0502020204030204" charset="0"/>
                <a:sym typeface="Verdana" panose="020B0604030504040204" pitchFamily="34" charset="0"/>
              </a:rPr>
              <a:t>program works</a:t>
            </a:r>
            <a:r>
              <a:rPr dirty="0">
                <a:latin typeface="Calibri" panose="020F0502020204030204" charset="0"/>
                <a:cs typeface="Calibri" panose="020F0502020204030204" charset="0"/>
                <a:sym typeface="Verdana" panose="020B0604030504040204" pitchFamily="34" charset="0"/>
              </a:rPr>
              <a:t>.</a:t>
            </a:r>
            <a:endParaRPr lang="en-US" dirty="0">
              <a:latin typeface="Calibri" panose="020F0502020204030204" charset="0"/>
              <a:cs typeface="Calibri" panose="020F0502020204030204" charset="0"/>
            </a:endParaRPr>
          </a:p>
          <a:p>
            <a:pPr algn="just"/>
            <a:r>
              <a:rPr lang="en-US" dirty="0">
                <a:latin typeface="Calibri" panose="020F0502020204030204" charset="0"/>
                <a:cs typeface="Calibri" panose="020F0502020204030204" charset="0"/>
              </a:rPr>
              <a:t>Each XP software project is guided by a single overarching metaphor.</a:t>
            </a:r>
          </a:p>
          <a:p>
            <a:pPr algn="just"/>
            <a:r>
              <a:rPr lang="en-US" dirty="0">
                <a:latin typeface="Calibri" panose="020F0502020204030204" charset="0"/>
                <a:cs typeface="Calibri" panose="020F0502020204030204" charset="0"/>
              </a:rPr>
              <a:t>The metaphor just </a:t>
            </a:r>
            <a:r>
              <a:rPr lang="en-US" b="1" dirty="0">
                <a:solidFill>
                  <a:schemeClr val="accent6">
                    <a:lumMod val="60000"/>
                    <a:lumOff val="40000"/>
                  </a:schemeClr>
                </a:solidFill>
                <a:latin typeface="Calibri" panose="020F0502020204030204" charset="0"/>
                <a:cs typeface="Calibri" panose="020F0502020204030204" charset="0"/>
              </a:rPr>
              <a:t>helps everyone on the project</a:t>
            </a:r>
            <a:r>
              <a:rPr lang="en-US" dirty="0">
                <a:latin typeface="Calibri" panose="020F0502020204030204" charset="0"/>
                <a:cs typeface="Calibri" panose="020F0502020204030204" charset="0"/>
              </a:rPr>
              <a:t> understand the </a:t>
            </a:r>
            <a:r>
              <a:rPr lang="en-US" b="1" dirty="0">
                <a:solidFill>
                  <a:srgbClr val="00B0F0"/>
                </a:solidFill>
                <a:latin typeface="Calibri" panose="020F0502020204030204" charset="0"/>
                <a:cs typeface="Calibri" panose="020F0502020204030204" charset="0"/>
              </a:rPr>
              <a:t>basic elements and their relationships</a:t>
            </a:r>
            <a:r>
              <a:rPr lang="en-US" dirty="0">
                <a:latin typeface="Calibri" panose="020F0502020204030204" charset="0"/>
                <a:cs typeface="Calibri" panose="020F0502020204030204" charset="0"/>
              </a:rPr>
              <a:t>.</a:t>
            </a:r>
          </a:p>
          <a:p>
            <a:pPr algn="just"/>
            <a:r>
              <a:rPr lang="en-US" kern="0" noProof="0" dirty="0" smtClean="0">
                <a:ln>
                  <a:noFill/>
                </a:ln>
                <a:solidFill>
                  <a:srgbClr val="000000"/>
                </a:solidFill>
                <a:effectLst/>
                <a:uLnTx/>
                <a:uFillTx/>
                <a:latin typeface="Calibri" panose="020F0502020204030204" charset="0"/>
                <a:cs typeface="Calibri" panose="020F0502020204030204" charset="0"/>
                <a:sym typeface="Helvetica" charset="0"/>
              </a:rPr>
              <a:t>Metaphor is </a:t>
            </a:r>
            <a:r>
              <a:rPr lang="en-US" b="1" kern="0" noProof="0" dirty="0" smtClean="0">
                <a:ln>
                  <a:noFill/>
                </a:ln>
                <a:solidFill>
                  <a:srgbClr val="FF0000"/>
                </a:solidFill>
                <a:effectLst/>
                <a:uLnTx/>
                <a:uFillTx/>
                <a:latin typeface="Calibri" panose="020F0502020204030204" charset="0"/>
                <a:cs typeface="Calibri" panose="020F0502020204030204" charset="0"/>
                <a:sym typeface="Helvetica" charset="0"/>
              </a:rPr>
              <a:t>something you start</a:t>
            </a:r>
            <a:r>
              <a:rPr lang="en-US" kern="0" noProof="0" dirty="0" smtClean="0">
                <a:ln>
                  <a:noFill/>
                </a:ln>
                <a:solidFill>
                  <a:srgbClr val="000000"/>
                </a:solidFill>
                <a:effectLst/>
                <a:uLnTx/>
                <a:uFillTx/>
                <a:latin typeface="Calibri" panose="020F0502020204030204" charset="0"/>
                <a:cs typeface="Calibri" panose="020F0502020204030204" charset="0"/>
                <a:sym typeface="Helvetica" charset="0"/>
              </a:rPr>
              <a:t> using when your mother asks what you are working on and you try to explain her the details. </a:t>
            </a:r>
          </a:p>
          <a:p>
            <a:pPr algn="just"/>
            <a:r>
              <a:rPr lang="en-US" kern="0" noProof="0" dirty="0" smtClean="0">
                <a:ln>
                  <a:noFill/>
                </a:ln>
                <a:solidFill>
                  <a:srgbClr val="000000"/>
                </a:solidFill>
                <a:effectLst/>
                <a:uLnTx/>
                <a:uFillTx/>
                <a:latin typeface="Calibri" panose="020F0502020204030204" charset="0"/>
                <a:cs typeface="Calibri" panose="020F0502020204030204" charset="0"/>
                <a:sym typeface="Helvetica" charset="0"/>
              </a:rPr>
              <a:t>How you find it is </a:t>
            </a:r>
            <a:r>
              <a:rPr lang="en-US" b="1" kern="0" noProof="0" dirty="0" smtClean="0">
                <a:ln>
                  <a:noFill/>
                </a:ln>
                <a:solidFill>
                  <a:srgbClr val="00B050"/>
                </a:solidFill>
                <a:effectLst/>
                <a:uLnTx/>
                <a:uFillTx/>
                <a:latin typeface="Calibri" panose="020F0502020204030204" charset="0"/>
                <a:cs typeface="Calibri" panose="020F0502020204030204" charset="0"/>
                <a:sym typeface="Helvetica" charset="0"/>
              </a:rPr>
              <a:t>very project-specific</a:t>
            </a:r>
            <a:r>
              <a:rPr lang="en-US" kern="0" noProof="0" dirty="0" smtClean="0">
                <a:ln>
                  <a:noFill/>
                </a:ln>
                <a:solidFill>
                  <a:srgbClr val="000000"/>
                </a:solidFill>
                <a:effectLst/>
                <a:uLnTx/>
                <a:uFillTx/>
                <a:latin typeface="Calibri" panose="020F0502020204030204" charset="0"/>
                <a:cs typeface="Calibri" panose="020F0502020204030204" charset="0"/>
                <a:sym typeface="Helvetica" charset="0"/>
              </a:rPr>
              <a:t>. Use your common sense or find the guy on your team who is good at explaining technical things to customers in a way that is easy to understand.</a:t>
            </a:r>
            <a:endParaRPr kumimoji="0" lang="en-US" b="0" i="0" u="none" strike="noStrike" kern="0" cap="none" spc="0" normalizeH="0" baseline="0" noProof="0" dirty="0" smtClean="0">
              <a:ln>
                <a:noFill/>
              </a:ln>
              <a:solidFill>
                <a:srgbClr val="000000"/>
              </a:solidFill>
              <a:effectLst/>
              <a:uLnTx/>
              <a:uFillTx/>
              <a:latin typeface="Calibri" panose="020F0502020204030204" charset="0"/>
              <a:ea typeface="+mn-ea"/>
              <a:cs typeface="Calibri" panose="020F0502020204030204" charset="0"/>
              <a:sym typeface="Helvetica" charset="0"/>
            </a:endParaRPr>
          </a:p>
          <a:p>
            <a:pPr algn="just"/>
            <a:endParaRPr lang="en-US" dirty="0">
              <a:latin typeface="Calibri" panose="020F0502020204030204" charset="0"/>
              <a:cs typeface="Calibri" panose="020F050202020403020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41375"/>
          </a:xfrm>
        </p:spPr>
        <p:txBody>
          <a:bodyPr/>
          <a:lstStyle/>
          <a:p>
            <a:r>
              <a:rPr lang="en-US" b="1"/>
              <a:t>Simple Design</a:t>
            </a:r>
          </a:p>
        </p:txBody>
      </p:sp>
      <p:sp>
        <p:nvSpPr>
          <p:cNvPr id="3" name="Content Placeholder 2"/>
          <p:cNvSpPr>
            <a:spLocks noGrp="1"/>
          </p:cNvSpPr>
          <p:nvPr>
            <p:ph sz="half" idx="1"/>
          </p:nvPr>
        </p:nvSpPr>
        <p:spPr>
          <a:xfrm>
            <a:off x="457200" y="917575"/>
            <a:ext cx="8211185" cy="5208905"/>
          </a:xfrm>
        </p:spPr>
        <p:txBody>
          <a:bodyPr/>
          <a:lstStyle/>
          <a:p>
            <a:pPr algn="just"/>
            <a:r>
              <a:rPr dirty="0">
                <a:sym typeface="+mn-ea"/>
              </a:rPr>
              <a:t>Always use the </a:t>
            </a:r>
            <a:r>
              <a:rPr b="1" dirty="0">
                <a:solidFill>
                  <a:srgbClr val="00B050"/>
                </a:solidFill>
                <a:sym typeface="+mn-ea"/>
              </a:rPr>
              <a:t>simplest possible design</a:t>
            </a:r>
            <a:r>
              <a:rPr dirty="0">
                <a:sym typeface="+mn-ea"/>
              </a:rPr>
              <a:t> that gets the </a:t>
            </a:r>
            <a:r>
              <a:rPr b="1" dirty="0">
                <a:solidFill>
                  <a:schemeClr val="accent6">
                    <a:lumMod val="60000"/>
                    <a:lumOff val="40000"/>
                  </a:schemeClr>
                </a:solidFill>
                <a:sym typeface="+mn-ea"/>
              </a:rPr>
              <a:t>job done</a:t>
            </a:r>
            <a:r>
              <a:rPr dirty="0">
                <a:sym typeface="+mn-ea"/>
              </a:rPr>
              <a:t>.</a:t>
            </a:r>
          </a:p>
          <a:p>
            <a:pPr algn="just"/>
            <a:r>
              <a:rPr dirty="0">
                <a:sym typeface="+mn-ea"/>
              </a:rPr>
              <a:t>The requirements will </a:t>
            </a:r>
            <a:r>
              <a:rPr b="1" dirty="0">
                <a:solidFill>
                  <a:srgbClr val="FF0000"/>
                </a:solidFill>
                <a:sym typeface="+mn-ea"/>
              </a:rPr>
              <a:t>change tomorrow,</a:t>
            </a:r>
            <a:r>
              <a:rPr dirty="0">
                <a:sym typeface="+mn-ea"/>
              </a:rPr>
              <a:t> so only do </a:t>
            </a:r>
            <a:r>
              <a:rPr b="1" dirty="0">
                <a:solidFill>
                  <a:srgbClr val="0070C0"/>
                </a:solidFill>
                <a:sym typeface="+mn-ea"/>
              </a:rPr>
              <a:t>what’s needed</a:t>
            </a:r>
            <a:r>
              <a:rPr dirty="0">
                <a:sym typeface="+mn-ea"/>
              </a:rPr>
              <a:t> to meet </a:t>
            </a:r>
            <a:r>
              <a:rPr b="1" dirty="0">
                <a:solidFill>
                  <a:schemeClr val="accent4">
                    <a:lumMod val="75000"/>
                  </a:schemeClr>
                </a:solidFill>
                <a:sym typeface="+mn-ea"/>
              </a:rPr>
              <a:t>today’s requirements</a:t>
            </a:r>
            <a:r>
              <a:rPr dirty="0">
                <a:sym typeface="+mn-ea"/>
              </a:rPr>
              <a:t>.</a:t>
            </a:r>
          </a:p>
          <a:p>
            <a:pPr algn="just"/>
            <a:r>
              <a:rPr lang="en-US">
                <a:sym typeface="+mn-ea"/>
              </a:rPr>
              <a:t>The system should be designed </a:t>
            </a:r>
            <a:r>
              <a:rPr lang="en-US" b="1">
                <a:solidFill>
                  <a:srgbClr val="FFC000"/>
                </a:solidFill>
                <a:sym typeface="+mn-ea"/>
              </a:rPr>
              <a:t>as simply as possible</a:t>
            </a:r>
            <a:r>
              <a:rPr lang="en-US">
                <a:sym typeface="+mn-ea"/>
              </a:rPr>
              <a:t> at any given moment. </a:t>
            </a:r>
          </a:p>
          <a:p>
            <a:pPr algn="just"/>
            <a:r>
              <a:rPr lang="en-US">
                <a:sym typeface="+mn-ea"/>
              </a:rPr>
              <a:t>Extra </a:t>
            </a:r>
            <a:r>
              <a:rPr lang="en-US" b="1">
                <a:solidFill>
                  <a:srgbClr val="0070C0"/>
                </a:solidFill>
                <a:sym typeface="+mn-ea"/>
              </a:rPr>
              <a:t>complexity is removed</a:t>
            </a:r>
            <a:r>
              <a:rPr lang="en-US">
                <a:sym typeface="+mn-ea"/>
              </a:rPr>
              <a:t> as soon as it is discovered.</a:t>
            </a:r>
            <a:endParaRPr lang="en-US"/>
          </a:p>
          <a:p>
            <a:pPr algn="just"/>
            <a:endParaRPr dirty="0"/>
          </a:p>
          <a:p>
            <a:pPr marL="0" indent="0" algn="just">
              <a:buNone/>
            </a:pPr>
            <a:endParaRPr dirty="0"/>
          </a:p>
          <a:p>
            <a:pPr algn="just"/>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5" y="76200"/>
            <a:ext cx="8229600" cy="884555"/>
          </a:xfrm>
        </p:spPr>
        <p:txBody>
          <a:bodyPr/>
          <a:lstStyle/>
          <a:p>
            <a:r>
              <a:rPr lang="en-US" b="1"/>
              <a:t>Test-Driven Development (TDD)</a:t>
            </a:r>
          </a:p>
        </p:txBody>
      </p:sp>
      <p:sp>
        <p:nvSpPr>
          <p:cNvPr id="3" name="Content Placeholder 2"/>
          <p:cNvSpPr>
            <a:spLocks noGrp="1"/>
          </p:cNvSpPr>
          <p:nvPr>
            <p:ph sz="half" idx="1"/>
          </p:nvPr>
        </p:nvSpPr>
        <p:spPr>
          <a:xfrm>
            <a:off x="314960" y="1050925"/>
            <a:ext cx="8382635" cy="5515610"/>
          </a:xfrm>
        </p:spPr>
        <p:txBody>
          <a:bodyPr>
            <a:normAutofit lnSpcReduction="10000"/>
          </a:bodyPr>
          <a:lstStyle/>
          <a:p>
            <a:pPr algn="just"/>
            <a:r>
              <a:rPr lang="en-US"/>
              <a:t>In XP </a:t>
            </a:r>
            <a:r>
              <a:rPr lang="en-US" b="1">
                <a:solidFill>
                  <a:srgbClr val="0070C0"/>
                </a:solidFill>
              </a:rPr>
              <a:t>Developers</a:t>
            </a:r>
            <a:r>
              <a:rPr lang="en-US"/>
              <a:t> write the unit </a:t>
            </a:r>
            <a:r>
              <a:rPr lang="en-US" b="1">
                <a:solidFill>
                  <a:schemeClr val="accent6">
                    <a:lumMod val="75000"/>
                  </a:schemeClr>
                </a:solidFill>
              </a:rPr>
              <a:t>test cases before starting the coding</a:t>
            </a:r>
            <a:r>
              <a:rPr lang="en-US">
                <a:solidFill>
                  <a:schemeClr val="accent6">
                    <a:lumMod val="75000"/>
                  </a:schemeClr>
                </a:solidFill>
              </a:rPr>
              <a:t>. </a:t>
            </a:r>
          </a:p>
          <a:p>
            <a:pPr algn="just"/>
            <a:r>
              <a:rPr lang="en-US"/>
              <a:t>The team automates the unit tests and it helps during the build and integration stage. </a:t>
            </a:r>
          </a:p>
          <a:p>
            <a:pPr algn="just"/>
            <a:r>
              <a:rPr lang="en-US"/>
              <a:t>The main </a:t>
            </a:r>
            <a:r>
              <a:rPr lang="en-US" b="1">
                <a:solidFill>
                  <a:schemeClr val="accent6">
                    <a:lumMod val="75000"/>
                  </a:schemeClr>
                </a:solidFill>
              </a:rPr>
              <a:t>benefit of TDD</a:t>
            </a:r>
            <a:r>
              <a:rPr lang="en-US"/>
              <a:t> is that programmers have to only</a:t>
            </a:r>
            <a:r>
              <a:rPr lang="en-US" b="1">
                <a:solidFill>
                  <a:srgbClr val="00B050"/>
                </a:solidFill>
              </a:rPr>
              <a:t> write the code</a:t>
            </a:r>
            <a:r>
              <a:rPr lang="en-US"/>
              <a:t> that passes the tests. </a:t>
            </a:r>
          </a:p>
          <a:p>
            <a:pPr marL="0" indent="0" algn="just">
              <a:buNone/>
            </a:pPr>
            <a:r>
              <a:rPr lang="en-US" b="1">
                <a:solidFill>
                  <a:srgbClr val="FF0000"/>
                </a:solidFill>
              </a:rPr>
              <a:t>Basics steps of TDD,</a:t>
            </a:r>
            <a:endParaRPr lang="en-US"/>
          </a:p>
          <a:p>
            <a:pPr algn="just"/>
            <a:r>
              <a:rPr lang="en-US"/>
              <a:t>Write the </a:t>
            </a:r>
            <a:r>
              <a:rPr lang="en-US" b="1">
                <a:solidFill>
                  <a:srgbClr val="00B050"/>
                </a:solidFill>
              </a:rPr>
              <a:t>unit test case first</a:t>
            </a:r>
          </a:p>
          <a:p>
            <a:pPr algn="just"/>
            <a:r>
              <a:rPr lang="en-US"/>
              <a:t>Write a </a:t>
            </a:r>
            <a:r>
              <a:rPr lang="en-US" b="1">
                <a:solidFill>
                  <a:srgbClr val="FF0000"/>
                </a:solidFill>
              </a:rPr>
              <a:t>minimal amount</a:t>
            </a:r>
            <a:r>
              <a:rPr lang="en-US"/>
              <a:t> of code to pass the test.</a:t>
            </a:r>
          </a:p>
          <a:p>
            <a:pPr algn="just"/>
            <a:r>
              <a:rPr lang="en-US" b="1">
                <a:solidFill>
                  <a:srgbClr val="7030A0"/>
                </a:solidFill>
              </a:rPr>
              <a:t>Refactor</a:t>
            </a:r>
            <a:r>
              <a:rPr lang="en-US"/>
              <a:t> it by adding the needed feature and functionality, While continuously making sure the tests pass.</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5175"/>
          </a:xfrm>
        </p:spPr>
        <p:txBody>
          <a:bodyPr>
            <a:normAutofit/>
          </a:bodyPr>
          <a:lstStyle/>
          <a:p>
            <a:r>
              <a:rPr lang="en-US" b="1"/>
              <a:t>Refactoring</a:t>
            </a:r>
          </a:p>
        </p:txBody>
      </p:sp>
      <p:sp>
        <p:nvSpPr>
          <p:cNvPr id="3" name="Content Placeholder 2"/>
          <p:cNvSpPr>
            <a:spLocks noGrp="1"/>
          </p:cNvSpPr>
          <p:nvPr>
            <p:ph sz="half" idx="1"/>
          </p:nvPr>
        </p:nvSpPr>
        <p:spPr>
          <a:xfrm>
            <a:off x="457200" y="897890"/>
            <a:ext cx="8288020" cy="5835650"/>
          </a:xfrm>
        </p:spPr>
        <p:txBody>
          <a:bodyPr>
            <a:normAutofit fontScale="97500"/>
          </a:bodyPr>
          <a:lstStyle/>
          <a:p>
            <a:pPr algn="just"/>
            <a:r>
              <a:rPr lang="en-US"/>
              <a:t>XP uses </a:t>
            </a:r>
            <a:r>
              <a:rPr lang="en-US" b="1">
                <a:solidFill>
                  <a:srgbClr val="7030A0"/>
                </a:solidFill>
              </a:rPr>
              <a:t>Refactoring to enhance</a:t>
            </a:r>
            <a:r>
              <a:rPr lang="en-US"/>
              <a:t> the design of a system such that it is</a:t>
            </a:r>
            <a:r>
              <a:rPr lang="en-US" b="1">
                <a:solidFill>
                  <a:srgbClr val="00B050"/>
                </a:solidFill>
              </a:rPr>
              <a:t> easier to understand</a:t>
            </a:r>
            <a:r>
              <a:rPr lang="en-US"/>
              <a:t> and </a:t>
            </a:r>
            <a:r>
              <a:rPr lang="en-US" b="1">
                <a:solidFill>
                  <a:srgbClr val="FF0000"/>
                </a:solidFill>
              </a:rPr>
              <a:t>modify without</a:t>
            </a:r>
            <a:r>
              <a:rPr lang="en-US"/>
              <a:t> affecting the behavior. </a:t>
            </a:r>
          </a:p>
          <a:p>
            <a:pPr algn="just"/>
            <a:r>
              <a:rPr lang="en-US"/>
              <a:t>If a Refactoring would not enhance the system, then it is </a:t>
            </a:r>
            <a:r>
              <a:rPr lang="en-US" b="1">
                <a:solidFill>
                  <a:srgbClr val="00B0F0"/>
                </a:solidFill>
              </a:rPr>
              <a:t>not applied. </a:t>
            </a:r>
          </a:p>
          <a:p>
            <a:pPr algn="just"/>
            <a:r>
              <a:rPr lang="en-US"/>
              <a:t>Furthermore, Refactoring is only done as part of the development cycle: </a:t>
            </a:r>
            <a:r>
              <a:rPr lang="en-US" b="1">
                <a:solidFill>
                  <a:srgbClr val="00B0F0"/>
                </a:solidFill>
              </a:rPr>
              <a:t>before and after the implementation of a task</a:t>
            </a:r>
            <a:r>
              <a:rPr lang="en-US"/>
              <a:t> (before implementation to ease the integration of the new code).</a:t>
            </a:r>
          </a:p>
          <a:p>
            <a:pPr algn="just"/>
            <a:r>
              <a:rPr lang="en-US"/>
              <a:t>Refactoring </a:t>
            </a:r>
            <a:r>
              <a:rPr lang="en-US" b="1">
                <a:solidFill>
                  <a:srgbClr val="C00000"/>
                </a:solidFill>
              </a:rPr>
              <a:t>do not affect the behavior</a:t>
            </a:r>
            <a:r>
              <a:rPr lang="en-US"/>
              <a:t>.</a:t>
            </a:r>
          </a:p>
          <a:p>
            <a:pPr algn="just"/>
            <a:r>
              <a:rPr lang="en-US"/>
              <a:t>Refactoring can have a </a:t>
            </a:r>
            <a:r>
              <a:rPr lang="en-US" b="1">
                <a:solidFill>
                  <a:srgbClr val="FF0000"/>
                </a:solidFill>
              </a:rPr>
              <a:t>slightly negative effect</a:t>
            </a:r>
            <a:r>
              <a:rPr lang="en-US"/>
              <a:t> on </a:t>
            </a:r>
            <a:r>
              <a:rPr lang="en-US" b="1">
                <a:solidFill>
                  <a:srgbClr val="FFC000"/>
                </a:solidFill>
              </a:rPr>
              <a:t>performance</a:t>
            </a:r>
            <a:r>
              <a:rPr lang="en-US"/>
              <a:t>, but the code tends to be better suited to optimization later on.</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41680"/>
          </a:xfrm>
        </p:spPr>
        <p:txBody>
          <a:bodyPr>
            <a:normAutofit fontScale="90000"/>
          </a:bodyPr>
          <a:lstStyle/>
          <a:p>
            <a:r>
              <a:rPr lang="en-US" b="1"/>
              <a:t>Pair Programming</a:t>
            </a:r>
          </a:p>
        </p:txBody>
      </p:sp>
      <p:sp>
        <p:nvSpPr>
          <p:cNvPr id="3" name="Content Placeholder 2"/>
          <p:cNvSpPr>
            <a:spLocks noGrp="1"/>
          </p:cNvSpPr>
          <p:nvPr>
            <p:ph sz="half" idx="1"/>
          </p:nvPr>
        </p:nvSpPr>
        <p:spPr>
          <a:xfrm>
            <a:off x="457200" y="1064260"/>
            <a:ext cx="8364220" cy="5062220"/>
          </a:xfrm>
        </p:spPr>
        <p:txBody>
          <a:bodyPr>
            <a:normAutofit fontScale="97500" lnSpcReduction="10000"/>
          </a:bodyPr>
          <a:lstStyle/>
          <a:p>
            <a:pPr algn="just"/>
            <a:r>
              <a:rPr lang="en-US"/>
              <a:t>In a team that does </a:t>
            </a:r>
            <a:r>
              <a:rPr lang="en-US" b="1">
                <a:solidFill>
                  <a:srgbClr val="7030A0"/>
                </a:solidFill>
              </a:rPr>
              <a:t>pair programming,</a:t>
            </a:r>
            <a:r>
              <a:rPr lang="en-US"/>
              <a:t> </a:t>
            </a:r>
            <a:r>
              <a:rPr lang="en-US" b="1">
                <a:solidFill>
                  <a:schemeClr val="accent6"/>
                </a:solidFill>
              </a:rPr>
              <a:t>two developers sit </a:t>
            </a:r>
            <a:r>
              <a:rPr lang="en-US"/>
              <a:t>together at a </a:t>
            </a:r>
            <a:r>
              <a:rPr lang="en-US" b="1">
                <a:solidFill>
                  <a:schemeClr val="accent3">
                    <a:lumMod val="75000"/>
                  </a:schemeClr>
                </a:solidFill>
              </a:rPr>
              <a:t>single workstation</a:t>
            </a:r>
            <a:r>
              <a:rPr lang="en-US"/>
              <a:t> when writing code. </a:t>
            </a:r>
          </a:p>
          <a:p>
            <a:pPr algn="just"/>
            <a:r>
              <a:rPr lang="en-US"/>
              <a:t>In most cases, </a:t>
            </a:r>
            <a:r>
              <a:rPr lang="en-US" b="1">
                <a:solidFill>
                  <a:schemeClr val="accent6">
                    <a:lumMod val="75000"/>
                  </a:schemeClr>
                </a:solidFill>
              </a:rPr>
              <a:t>one programmer types</a:t>
            </a:r>
            <a:r>
              <a:rPr lang="en-US"/>
              <a:t>, while the other </a:t>
            </a:r>
            <a:r>
              <a:rPr lang="en-US" b="1">
                <a:solidFill>
                  <a:srgbClr val="00B0F0"/>
                </a:solidFill>
              </a:rPr>
              <a:t>watches—</a:t>
            </a:r>
          </a:p>
          <a:p>
            <a:pPr lvl="1" algn="just">
              <a:lnSpc>
                <a:spcPct val="90000"/>
              </a:lnSpc>
            </a:pPr>
            <a:r>
              <a:rPr sz="2800" b="1">
                <a:solidFill>
                  <a:srgbClr val="7030A0"/>
                </a:solidFill>
                <a:sym typeface="+mn-ea"/>
              </a:rPr>
              <a:t>Is the overall system going to work</a:t>
            </a:r>
          </a:p>
          <a:p>
            <a:pPr lvl="1" algn="just">
              <a:lnSpc>
                <a:spcPct val="90000"/>
              </a:lnSpc>
            </a:pPr>
            <a:r>
              <a:rPr sz="2800" b="1">
                <a:solidFill>
                  <a:srgbClr val="7030A0"/>
                </a:solidFill>
                <a:sym typeface="+mn-ea"/>
              </a:rPr>
              <a:t>Are there better ways of doing this</a:t>
            </a:r>
          </a:p>
          <a:p>
            <a:pPr lvl="1" algn="just">
              <a:lnSpc>
                <a:spcPct val="90000"/>
              </a:lnSpc>
            </a:pPr>
            <a:r>
              <a:rPr sz="2800" b="1">
                <a:solidFill>
                  <a:srgbClr val="7030A0"/>
                </a:solidFill>
                <a:sym typeface="+mn-ea"/>
              </a:rPr>
              <a:t>What test cases still don’t work</a:t>
            </a:r>
            <a:endParaRPr lang="en-US" b="1">
              <a:solidFill>
                <a:srgbClr val="7030A0"/>
              </a:solidFill>
            </a:endParaRPr>
          </a:p>
          <a:p>
            <a:pPr marL="0" indent="0" algn="just">
              <a:buNone/>
            </a:pPr>
            <a:r>
              <a:rPr lang="en-US"/>
              <a:t>   and they constantly discuss what’s going on. </a:t>
            </a:r>
          </a:p>
          <a:p>
            <a:pPr algn="just"/>
            <a:r>
              <a:rPr lang="en-US"/>
              <a:t>Teams working in </a:t>
            </a:r>
            <a:r>
              <a:rPr lang="en-US" b="1">
                <a:solidFill>
                  <a:srgbClr val="FF0000"/>
                </a:solidFill>
              </a:rPr>
              <a:t>pairs inject far fewer bugs</a:t>
            </a:r>
            <a:r>
              <a:rPr lang="en-US"/>
              <a:t>, because there are two sets of eyes looking to catch the bugs all the time.</a:t>
            </a:r>
          </a:p>
          <a:p>
            <a:pPr algn="just"/>
            <a:r>
              <a:rPr>
                <a:sym typeface="+mn-ea"/>
              </a:rPr>
              <a:t>Pairs switch </a:t>
            </a:r>
            <a:r>
              <a:rPr b="1">
                <a:solidFill>
                  <a:srgbClr val="00B050"/>
                </a:solidFill>
                <a:sym typeface="+mn-ea"/>
              </a:rPr>
              <a:t>roles frequently</a:t>
            </a:r>
            <a:r>
              <a:rPr>
                <a:sym typeface="+mn-ea"/>
              </a:rPr>
              <a:t> (</a:t>
            </a:r>
            <a:r>
              <a:rPr b="1">
                <a:solidFill>
                  <a:srgbClr val="00B0F0"/>
                </a:solidFill>
                <a:sym typeface="+mn-ea"/>
              </a:rPr>
              <a:t>every</a:t>
            </a:r>
            <a:r>
              <a:rPr b="1" dirty="0">
                <a:solidFill>
                  <a:srgbClr val="00B0F0"/>
                </a:solidFill>
                <a:sym typeface="+mn-ea"/>
              </a:rPr>
              <a:t> </a:t>
            </a:r>
            <a:r>
              <a:rPr b="1">
                <a:solidFill>
                  <a:srgbClr val="00B0F0"/>
                </a:solidFill>
                <a:sym typeface="+mn-ea"/>
              </a:rPr>
              <a:t>two hours</a:t>
            </a:r>
            <a:r>
              <a:rPr>
                <a:sym typeface="+mn-ea"/>
              </a:rPr>
              <a:t>)</a:t>
            </a:r>
          </a:p>
          <a:p>
            <a:pPr algn="just"/>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960755"/>
          </a:xfrm>
        </p:spPr>
        <p:txBody>
          <a:bodyPr/>
          <a:lstStyle/>
          <a:p>
            <a:r>
              <a:rPr lang="en-US" b="1"/>
              <a:t>Collective Ownership</a:t>
            </a:r>
          </a:p>
        </p:txBody>
      </p:sp>
      <p:sp>
        <p:nvSpPr>
          <p:cNvPr id="3" name="Content Placeholder 2"/>
          <p:cNvSpPr>
            <a:spLocks noGrp="1"/>
          </p:cNvSpPr>
          <p:nvPr>
            <p:ph sz="half" idx="1"/>
          </p:nvPr>
        </p:nvSpPr>
        <p:spPr>
          <a:xfrm>
            <a:off x="473710" y="1184275"/>
            <a:ext cx="8196580" cy="5448935"/>
          </a:xfrm>
        </p:spPr>
        <p:txBody>
          <a:bodyPr>
            <a:normAutofit lnSpcReduction="10000"/>
          </a:bodyPr>
          <a:lstStyle/>
          <a:p>
            <a:pPr algn="just"/>
            <a:r>
              <a:rPr lang="en-US"/>
              <a:t>The </a:t>
            </a:r>
            <a:r>
              <a:rPr lang="en-US" b="1">
                <a:solidFill>
                  <a:srgbClr val="00B0F0"/>
                </a:solidFill>
              </a:rPr>
              <a:t>code</a:t>
            </a:r>
            <a:r>
              <a:rPr lang="en-US"/>
              <a:t> (classes etc.) created in an XP project is owned by the </a:t>
            </a:r>
            <a:r>
              <a:rPr lang="en-US" b="1">
                <a:solidFill>
                  <a:srgbClr val="00B050"/>
                </a:solidFill>
              </a:rPr>
              <a:t>complete team</a:t>
            </a:r>
            <a:r>
              <a:rPr lang="en-US"/>
              <a:t>, not by the individual </a:t>
            </a:r>
            <a:r>
              <a:rPr lang="en-US" b="1">
                <a:solidFill>
                  <a:srgbClr val="FF0000"/>
                </a:solidFill>
              </a:rPr>
              <a:t>developers</a:t>
            </a:r>
            <a:r>
              <a:rPr lang="en-US"/>
              <a:t>.</a:t>
            </a:r>
          </a:p>
          <a:p>
            <a:pPr algn="just"/>
            <a:r>
              <a:rPr lang="en-US"/>
              <a:t>This is important because </a:t>
            </a:r>
            <a:r>
              <a:rPr lang="en-US" b="1">
                <a:solidFill>
                  <a:srgbClr val="7030A0"/>
                </a:solidFill>
              </a:rPr>
              <a:t>anyone has to be able</a:t>
            </a:r>
            <a:r>
              <a:rPr lang="en-US"/>
              <a:t> to modify anything if necessary.</a:t>
            </a:r>
          </a:p>
          <a:p>
            <a:pPr algn="just"/>
            <a:r>
              <a:rPr lang="en-US" kern="0" noProof="0" dirty="0" smtClean="0">
                <a:ln>
                  <a:noFill/>
                </a:ln>
                <a:solidFill>
                  <a:srgbClr val="000000"/>
                </a:solidFill>
                <a:effectLst/>
                <a:uLnTx/>
                <a:uFillTx/>
                <a:latin typeface="Calibri" panose="020F0502020204030204" charset="0"/>
                <a:ea typeface="Verdana" panose="020B0604030504040204" pitchFamily="34" charset="0"/>
                <a:cs typeface="Calibri" panose="020F0502020204030204" charset="0"/>
                <a:sym typeface="Verdana" panose="020B0604030504040204" pitchFamily="34" charset="0"/>
              </a:rPr>
              <a:t>Any</a:t>
            </a:r>
            <a:r>
              <a:rPr lang="en-US" b="1" kern="0" noProof="0" dirty="0" smtClean="0">
                <a:ln>
                  <a:noFill/>
                </a:ln>
                <a:solidFill>
                  <a:srgbClr val="00B050"/>
                </a:solidFill>
                <a:effectLst/>
                <a:uLnTx/>
                <a:uFillTx/>
                <a:latin typeface="Calibri" panose="020F0502020204030204" charset="0"/>
                <a:ea typeface="Verdana" panose="020B0604030504040204" pitchFamily="34" charset="0"/>
                <a:cs typeface="Calibri" panose="020F0502020204030204" charset="0"/>
                <a:sym typeface="Verdana" panose="020B0604030504040204" pitchFamily="34" charset="0"/>
              </a:rPr>
              <a:t> developer is expected</a:t>
            </a:r>
            <a:r>
              <a:rPr lang="en-US" kern="0" noProof="0" dirty="0" smtClean="0">
                <a:ln>
                  <a:noFill/>
                </a:ln>
                <a:solidFill>
                  <a:srgbClr val="000000"/>
                </a:solidFill>
                <a:effectLst/>
                <a:uLnTx/>
                <a:uFillTx/>
                <a:latin typeface="Calibri" panose="020F0502020204030204" charset="0"/>
                <a:ea typeface="Verdana" panose="020B0604030504040204" pitchFamily="34" charset="0"/>
                <a:cs typeface="Calibri" panose="020F0502020204030204" charset="0"/>
                <a:sym typeface="Verdana" panose="020B0604030504040204" pitchFamily="34" charset="0"/>
              </a:rPr>
              <a:t> to be able to work on any part of the codebase at any time.</a:t>
            </a:r>
            <a:endParaRPr kumimoji="0" lang="en-US" b="0" i="0" u="none" strike="noStrike" kern="0" cap="none" spc="0" normalizeH="0" baseline="0" noProof="0" dirty="0" smtClean="0">
              <a:ln>
                <a:noFill/>
              </a:ln>
              <a:solidFill>
                <a:srgbClr val="000000"/>
              </a:solidFill>
              <a:effectLst/>
              <a:uLnTx/>
              <a:uFillTx/>
              <a:latin typeface="+mn-lt"/>
              <a:ea typeface="+mn-ea"/>
              <a:cs typeface="+mn-cs"/>
              <a:sym typeface="Helvetica" charset="0"/>
            </a:endParaRPr>
          </a:p>
          <a:p>
            <a:pPr algn="just"/>
            <a:r>
              <a:rPr lang="en-US"/>
              <a:t>However problems with Collective Code Ownership arise when</a:t>
            </a:r>
          </a:p>
          <a:p>
            <a:pPr algn="just">
              <a:buFont typeface="Wingdings" panose="05000000000000000000" charset="0"/>
              <a:buChar char="ü"/>
            </a:pPr>
            <a:r>
              <a:rPr lang="en-US"/>
              <a:t>	</a:t>
            </a:r>
            <a:r>
              <a:rPr lang="en-US" b="1">
                <a:solidFill>
                  <a:schemeClr val="accent6"/>
                </a:solidFill>
              </a:rPr>
              <a:t>a strong ownership mentality exists</a:t>
            </a:r>
          </a:p>
          <a:p>
            <a:pPr algn="just">
              <a:buFont typeface="Wingdings" panose="05000000000000000000" charset="0"/>
              <a:buChar char="ü"/>
            </a:pPr>
            <a:r>
              <a:rPr lang="en-US" b="1">
                <a:solidFill>
                  <a:schemeClr val="accent6"/>
                </a:solidFill>
              </a:rPr>
              <a:t>	non-project components are (re)used</a:t>
            </a:r>
          </a:p>
          <a:p>
            <a:pPr algn="just">
              <a:buFont typeface="Wingdings" panose="05000000000000000000" charset="0"/>
              <a:buChar char="ü"/>
            </a:pPr>
            <a:r>
              <a:rPr lang="en-US" b="1">
                <a:solidFill>
                  <a:schemeClr val="accent6"/>
                </a:solidFill>
              </a:rPr>
              <a:t>	expert knowledge is needed</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22960"/>
          </a:xfrm>
        </p:spPr>
        <p:txBody>
          <a:bodyPr/>
          <a:lstStyle/>
          <a:p>
            <a:r>
              <a:rPr lang="en-US" b="1"/>
              <a:t>Continuous Integration</a:t>
            </a:r>
          </a:p>
        </p:txBody>
      </p:sp>
      <p:sp>
        <p:nvSpPr>
          <p:cNvPr id="3" name="Content Placeholder 2"/>
          <p:cNvSpPr>
            <a:spLocks noGrp="1"/>
          </p:cNvSpPr>
          <p:nvPr>
            <p:ph sz="half" idx="1"/>
          </p:nvPr>
        </p:nvSpPr>
        <p:spPr>
          <a:xfrm>
            <a:off x="238125" y="899160"/>
            <a:ext cx="8568055" cy="5881370"/>
          </a:xfrm>
        </p:spPr>
        <p:txBody>
          <a:bodyPr>
            <a:noAutofit/>
          </a:bodyPr>
          <a:lstStyle/>
          <a:p>
            <a:pPr marL="240030" indent="-240030" algn="just" eaLnBrk="1">
              <a:lnSpc>
                <a:spcPct val="150000"/>
              </a:lnSpc>
              <a:spcBef>
                <a:spcPts val="400"/>
              </a:spcBef>
              <a:buFont typeface="ArialMT" charset="0"/>
              <a:buChar char="•"/>
            </a:pPr>
            <a:r>
              <a:rPr sz="2200" dirty="0">
                <a:latin typeface="Calibri" panose="020F0502020204030204" charset="0"/>
                <a:cs typeface="Calibri" panose="020F0502020204030204" charset="0"/>
                <a:sym typeface="Verdana" panose="020B0604030504040204" pitchFamily="34" charset="0"/>
              </a:rPr>
              <a:t>All changes are </a:t>
            </a:r>
            <a:r>
              <a:rPr sz="2200" b="1" dirty="0">
                <a:solidFill>
                  <a:srgbClr val="FF0000"/>
                </a:solidFill>
                <a:latin typeface="Calibri" panose="020F0502020204030204" charset="0"/>
                <a:cs typeface="Calibri" panose="020F0502020204030204" charset="0"/>
                <a:sym typeface="Verdana" panose="020B0604030504040204" pitchFamily="34" charset="0"/>
              </a:rPr>
              <a:t>integrated into the codebase</a:t>
            </a:r>
            <a:r>
              <a:rPr sz="2200" dirty="0">
                <a:latin typeface="Calibri" panose="020F0502020204030204" charset="0"/>
                <a:cs typeface="Calibri" panose="020F0502020204030204" charset="0"/>
                <a:sym typeface="Verdana" panose="020B0604030504040204" pitchFamily="34" charset="0"/>
              </a:rPr>
              <a:t> at least daily.</a:t>
            </a:r>
            <a:endParaRPr sz="2200" dirty="0">
              <a:latin typeface="Calibri" panose="020F0502020204030204" charset="0"/>
              <a:cs typeface="Calibri" panose="020F0502020204030204" charset="0"/>
            </a:endParaRPr>
          </a:p>
          <a:p>
            <a:pPr marL="240030" indent="-240030" algn="just" eaLnBrk="1">
              <a:lnSpc>
                <a:spcPct val="150000"/>
              </a:lnSpc>
              <a:spcBef>
                <a:spcPts val="400"/>
              </a:spcBef>
              <a:buFont typeface="ArialMT" charset="0"/>
              <a:buChar char="•"/>
            </a:pPr>
            <a:r>
              <a:rPr sz="2200" dirty="0">
                <a:latin typeface="Calibri" panose="020F0502020204030204" charset="0"/>
                <a:cs typeface="Calibri" panose="020F0502020204030204" charset="0"/>
                <a:sym typeface="Verdana" panose="020B0604030504040204" pitchFamily="34" charset="0"/>
              </a:rPr>
              <a:t>Unit tests have to</a:t>
            </a:r>
            <a:r>
              <a:rPr sz="2200" b="1" dirty="0">
                <a:solidFill>
                  <a:srgbClr val="7030A0"/>
                </a:solidFill>
                <a:latin typeface="Calibri" panose="020F0502020204030204" charset="0"/>
                <a:cs typeface="Calibri" panose="020F0502020204030204" charset="0"/>
                <a:sym typeface="Verdana" panose="020B0604030504040204" pitchFamily="34" charset="0"/>
              </a:rPr>
              <a:t> run 100%</a:t>
            </a:r>
            <a:r>
              <a:rPr sz="2200" dirty="0">
                <a:latin typeface="Calibri" panose="020F0502020204030204" charset="0"/>
                <a:cs typeface="Calibri" panose="020F0502020204030204" charset="0"/>
                <a:sym typeface="Verdana" panose="020B0604030504040204" pitchFamily="34" charset="0"/>
              </a:rPr>
              <a:t> both </a:t>
            </a:r>
            <a:r>
              <a:rPr sz="2200" b="1" dirty="0">
                <a:solidFill>
                  <a:srgbClr val="00B050"/>
                </a:solidFill>
                <a:latin typeface="Calibri" panose="020F0502020204030204" charset="0"/>
                <a:cs typeface="Calibri" panose="020F0502020204030204" charset="0"/>
                <a:sym typeface="Verdana" panose="020B0604030504040204" pitchFamily="34" charset="0"/>
              </a:rPr>
              <a:t>before and after</a:t>
            </a:r>
            <a:r>
              <a:rPr sz="2200" dirty="0">
                <a:latin typeface="Calibri" panose="020F0502020204030204" charset="0"/>
                <a:cs typeface="Calibri" panose="020F0502020204030204" charset="0"/>
                <a:sym typeface="Verdana" panose="020B0604030504040204" pitchFamily="34" charset="0"/>
              </a:rPr>
              <a:t> integration.</a:t>
            </a:r>
          </a:p>
          <a:p>
            <a:pPr marL="240030" indent="-240030" algn="just" eaLnBrk="1">
              <a:lnSpc>
                <a:spcPct val="150000"/>
              </a:lnSpc>
              <a:spcBef>
                <a:spcPts val="400"/>
              </a:spcBef>
              <a:buFont typeface="ArialMT" charset="0"/>
              <a:buChar char="•"/>
            </a:pPr>
            <a:r>
              <a:rPr sz="2200">
                <a:latin typeface="Calibri" panose="020F0502020204030204" charset="0"/>
                <a:cs typeface="Calibri" panose="020F0502020204030204" charset="0"/>
                <a:sym typeface="+mn-ea"/>
              </a:rPr>
              <a:t>The whole system is </a:t>
            </a:r>
            <a:r>
              <a:rPr sz="2200" b="1">
                <a:solidFill>
                  <a:srgbClr val="00B0F0"/>
                </a:solidFill>
                <a:latin typeface="Calibri" panose="020F0502020204030204" charset="0"/>
                <a:cs typeface="Calibri" panose="020F0502020204030204" charset="0"/>
                <a:sym typeface="+mn-ea"/>
              </a:rPr>
              <a:t>built and tested </a:t>
            </a:r>
            <a:r>
              <a:rPr sz="2200">
                <a:latin typeface="Calibri" panose="020F0502020204030204" charset="0"/>
                <a:cs typeface="Calibri" panose="020F0502020204030204" charset="0"/>
                <a:sym typeface="+mn-ea"/>
              </a:rPr>
              <a:t>several times a day</a:t>
            </a:r>
            <a:endParaRPr sz="2200" dirty="0">
              <a:latin typeface="Calibri" panose="020F0502020204030204" charset="0"/>
              <a:cs typeface="Calibri" panose="020F0502020204030204" charset="0"/>
              <a:sym typeface="Verdana" panose="020B0604030504040204" pitchFamily="34" charset="0"/>
            </a:endParaRPr>
          </a:p>
          <a:p>
            <a:pPr marL="240030" indent="-240030" algn="just" eaLnBrk="1">
              <a:lnSpc>
                <a:spcPct val="150000"/>
              </a:lnSpc>
              <a:spcBef>
                <a:spcPts val="400"/>
              </a:spcBef>
              <a:buFont typeface="ArialMT" charset="0"/>
              <a:buChar char="•"/>
            </a:pPr>
            <a:r>
              <a:rPr lang="en-US" sz="2200">
                <a:latin typeface="Calibri" panose="020F0502020204030204" charset="0"/>
                <a:cs typeface="Calibri" panose="020F0502020204030204" charset="0"/>
              </a:rPr>
              <a:t>The benefits of frequent integration are :</a:t>
            </a:r>
          </a:p>
          <a:p>
            <a:pPr algn="just" eaLnBrk="1">
              <a:lnSpc>
                <a:spcPct val="150000"/>
              </a:lnSpc>
              <a:spcBef>
                <a:spcPts val="400"/>
              </a:spcBef>
              <a:buFont typeface="Wingdings" panose="05000000000000000000" charset="0"/>
              <a:buChar char="v"/>
            </a:pPr>
            <a:r>
              <a:rPr lang="en-US" sz="2200">
                <a:latin typeface="Calibri" panose="020F0502020204030204" charset="0"/>
                <a:cs typeface="Calibri" panose="020F0502020204030204" charset="0"/>
              </a:rPr>
              <a:t>Integration is </a:t>
            </a:r>
            <a:r>
              <a:rPr lang="en-US" sz="2200" b="1">
                <a:solidFill>
                  <a:srgbClr val="00B0F0"/>
                </a:solidFill>
                <a:latin typeface="Calibri" panose="020F0502020204030204" charset="0"/>
                <a:cs typeface="Calibri" panose="020F0502020204030204" charset="0"/>
              </a:rPr>
              <a:t>easier</a:t>
            </a:r>
            <a:r>
              <a:rPr lang="en-US" sz="2200">
                <a:latin typeface="Calibri" panose="020F0502020204030204" charset="0"/>
                <a:cs typeface="Calibri" panose="020F0502020204030204" charset="0"/>
              </a:rPr>
              <a:t> because the changes are small.</a:t>
            </a:r>
          </a:p>
          <a:p>
            <a:pPr algn="just" eaLnBrk="1">
              <a:lnSpc>
                <a:spcPct val="150000"/>
              </a:lnSpc>
              <a:spcBef>
                <a:spcPts val="400"/>
              </a:spcBef>
              <a:buFont typeface="Wingdings" panose="05000000000000000000" charset="0"/>
              <a:buChar char="v"/>
            </a:pPr>
            <a:r>
              <a:rPr lang="en-US" sz="2200">
                <a:latin typeface="Calibri" panose="020F0502020204030204" charset="0"/>
                <a:cs typeface="Calibri" panose="020F0502020204030204" charset="0"/>
              </a:rPr>
              <a:t>The unit test suite ran fine before integration. </a:t>
            </a:r>
          </a:p>
          <a:p>
            <a:pPr algn="just" eaLnBrk="1">
              <a:lnSpc>
                <a:spcPct val="150000"/>
              </a:lnSpc>
              <a:spcBef>
                <a:spcPts val="400"/>
              </a:spcBef>
              <a:buFont typeface="Wingdings" panose="05000000000000000000" charset="0"/>
              <a:buChar char="v"/>
            </a:pPr>
            <a:r>
              <a:rPr lang="en-US" sz="2200">
                <a:latin typeface="Calibri" panose="020F0502020204030204" charset="0"/>
                <a:cs typeface="Calibri" panose="020F0502020204030204" charset="0"/>
              </a:rPr>
              <a:t>If </a:t>
            </a:r>
            <a:r>
              <a:rPr lang="en-US" sz="2200" b="1">
                <a:solidFill>
                  <a:srgbClr val="00B050"/>
                </a:solidFill>
                <a:latin typeface="Calibri" panose="020F0502020204030204" charset="0"/>
                <a:cs typeface="Calibri" panose="020F0502020204030204" charset="0"/>
              </a:rPr>
              <a:t>problems are discovered</a:t>
            </a:r>
            <a:r>
              <a:rPr lang="en-US" sz="2200">
                <a:latin typeface="Calibri" panose="020F0502020204030204" charset="0"/>
                <a:cs typeface="Calibri" panose="020F0502020204030204" charset="0"/>
              </a:rPr>
              <a:t> by the suite they probably are located in the changes.</a:t>
            </a:r>
          </a:p>
          <a:p>
            <a:pPr algn="just" eaLnBrk="1">
              <a:lnSpc>
                <a:spcPct val="150000"/>
              </a:lnSpc>
              <a:spcBef>
                <a:spcPts val="400"/>
              </a:spcBef>
              <a:buFont typeface="Wingdings" panose="05000000000000000000" charset="0"/>
              <a:buChar char="v"/>
            </a:pPr>
            <a:r>
              <a:rPr lang="en-US" sz="2200">
                <a:latin typeface="Calibri" panose="020F0502020204030204" charset="0"/>
                <a:cs typeface="Calibri" panose="020F0502020204030204" charset="0"/>
              </a:rPr>
              <a:t>The </a:t>
            </a:r>
            <a:r>
              <a:rPr lang="en-US" sz="2200" b="1">
                <a:solidFill>
                  <a:srgbClr val="7030A0"/>
                </a:solidFill>
                <a:latin typeface="Calibri" panose="020F0502020204030204" charset="0"/>
                <a:cs typeface="Calibri" panose="020F0502020204030204" charset="0"/>
              </a:rPr>
              <a:t>codebase represents</a:t>
            </a:r>
            <a:r>
              <a:rPr lang="en-US" sz="2200">
                <a:latin typeface="Calibri" panose="020F0502020204030204" charset="0"/>
                <a:cs typeface="Calibri" panose="020F0502020204030204" charset="0"/>
              </a:rPr>
              <a:t> the current state of the system. If a snapshot is needed it can be </a:t>
            </a:r>
            <a:r>
              <a:rPr lang="en-US" sz="2200" b="1">
                <a:solidFill>
                  <a:schemeClr val="accent6">
                    <a:lumMod val="60000"/>
                    <a:lumOff val="40000"/>
                  </a:schemeClr>
                </a:solidFill>
                <a:latin typeface="Calibri" panose="020F0502020204030204" charset="0"/>
                <a:cs typeface="Calibri" panose="020F0502020204030204" charset="0"/>
              </a:rPr>
              <a:t>created anytime</a:t>
            </a:r>
            <a:r>
              <a:rPr lang="en-US" sz="2200">
                <a:latin typeface="Calibri" panose="020F0502020204030204" charset="0"/>
                <a:cs typeface="Calibri" panose="020F0502020204030204" charset="0"/>
              </a:rPr>
              <a:t> from the codebase stored in the integration computer.</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5883"/>
            <a:ext cx="8229600" cy="1143000"/>
          </a:xfrm>
        </p:spPr>
        <p:txBody>
          <a:bodyPr>
            <a:normAutofit/>
          </a:bodyPr>
          <a:lstStyle/>
          <a:p>
            <a:r>
              <a:rPr lang="en-US" b="1" dirty="0" smtClean="0">
                <a:sym typeface="+mn-ea"/>
              </a:rPr>
              <a:t>10 – Minute Build</a:t>
            </a:r>
            <a:endParaRPr lang="en-US"/>
          </a:p>
        </p:txBody>
      </p:sp>
      <p:sp>
        <p:nvSpPr>
          <p:cNvPr id="3" name="Content Placeholder 2"/>
          <p:cNvSpPr>
            <a:spLocks noGrp="1"/>
          </p:cNvSpPr>
          <p:nvPr>
            <p:ph sz="half" idx="1"/>
          </p:nvPr>
        </p:nvSpPr>
        <p:spPr>
          <a:xfrm>
            <a:off x="457200" y="1122045"/>
            <a:ext cx="8420735" cy="5004435"/>
          </a:xfrm>
        </p:spPr>
        <p:txBody>
          <a:bodyPr>
            <a:normAutofit/>
          </a:bodyPr>
          <a:lstStyle/>
          <a:p>
            <a:pPr algn="just">
              <a:buFont typeface="Wingdings" panose="05000000000000000000" pitchFamily="2" charset="2"/>
              <a:buChar char="q"/>
            </a:pPr>
            <a:r>
              <a:rPr lang="en-US" dirty="0" smtClean="0">
                <a:sym typeface="+mn-ea"/>
              </a:rPr>
              <a:t>The </a:t>
            </a:r>
            <a:r>
              <a:rPr lang="en-US" b="1" dirty="0" smtClean="0">
                <a:solidFill>
                  <a:schemeClr val="accent6">
                    <a:lumMod val="60000"/>
                    <a:lumOff val="40000"/>
                  </a:schemeClr>
                </a:solidFill>
                <a:sym typeface="+mn-ea"/>
              </a:rPr>
              <a:t>team creates</a:t>
            </a:r>
            <a:r>
              <a:rPr lang="en-US" dirty="0" smtClean="0">
                <a:sym typeface="+mn-ea"/>
              </a:rPr>
              <a:t> an automated build for the entire code base that runs in under </a:t>
            </a:r>
            <a:r>
              <a:rPr lang="en-US" b="1" dirty="0" smtClean="0">
                <a:solidFill>
                  <a:schemeClr val="accent4"/>
                </a:solidFill>
                <a:sym typeface="+mn-ea"/>
              </a:rPr>
              <a:t>10 mins</a:t>
            </a:r>
            <a:endParaRPr lang="en-US" dirty="0" smtClean="0"/>
          </a:p>
          <a:p>
            <a:pPr algn="just">
              <a:buFont typeface="Wingdings" panose="05000000000000000000" pitchFamily="2" charset="2"/>
              <a:buChar char="q"/>
            </a:pPr>
            <a:r>
              <a:rPr lang="en-US" dirty="0" smtClean="0">
                <a:sym typeface="+mn-ea"/>
              </a:rPr>
              <a:t>This build includes </a:t>
            </a:r>
            <a:r>
              <a:rPr lang="en-US" b="1" dirty="0" smtClean="0">
                <a:solidFill>
                  <a:srgbClr val="00B050"/>
                </a:solidFill>
                <a:sym typeface="+mn-ea"/>
              </a:rPr>
              <a:t>automatically running</a:t>
            </a:r>
            <a:r>
              <a:rPr lang="en-US" dirty="0" smtClean="0">
                <a:sym typeface="+mn-ea"/>
              </a:rPr>
              <a:t> all of the unit tests and generating a report of which test passed and which failed</a:t>
            </a:r>
          </a:p>
          <a:p>
            <a:pPr algn="just">
              <a:buFont typeface="Wingdings" panose="05000000000000000000" pitchFamily="2" charset="2"/>
              <a:buChar char="q"/>
            </a:pPr>
            <a:r>
              <a:rPr lang="en-US" dirty="0"/>
              <a:t>If a build takes </a:t>
            </a:r>
            <a:r>
              <a:rPr lang="en-US" b="1" dirty="0">
                <a:solidFill>
                  <a:srgbClr val="00B0F0"/>
                </a:solidFill>
              </a:rPr>
              <a:t>more than 10 minutes</a:t>
            </a:r>
            <a:r>
              <a:rPr lang="en-US" dirty="0"/>
              <a:t> to run, team members are </a:t>
            </a:r>
            <a:r>
              <a:rPr lang="en-US" b="1" dirty="0">
                <a:solidFill>
                  <a:srgbClr val="FF0000"/>
                </a:solidFill>
              </a:rPr>
              <a:t>much less likely to run</a:t>
            </a:r>
            <a:r>
              <a:rPr lang="en-US" dirty="0"/>
              <a:t> it often.</a:t>
            </a:r>
          </a:p>
          <a:p>
            <a:pPr algn="just"/>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5883"/>
            <a:ext cx="8229600" cy="1143000"/>
          </a:xfrm>
        </p:spPr>
        <p:txBody>
          <a:bodyPr>
            <a:normAutofit/>
          </a:bodyPr>
          <a:lstStyle/>
          <a:p>
            <a:r>
              <a:rPr lang="en-US" b="1">
                <a:sym typeface="+mn-ea"/>
              </a:rPr>
              <a:t>40 Hours a week</a:t>
            </a:r>
            <a:endParaRPr lang="en-US" b="1"/>
          </a:p>
        </p:txBody>
      </p:sp>
      <p:sp>
        <p:nvSpPr>
          <p:cNvPr id="3" name="Content Placeholder 2"/>
          <p:cNvSpPr>
            <a:spLocks noGrp="1"/>
          </p:cNvSpPr>
          <p:nvPr>
            <p:ph sz="half" idx="1"/>
          </p:nvPr>
        </p:nvSpPr>
        <p:spPr>
          <a:xfrm>
            <a:off x="209550" y="1022350"/>
            <a:ext cx="8535670" cy="5639435"/>
          </a:xfrm>
        </p:spPr>
        <p:txBody>
          <a:bodyPr>
            <a:normAutofit fontScale="87500" lnSpcReduction="20000"/>
          </a:bodyPr>
          <a:lstStyle/>
          <a:p>
            <a:pPr algn="just"/>
            <a:r>
              <a:rPr lang="en-US" sz="3000"/>
              <a:t>XP projects </a:t>
            </a:r>
            <a:r>
              <a:rPr lang="en-US" sz="3000" b="1">
                <a:solidFill>
                  <a:srgbClr val="FF0000"/>
                </a:solidFill>
              </a:rPr>
              <a:t>emphasize the forty hour week</a:t>
            </a:r>
            <a:r>
              <a:rPr lang="en-US" sz="3000"/>
              <a:t>. This means that the team should avoid to </a:t>
            </a:r>
            <a:r>
              <a:rPr lang="en-US" sz="3000" b="1">
                <a:solidFill>
                  <a:srgbClr val="00B050"/>
                </a:solidFill>
              </a:rPr>
              <a:t>work overtime</a:t>
            </a:r>
            <a:r>
              <a:rPr lang="en-US" sz="3000"/>
              <a:t>.</a:t>
            </a:r>
          </a:p>
          <a:p>
            <a:pPr algn="just"/>
            <a:r>
              <a:rPr lang="en-US" sz="3000"/>
              <a:t>Two reasons are given for this rule :</a:t>
            </a:r>
          </a:p>
          <a:p>
            <a:pPr algn="just"/>
            <a:r>
              <a:rPr lang="en-US" sz="3000"/>
              <a:t>“Projects that </a:t>
            </a:r>
            <a:r>
              <a:rPr lang="en-US" sz="3000" b="1">
                <a:solidFill>
                  <a:srgbClr val="FF0000"/>
                </a:solidFill>
              </a:rPr>
              <a:t>need working overtime</a:t>
            </a:r>
            <a:r>
              <a:rPr lang="en-US" sz="3000"/>
              <a:t> will be </a:t>
            </a:r>
            <a:r>
              <a:rPr lang="en-US" sz="3000" b="1">
                <a:solidFill>
                  <a:srgbClr val="0070C0"/>
                </a:solidFill>
              </a:rPr>
              <a:t>too late anyway.</a:t>
            </a:r>
            <a:r>
              <a:rPr lang="en-US" sz="3000"/>
              <a:t>”</a:t>
            </a:r>
          </a:p>
          <a:p>
            <a:pPr algn="just"/>
            <a:r>
              <a:rPr lang="en-US" sz="3000"/>
              <a:t>Usually either the </a:t>
            </a:r>
            <a:r>
              <a:rPr lang="en-US" sz="3000" b="1">
                <a:solidFill>
                  <a:srgbClr val="00B050"/>
                </a:solidFill>
              </a:rPr>
              <a:t>schedule is too tight</a:t>
            </a:r>
            <a:r>
              <a:rPr lang="en-US" sz="3000"/>
              <a:t> (business controls both time and scope) or the team couldn’t cope in time with unexpected risks. The only way to deal with the latter is to </a:t>
            </a:r>
            <a:r>
              <a:rPr lang="en-US" sz="3000" b="1">
                <a:solidFill>
                  <a:srgbClr val="00B050"/>
                </a:solidFill>
              </a:rPr>
              <a:t>re-negotiate the schedule,</a:t>
            </a:r>
            <a:r>
              <a:rPr lang="en-US" sz="3000"/>
              <a:t> otherwise the quality will be decreased.</a:t>
            </a:r>
          </a:p>
          <a:p>
            <a:pPr algn="just"/>
            <a:r>
              <a:rPr lang="en-US" sz="3000"/>
              <a:t>· The motivation will be affected. For most of XP’s rules and practices it is necessary that the team members are rested and motivated.</a:t>
            </a:r>
          </a:p>
          <a:p>
            <a:pPr algn="just"/>
            <a:r>
              <a:rPr lang="en-US" sz="3000"/>
              <a:t>In practice, </a:t>
            </a:r>
            <a:r>
              <a:rPr lang="en-US" sz="3000" b="1">
                <a:solidFill>
                  <a:srgbClr val="FF0000"/>
                </a:solidFill>
              </a:rPr>
              <a:t>XP projects rarely require</a:t>
            </a:r>
            <a:r>
              <a:rPr lang="en-US" sz="3000"/>
              <a:t> working </a:t>
            </a:r>
            <a:r>
              <a:rPr lang="en-US" sz="3000" b="1">
                <a:solidFill>
                  <a:srgbClr val="0070C0"/>
                </a:solidFill>
              </a:rPr>
              <a:t>overtime</a:t>
            </a:r>
            <a:r>
              <a:rPr lang="en-US" sz="3000"/>
              <a:t>, and if so, at most one or two times during the whole project.</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99160"/>
          </a:xfrm>
        </p:spPr>
        <p:txBody>
          <a:bodyPr/>
          <a:lstStyle/>
          <a:p>
            <a:r>
              <a:rPr lang="en-US" b="1"/>
              <a:t>On-Site Customer</a:t>
            </a:r>
          </a:p>
        </p:txBody>
      </p:sp>
      <p:sp>
        <p:nvSpPr>
          <p:cNvPr id="3" name="Content Placeholder 2"/>
          <p:cNvSpPr>
            <a:spLocks noGrp="1"/>
          </p:cNvSpPr>
          <p:nvPr>
            <p:ph sz="half" idx="1"/>
          </p:nvPr>
        </p:nvSpPr>
        <p:spPr>
          <a:xfrm>
            <a:off x="457200" y="927100"/>
            <a:ext cx="8301355" cy="5777865"/>
          </a:xfrm>
        </p:spPr>
        <p:txBody>
          <a:bodyPr>
            <a:normAutofit fontScale="97500"/>
          </a:bodyPr>
          <a:lstStyle/>
          <a:p>
            <a:pPr algn="just"/>
            <a:r>
              <a:rPr lang="en-US"/>
              <a:t>In almost all </a:t>
            </a:r>
            <a:r>
              <a:rPr lang="en-US" b="1">
                <a:solidFill>
                  <a:srgbClr val="00B050"/>
                </a:solidFill>
              </a:rPr>
              <a:t>phases of XP</a:t>
            </a:r>
            <a:r>
              <a:rPr lang="en-US" b="1">
                <a:solidFill>
                  <a:schemeClr val="accent6">
                    <a:lumMod val="75000"/>
                  </a:schemeClr>
                </a:solidFill>
              </a:rPr>
              <a:t> communication with the customer</a:t>
            </a:r>
            <a:r>
              <a:rPr lang="en-US"/>
              <a:t> is necessary. </a:t>
            </a:r>
          </a:p>
          <a:p>
            <a:pPr algn="just"/>
            <a:r>
              <a:rPr lang="en-US"/>
              <a:t>Therefore, a </a:t>
            </a:r>
            <a:r>
              <a:rPr lang="en-US" b="1">
                <a:solidFill>
                  <a:srgbClr val="7030A0"/>
                </a:solidFill>
              </a:rPr>
              <a:t>real customer</a:t>
            </a:r>
            <a:r>
              <a:rPr lang="en-US"/>
              <a:t> who is familiar with the problem domain (if possible an expert) and who is a potential user of the system is part of the </a:t>
            </a:r>
            <a:r>
              <a:rPr lang="en-US" b="1">
                <a:solidFill>
                  <a:srgbClr val="7030A0"/>
                </a:solidFill>
              </a:rPr>
              <a:t>development team. </a:t>
            </a:r>
          </a:p>
          <a:p>
            <a:pPr algn="just"/>
            <a:r>
              <a:rPr lang="en-US"/>
              <a:t>He or she will </a:t>
            </a:r>
            <a:r>
              <a:rPr lang="en-US" b="1">
                <a:solidFill>
                  <a:srgbClr val="00B050"/>
                </a:solidFill>
              </a:rPr>
              <a:t>sit with the team</a:t>
            </a:r>
            <a:r>
              <a:rPr lang="en-US"/>
              <a:t> and be available to provide additional information necessary to implement a </a:t>
            </a:r>
            <a:r>
              <a:rPr lang="en-US" b="1">
                <a:solidFill>
                  <a:schemeClr val="accent6">
                    <a:lumMod val="75000"/>
                  </a:schemeClr>
                </a:solidFill>
              </a:rPr>
              <a:t>user story</a:t>
            </a:r>
            <a:r>
              <a:rPr lang="en-US"/>
              <a:t> (story refinement) answer questions and </a:t>
            </a:r>
            <a:r>
              <a:rPr lang="en-US" b="1">
                <a:solidFill>
                  <a:srgbClr val="FF0000"/>
                </a:solidFill>
              </a:rPr>
              <a:t>resolve disputes</a:t>
            </a:r>
            <a:r>
              <a:rPr lang="en-US"/>
              <a:t> about the meaning of domain aspects set priorities at a small scale (the choice of stories for an iteration) write </a:t>
            </a:r>
            <a:r>
              <a:rPr lang="en-US" b="1">
                <a:solidFill>
                  <a:srgbClr val="00B0F0"/>
                </a:solidFill>
              </a:rPr>
              <a:t>functional tests and run</a:t>
            </a:r>
            <a:r>
              <a:rPr lang="en-US"/>
              <a:t> them at the end of the iteration (with help from the Tester)</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26770"/>
          </a:xfrm>
        </p:spPr>
        <p:txBody>
          <a:bodyPr/>
          <a:lstStyle/>
          <a:p>
            <a:r>
              <a:rPr lang="en-US" b="1"/>
              <a:t>Coding Standards</a:t>
            </a:r>
          </a:p>
        </p:txBody>
      </p:sp>
      <p:sp>
        <p:nvSpPr>
          <p:cNvPr id="3" name="Content Placeholder 2"/>
          <p:cNvSpPr>
            <a:spLocks noGrp="1"/>
          </p:cNvSpPr>
          <p:nvPr>
            <p:ph sz="half" idx="1"/>
          </p:nvPr>
        </p:nvSpPr>
        <p:spPr>
          <a:xfrm>
            <a:off x="457200" y="993140"/>
            <a:ext cx="8301355" cy="5721985"/>
          </a:xfrm>
        </p:spPr>
        <p:txBody>
          <a:bodyPr>
            <a:noAutofit/>
          </a:bodyPr>
          <a:lstStyle/>
          <a:p>
            <a:pPr algn="just"/>
            <a:r>
              <a:rPr lang="en-US" sz="2400"/>
              <a:t>XP projects use </a:t>
            </a:r>
            <a:r>
              <a:rPr lang="en-US" sz="2400" b="1">
                <a:solidFill>
                  <a:schemeClr val="accent6"/>
                </a:solidFill>
              </a:rPr>
              <a:t>rules and guidelines</a:t>
            </a:r>
            <a:r>
              <a:rPr lang="en-US" sz="2400"/>
              <a:t> for naming and formatting code units. This means, </a:t>
            </a:r>
            <a:r>
              <a:rPr lang="en-US" sz="2400" b="1">
                <a:solidFill>
                  <a:srgbClr val="7030A0"/>
                </a:solidFill>
              </a:rPr>
              <a:t>every developer</a:t>
            </a:r>
            <a:r>
              <a:rPr lang="en-US" sz="2400"/>
              <a:t> chooses the names of </a:t>
            </a:r>
            <a:r>
              <a:rPr lang="en-US" sz="2400" b="1">
                <a:solidFill>
                  <a:srgbClr val="FF0000"/>
                </a:solidFill>
              </a:rPr>
              <a:t>classes, methods, variables </a:t>
            </a:r>
            <a:r>
              <a:rPr lang="en-US" sz="2400"/>
              <a:t>etc. after these rules. The Coding Standards can come from the </a:t>
            </a:r>
            <a:r>
              <a:rPr lang="en-US" sz="2400" b="1">
                <a:solidFill>
                  <a:srgbClr val="00B0F0"/>
                </a:solidFill>
              </a:rPr>
              <a:t>outside or are defined by the development team</a:t>
            </a:r>
            <a:r>
              <a:rPr lang="en-US" sz="2400"/>
              <a:t>.</a:t>
            </a:r>
          </a:p>
          <a:p>
            <a:pPr algn="just"/>
            <a:r>
              <a:rPr lang="en-US" sz="2400"/>
              <a:t>The standards make the </a:t>
            </a:r>
            <a:r>
              <a:rPr lang="en-US" sz="2400" b="1">
                <a:solidFill>
                  <a:srgbClr val="7030A0"/>
                </a:solidFill>
              </a:rPr>
              <a:t>system more consistent</a:t>
            </a:r>
            <a:r>
              <a:rPr lang="en-US" sz="2400"/>
              <a:t> so that it is easier to read, understand, and work with (extend, refactor). </a:t>
            </a:r>
          </a:p>
          <a:p>
            <a:pPr algn="just"/>
            <a:r>
              <a:rPr lang="en-US" sz="2400"/>
              <a:t>It is also a great help when somebody (perhaps a new team member) needs to</a:t>
            </a:r>
            <a:r>
              <a:rPr lang="en-US" sz="2400" b="1">
                <a:solidFill>
                  <a:srgbClr val="FF0000"/>
                </a:solidFill>
              </a:rPr>
              <a:t> learn the system</a:t>
            </a:r>
            <a:r>
              <a:rPr lang="en-US" sz="2400"/>
              <a:t>.</a:t>
            </a:r>
          </a:p>
          <a:p>
            <a:pPr algn="just"/>
            <a:r>
              <a:rPr lang="en-US" sz="2400"/>
              <a:t>Therefore it is important that every team member follows the rules. If an </a:t>
            </a:r>
            <a:r>
              <a:rPr lang="en-US" sz="2400" b="1">
                <a:solidFill>
                  <a:srgbClr val="7030A0"/>
                </a:solidFill>
              </a:rPr>
              <a:t>XP developer finds</a:t>
            </a:r>
            <a:r>
              <a:rPr lang="en-US" sz="2400"/>
              <a:t> some part of the system that doesn’t follow the standards, he or she changes it accordingly (this, of course, needs Collective Code Ownership).</a:t>
            </a:r>
          </a:p>
          <a:p>
            <a:pPr algn="just"/>
            <a:r>
              <a:rPr lang="en-US" sz="2400"/>
              <a:t>Note that </a:t>
            </a:r>
            <a:r>
              <a:rPr lang="en-US" sz="2400" b="1">
                <a:solidFill>
                  <a:srgbClr val="7030A0"/>
                </a:solidFill>
              </a:rPr>
              <a:t>Coding Standards</a:t>
            </a:r>
            <a:r>
              <a:rPr lang="en-US" sz="2400"/>
              <a:t> relate to the </a:t>
            </a:r>
            <a:r>
              <a:rPr lang="en-US" sz="2400" b="1">
                <a:solidFill>
                  <a:srgbClr val="FF0000"/>
                </a:solidFill>
              </a:rPr>
              <a:t>System Metaphor.</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lstStyle/>
          <a:p>
            <a:r>
              <a:rPr lang="en-US" b="1"/>
              <a:t>The Practices support each other</a:t>
            </a:r>
          </a:p>
        </p:txBody>
      </p:sp>
      <p:pic>
        <p:nvPicPr>
          <p:cNvPr id="5" name="Content Placeholder 4"/>
          <p:cNvPicPr>
            <a:picLocks noGrp="1" noChangeAspect="1"/>
          </p:cNvPicPr>
          <p:nvPr>
            <p:ph sz="half" idx="1"/>
          </p:nvPr>
        </p:nvPicPr>
        <p:blipFill>
          <a:blip r:embed="rId2"/>
          <a:stretch>
            <a:fillRect/>
          </a:stretch>
        </p:blipFill>
        <p:spPr>
          <a:xfrm>
            <a:off x="457200" y="1572260"/>
            <a:ext cx="8229600" cy="4900295"/>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80110"/>
          </a:xfrm>
        </p:spPr>
        <p:txBody>
          <a:bodyPr/>
          <a:lstStyle/>
          <a:p>
            <a:r>
              <a:rPr lang="en-US" b="1"/>
              <a:t>XP Roles</a:t>
            </a:r>
          </a:p>
        </p:txBody>
      </p:sp>
      <p:sp>
        <p:nvSpPr>
          <p:cNvPr id="3" name="Content Placeholder 2"/>
          <p:cNvSpPr>
            <a:spLocks noGrp="1"/>
          </p:cNvSpPr>
          <p:nvPr>
            <p:ph sz="half" idx="1"/>
          </p:nvPr>
        </p:nvSpPr>
        <p:spPr>
          <a:xfrm>
            <a:off x="457200" y="1221105"/>
            <a:ext cx="8240395" cy="4905375"/>
          </a:xfrm>
        </p:spPr>
        <p:txBody>
          <a:bodyPr>
            <a:noAutofit/>
          </a:bodyPr>
          <a:lstStyle/>
          <a:p>
            <a:pPr algn="just"/>
            <a:r>
              <a:rPr lang="en-US" sz="3600"/>
              <a:t>eXtreme Programming defines the following roles</a:t>
            </a:r>
          </a:p>
          <a:p>
            <a:pPr marL="0" indent="0" algn="just">
              <a:buNone/>
            </a:pPr>
            <a:r>
              <a:rPr lang="en-US" sz="3600" b="1"/>
              <a:t>	· </a:t>
            </a:r>
            <a:r>
              <a:rPr lang="en-US" sz="3600" b="1">
                <a:solidFill>
                  <a:schemeClr val="accent6"/>
                </a:solidFill>
              </a:rPr>
              <a:t>Customer</a:t>
            </a:r>
          </a:p>
          <a:p>
            <a:pPr marL="0" indent="0" algn="just">
              <a:buNone/>
            </a:pPr>
            <a:r>
              <a:rPr lang="en-US" sz="3600" b="1">
                <a:solidFill>
                  <a:schemeClr val="accent6"/>
                </a:solidFill>
              </a:rPr>
              <a:t>	· Programmer</a:t>
            </a:r>
          </a:p>
          <a:p>
            <a:pPr marL="0" indent="0" algn="just">
              <a:buNone/>
            </a:pPr>
            <a:r>
              <a:rPr lang="en-US" sz="3600" b="1">
                <a:solidFill>
                  <a:schemeClr val="accent6"/>
                </a:solidFill>
              </a:rPr>
              <a:t>	· Coach</a:t>
            </a:r>
          </a:p>
          <a:p>
            <a:pPr marL="0" indent="0" algn="just">
              <a:buNone/>
            </a:pPr>
            <a:r>
              <a:rPr lang="en-US" sz="3600" b="1">
                <a:solidFill>
                  <a:schemeClr val="accent6"/>
                </a:solidFill>
              </a:rPr>
              <a:t>	· Tracker</a:t>
            </a:r>
          </a:p>
          <a:p>
            <a:pPr marL="0" indent="0" algn="just">
              <a:buNone/>
            </a:pPr>
            <a:r>
              <a:rPr lang="en-US" sz="3600" b="1">
                <a:solidFill>
                  <a:schemeClr val="accent6"/>
                </a:solidFill>
              </a:rPr>
              <a:t>	· Tester</a:t>
            </a:r>
          </a:p>
          <a:p>
            <a:pPr marL="0" indent="0" algn="just">
              <a:buNone/>
            </a:pPr>
            <a:r>
              <a:rPr lang="en-US" sz="3600" b="1">
                <a:solidFill>
                  <a:schemeClr val="accent6"/>
                </a:solidFill>
              </a:rPr>
              <a:t>	</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41375"/>
          </a:xfrm>
        </p:spPr>
        <p:txBody>
          <a:bodyPr>
            <a:normAutofit/>
          </a:bodyPr>
          <a:lstStyle/>
          <a:p>
            <a:r>
              <a:rPr lang="en-US" b="1">
                <a:sym typeface="+mn-ea"/>
              </a:rPr>
              <a:t>XP Roles</a:t>
            </a:r>
            <a:endParaRPr lang="en-US" b="1"/>
          </a:p>
        </p:txBody>
      </p:sp>
      <p:sp>
        <p:nvSpPr>
          <p:cNvPr id="3" name="Content Placeholder 2"/>
          <p:cNvSpPr>
            <a:spLocks noGrp="1"/>
          </p:cNvSpPr>
          <p:nvPr>
            <p:ph sz="half" idx="1"/>
          </p:nvPr>
        </p:nvSpPr>
        <p:spPr>
          <a:xfrm>
            <a:off x="457200" y="1000760"/>
            <a:ext cx="8228965" cy="5781040"/>
          </a:xfrm>
        </p:spPr>
        <p:txBody>
          <a:bodyPr>
            <a:normAutofit fontScale="90000"/>
          </a:bodyPr>
          <a:lstStyle/>
          <a:p>
            <a:pPr algn="just"/>
            <a:r>
              <a:rPr lang="en-US" b="1">
                <a:solidFill>
                  <a:schemeClr val="accent6"/>
                </a:solidFill>
              </a:rPr>
              <a:t>Customer</a:t>
            </a:r>
          </a:p>
          <a:p>
            <a:pPr algn="just"/>
            <a:r>
              <a:rPr lang="en-US"/>
              <a:t>The customer </a:t>
            </a:r>
            <a:r>
              <a:rPr lang="en-US" b="1">
                <a:solidFill>
                  <a:srgbClr val="00B0F0"/>
                </a:solidFill>
              </a:rPr>
              <a:t>defines what to do</a:t>
            </a:r>
            <a:r>
              <a:rPr lang="en-US"/>
              <a:t> (User Stories) and in what order (Planning Games).</a:t>
            </a:r>
          </a:p>
          <a:p>
            <a:pPr algn="just"/>
            <a:r>
              <a:rPr lang="en-US"/>
              <a:t>XP has a special rule called </a:t>
            </a:r>
            <a:r>
              <a:rPr lang="en-US" b="1">
                <a:solidFill>
                  <a:srgbClr val="7030A0"/>
                </a:solidFill>
              </a:rPr>
              <a:t>On-Site Customer.</a:t>
            </a:r>
          </a:p>
          <a:p>
            <a:pPr algn="just"/>
            <a:r>
              <a:rPr lang="en-US" b="1">
                <a:solidFill>
                  <a:schemeClr val="accent6"/>
                </a:solidFill>
                <a:sym typeface="+mn-ea"/>
              </a:rPr>
              <a:t>Programmer</a:t>
            </a:r>
            <a:endParaRPr lang="en-US" b="1">
              <a:solidFill>
                <a:schemeClr val="accent6"/>
              </a:solidFill>
            </a:endParaRPr>
          </a:p>
          <a:p>
            <a:pPr algn="just"/>
            <a:r>
              <a:rPr lang="en-US"/>
              <a:t>XP is a </a:t>
            </a:r>
            <a:r>
              <a:rPr lang="en-US" b="1">
                <a:solidFill>
                  <a:srgbClr val="00B0F0"/>
                </a:solidFill>
              </a:rPr>
              <a:t>programmer-centric</a:t>
            </a:r>
            <a:r>
              <a:rPr lang="en-US"/>
              <a:t> methodology. </a:t>
            </a:r>
          </a:p>
          <a:p>
            <a:pPr algn="just"/>
            <a:r>
              <a:rPr lang="en-US"/>
              <a:t>It does not make use of</a:t>
            </a:r>
            <a:r>
              <a:rPr lang="en-US">
                <a:solidFill>
                  <a:srgbClr val="00B050"/>
                </a:solidFill>
              </a:rPr>
              <a:t> </a:t>
            </a:r>
            <a:r>
              <a:rPr lang="en-US" b="1">
                <a:solidFill>
                  <a:srgbClr val="00B050"/>
                </a:solidFill>
              </a:rPr>
              <a:t>specialists like</a:t>
            </a:r>
            <a:r>
              <a:rPr lang="en-US" b="1">
                <a:solidFill>
                  <a:srgbClr val="7030A0"/>
                </a:solidFill>
              </a:rPr>
              <a:t> analysts, software architects or software designers</a:t>
            </a:r>
            <a:r>
              <a:rPr lang="en-US"/>
              <a:t>. </a:t>
            </a:r>
          </a:p>
          <a:p>
            <a:pPr algn="just"/>
            <a:r>
              <a:rPr lang="en-US"/>
              <a:t>Instead this work is performed by the programmers.</a:t>
            </a:r>
          </a:p>
          <a:p>
            <a:pPr algn="just"/>
            <a:r>
              <a:rPr lang="en-US"/>
              <a:t>There are </a:t>
            </a:r>
            <a:r>
              <a:rPr lang="en-US" b="1">
                <a:solidFill>
                  <a:srgbClr val="00B0F0"/>
                </a:solidFill>
              </a:rPr>
              <a:t>several skills that the programmer</a:t>
            </a:r>
            <a:r>
              <a:rPr lang="en-US"/>
              <a:t> must have</a:t>
            </a:r>
          </a:p>
          <a:p>
            <a:pPr lvl="1" algn="just"/>
            <a:r>
              <a:rPr lang="en-US" sz="2400" b="1">
                <a:solidFill>
                  <a:srgbClr val="FFC000"/>
                </a:solidFill>
              </a:rPr>
              <a:t>Communication</a:t>
            </a:r>
          </a:p>
          <a:p>
            <a:pPr lvl="1" algn="just"/>
            <a:r>
              <a:rPr lang="en-US" sz="2400" b="1">
                <a:solidFill>
                  <a:srgbClr val="FFC000"/>
                </a:solidFill>
              </a:rPr>
              <a:t>Coding</a:t>
            </a:r>
          </a:p>
          <a:p>
            <a:pPr lvl="1" algn="just"/>
            <a:r>
              <a:rPr lang="en-US" sz="2400" b="1">
                <a:solidFill>
                  <a:srgbClr val="FFC000"/>
                </a:solidFill>
              </a:rPr>
              <a:t>Ability to work in team</a:t>
            </a:r>
            <a:endParaRPr lang="en-US" b="1">
              <a:solidFill>
                <a:srgbClr val="FFC000"/>
              </a:solidFill>
            </a:endParaRPr>
          </a:p>
          <a:p>
            <a:pPr algn="just"/>
            <a:endParaRPr lang="en-US" b="1">
              <a:solidFill>
                <a:srgbClr val="FFC000"/>
              </a:solidFil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84555"/>
          </a:xfrm>
        </p:spPr>
        <p:txBody>
          <a:bodyPr>
            <a:normAutofit/>
          </a:bodyPr>
          <a:lstStyle/>
          <a:p>
            <a:r>
              <a:rPr lang="en-US" b="1">
                <a:sym typeface="+mn-ea"/>
              </a:rPr>
              <a:t>XP Roles</a:t>
            </a:r>
            <a:endParaRPr lang="en-US" b="1"/>
          </a:p>
        </p:txBody>
      </p:sp>
      <p:sp>
        <p:nvSpPr>
          <p:cNvPr id="3" name="Content Placeholder 2"/>
          <p:cNvSpPr>
            <a:spLocks noGrp="1"/>
          </p:cNvSpPr>
          <p:nvPr>
            <p:ph sz="half" idx="1"/>
          </p:nvPr>
        </p:nvSpPr>
        <p:spPr>
          <a:xfrm>
            <a:off x="457200" y="946150"/>
            <a:ext cx="8211185" cy="5730240"/>
          </a:xfrm>
        </p:spPr>
        <p:txBody>
          <a:bodyPr>
            <a:normAutofit/>
          </a:bodyPr>
          <a:lstStyle/>
          <a:p>
            <a:pPr algn="just"/>
            <a:r>
              <a:rPr lang="en-US" b="1">
                <a:solidFill>
                  <a:schemeClr val="accent6"/>
                </a:solidFill>
              </a:rPr>
              <a:t>Coach</a:t>
            </a:r>
          </a:p>
          <a:p>
            <a:pPr marL="0" indent="0" algn="just">
              <a:buNone/>
            </a:pPr>
            <a:r>
              <a:rPr lang="en-US"/>
              <a:t>The coach is </a:t>
            </a:r>
            <a:r>
              <a:rPr lang="en-US" b="1">
                <a:solidFill>
                  <a:srgbClr val="0070C0"/>
                </a:solidFill>
              </a:rPr>
              <a:t>responsible</a:t>
            </a:r>
            <a:r>
              <a:rPr lang="en-US"/>
              <a:t> for the technical execution (and evolution) of the project.</a:t>
            </a:r>
          </a:p>
          <a:p>
            <a:pPr marL="0" indent="0" algn="just">
              <a:buNone/>
            </a:pPr>
            <a:r>
              <a:rPr lang="en-US" b="1">
                <a:solidFill>
                  <a:schemeClr val="accent6"/>
                </a:solidFill>
              </a:rPr>
              <a:t>· Tracker</a:t>
            </a:r>
          </a:p>
          <a:p>
            <a:pPr marL="0" indent="0" algn="just">
              <a:buNone/>
            </a:pPr>
            <a:r>
              <a:rPr lang="en-US"/>
              <a:t>The tracker will </a:t>
            </a:r>
            <a:r>
              <a:rPr lang="en-US" b="1">
                <a:solidFill>
                  <a:srgbClr val="0070C0"/>
                </a:solidFill>
              </a:rPr>
              <a:t>ask each developer</a:t>
            </a:r>
            <a:r>
              <a:rPr lang="en-US"/>
              <a:t> every </a:t>
            </a:r>
            <a:r>
              <a:rPr lang="en-US" b="1">
                <a:solidFill>
                  <a:srgbClr val="FF0000"/>
                </a:solidFill>
              </a:rPr>
              <a:t>two or three days</a:t>
            </a:r>
            <a:r>
              <a:rPr lang="en-US"/>
              <a:t> how much time they have spent on each of their</a:t>
            </a:r>
          </a:p>
          <a:p>
            <a:pPr marL="0" indent="0" algn="just">
              <a:buNone/>
            </a:pPr>
            <a:r>
              <a:rPr lang="en-US"/>
              <a:t>tasks and </a:t>
            </a:r>
            <a:r>
              <a:rPr lang="en-US" b="1">
                <a:solidFill>
                  <a:srgbClr val="00B050"/>
                </a:solidFill>
              </a:rPr>
              <a:t>how much time is left.</a:t>
            </a:r>
            <a:endParaRPr lang="en-US"/>
          </a:p>
          <a:p>
            <a:pPr marL="0" indent="0" algn="just">
              <a:buNone/>
            </a:pPr>
            <a:r>
              <a:rPr lang="en-US" b="1">
                <a:solidFill>
                  <a:schemeClr val="accent6"/>
                </a:solidFill>
              </a:rPr>
              <a:t>· Tester</a:t>
            </a:r>
          </a:p>
          <a:p>
            <a:pPr marL="0" indent="0" algn="just">
              <a:buNone/>
            </a:pPr>
            <a:r>
              <a:rPr lang="en-US"/>
              <a:t>The tester helps the </a:t>
            </a:r>
            <a:r>
              <a:rPr lang="en-US" b="1">
                <a:solidFill>
                  <a:srgbClr val="0070C0"/>
                </a:solidFill>
              </a:rPr>
              <a:t>customer to choose</a:t>
            </a:r>
            <a:r>
              <a:rPr lang="en-US"/>
              <a:t> and write the </a:t>
            </a:r>
            <a:r>
              <a:rPr lang="en-US" b="1">
                <a:solidFill>
                  <a:srgbClr val="FF0000"/>
                </a:solidFill>
              </a:rPr>
              <a:t>functional tests and run them</a:t>
            </a:r>
            <a:r>
              <a:rPr lang="en-US"/>
              <a:t> (especially the tests that cannot be automated).</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12800"/>
          </a:xfrm>
        </p:spPr>
        <p:txBody>
          <a:bodyPr/>
          <a:lstStyle/>
          <a:p>
            <a:r>
              <a:rPr lang="en-US" b="1"/>
              <a:t>XP Process</a:t>
            </a:r>
          </a:p>
        </p:txBody>
      </p:sp>
      <p:pic>
        <p:nvPicPr>
          <p:cNvPr id="5" name="Content Placeholder 4" descr="J0bCHIm"/>
          <p:cNvPicPr>
            <a:picLocks noGrp="1" noChangeAspect="1"/>
          </p:cNvPicPr>
          <p:nvPr>
            <p:ph sz="half" idx="1"/>
          </p:nvPr>
        </p:nvPicPr>
        <p:blipFill>
          <a:blip r:embed="rId2"/>
          <a:stretch>
            <a:fillRect/>
          </a:stretch>
        </p:blipFill>
        <p:spPr>
          <a:xfrm>
            <a:off x="537845" y="1132205"/>
            <a:ext cx="8157845" cy="5544185"/>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08990"/>
          </a:xfrm>
        </p:spPr>
        <p:txBody>
          <a:bodyPr/>
          <a:lstStyle/>
          <a:p>
            <a:r>
              <a:rPr lang="en-US" b="1"/>
              <a:t>Planning</a:t>
            </a:r>
          </a:p>
        </p:txBody>
      </p:sp>
      <p:sp>
        <p:nvSpPr>
          <p:cNvPr id="3" name="Content Placeholder 2"/>
          <p:cNvSpPr>
            <a:spLocks noGrp="1"/>
          </p:cNvSpPr>
          <p:nvPr>
            <p:ph sz="half" idx="1"/>
          </p:nvPr>
        </p:nvSpPr>
        <p:spPr>
          <a:xfrm>
            <a:off x="457200" y="898525"/>
            <a:ext cx="8392795" cy="5773420"/>
          </a:xfrm>
        </p:spPr>
        <p:txBody>
          <a:bodyPr>
            <a:normAutofit fontScale="90000" lnSpcReduction="10000"/>
          </a:bodyPr>
          <a:lstStyle/>
          <a:p>
            <a:pPr algn="just"/>
            <a:r>
              <a:rPr lang="en-US"/>
              <a:t>The </a:t>
            </a:r>
            <a:r>
              <a:rPr lang="en-US" b="1">
                <a:solidFill>
                  <a:srgbClr val="00B050"/>
                </a:solidFill>
              </a:rPr>
              <a:t>first phase</a:t>
            </a:r>
            <a:r>
              <a:rPr lang="en-US"/>
              <a:t> of Extreme Programming life cycle is planning, where </a:t>
            </a:r>
            <a:r>
              <a:rPr lang="en-US" b="1">
                <a:solidFill>
                  <a:schemeClr val="accent6">
                    <a:lumMod val="75000"/>
                  </a:schemeClr>
                </a:solidFill>
              </a:rPr>
              <a:t>customers or users</a:t>
            </a:r>
            <a:r>
              <a:rPr lang="en-US"/>
              <a:t> meet with the development team to create </a:t>
            </a:r>
            <a:r>
              <a:rPr lang="en-US" b="1">
                <a:solidFill>
                  <a:srgbClr val="7030A0"/>
                </a:solidFill>
              </a:rPr>
              <a:t>‘user stories’</a:t>
            </a:r>
            <a:r>
              <a:rPr lang="en-US"/>
              <a:t> or requirements. </a:t>
            </a:r>
          </a:p>
          <a:p>
            <a:pPr algn="just"/>
            <a:r>
              <a:rPr lang="en-US"/>
              <a:t>The </a:t>
            </a:r>
            <a:r>
              <a:rPr lang="en-US" b="1">
                <a:solidFill>
                  <a:srgbClr val="7030A0"/>
                </a:solidFill>
              </a:rPr>
              <a:t>development team</a:t>
            </a:r>
            <a:r>
              <a:rPr lang="en-US"/>
              <a:t> </a:t>
            </a:r>
            <a:r>
              <a:rPr lang="en-US" b="1">
                <a:solidFill>
                  <a:schemeClr val="accent6"/>
                </a:solidFill>
              </a:rPr>
              <a:t>converts user stories into iterations</a:t>
            </a:r>
            <a:r>
              <a:rPr lang="en-US"/>
              <a:t> that cover a small part of the functionality or features required. </a:t>
            </a:r>
          </a:p>
          <a:p>
            <a:pPr algn="just"/>
            <a:r>
              <a:rPr lang="en-US"/>
              <a:t>A combination of iterations provides the customer with the </a:t>
            </a:r>
            <a:r>
              <a:rPr lang="en-US" b="1">
                <a:solidFill>
                  <a:srgbClr val="00B050"/>
                </a:solidFill>
              </a:rPr>
              <a:t>final fully functional product</a:t>
            </a:r>
            <a:r>
              <a:rPr lang="en-US"/>
              <a:t>.</a:t>
            </a:r>
          </a:p>
          <a:p>
            <a:pPr algn="just"/>
            <a:r>
              <a:rPr lang="en-US"/>
              <a:t> It includes </a:t>
            </a:r>
          </a:p>
          <a:p>
            <a:pPr marL="0" indent="0" algn="just">
              <a:buNone/>
            </a:pPr>
            <a:r>
              <a:rPr lang="en-US"/>
              <a:t>	</a:t>
            </a:r>
            <a:r>
              <a:rPr lang="en-US" b="1">
                <a:solidFill>
                  <a:srgbClr val="FF0000"/>
                </a:solidFill>
              </a:rPr>
              <a:t>Exploration, </a:t>
            </a:r>
          </a:p>
          <a:p>
            <a:pPr marL="0" indent="0" algn="just">
              <a:buNone/>
            </a:pPr>
            <a:r>
              <a:rPr lang="en-US" b="1">
                <a:solidFill>
                  <a:srgbClr val="FF0000"/>
                </a:solidFill>
              </a:rPr>
              <a:t>	Planning, and </a:t>
            </a:r>
          </a:p>
          <a:p>
            <a:pPr marL="0" indent="0" algn="just">
              <a:buNone/>
            </a:pPr>
            <a:r>
              <a:rPr lang="en-US" b="1">
                <a:solidFill>
                  <a:srgbClr val="FF0000"/>
                </a:solidFill>
              </a:rPr>
              <a:t>	Steering</a:t>
            </a:r>
          </a:p>
          <a:p>
            <a:pPr algn="just"/>
            <a:r>
              <a:rPr lang="en-US"/>
              <a:t>In the </a:t>
            </a:r>
            <a:r>
              <a:rPr lang="en-US" b="1">
                <a:solidFill>
                  <a:srgbClr val="0070C0"/>
                </a:solidFill>
              </a:rPr>
              <a:t>exploration phase</a:t>
            </a:r>
            <a:r>
              <a:rPr lang="en-US"/>
              <a:t> the customer </a:t>
            </a:r>
            <a:r>
              <a:rPr lang="en-US" b="1">
                <a:solidFill>
                  <a:srgbClr val="00B050"/>
                </a:solidFill>
              </a:rPr>
              <a:t>defines what</a:t>
            </a:r>
            <a:r>
              <a:rPr lang="en-US"/>
              <a:t> he/she </a:t>
            </a:r>
            <a:r>
              <a:rPr lang="en-US" b="1">
                <a:solidFill>
                  <a:schemeClr val="accent6">
                    <a:lumMod val="75000"/>
                  </a:schemeClr>
                </a:solidFill>
              </a:rPr>
              <a:t>wants the system to do</a:t>
            </a:r>
            <a:r>
              <a:rPr lang="en-US"/>
              <a:t> and the developers estimate how </a:t>
            </a:r>
            <a:r>
              <a:rPr lang="en-US" b="1">
                <a:solidFill>
                  <a:srgbClr val="FFC000"/>
                </a:solidFill>
              </a:rPr>
              <a:t>long it will take to implement</a:t>
            </a:r>
            <a:r>
              <a:rPr lang="en-US"/>
              <a:t> the desired behavior.</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716915"/>
          </a:xfrm>
        </p:spPr>
        <p:txBody>
          <a:bodyPr>
            <a:normAutofit fontScale="90000"/>
          </a:bodyPr>
          <a:lstStyle/>
          <a:p>
            <a:r>
              <a:rPr lang="en-US" b="1">
                <a:sym typeface="+mn-ea"/>
              </a:rPr>
              <a:t/>
            </a:r>
            <a:br>
              <a:rPr lang="en-US" b="1">
                <a:sym typeface="+mn-ea"/>
              </a:rPr>
            </a:br>
            <a:r>
              <a:rPr lang="en-US" b="1">
                <a:sym typeface="+mn-ea"/>
              </a:rPr>
              <a:t>Planning</a:t>
            </a:r>
            <a:r>
              <a:rPr lang="en-US" b="1"/>
              <a:t/>
            </a:r>
            <a:br>
              <a:rPr lang="en-US" b="1"/>
            </a:br>
            <a:endParaRPr lang="en-US"/>
          </a:p>
        </p:txBody>
      </p:sp>
      <p:sp>
        <p:nvSpPr>
          <p:cNvPr id="3" name="Content Placeholder 2"/>
          <p:cNvSpPr>
            <a:spLocks noGrp="1"/>
          </p:cNvSpPr>
          <p:nvPr>
            <p:ph sz="half" idx="1"/>
          </p:nvPr>
        </p:nvSpPr>
        <p:spPr>
          <a:xfrm>
            <a:off x="457200" y="1098550"/>
            <a:ext cx="8228965" cy="5027930"/>
          </a:xfrm>
        </p:spPr>
        <p:txBody>
          <a:bodyPr>
            <a:normAutofit/>
          </a:bodyPr>
          <a:lstStyle/>
          <a:p>
            <a:pPr algn="just"/>
            <a:r>
              <a:rPr lang="en-US"/>
              <a:t>In the </a:t>
            </a:r>
            <a:r>
              <a:rPr lang="en-US" b="1">
                <a:solidFill>
                  <a:srgbClr val="FFC000"/>
                </a:solidFill>
              </a:rPr>
              <a:t>planning phase</a:t>
            </a:r>
            <a:r>
              <a:rPr lang="en-US"/>
              <a:t> both parties negotiate which of the desired features can be done within the given bounds (time, resources).</a:t>
            </a:r>
          </a:p>
          <a:p>
            <a:pPr algn="just"/>
            <a:r>
              <a:rPr lang="en-US" b="1">
                <a:solidFill>
                  <a:srgbClr val="7030A0"/>
                </a:solidFill>
              </a:rPr>
              <a:t>Steering</a:t>
            </a:r>
            <a:r>
              <a:rPr lang="en-US"/>
              <a:t> means</a:t>
            </a:r>
            <a:r>
              <a:rPr lang="en-US" b="1">
                <a:solidFill>
                  <a:srgbClr val="00B050"/>
                </a:solidFill>
              </a:rPr>
              <a:t> influencing</a:t>
            </a:r>
            <a:r>
              <a:rPr lang="en-US"/>
              <a:t> the process by little moves.</a:t>
            </a:r>
          </a:p>
          <a:p>
            <a:pPr algn="just"/>
            <a:r>
              <a:rPr lang="en-US"/>
              <a:t>It consists of four possible “moves” :</a:t>
            </a:r>
          </a:p>
          <a:p>
            <a:pPr marL="0" indent="0" algn="just">
              <a:buNone/>
            </a:pPr>
            <a:r>
              <a:rPr lang="en-US"/>
              <a:t>		· </a:t>
            </a:r>
            <a:r>
              <a:rPr lang="en-US" b="1">
                <a:solidFill>
                  <a:srgbClr val="7030A0"/>
                </a:solidFill>
              </a:rPr>
              <a:t>Iteration</a:t>
            </a:r>
          </a:p>
          <a:p>
            <a:pPr marL="0" indent="0" algn="just">
              <a:buNone/>
            </a:pPr>
            <a:r>
              <a:rPr lang="en-US" b="1">
                <a:solidFill>
                  <a:srgbClr val="7030A0"/>
                </a:solidFill>
              </a:rPr>
              <a:t>		· Recovery</a:t>
            </a:r>
          </a:p>
          <a:p>
            <a:pPr marL="0" indent="0" algn="just">
              <a:buNone/>
            </a:pPr>
            <a:r>
              <a:rPr lang="en-US" b="1">
                <a:solidFill>
                  <a:srgbClr val="7030A0"/>
                </a:solidFill>
              </a:rPr>
              <a:t>		· New story</a:t>
            </a:r>
          </a:p>
          <a:p>
            <a:pPr marL="0" indent="0" algn="just">
              <a:buNone/>
            </a:pPr>
            <a:r>
              <a:rPr lang="en-US" b="1">
                <a:solidFill>
                  <a:srgbClr val="7030A0"/>
                </a:solidFill>
              </a:rPr>
              <a:t>		· Re-estimation</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normAutofit fontScale="90000"/>
          </a:bodyPr>
          <a:lstStyle/>
          <a:p>
            <a:r>
              <a:rPr lang="en-US" b="1"/>
              <a:t>A User Story card from the C3 project</a:t>
            </a:r>
          </a:p>
        </p:txBody>
      </p:sp>
      <p:pic>
        <p:nvPicPr>
          <p:cNvPr id="5" name="Content Placeholder 4"/>
          <p:cNvPicPr>
            <a:picLocks noGrp="1" noChangeAspect="1"/>
          </p:cNvPicPr>
          <p:nvPr>
            <p:ph sz="half" idx="1"/>
          </p:nvPr>
        </p:nvPicPr>
        <p:blipFill>
          <a:blip r:embed="rId2"/>
          <a:stretch>
            <a:fillRect/>
          </a:stretch>
        </p:blipFill>
        <p:spPr>
          <a:xfrm>
            <a:off x="357505" y="1417955"/>
            <a:ext cx="8204835" cy="5289550"/>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365" y="76200"/>
            <a:ext cx="8229600" cy="918210"/>
          </a:xfrm>
        </p:spPr>
        <p:txBody>
          <a:bodyPr/>
          <a:lstStyle/>
          <a:p>
            <a:r>
              <a:rPr lang="en-US" b="1"/>
              <a:t>Designing</a:t>
            </a:r>
          </a:p>
        </p:txBody>
      </p:sp>
      <p:sp>
        <p:nvSpPr>
          <p:cNvPr id="3" name="Content Placeholder 2"/>
          <p:cNvSpPr>
            <a:spLocks noGrp="1"/>
          </p:cNvSpPr>
          <p:nvPr>
            <p:ph sz="half" idx="1"/>
          </p:nvPr>
        </p:nvSpPr>
        <p:spPr>
          <a:xfrm>
            <a:off x="457200" y="974725"/>
            <a:ext cx="8329930" cy="5681980"/>
          </a:xfrm>
        </p:spPr>
        <p:txBody>
          <a:bodyPr>
            <a:normAutofit/>
          </a:bodyPr>
          <a:lstStyle/>
          <a:p>
            <a:pPr algn="just"/>
            <a:r>
              <a:rPr lang="en-US"/>
              <a:t>An </a:t>
            </a:r>
            <a:r>
              <a:rPr lang="en-US" b="1">
                <a:solidFill>
                  <a:srgbClr val="00B050"/>
                </a:solidFill>
              </a:rPr>
              <a:t>iteration of XP</a:t>
            </a:r>
            <a:r>
              <a:rPr lang="en-US"/>
              <a:t> programming starts with </a:t>
            </a:r>
            <a:r>
              <a:rPr lang="en-US" b="1">
                <a:solidFill>
                  <a:srgbClr val="7030A0"/>
                </a:solidFill>
              </a:rPr>
              <a:t>designing.</a:t>
            </a:r>
            <a:endParaRPr lang="en-US"/>
          </a:p>
          <a:p>
            <a:pPr algn="just"/>
            <a:r>
              <a:rPr lang="en-US"/>
              <a:t>Using Software </a:t>
            </a:r>
            <a:r>
              <a:rPr lang="en-US" b="1">
                <a:solidFill>
                  <a:srgbClr val="FF0000"/>
                </a:solidFill>
              </a:rPr>
              <a:t>Class Responsibilities and Collaboration (CRC)</a:t>
            </a:r>
            <a:r>
              <a:rPr lang="en-US"/>
              <a:t> Cards that allow for a departure from the traditional procedural </a:t>
            </a:r>
            <a:r>
              <a:rPr lang="en-US" b="1">
                <a:solidFill>
                  <a:srgbClr val="00B0F0"/>
                </a:solidFill>
              </a:rPr>
              <a:t>mindset</a:t>
            </a:r>
            <a:r>
              <a:rPr lang="en-US"/>
              <a:t> and make possible object oriented technology. </a:t>
            </a:r>
          </a:p>
          <a:p>
            <a:pPr algn="just"/>
            <a:r>
              <a:rPr lang="en-US"/>
              <a:t>Such cards allow all members of the </a:t>
            </a:r>
            <a:r>
              <a:rPr lang="en-US" b="1">
                <a:solidFill>
                  <a:srgbClr val="00B0F0"/>
                </a:solidFill>
              </a:rPr>
              <a:t>project team</a:t>
            </a:r>
            <a:r>
              <a:rPr lang="en-US"/>
              <a:t> to </a:t>
            </a:r>
            <a:r>
              <a:rPr lang="en-US" b="1">
                <a:solidFill>
                  <a:srgbClr val="7030A0"/>
                </a:solidFill>
              </a:rPr>
              <a:t>contribute ideas</a:t>
            </a:r>
            <a:r>
              <a:rPr lang="en-US"/>
              <a:t>, and collate the best ideas into the design</a:t>
            </a:r>
          </a:p>
          <a:p>
            <a:pPr algn="just"/>
            <a:r>
              <a:rPr lang="en-US"/>
              <a:t>Creating </a:t>
            </a:r>
            <a:r>
              <a:rPr lang="en-US" b="1">
                <a:solidFill>
                  <a:srgbClr val="7030A0"/>
                </a:solidFill>
              </a:rPr>
              <a:t>spike solutions or simple programs</a:t>
            </a:r>
            <a:r>
              <a:rPr lang="en-US"/>
              <a:t> that explore potential solutions for a specific problem, </a:t>
            </a:r>
            <a:r>
              <a:rPr lang="en-US" b="1">
                <a:solidFill>
                  <a:srgbClr val="00B050"/>
                </a:solidFill>
              </a:rPr>
              <a:t>ignoring all other concerns</a:t>
            </a:r>
            <a:r>
              <a:rPr lang="en-US"/>
              <a:t>, to mitigate risk</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380" y="76200"/>
            <a:ext cx="8229600" cy="889000"/>
          </a:xfrm>
        </p:spPr>
        <p:txBody>
          <a:bodyPr/>
          <a:lstStyle/>
          <a:p>
            <a:r>
              <a:rPr lang="en-US" b="1"/>
              <a:t>Coding</a:t>
            </a:r>
          </a:p>
        </p:txBody>
      </p:sp>
      <p:sp>
        <p:nvSpPr>
          <p:cNvPr id="3" name="Content Placeholder 2"/>
          <p:cNvSpPr>
            <a:spLocks noGrp="1"/>
          </p:cNvSpPr>
          <p:nvPr>
            <p:ph sz="half" idx="1"/>
          </p:nvPr>
        </p:nvSpPr>
        <p:spPr>
          <a:xfrm>
            <a:off x="457200" y="965200"/>
            <a:ext cx="8315960" cy="5634355"/>
          </a:xfrm>
        </p:spPr>
        <p:txBody>
          <a:bodyPr>
            <a:noAutofit/>
          </a:bodyPr>
          <a:lstStyle/>
          <a:p>
            <a:pPr algn="just"/>
            <a:r>
              <a:rPr lang="en-US" sz="2400"/>
              <a:t>Coding constitutes the most</a:t>
            </a:r>
            <a:r>
              <a:rPr lang="en-US" sz="2400" b="1">
                <a:solidFill>
                  <a:srgbClr val="00B0F0"/>
                </a:solidFill>
              </a:rPr>
              <a:t> important phase</a:t>
            </a:r>
            <a:r>
              <a:rPr lang="en-US" sz="2400"/>
              <a:t> in the Extreme Programming life cycle. </a:t>
            </a:r>
          </a:p>
          <a:p>
            <a:pPr algn="just"/>
            <a:r>
              <a:rPr lang="en-US" sz="2400"/>
              <a:t>XP programming gives </a:t>
            </a:r>
            <a:r>
              <a:rPr lang="en-US" sz="2400" b="1">
                <a:solidFill>
                  <a:srgbClr val="FF0000"/>
                </a:solidFill>
              </a:rPr>
              <a:t>priority to the actual coding</a:t>
            </a:r>
            <a:r>
              <a:rPr lang="en-US" sz="2400"/>
              <a:t> over all other tasks such as </a:t>
            </a:r>
            <a:r>
              <a:rPr lang="en-US" sz="2400" b="1">
                <a:solidFill>
                  <a:srgbClr val="00B050"/>
                </a:solidFill>
              </a:rPr>
              <a:t>documentation</a:t>
            </a:r>
            <a:r>
              <a:rPr lang="en-US" sz="2400"/>
              <a:t> to ensure that the customer receives something substantial in value at the end of the day.</a:t>
            </a:r>
          </a:p>
          <a:p>
            <a:pPr algn="just"/>
            <a:r>
              <a:rPr lang="en-US" sz="2400"/>
              <a:t>Standards related to coding include:</a:t>
            </a:r>
          </a:p>
          <a:p>
            <a:pPr algn="just">
              <a:buFont typeface="Wingdings" panose="05000000000000000000" charset="0"/>
              <a:buChar char="ü"/>
            </a:pPr>
            <a:r>
              <a:rPr lang="en-US" sz="2400" b="1">
                <a:solidFill>
                  <a:srgbClr val="00B050"/>
                </a:solidFill>
              </a:rPr>
              <a:t>Developing the code based</a:t>
            </a:r>
            <a:r>
              <a:rPr lang="en-US" sz="2400"/>
              <a:t> on the agreed metaphors and standards, and adopting a policy of </a:t>
            </a:r>
            <a:r>
              <a:rPr lang="en-US" sz="2400" b="1">
                <a:solidFill>
                  <a:srgbClr val="7030A0"/>
                </a:solidFill>
              </a:rPr>
              <a:t>collective code ownership</a:t>
            </a:r>
            <a:r>
              <a:rPr lang="en-US" sz="2400"/>
              <a:t>.</a:t>
            </a:r>
          </a:p>
          <a:p>
            <a:pPr algn="just">
              <a:buFont typeface="Wingdings" panose="05000000000000000000" charset="0"/>
              <a:buChar char="ü"/>
            </a:pPr>
            <a:r>
              <a:rPr lang="en-US" sz="2400" b="1">
                <a:solidFill>
                  <a:srgbClr val="00B050"/>
                </a:solidFill>
              </a:rPr>
              <a:t>Pair programming</a:t>
            </a:r>
            <a:r>
              <a:rPr lang="en-US" sz="2400"/>
              <a:t> or developing code by </a:t>
            </a:r>
            <a:r>
              <a:rPr lang="en-US" sz="2400" b="1">
                <a:solidFill>
                  <a:srgbClr val="00B0F0"/>
                </a:solidFill>
              </a:rPr>
              <a:t>two programmers</a:t>
            </a:r>
            <a:r>
              <a:rPr lang="en-US" sz="2400"/>
              <a:t> working together on a </a:t>
            </a:r>
            <a:r>
              <a:rPr lang="en-US" sz="2400" b="1">
                <a:solidFill>
                  <a:srgbClr val="7030A0"/>
                </a:solidFill>
              </a:rPr>
              <a:t>single machine</a:t>
            </a:r>
            <a:r>
              <a:rPr lang="en-US" sz="2400"/>
              <a:t>, aimed at producing higher quality code at the same or less cost.</a:t>
            </a:r>
          </a:p>
          <a:p>
            <a:pPr algn="just">
              <a:buFont typeface="Wingdings" panose="05000000000000000000" charset="0"/>
              <a:buChar char="ü"/>
            </a:pPr>
            <a:r>
              <a:rPr lang="en-US" sz="2400" b="1">
                <a:solidFill>
                  <a:srgbClr val="00B050"/>
                </a:solidFill>
              </a:rPr>
              <a:t>Strict adherence</a:t>
            </a:r>
            <a:r>
              <a:rPr lang="en-US" sz="2400"/>
              <a:t> to </a:t>
            </a:r>
            <a:r>
              <a:rPr lang="en-US" sz="2400" b="1">
                <a:solidFill>
                  <a:srgbClr val="00B0F0"/>
                </a:solidFill>
              </a:rPr>
              <a:t>40-hour workweeks</a:t>
            </a:r>
            <a:r>
              <a:rPr lang="en-US" sz="2400"/>
              <a:t> with no overtime. </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5883"/>
            <a:ext cx="8229600" cy="1143000"/>
          </a:xfrm>
        </p:spPr>
        <p:txBody>
          <a:bodyPr/>
          <a:lstStyle/>
          <a:p>
            <a:r>
              <a:rPr lang="en-US" b="1"/>
              <a:t>Testing</a:t>
            </a:r>
          </a:p>
        </p:txBody>
      </p:sp>
      <p:sp>
        <p:nvSpPr>
          <p:cNvPr id="3" name="Content Placeholder 2"/>
          <p:cNvSpPr>
            <a:spLocks noGrp="1"/>
          </p:cNvSpPr>
          <p:nvPr>
            <p:ph sz="half" idx="1"/>
          </p:nvPr>
        </p:nvSpPr>
        <p:spPr>
          <a:xfrm>
            <a:off x="457200" y="1121410"/>
            <a:ext cx="8229600" cy="5474335"/>
          </a:xfrm>
        </p:spPr>
        <p:txBody>
          <a:bodyPr>
            <a:normAutofit/>
          </a:bodyPr>
          <a:lstStyle/>
          <a:p>
            <a:pPr algn="just"/>
            <a:r>
              <a:rPr lang="en-US"/>
              <a:t>Extreme program </a:t>
            </a:r>
            <a:r>
              <a:rPr lang="en-US" b="1">
                <a:solidFill>
                  <a:srgbClr val="FFC000"/>
                </a:solidFill>
              </a:rPr>
              <a:t>integrates testing</a:t>
            </a:r>
            <a:r>
              <a:rPr lang="en-US"/>
              <a:t> with the development phase rather than at the </a:t>
            </a:r>
            <a:r>
              <a:rPr lang="en-US" b="1">
                <a:solidFill>
                  <a:srgbClr val="C00000"/>
                </a:solidFill>
              </a:rPr>
              <a:t>end of the development phase.</a:t>
            </a:r>
          </a:p>
          <a:p>
            <a:pPr algn="just"/>
            <a:r>
              <a:rPr lang="en-US"/>
              <a:t> All </a:t>
            </a:r>
            <a:r>
              <a:rPr lang="en-US" b="1">
                <a:solidFill>
                  <a:srgbClr val="00B050"/>
                </a:solidFill>
              </a:rPr>
              <a:t>codes have unit tests</a:t>
            </a:r>
            <a:r>
              <a:rPr lang="en-US"/>
              <a:t> to </a:t>
            </a:r>
            <a:r>
              <a:rPr lang="en-US" b="1">
                <a:solidFill>
                  <a:srgbClr val="00B0F0"/>
                </a:solidFill>
              </a:rPr>
              <a:t>eliminate bugs</a:t>
            </a:r>
            <a:r>
              <a:rPr lang="en-US"/>
              <a:t>, and the code passes all such unit tests </a:t>
            </a:r>
            <a:r>
              <a:rPr lang="en-US" b="1">
                <a:solidFill>
                  <a:srgbClr val="FF0000"/>
                </a:solidFill>
              </a:rPr>
              <a:t>before release</a:t>
            </a:r>
            <a:r>
              <a:rPr lang="en-US"/>
              <a:t>.</a:t>
            </a:r>
          </a:p>
          <a:p>
            <a:pPr algn="just"/>
            <a:r>
              <a:rPr lang="en-US"/>
              <a:t>Another </a:t>
            </a:r>
            <a:r>
              <a:rPr lang="en-US" b="1">
                <a:solidFill>
                  <a:srgbClr val="FF0000"/>
                </a:solidFill>
              </a:rPr>
              <a:t>key test</a:t>
            </a:r>
            <a:r>
              <a:rPr lang="en-US"/>
              <a:t> is customer </a:t>
            </a:r>
            <a:r>
              <a:rPr lang="en-US" b="1">
                <a:solidFill>
                  <a:srgbClr val="7030A0"/>
                </a:solidFill>
              </a:rPr>
              <a:t>acceptance tests</a:t>
            </a:r>
            <a:r>
              <a:rPr lang="en-US"/>
              <a:t>, based on the customer specifications. </a:t>
            </a:r>
          </a:p>
          <a:p>
            <a:pPr algn="just"/>
            <a:r>
              <a:rPr lang="en-US" b="1">
                <a:solidFill>
                  <a:srgbClr val="00B050"/>
                </a:solidFill>
              </a:rPr>
              <a:t>Acceptance test run</a:t>
            </a:r>
            <a:r>
              <a:rPr lang="en-US"/>
              <a:t> at the completion of the coding, and the developers provide the customer with the results of the </a:t>
            </a:r>
            <a:r>
              <a:rPr lang="en-US" b="1">
                <a:solidFill>
                  <a:srgbClr val="C00000"/>
                </a:solidFill>
              </a:rPr>
              <a:t>acceptance tests</a:t>
            </a:r>
            <a:r>
              <a:rPr lang="en-US"/>
              <a:t> along with </a:t>
            </a:r>
            <a:r>
              <a:rPr lang="en-US" b="1">
                <a:solidFill>
                  <a:srgbClr val="00B0F0"/>
                </a:solidFill>
              </a:rPr>
              <a:t>demonstrations</a:t>
            </a:r>
            <a:r>
              <a:rPr lang="en-US"/>
              <a:t>.</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ym typeface="+mn-ea"/>
              </a:rPr>
              <a:t>Feedback Loops</a:t>
            </a:r>
            <a:endParaRPr lang="en-US"/>
          </a:p>
        </p:txBody>
      </p:sp>
      <p:sp>
        <p:nvSpPr>
          <p:cNvPr id="3" name="Content Placeholder 2"/>
          <p:cNvSpPr>
            <a:spLocks noGrp="1"/>
          </p:cNvSpPr>
          <p:nvPr>
            <p:ph sz="half" idx="1"/>
          </p:nvPr>
        </p:nvSpPr>
        <p:spPr>
          <a:xfrm>
            <a:off x="457200" y="1600200"/>
            <a:ext cx="8196580" cy="4526280"/>
          </a:xfrm>
        </p:spPr>
        <p:txBody>
          <a:bodyPr>
            <a:normAutofit fontScale="90000" lnSpcReduction="10000"/>
          </a:bodyPr>
          <a:lstStyle/>
          <a:p>
            <a:pPr algn="just"/>
            <a:r>
              <a:rPr lang="en-US"/>
              <a:t>XP teams aim for a </a:t>
            </a:r>
            <a:r>
              <a:rPr lang="en-US" b="1">
                <a:solidFill>
                  <a:schemeClr val="accent6">
                    <a:lumMod val="75000"/>
                  </a:schemeClr>
                </a:solidFill>
              </a:rPr>
              <a:t>very short iteration</a:t>
            </a:r>
            <a:r>
              <a:rPr lang="en-US"/>
              <a:t>—the </a:t>
            </a:r>
            <a:r>
              <a:rPr lang="en-US" b="1">
                <a:solidFill>
                  <a:schemeClr val="accent5">
                    <a:lumMod val="75000"/>
                  </a:schemeClr>
                </a:solidFill>
              </a:rPr>
              <a:t>weekly cycle</a:t>
            </a:r>
            <a:r>
              <a:rPr lang="en-US"/>
              <a:t>—to increase feedback and shorten the feedback loop.</a:t>
            </a:r>
          </a:p>
          <a:p>
            <a:pPr algn="just"/>
            <a:r>
              <a:rPr lang="en-US"/>
              <a:t>To keep </a:t>
            </a:r>
            <a:r>
              <a:rPr lang="en-US" b="1">
                <a:solidFill>
                  <a:srgbClr val="00B050"/>
                </a:solidFill>
              </a:rPr>
              <a:t>feedback loops short</a:t>
            </a:r>
            <a:r>
              <a:rPr lang="en-US"/>
              <a:t>, they continuously reflect on how the project is going.</a:t>
            </a:r>
          </a:p>
          <a:p>
            <a:pPr algn="just"/>
            <a:r>
              <a:rPr lang="en-US"/>
              <a:t> If there’s a </a:t>
            </a:r>
            <a:r>
              <a:rPr lang="en-US" b="1">
                <a:solidFill>
                  <a:srgbClr val="FF0000"/>
                </a:solidFill>
              </a:rPr>
              <a:t>problem</a:t>
            </a:r>
            <a:r>
              <a:rPr lang="en-US"/>
              <a:t> then the team will talk about it. Osmotic communication from </a:t>
            </a:r>
            <a:r>
              <a:rPr lang="en-US" b="1">
                <a:solidFill>
                  <a:srgbClr val="00B0F0"/>
                </a:solidFill>
              </a:rPr>
              <a:t>sitting together</a:t>
            </a:r>
            <a:r>
              <a:rPr lang="en-US"/>
              <a:t> helps spread that feedback around the team.</a:t>
            </a:r>
          </a:p>
          <a:p>
            <a:pPr algn="just"/>
            <a:r>
              <a:rPr lang="en-US"/>
              <a:t>As they </a:t>
            </a:r>
            <a:r>
              <a:rPr lang="en-US" b="1">
                <a:solidFill>
                  <a:srgbClr val="7030A0"/>
                </a:solidFill>
              </a:rPr>
              <a:t>communicate more</a:t>
            </a:r>
            <a:r>
              <a:rPr lang="en-US"/>
              <a:t> and get more continuous feedback, they start </a:t>
            </a:r>
            <a:r>
              <a:rPr lang="en-US" b="1">
                <a:solidFill>
                  <a:srgbClr val="FFC000"/>
                </a:solidFill>
              </a:rPr>
              <a:t>seeing bottlenecks</a:t>
            </a:r>
            <a:r>
              <a:rPr lang="en-US"/>
              <a:t> in the way they’re building software, and they </a:t>
            </a:r>
            <a:r>
              <a:rPr lang="en-US" b="1">
                <a:solidFill>
                  <a:srgbClr val="FF0000"/>
                </a:solidFill>
              </a:rPr>
              <a:t>learn to work around obstacles together as a team.</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3400" y="75883"/>
            <a:ext cx="8229600" cy="1143000"/>
          </a:xfrm>
        </p:spPr>
        <p:txBody>
          <a:bodyPr/>
          <a:lstStyle/>
          <a:p>
            <a:r>
              <a:rPr lang="en-US" b="1"/>
              <a:t>Feedback Loops</a:t>
            </a:r>
          </a:p>
        </p:txBody>
      </p:sp>
      <p:pic>
        <p:nvPicPr>
          <p:cNvPr id="5" name="Content Placeholder 4" descr="ELA8xaxUEAAFiWG"/>
          <p:cNvPicPr>
            <a:picLocks noGrp="1" noChangeAspect="1"/>
          </p:cNvPicPr>
          <p:nvPr>
            <p:ph sz="half" idx="1"/>
          </p:nvPr>
        </p:nvPicPr>
        <p:blipFill>
          <a:blip r:embed="rId2"/>
          <a:stretch>
            <a:fillRect/>
          </a:stretch>
        </p:blipFill>
        <p:spPr>
          <a:xfrm>
            <a:off x="1143000" y="1646555"/>
            <a:ext cx="7158355" cy="5053965"/>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5883"/>
            <a:ext cx="8229600" cy="1143000"/>
          </a:xfrm>
        </p:spPr>
        <p:txBody>
          <a:bodyPr/>
          <a:lstStyle/>
          <a:p>
            <a:r>
              <a:rPr lang="en-US" b="1"/>
              <a:t>Feedback loops</a:t>
            </a:r>
          </a:p>
        </p:txBody>
      </p:sp>
      <p:graphicFrame>
        <p:nvGraphicFramePr>
          <p:cNvPr id="5" name="Content Placeholder 4"/>
          <p:cNvGraphicFramePr>
            <a:graphicFrameLocks noGrp="1" noChangeAspect="1"/>
          </p:cNvGraphicFramePr>
          <p:nvPr>
            <p:ph sz="half" idx="1"/>
          </p:nvPr>
        </p:nvGraphicFramePr>
        <p:xfrm>
          <a:off x="457200" y="1262380"/>
          <a:ext cx="8225155" cy="5361940"/>
        </p:xfrm>
        <a:graphic>
          <a:graphicData uri="http://schemas.openxmlformats.org/presentationml/2006/ole">
            <p:oleObj spid="_x0000_s3083" r:id="rId3" imgW="6106377" imgH="2933333" progId="PBrush">
              <p:embed/>
            </p:oleObj>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XP-Agile-Methodology-Pros-Cons"/>
          <p:cNvPicPr>
            <a:picLocks noGrp="1" noChangeAspect="1"/>
          </p:cNvPicPr>
          <p:nvPr>
            <p:ph sz="half" idx="1"/>
          </p:nvPr>
        </p:nvPicPr>
        <p:blipFill>
          <a:blip r:embed="rId2"/>
          <a:stretch>
            <a:fillRect/>
          </a:stretch>
        </p:blipFill>
        <p:spPr>
          <a:xfrm>
            <a:off x="457200" y="152400"/>
            <a:ext cx="8229600" cy="655447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9950"/>
          </a:xfrm>
        </p:spPr>
        <p:txBody>
          <a:bodyPr/>
          <a:lstStyle/>
          <a:p>
            <a:r>
              <a:rPr lang="en-US" b="1"/>
              <a:t>Lean</a:t>
            </a:r>
          </a:p>
        </p:txBody>
      </p:sp>
      <p:sp>
        <p:nvSpPr>
          <p:cNvPr id="3" name="Content Placeholder 2"/>
          <p:cNvSpPr>
            <a:spLocks noGrp="1"/>
          </p:cNvSpPr>
          <p:nvPr>
            <p:ph sz="half" idx="1"/>
          </p:nvPr>
        </p:nvSpPr>
        <p:spPr>
          <a:xfrm>
            <a:off x="224155" y="960120"/>
            <a:ext cx="8549005" cy="5668645"/>
          </a:xfrm>
        </p:spPr>
        <p:txBody>
          <a:bodyPr>
            <a:normAutofit/>
          </a:bodyPr>
          <a:lstStyle/>
          <a:p>
            <a:pPr marL="0" indent="0" algn="just">
              <a:buNone/>
            </a:pPr>
            <a:r>
              <a:rPr lang="en-US" b="1">
                <a:solidFill>
                  <a:srgbClr val="FF0000"/>
                </a:solidFill>
              </a:rPr>
              <a:t>Origin:</a:t>
            </a:r>
          </a:p>
          <a:p>
            <a:pPr algn="just">
              <a:buFont typeface="Wingdings" panose="05000000000000000000" charset="0"/>
              <a:buChar char="Ø"/>
            </a:pPr>
            <a:r>
              <a:rPr lang="en-US">
                <a:solidFill>
                  <a:schemeClr val="tx1"/>
                </a:solidFill>
              </a:rPr>
              <a:t>Management philosophy developed from </a:t>
            </a:r>
            <a:r>
              <a:rPr lang="en-US" b="1">
                <a:solidFill>
                  <a:srgbClr val="C00000"/>
                </a:solidFill>
              </a:rPr>
              <a:t>Toyota Production System</a:t>
            </a:r>
            <a:r>
              <a:rPr lang="en-US">
                <a:solidFill>
                  <a:schemeClr val="tx1"/>
                </a:solidFill>
              </a:rPr>
              <a:t> (TPS)</a:t>
            </a:r>
          </a:p>
          <a:p>
            <a:pPr algn="just">
              <a:buFont typeface="Wingdings" panose="05000000000000000000" charset="0"/>
              <a:buChar char="Ø"/>
            </a:pPr>
            <a:r>
              <a:rPr lang="en-US">
                <a:solidFill>
                  <a:schemeClr val="tx1"/>
                </a:solidFill>
              </a:rPr>
              <a:t>The term “lean” has been applied to </a:t>
            </a:r>
            <a:r>
              <a:rPr lang="en-US" b="1">
                <a:solidFill>
                  <a:srgbClr val="0070C0"/>
                </a:solidFill>
              </a:rPr>
              <a:t>manufacturing for many decades;</a:t>
            </a:r>
            <a:r>
              <a:rPr lang="en-US">
                <a:solidFill>
                  <a:schemeClr val="tx1"/>
                </a:solidFill>
              </a:rPr>
              <a:t> it was adapted for software              development by Tom and Mary Poppendieck in the first       decade of the </a:t>
            </a:r>
            <a:r>
              <a:rPr lang="en-US" b="1">
                <a:solidFill>
                  <a:srgbClr val="7030A0"/>
                </a:solidFill>
              </a:rPr>
              <a:t>twenty-first century.</a:t>
            </a:r>
            <a:endParaRPr lang="en-US">
              <a:solidFill>
                <a:schemeClr val="tx1"/>
              </a:solidFill>
            </a:endParaRPr>
          </a:p>
          <a:p>
            <a:pPr algn="just">
              <a:buFont typeface="Wingdings" panose="05000000000000000000" charset="0"/>
              <a:buChar char="Ø"/>
            </a:pPr>
            <a:r>
              <a:rPr lang="en-US">
                <a:solidFill>
                  <a:schemeClr val="tx1"/>
                </a:solidFill>
              </a:rPr>
              <a:t>Use capital-</a:t>
            </a:r>
            <a:r>
              <a:rPr lang="en-US" b="1">
                <a:solidFill>
                  <a:schemeClr val="accent6">
                    <a:lumMod val="75000"/>
                  </a:schemeClr>
                </a:solidFill>
              </a:rPr>
              <a:t>L term</a:t>
            </a:r>
            <a:r>
              <a:rPr lang="en-US">
                <a:solidFill>
                  <a:schemeClr val="tx1"/>
                </a:solidFill>
              </a:rPr>
              <a:t> “Lean” to refer to this adaption of lean ideas to </a:t>
            </a:r>
            <a:r>
              <a:rPr lang="en-US" b="1">
                <a:solidFill>
                  <a:srgbClr val="00B050"/>
                </a:solidFill>
              </a:rPr>
              <a:t>agile software development</a:t>
            </a:r>
            <a:r>
              <a:rPr lang="en-US">
                <a:solidFill>
                  <a:schemeClr val="tx1"/>
                </a:solidFill>
              </a:rPr>
              <a:t>.</a:t>
            </a:r>
          </a:p>
          <a:p>
            <a:pPr algn="just">
              <a:buFont typeface="Wingdings" panose="05000000000000000000" charset="0"/>
              <a:buChar char="Ø"/>
            </a:pPr>
            <a:r>
              <a:rPr lang="en-US">
                <a:solidFill>
                  <a:schemeClr val="tx1"/>
                </a:solidFill>
              </a:rPr>
              <a:t>Lean is different. Unlike Scrum and XP, Lean doesn’t include a set of practices. Lean is a</a:t>
            </a:r>
            <a:r>
              <a:rPr lang="en-US" b="1">
                <a:solidFill>
                  <a:srgbClr val="FF0000"/>
                </a:solidFill>
              </a:rPr>
              <a:t> mindset</a:t>
            </a:r>
            <a:r>
              <a:rPr lang="en-US">
                <a:solidFill>
                  <a:schemeClr val="tx1"/>
                </a:solidFill>
              </a:rPr>
              <a:t>.</a:t>
            </a:r>
          </a:p>
          <a:p>
            <a:pPr algn="just">
              <a:buFont typeface="Wingdings" panose="05000000000000000000" charset="0"/>
              <a:buChar char="Ø"/>
            </a:pPr>
            <a:r>
              <a:rPr lang="en-US">
                <a:solidFill>
                  <a:schemeClr val="tx1"/>
                </a:solidFill>
              </a:rPr>
              <a:t>The mindset of lean is sometimes called </a:t>
            </a:r>
            <a:r>
              <a:rPr lang="en-US" b="1">
                <a:solidFill>
                  <a:srgbClr val="7030A0"/>
                </a:solidFill>
              </a:rPr>
              <a:t>lean thinking.</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5883"/>
            <a:ext cx="8229600" cy="1143000"/>
          </a:xfrm>
        </p:spPr>
        <p:txBody>
          <a:bodyPr/>
          <a:lstStyle/>
          <a:p>
            <a:r>
              <a:rPr lang="en-US" b="1"/>
              <a:t>Definition</a:t>
            </a:r>
          </a:p>
        </p:txBody>
      </p:sp>
      <p:sp>
        <p:nvSpPr>
          <p:cNvPr id="3" name="Content Placeholder 2"/>
          <p:cNvSpPr>
            <a:spLocks noGrp="1"/>
          </p:cNvSpPr>
          <p:nvPr>
            <p:ph sz="half" idx="1"/>
          </p:nvPr>
        </p:nvSpPr>
        <p:spPr>
          <a:xfrm>
            <a:off x="457200" y="1098550"/>
            <a:ext cx="8259445" cy="5625465"/>
          </a:xfrm>
        </p:spPr>
        <p:txBody>
          <a:bodyPr/>
          <a:lstStyle/>
          <a:p>
            <a:pPr marL="0" indent="0" algn="just">
              <a:buNone/>
            </a:pPr>
            <a:r>
              <a:rPr lang="en-US"/>
              <a:t>A term Focused on </a:t>
            </a:r>
            <a:r>
              <a:rPr lang="en-US" b="1">
                <a:solidFill>
                  <a:srgbClr val="7030A0"/>
                </a:solidFill>
              </a:rPr>
              <a:t>improving process</a:t>
            </a:r>
            <a:r>
              <a:rPr lang="en-US"/>
              <a:t> speed and quality through </a:t>
            </a:r>
            <a:r>
              <a:rPr lang="en-US" b="1">
                <a:solidFill>
                  <a:srgbClr val="00B050"/>
                </a:solidFill>
              </a:rPr>
              <a:t>reduction of process wastes</a:t>
            </a:r>
            <a:r>
              <a:rPr lang="en-US"/>
              <a:t>.</a:t>
            </a:r>
          </a:p>
          <a:p>
            <a:pPr marL="0" indent="0" algn="just">
              <a:buNone/>
            </a:pPr>
            <a:r>
              <a:rPr lang="en-US" b="1">
                <a:solidFill>
                  <a:srgbClr val="FFC000"/>
                </a:solidFill>
              </a:rPr>
              <a:t>Lean thinking:</a:t>
            </a:r>
          </a:p>
          <a:p>
            <a:pPr marL="0" indent="0" algn="just">
              <a:buNone/>
            </a:pPr>
            <a:r>
              <a:rPr lang="en-US"/>
              <a:t>	A business </a:t>
            </a:r>
            <a:r>
              <a:rPr lang="en-US" b="1">
                <a:solidFill>
                  <a:schemeClr val="accent6">
                    <a:lumMod val="75000"/>
                  </a:schemeClr>
                </a:solidFill>
              </a:rPr>
              <a:t>methodology</a:t>
            </a:r>
            <a:r>
              <a:rPr lang="en-US"/>
              <a:t> which aims to provide a</a:t>
            </a:r>
          </a:p>
          <a:p>
            <a:pPr marL="0" indent="0" algn="just">
              <a:buNone/>
            </a:pPr>
            <a:r>
              <a:rPr lang="en-US"/>
              <a:t>new way to think about how to organize human activities to </a:t>
            </a:r>
            <a:r>
              <a:rPr lang="en-US" b="1">
                <a:solidFill>
                  <a:srgbClr val="00B050"/>
                </a:solidFill>
              </a:rPr>
              <a:t>deliver more benefits</a:t>
            </a:r>
            <a:r>
              <a:rPr lang="en-US"/>
              <a:t> to society and value to individuals while </a:t>
            </a:r>
            <a:r>
              <a:rPr lang="en-US" b="1">
                <a:solidFill>
                  <a:srgbClr val="FF0000"/>
                </a:solidFill>
              </a:rPr>
              <a:t>eliminating waste</a:t>
            </a:r>
            <a:r>
              <a:rPr lang="en-US"/>
              <a:t>.</a:t>
            </a:r>
          </a:p>
          <a:p>
            <a:pPr marL="0" indent="0" algn="just">
              <a:buNone/>
            </a:pPr>
            <a:r>
              <a:rPr lang="en-US" b="1">
                <a:solidFill>
                  <a:srgbClr val="FFC000"/>
                </a:solidFill>
              </a:rPr>
              <a:t>Simple Definition:</a:t>
            </a:r>
            <a:endParaRPr lang="en-US"/>
          </a:p>
          <a:p>
            <a:pPr marL="0" indent="0" algn="just">
              <a:buNone/>
            </a:pPr>
            <a:r>
              <a:rPr lang="en-US"/>
              <a:t>“Becoming ‘lean’ is a process of </a:t>
            </a:r>
            <a:r>
              <a:rPr lang="en-US" b="1">
                <a:solidFill>
                  <a:srgbClr val="7030A0"/>
                </a:solidFill>
              </a:rPr>
              <a:t>eliminating waste</a:t>
            </a:r>
            <a:r>
              <a:rPr lang="en-US"/>
              <a:t> with the goal of </a:t>
            </a:r>
            <a:r>
              <a:rPr lang="en-US" b="1">
                <a:solidFill>
                  <a:schemeClr val="accent6"/>
                </a:solidFill>
              </a:rPr>
              <a:t>creating value</a:t>
            </a:r>
            <a:r>
              <a:rPr lang="en-US"/>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Lean values</a:t>
            </a:r>
          </a:p>
        </p:txBody>
      </p:sp>
      <p:sp>
        <p:nvSpPr>
          <p:cNvPr id="3" name="Content Placeholder 2"/>
          <p:cNvSpPr>
            <a:spLocks noGrp="1"/>
          </p:cNvSpPr>
          <p:nvPr>
            <p:ph sz="half" idx="1"/>
          </p:nvPr>
        </p:nvSpPr>
        <p:spPr>
          <a:xfrm>
            <a:off x="457200" y="1600200"/>
            <a:ext cx="8411845" cy="4526280"/>
          </a:xfrm>
        </p:spPr>
        <p:txBody>
          <a:bodyPr/>
          <a:lstStyle/>
          <a:p>
            <a:r>
              <a:rPr lang="en-US" b="1"/>
              <a:t>Eliminate waste</a:t>
            </a:r>
          </a:p>
          <a:p>
            <a:r>
              <a:rPr lang="en-US" b="1"/>
              <a:t>Amplify learning</a:t>
            </a:r>
          </a:p>
          <a:p>
            <a:r>
              <a:rPr lang="en-US" b="1"/>
              <a:t>Decide as late as possible</a:t>
            </a:r>
          </a:p>
          <a:p>
            <a:r>
              <a:rPr lang="en-US" b="1"/>
              <a:t>Deliver as fast as possible</a:t>
            </a:r>
          </a:p>
          <a:p>
            <a:r>
              <a:rPr lang="en-US" b="1"/>
              <a:t>Empower the team</a:t>
            </a:r>
          </a:p>
          <a:p>
            <a:r>
              <a:rPr lang="en-US" b="1"/>
              <a:t>Build integrity in</a:t>
            </a:r>
          </a:p>
          <a:p>
            <a:r>
              <a:rPr lang="en-US" b="1"/>
              <a:t>See the whole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425" y="75883"/>
            <a:ext cx="8229600" cy="1143000"/>
          </a:xfrm>
        </p:spPr>
        <p:txBody>
          <a:bodyPr>
            <a:normAutofit/>
          </a:bodyPr>
          <a:lstStyle/>
          <a:p>
            <a:r>
              <a:rPr lang="en-US" b="1">
                <a:sym typeface="+mn-ea"/>
              </a:rPr>
              <a:t>Eliminate waste</a:t>
            </a:r>
            <a:endParaRPr lang="en-US" b="1"/>
          </a:p>
        </p:txBody>
      </p:sp>
      <p:sp>
        <p:nvSpPr>
          <p:cNvPr id="3" name="Content Placeholder 2"/>
          <p:cNvSpPr>
            <a:spLocks noGrp="1"/>
          </p:cNvSpPr>
          <p:nvPr>
            <p:ph sz="half" idx="1"/>
          </p:nvPr>
        </p:nvSpPr>
        <p:spPr>
          <a:xfrm>
            <a:off x="457200" y="1111885"/>
            <a:ext cx="8273415" cy="5483860"/>
          </a:xfrm>
        </p:spPr>
        <p:txBody>
          <a:bodyPr>
            <a:normAutofit lnSpcReduction="10000"/>
          </a:bodyPr>
          <a:lstStyle/>
          <a:p>
            <a:pPr algn="just"/>
            <a:r>
              <a:rPr lang="en-US"/>
              <a:t>Waste in lean is everything that </a:t>
            </a:r>
            <a:r>
              <a:rPr lang="en-US" b="1">
                <a:solidFill>
                  <a:schemeClr val="accent6">
                    <a:lumMod val="50000"/>
                  </a:schemeClr>
                </a:solidFill>
              </a:rPr>
              <a:t>does not contribute to the value</a:t>
            </a:r>
            <a:r>
              <a:rPr lang="en-US"/>
              <a:t> for the customer, i.e. everything that does not help to </a:t>
            </a:r>
            <a:r>
              <a:rPr lang="en-US" b="1">
                <a:solidFill>
                  <a:schemeClr val="accent1"/>
                </a:solidFill>
              </a:rPr>
              <a:t>fulfill the needs of the customer</a:t>
            </a:r>
            <a:r>
              <a:rPr lang="en-US"/>
              <a:t> or does delight the customer. </a:t>
            </a:r>
          </a:p>
          <a:p>
            <a:pPr algn="just"/>
            <a:r>
              <a:rPr lang="en-US"/>
              <a:t>Seven types of waste were identified in manufacturing and mapped to software development.</a:t>
            </a:r>
          </a:p>
          <a:p>
            <a:pPr marL="0" indent="0" algn="just">
              <a:buNone/>
            </a:pPr>
            <a:r>
              <a:rPr lang="en-US"/>
              <a:t>	</a:t>
            </a:r>
            <a:r>
              <a:rPr lang="en-US" b="1">
                <a:solidFill>
                  <a:srgbClr val="00B0F0"/>
                </a:solidFill>
              </a:rPr>
              <a:t>1.</a:t>
            </a:r>
            <a:r>
              <a:rPr lang="en-US" b="1">
                <a:solidFill>
                  <a:srgbClr val="FF0000"/>
                </a:solidFill>
              </a:rPr>
              <a:t>Partially done work	</a:t>
            </a:r>
            <a:r>
              <a:rPr lang="en-US" b="1">
                <a:solidFill>
                  <a:srgbClr val="00B0F0"/>
                </a:solidFill>
              </a:rPr>
              <a:t>2.</a:t>
            </a:r>
            <a:r>
              <a:rPr lang="en-US" b="1">
                <a:solidFill>
                  <a:srgbClr val="FF0000"/>
                </a:solidFill>
              </a:rPr>
              <a:t> Extra processes</a:t>
            </a:r>
          </a:p>
          <a:p>
            <a:pPr marL="0" indent="0" algn="just">
              <a:buNone/>
            </a:pPr>
            <a:r>
              <a:rPr lang="en-US" b="1">
                <a:solidFill>
                  <a:srgbClr val="FF0000"/>
                </a:solidFill>
              </a:rPr>
              <a:t>	</a:t>
            </a:r>
            <a:r>
              <a:rPr lang="en-US" b="1">
                <a:solidFill>
                  <a:srgbClr val="00B0F0"/>
                </a:solidFill>
              </a:rPr>
              <a:t>3.</a:t>
            </a:r>
            <a:r>
              <a:rPr lang="en-US" b="1">
                <a:solidFill>
                  <a:srgbClr val="FF0000"/>
                </a:solidFill>
              </a:rPr>
              <a:t> Extra features		</a:t>
            </a:r>
            <a:r>
              <a:rPr lang="en-US" b="1">
                <a:solidFill>
                  <a:srgbClr val="00B0F0"/>
                </a:solidFill>
              </a:rPr>
              <a:t>4.</a:t>
            </a:r>
            <a:r>
              <a:rPr lang="en-US" b="1">
                <a:solidFill>
                  <a:srgbClr val="FF0000"/>
                </a:solidFill>
              </a:rPr>
              <a:t> Task switching</a:t>
            </a:r>
          </a:p>
          <a:p>
            <a:pPr marL="0" indent="0" algn="just">
              <a:buNone/>
            </a:pPr>
            <a:r>
              <a:rPr lang="en-US" b="1">
                <a:solidFill>
                  <a:srgbClr val="FF0000"/>
                </a:solidFill>
              </a:rPr>
              <a:t>	</a:t>
            </a:r>
            <a:r>
              <a:rPr lang="en-US" b="1">
                <a:solidFill>
                  <a:srgbClr val="00B0F0"/>
                </a:solidFill>
              </a:rPr>
              <a:t>5.</a:t>
            </a:r>
            <a:r>
              <a:rPr lang="en-US" b="1">
                <a:solidFill>
                  <a:srgbClr val="FF0000"/>
                </a:solidFill>
              </a:rPr>
              <a:t> Waiting	</a:t>
            </a:r>
            <a:r>
              <a:rPr lang="en-US" b="1">
                <a:solidFill>
                  <a:srgbClr val="00B0F0"/>
                </a:solidFill>
              </a:rPr>
              <a:t>6. </a:t>
            </a:r>
            <a:r>
              <a:rPr lang="en-US" b="1">
                <a:solidFill>
                  <a:srgbClr val="FF0000"/>
                </a:solidFill>
              </a:rPr>
              <a:t>Motion	</a:t>
            </a:r>
            <a:r>
              <a:rPr lang="en-US" b="1">
                <a:solidFill>
                  <a:srgbClr val="00B0F0"/>
                </a:solidFill>
              </a:rPr>
              <a:t>7.</a:t>
            </a:r>
            <a:r>
              <a:rPr lang="en-US" b="1">
                <a:solidFill>
                  <a:srgbClr val="FF0000"/>
                </a:solidFill>
              </a:rPr>
              <a:t> Defects</a:t>
            </a:r>
          </a:p>
          <a:p>
            <a:pPr algn="just"/>
            <a:r>
              <a:rPr lang="en-US"/>
              <a:t>The wastes </a:t>
            </a:r>
            <a:r>
              <a:rPr lang="en-US" b="1">
                <a:solidFill>
                  <a:srgbClr val="00B050"/>
                </a:solidFill>
              </a:rPr>
              <a:t>slow down the development</a:t>
            </a:r>
            <a:r>
              <a:rPr lang="en-US"/>
              <a:t> flow and thus should be removed to speed up value creation.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69645"/>
          </a:xfrm>
        </p:spPr>
        <p:txBody>
          <a:bodyPr>
            <a:normAutofit/>
          </a:bodyPr>
          <a:lstStyle/>
          <a:p>
            <a:r>
              <a:rPr lang="en-US" b="1">
                <a:sym typeface="+mn-ea"/>
              </a:rPr>
              <a:t>Amplify learning</a:t>
            </a:r>
            <a:endParaRPr lang="en-US" b="1"/>
          </a:p>
        </p:txBody>
      </p:sp>
      <p:sp>
        <p:nvSpPr>
          <p:cNvPr id="3" name="Content Placeholder 2"/>
          <p:cNvSpPr>
            <a:spLocks noGrp="1"/>
          </p:cNvSpPr>
          <p:nvPr>
            <p:ph sz="half" idx="1"/>
          </p:nvPr>
        </p:nvSpPr>
        <p:spPr>
          <a:xfrm>
            <a:off x="457200" y="1050925"/>
            <a:ext cx="8229600" cy="5625465"/>
          </a:xfrm>
        </p:spPr>
        <p:txBody>
          <a:bodyPr>
            <a:normAutofit/>
          </a:bodyPr>
          <a:lstStyle/>
          <a:p>
            <a:pPr algn="just"/>
            <a:r>
              <a:rPr lang="en-US"/>
              <a:t>Use </a:t>
            </a:r>
            <a:r>
              <a:rPr lang="en-US" b="1">
                <a:solidFill>
                  <a:srgbClr val="00B050"/>
                </a:solidFill>
              </a:rPr>
              <a:t>feedback</a:t>
            </a:r>
            <a:r>
              <a:rPr lang="en-US"/>
              <a:t> from your project to improve how you build software.</a:t>
            </a:r>
          </a:p>
          <a:p>
            <a:pPr algn="just"/>
            <a:r>
              <a:rPr lang="en-US"/>
              <a:t>In </a:t>
            </a:r>
            <a:r>
              <a:rPr lang="en-US" b="1">
                <a:solidFill>
                  <a:schemeClr val="accent6">
                    <a:lumMod val="75000"/>
                  </a:schemeClr>
                </a:solidFill>
              </a:rPr>
              <a:t>every iteration</a:t>
            </a:r>
            <a:r>
              <a:rPr lang="en-US"/>
              <a:t>, there can be a new practice or learning to be gained, since we don’t expect perfect work within the first delivery;</a:t>
            </a:r>
          </a:p>
          <a:p>
            <a:pPr algn="just"/>
            <a:r>
              <a:rPr lang="en-US"/>
              <a:t>Software development is a </a:t>
            </a:r>
            <a:r>
              <a:rPr lang="en-US" b="1">
                <a:solidFill>
                  <a:srgbClr val="0070C0"/>
                </a:solidFill>
              </a:rPr>
              <a:t>knowledge-intensive process</a:t>
            </a:r>
            <a:r>
              <a:rPr lang="en-US"/>
              <a:t> where learning happens during the whole development lifecycle and needs to be amplified.</a:t>
            </a:r>
          </a:p>
          <a:p>
            <a:pPr algn="just"/>
            <a:r>
              <a:rPr lang="en-US"/>
              <a:t> Learning includes getting a </a:t>
            </a:r>
            <a:r>
              <a:rPr lang="en-US" b="1">
                <a:solidFill>
                  <a:srgbClr val="FFC000"/>
                </a:solidFill>
              </a:rPr>
              <a:t>better understanding of the customer needs</a:t>
            </a:r>
            <a:r>
              <a:rPr lang="en-US"/>
              <a:t>, potential solutions for architecture, good testing strategies, and so forth</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Decide as late as possible</a:t>
            </a:r>
          </a:p>
        </p:txBody>
      </p:sp>
      <p:sp>
        <p:nvSpPr>
          <p:cNvPr id="3" name="Content Placeholder 2"/>
          <p:cNvSpPr>
            <a:spLocks noGrp="1"/>
          </p:cNvSpPr>
          <p:nvPr>
            <p:ph sz="half" idx="1"/>
          </p:nvPr>
        </p:nvSpPr>
        <p:spPr>
          <a:xfrm>
            <a:off x="457200" y="1600200"/>
            <a:ext cx="8348980" cy="4526280"/>
          </a:xfrm>
        </p:spPr>
        <p:txBody>
          <a:bodyPr>
            <a:normAutofit fontScale="90000" lnSpcReduction="20000"/>
          </a:bodyPr>
          <a:lstStyle/>
          <a:p>
            <a:pPr algn="just"/>
            <a:r>
              <a:rPr lang="en-US"/>
              <a:t>Make every important </a:t>
            </a:r>
            <a:r>
              <a:rPr lang="en-US" b="1">
                <a:solidFill>
                  <a:srgbClr val="C00000"/>
                </a:solidFill>
              </a:rPr>
              <a:t>decision for your project</a:t>
            </a:r>
            <a:r>
              <a:rPr lang="en-US"/>
              <a:t> when you have the most information about it—at the last responsible moment.</a:t>
            </a:r>
          </a:p>
          <a:p>
            <a:pPr algn="just"/>
            <a:r>
              <a:rPr lang="en-US"/>
              <a:t> Rather than making </a:t>
            </a:r>
            <a:r>
              <a:rPr lang="en-US" b="1">
                <a:solidFill>
                  <a:srgbClr val="00B050"/>
                </a:solidFill>
              </a:rPr>
              <a:t>early decisions and prone to error,</a:t>
            </a:r>
            <a:r>
              <a:rPr lang="en-US"/>
              <a:t> it’s better to decide late after getting enough information for practices that involve uncertainty;</a:t>
            </a:r>
          </a:p>
          <a:p>
            <a:pPr algn="just"/>
            <a:r>
              <a:rPr lang="en-US"/>
              <a:t>A commitment should be </a:t>
            </a:r>
            <a:r>
              <a:rPr lang="en-US" b="1">
                <a:solidFill>
                  <a:srgbClr val="0070C0"/>
                </a:solidFill>
              </a:rPr>
              <a:t>delayed as far as possible</a:t>
            </a:r>
            <a:r>
              <a:rPr lang="en-US"/>
              <a:t> for irreversible decisions. </a:t>
            </a:r>
          </a:p>
          <a:p>
            <a:pPr algn="just"/>
            <a:r>
              <a:rPr lang="en-US"/>
              <a:t>For example, a tough architectural decision might require some experimentation and therefore </a:t>
            </a:r>
            <a:r>
              <a:rPr lang="en-US" b="1">
                <a:solidFill>
                  <a:srgbClr val="FF0000"/>
                </a:solidFill>
              </a:rPr>
              <a:t>should not be committed early. </a:t>
            </a:r>
          </a:p>
          <a:p>
            <a:pPr algn="just"/>
            <a:r>
              <a:rPr lang="en-US"/>
              <a:t>Instead, the option for </a:t>
            </a:r>
            <a:r>
              <a:rPr lang="en-US" b="1">
                <a:solidFill>
                  <a:srgbClr val="00B0F0"/>
                </a:solidFill>
              </a:rPr>
              <a:t>change should be open</a:t>
            </a:r>
            <a:r>
              <a:rPr lang="en-US"/>
              <a:t> for as long as possible.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lstStyle/>
          <a:p>
            <a:r>
              <a:rPr lang="en-US" b="1">
                <a:sym typeface="+mn-ea"/>
              </a:rPr>
              <a:t>Deliver as fast as possible</a:t>
            </a:r>
            <a:endParaRPr lang="en-US" b="1"/>
          </a:p>
        </p:txBody>
      </p:sp>
      <p:sp>
        <p:nvSpPr>
          <p:cNvPr id="3" name="Content Placeholder 2"/>
          <p:cNvSpPr>
            <a:spLocks noGrp="1"/>
          </p:cNvSpPr>
          <p:nvPr>
            <p:ph sz="half" idx="1"/>
          </p:nvPr>
        </p:nvSpPr>
        <p:spPr>
          <a:xfrm>
            <a:off x="457200" y="1111885"/>
            <a:ext cx="8425815" cy="5014595"/>
          </a:xfrm>
        </p:spPr>
        <p:txBody>
          <a:bodyPr>
            <a:normAutofit fontScale="97500" lnSpcReduction="10000"/>
          </a:bodyPr>
          <a:lstStyle/>
          <a:p>
            <a:pPr algn="just"/>
            <a:r>
              <a:rPr lang="en-US"/>
              <a:t>Lean has a strong focus on </a:t>
            </a:r>
            <a:r>
              <a:rPr lang="en-US" b="1">
                <a:solidFill>
                  <a:srgbClr val="FF0000"/>
                </a:solidFill>
              </a:rPr>
              <a:t>short cycle times,</a:t>
            </a:r>
            <a:r>
              <a:rPr lang="en-US"/>
              <a:t> i.e. to </a:t>
            </a:r>
            <a:r>
              <a:rPr lang="en-US" b="1">
                <a:solidFill>
                  <a:srgbClr val="00B050"/>
                </a:solidFill>
              </a:rPr>
              <a:t>minimize the time from receiving a request</a:t>
            </a:r>
            <a:r>
              <a:rPr lang="en-US"/>
              <a:t> for a feature to the delivery of the feature. </a:t>
            </a:r>
          </a:p>
          <a:p>
            <a:pPr algn="just"/>
            <a:r>
              <a:rPr lang="en-US"/>
              <a:t>The reason for the strong focus on cycle time is that while a feature is </a:t>
            </a:r>
            <a:r>
              <a:rPr lang="en-US" b="1">
                <a:solidFill>
                  <a:srgbClr val="0070C0"/>
                </a:solidFill>
              </a:rPr>
              <a:t>under development</a:t>
            </a:r>
            <a:r>
              <a:rPr lang="en-US"/>
              <a:t> it does </a:t>
            </a:r>
            <a:r>
              <a:rPr lang="en-US" b="1">
                <a:solidFill>
                  <a:srgbClr val="C00000"/>
                </a:solidFill>
              </a:rPr>
              <a:t>not create value</a:t>
            </a:r>
            <a:r>
              <a:rPr lang="en-US"/>
              <a:t> for the customer.</a:t>
            </a:r>
          </a:p>
          <a:p>
            <a:pPr algn="just"/>
            <a:r>
              <a:rPr lang="en-US"/>
              <a:t>Understand the </a:t>
            </a:r>
            <a:r>
              <a:rPr lang="en-US" b="1">
                <a:solidFill>
                  <a:srgbClr val="FFC000"/>
                </a:solidFill>
              </a:rPr>
              <a:t>cost of delay,</a:t>
            </a:r>
            <a:r>
              <a:rPr lang="en-US"/>
              <a:t> and minimize it using pull systems and queues.</a:t>
            </a:r>
          </a:p>
          <a:p>
            <a:pPr algn="just"/>
            <a:r>
              <a:rPr lang="en-US"/>
              <a:t>Though speedy delivery customers can get </a:t>
            </a:r>
            <a:r>
              <a:rPr lang="en-US" b="1">
                <a:solidFill>
                  <a:srgbClr val="00B0F0"/>
                </a:solidFill>
              </a:rPr>
              <a:t>“what they need now”</a:t>
            </a:r>
            <a:r>
              <a:rPr lang="en-US"/>
              <a:t> rather than </a:t>
            </a:r>
            <a:r>
              <a:rPr lang="en-US" b="1">
                <a:solidFill>
                  <a:schemeClr val="accent6">
                    <a:lumMod val="75000"/>
                  </a:schemeClr>
                </a:solidFill>
              </a:rPr>
              <a:t>“what they needed yesterday”</a:t>
            </a:r>
            <a:r>
              <a:rPr lang="en-US"/>
              <a:t> and moreover, it also helps to facilitate the learning process when deliver cycles are shorter;</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421370" cy="855980"/>
          </a:xfrm>
        </p:spPr>
        <p:txBody>
          <a:bodyPr/>
          <a:lstStyle/>
          <a:p>
            <a:r>
              <a:rPr lang="en-US" b="1"/>
              <a:t>Empower the team</a:t>
            </a:r>
          </a:p>
        </p:txBody>
      </p:sp>
      <p:sp>
        <p:nvSpPr>
          <p:cNvPr id="3" name="Content Placeholder 2"/>
          <p:cNvSpPr>
            <a:spLocks noGrp="1"/>
          </p:cNvSpPr>
          <p:nvPr>
            <p:ph sz="half" idx="1"/>
          </p:nvPr>
        </p:nvSpPr>
        <p:spPr>
          <a:xfrm>
            <a:off x="457200" y="1007745"/>
            <a:ext cx="8288020" cy="5544820"/>
          </a:xfrm>
        </p:spPr>
        <p:txBody>
          <a:bodyPr>
            <a:normAutofit/>
          </a:bodyPr>
          <a:lstStyle/>
          <a:p>
            <a:pPr algn="just"/>
            <a:r>
              <a:rPr lang="en-US"/>
              <a:t>Establish a </a:t>
            </a:r>
            <a:r>
              <a:rPr lang="en-US" b="1">
                <a:solidFill>
                  <a:srgbClr val="00B0F0"/>
                </a:solidFill>
              </a:rPr>
              <a:t>focused and effective</a:t>
            </a:r>
            <a:r>
              <a:rPr lang="en-US"/>
              <a:t> work environment, and build a whole team of energized people.</a:t>
            </a:r>
          </a:p>
          <a:p>
            <a:pPr algn="just"/>
            <a:r>
              <a:rPr lang="en-US"/>
              <a:t>Involving workers in</a:t>
            </a:r>
            <a:r>
              <a:rPr lang="en-US" b="1">
                <a:solidFill>
                  <a:srgbClr val="FFC000"/>
                </a:solidFill>
              </a:rPr>
              <a:t> key decision making</a:t>
            </a:r>
            <a:r>
              <a:rPr lang="en-US"/>
              <a:t> so that they know what need to be done by themselves and this is performed by using pull mechanism;</a:t>
            </a:r>
          </a:p>
          <a:p>
            <a:pPr algn="just"/>
            <a:r>
              <a:rPr lang="en-US"/>
              <a:t>The</a:t>
            </a:r>
            <a:r>
              <a:rPr lang="en-US" b="1">
                <a:solidFill>
                  <a:srgbClr val="00B050"/>
                </a:solidFill>
              </a:rPr>
              <a:t> three principles </a:t>
            </a:r>
            <a:r>
              <a:rPr lang="en-US"/>
              <a:t>that were used in the context of the Toyota Product Development System fostering the respect for people:</a:t>
            </a:r>
          </a:p>
          <a:p>
            <a:pPr algn="just">
              <a:buFont typeface="Wingdings" panose="05000000000000000000" charset="0"/>
              <a:buChar char="ü"/>
            </a:pPr>
            <a:r>
              <a:rPr lang="en-US" b="1">
                <a:solidFill>
                  <a:srgbClr val="7030A0"/>
                </a:solidFill>
              </a:rPr>
              <a:t>Entrepreneurial leadership</a:t>
            </a:r>
          </a:p>
          <a:p>
            <a:pPr algn="just">
              <a:buFont typeface="Wingdings" panose="05000000000000000000" charset="0"/>
              <a:buChar char="ü"/>
            </a:pPr>
            <a:r>
              <a:rPr lang="en-US" b="1">
                <a:solidFill>
                  <a:srgbClr val="7030A0"/>
                </a:solidFill>
              </a:rPr>
              <a:t>Expert technical workforce</a:t>
            </a:r>
          </a:p>
          <a:p>
            <a:pPr algn="just">
              <a:buFont typeface="Wingdings" panose="05000000000000000000" charset="0"/>
              <a:buChar char="ü"/>
            </a:pPr>
            <a:r>
              <a:rPr lang="en-US" b="1">
                <a:solidFill>
                  <a:srgbClr val="7030A0"/>
                </a:solidFill>
              </a:rPr>
              <a:t>Responsibility-based planning and control</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4385"/>
          </a:xfrm>
        </p:spPr>
        <p:txBody>
          <a:bodyPr/>
          <a:lstStyle/>
          <a:p>
            <a:r>
              <a:rPr lang="en-US" b="1"/>
              <a:t>Build integrity in</a:t>
            </a:r>
          </a:p>
        </p:txBody>
      </p:sp>
      <p:sp>
        <p:nvSpPr>
          <p:cNvPr id="3" name="Content Placeholder 2"/>
          <p:cNvSpPr>
            <a:spLocks noGrp="1"/>
          </p:cNvSpPr>
          <p:nvPr>
            <p:ph sz="half" idx="1"/>
          </p:nvPr>
        </p:nvSpPr>
        <p:spPr>
          <a:xfrm>
            <a:off x="457200" y="911860"/>
            <a:ext cx="8301355" cy="5702935"/>
          </a:xfrm>
        </p:spPr>
        <p:txBody>
          <a:bodyPr>
            <a:normAutofit fontScale="87500" lnSpcReduction="20000"/>
          </a:bodyPr>
          <a:lstStyle/>
          <a:p>
            <a:pPr algn="just"/>
            <a:r>
              <a:rPr lang="en-US"/>
              <a:t>Build software that </a:t>
            </a:r>
            <a:r>
              <a:rPr lang="en-US" b="1">
                <a:solidFill>
                  <a:schemeClr val="accent6">
                    <a:lumMod val="75000"/>
                  </a:schemeClr>
                </a:solidFill>
              </a:rPr>
              <a:t>intuitively makes sense to the users</a:t>
            </a:r>
            <a:r>
              <a:rPr lang="en-US"/>
              <a:t>, and which forms a coherent whole.</a:t>
            </a:r>
          </a:p>
          <a:p>
            <a:pPr algn="just"/>
            <a:r>
              <a:rPr lang="en-US"/>
              <a:t>Delivering a system that</a:t>
            </a:r>
            <a:r>
              <a:rPr lang="en-US" b="1">
                <a:solidFill>
                  <a:srgbClr val="FFC000"/>
                </a:solidFill>
              </a:rPr>
              <a:t> exactly matches</a:t>
            </a:r>
            <a:r>
              <a:rPr lang="en-US"/>
              <a:t> and fulfills the user’s wishes and needs; “Software with integrity has a coherent architecture, scores high on usability and fitness for purpose, and is </a:t>
            </a:r>
            <a:r>
              <a:rPr lang="en-US" b="1">
                <a:solidFill>
                  <a:srgbClr val="00B050"/>
                </a:solidFill>
              </a:rPr>
              <a:t>maintainable, adaptable, and extensible.”</a:t>
            </a:r>
            <a:endParaRPr lang="en-US"/>
          </a:p>
          <a:p>
            <a:pPr algn="just"/>
            <a:r>
              <a:rPr lang="en-US"/>
              <a:t>Quality of the software product should be </a:t>
            </a:r>
            <a:r>
              <a:rPr lang="en-US" b="1">
                <a:solidFill>
                  <a:srgbClr val="00B0F0"/>
                </a:solidFill>
              </a:rPr>
              <a:t>built in as early as possible,</a:t>
            </a:r>
            <a:r>
              <a:rPr lang="en-US"/>
              <a:t> and not late in development by fixing the defects that testing discovered. </a:t>
            </a:r>
          </a:p>
          <a:p>
            <a:pPr algn="just"/>
            <a:r>
              <a:rPr lang="en-US"/>
              <a:t>In result the integrity of the software in development should be </a:t>
            </a:r>
            <a:r>
              <a:rPr lang="en-US" b="1">
                <a:solidFill>
                  <a:srgbClr val="0070C0"/>
                </a:solidFill>
              </a:rPr>
              <a:t>high at any point in time</a:t>
            </a:r>
            <a:r>
              <a:rPr lang="en-US"/>
              <a:t> during the development lifecycle.</a:t>
            </a:r>
          </a:p>
          <a:p>
            <a:pPr algn="just"/>
            <a:r>
              <a:rPr lang="en-US"/>
              <a:t>For example, if a defect is </a:t>
            </a:r>
            <a:r>
              <a:rPr lang="en-US" b="1">
                <a:solidFill>
                  <a:srgbClr val="FF0000"/>
                </a:solidFill>
              </a:rPr>
              <a:t>discovered early</a:t>
            </a:r>
            <a:r>
              <a:rPr lang="en-US"/>
              <a:t> in the development process the ongoing work must be stopped and the </a:t>
            </a:r>
            <a:r>
              <a:rPr lang="en-US" b="1">
                <a:solidFill>
                  <a:srgbClr val="00B050"/>
                </a:solidFill>
              </a:rPr>
              <a:t>defect fixed.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890" y="76200"/>
            <a:ext cx="8229600" cy="750570"/>
          </a:xfrm>
        </p:spPr>
        <p:txBody>
          <a:bodyPr>
            <a:normAutofit fontScale="90000"/>
          </a:bodyPr>
          <a:lstStyle/>
          <a:p>
            <a:r>
              <a:rPr lang="en-US" b="1"/>
              <a:t>See the whole</a:t>
            </a:r>
          </a:p>
        </p:txBody>
      </p:sp>
      <p:sp>
        <p:nvSpPr>
          <p:cNvPr id="3" name="Content Placeholder 2"/>
          <p:cNvSpPr>
            <a:spLocks noGrp="1"/>
          </p:cNvSpPr>
          <p:nvPr>
            <p:ph sz="half" idx="1"/>
          </p:nvPr>
        </p:nvSpPr>
        <p:spPr>
          <a:xfrm>
            <a:off x="457200" y="931545"/>
            <a:ext cx="8348980" cy="5696585"/>
          </a:xfrm>
        </p:spPr>
        <p:txBody>
          <a:bodyPr>
            <a:normAutofit fontScale="97500"/>
          </a:bodyPr>
          <a:lstStyle/>
          <a:p>
            <a:pPr algn="just"/>
            <a:r>
              <a:rPr lang="en-US"/>
              <a:t>Implement</a:t>
            </a:r>
            <a:r>
              <a:rPr lang="en-US" b="1">
                <a:solidFill>
                  <a:srgbClr val="FF0000"/>
                </a:solidFill>
              </a:rPr>
              <a:t> deep expertise</a:t>
            </a:r>
            <a:r>
              <a:rPr lang="en-US"/>
              <a:t> in every system area to enhance the </a:t>
            </a:r>
            <a:r>
              <a:rPr lang="en-US" b="1">
                <a:solidFill>
                  <a:schemeClr val="tx2">
                    <a:lumMod val="60000"/>
                    <a:lumOff val="40000"/>
                  </a:schemeClr>
                </a:solidFill>
              </a:rPr>
              <a:t>overall system performance.</a:t>
            </a:r>
          </a:p>
          <a:p>
            <a:pPr algn="just"/>
            <a:r>
              <a:rPr lang="en-US"/>
              <a:t>Understand the work that </a:t>
            </a:r>
            <a:r>
              <a:rPr lang="en-US" b="1">
                <a:solidFill>
                  <a:srgbClr val="00B050"/>
                </a:solidFill>
              </a:rPr>
              <a:t>happens on your project</a:t>
            </a:r>
            <a:r>
              <a:rPr lang="en-US"/>
              <a:t>—and take the right kind of measurements to make sure you’re actually seeing </a:t>
            </a:r>
            <a:r>
              <a:rPr lang="en-US" b="1">
                <a:solidFill>
                  <a:srgbClr val="FFC000"/>
                </a:solidFill>
              </a:rPr>
              <a:t>everything clearly</a:t>
            </a:r>
            <a:r>
              <a:rPr lang="en-US"/>
              <a:t>, warts and all.</a:t>
            </a:r>
          </a:p>
          <a:p>
            <a:pPr algn="just"/>
            <a:r>
              <a:rPr lang="en-US"/>
              <a:t>When </a:t>
            </a:r>
            <a:r>
              <a:rPr lang="en-US" b="1">
                <a:solidFill>
                  <a:srgbClr val="FF0000"/>
                </a:solidFill>
              </a:rPr>
              <a:t>improving the process</a:t>
            </a:r>
            <a:r>
              <a:rPr lang="en-US"/>
              <a:t> of software development the whole value-stream needs to be considered </a:t>
            </a:r>
            <a:r>
              <a:rPr lang="en-US" b="1">
                <a:solidFill>
                  <a:srgbClr val="C00000"/>
                </a:solidFill>
              </a:rPr>
              <a:t>end to end</a:t>
            </a:r>
            <a:r>
              <a:rPr lang="en-US"/>
              <a:t> (E2E). </a:t>
            </a:r>
          </a:p>
          <a:p>
            <a:pPr algn="just"/>
            <a:r>
              <a:rPr lang="en-US"/>
              <a:t>For example, there is no point in </a:t>
            </a:r>
            <a:r>
              <a:rPr lang="en-US" b="1">
                <a:solidFill>
                  <a:srgbClr val="C00000"/>
                </a:solidFill>
              </a:rPr>
              <a:t>sub-optimizing the requirements process</a:t>
            </a:r>
            <a:r>
              <a:rPr lang="en-US"/>
              <a:t> and by that increase the speed of the requirements flow into coding and testing if coding can only implement the requirements in a much slower pace.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530" y="152400"/>
            <a:ext cx="8764270" cy="1143000"/>
          </a:xfrm>
        </p:spPr>
        <p:txBody>
          <a:bodyPr>
            <a:normAutofit fontScale="90000"/>
          </a:bodyPr>
          <a:lstStyle/>
          <a:p>
            <a:r>
              <a:rPr lang="en-US" b="1"/>
              <a:t>Seven Wastes of Software Development</a:t>
            </a:r>
          </a:p>
        </p:txBody>
      </p:sp>
      <p:sp>
        <p:nvSpPr>
          <p:cNvPr id="3" name="Content Placeholder 2"/>
          <p:cNvSpPr>
            <a:spLocks noGrp="1"/>
          </p:cNvSpPr>
          <p:nvPr>
            <p:ph sz="half" idx="1"/>
          </p:nvPr>
        </p:nvSpPr>
        <p:spPr>
          <a:xfrm>
            <a:off x="457200" y="1203325"/>
            <a:ext cx="8240395" cy="5444490"/>
          </a:xfrm>
        </p:spPr>
        <p:txBody>
          <a:bodyPr>
            <a:normAutofit/>
          </a:bodyPr>
          <a:lstStyle/>
          <a:p>
            <a:pPr algn="just">
              <a:buFont typeface="Wingdings" panose="05000000000000000000" charset="0"/>
              <a:buChar char="v"/>
            </a:pPr>
            <a:r>
              <a:rPr lang="en-US" b="1">
                <a:solidFill>
                  <a:srgbClr val="FF0000"/>
                </a:solidFill>
              </a:rPr>
              <a:t>Partially done work</a:t>
            </a:r>
          </a:p>
          <a:p>
            <a:pPr algn="just"/>
            <a:r>
              <a:rPr lang="en-US"/>
              <a:t>When you’re </a:t>
            </a:r>
            <a:r>
              <a:rPr lang="en-US" b="1">
                <a:solidFill>
                  <a:schemeClr val="accent6">
                    <a:lumMod val="50000"/>
                  </a:schemeClr>
                </a:solidFill>
              </a:rPr>
              <a:t>doing iteration</a:t>
            </a:r>
            <a:r>
              <a:rPr lang="en-US"/>
              <a:t>, you only deliver work that’s </a:t>
            </a:r>
            <a:r>
              <a:rPr lang="en-US" b="1">
                <a:solidFill>
                  <a:srgbClr val="00B050"/>
                </a:solidFill>
              </a:rPr>
              <a:t>“done done”</a:t>
            </a:r>
            <a:r>
              <a:rPr lang="en-US"/>
              <a:t> because if it’s not 100% complete and working, then you haven’t delivered value to your users.</a:t>
            </a:r>
          </a:p>
          <a:p>
            <a:pPr algn="just"/>
            <a:r>
              <a:rPr lang="en-US"/>
              <a:t> Any activity that </a:t>
            </a:r>
            <a:r>
              <a:rPr lang="en-US" b="1">
                <a:solidFill>
                  <a:srgbClr val="00B050"/>
                </a:solidFill>
              </a:rPr>
              <a:t>doesn’t deliver value</a:t>
            </a:r>
            <a:r>
              <a:rPr lang="en-US"/>
              <a:t> is</a:t>
            </a:r>
            <a:r>
              <a:rPr lang="en-US" b="1">
                <a:solidFill>
                  <a:schemeClr val="accent6">
                    <a:lumMod val="75000"/>
                  </a:schemeClr>
                </a:solidFill>
              </a:rPr>
              <a:t> waste.</a:t>
            </a:r>
            <a:endParaRPr lang="en-US"/>
          </a:p>
          <a:p>
            <a:pPr algn="just">
              <a:buFont typeface="Wingdings" panose="05000000000000000000" charset="0"/>
              <a:buChar char="v"/>
            </a:pPr>
            <a:r>
              <a:rPr lang="en-US" b="1">
                <a:solidFill>
                  <a:srgbClr val="FF0000"/>
                </a:solidFill>
              </a:rPr>
              <a:t>Extra processes</a:t>
            </a:r>
          </a:p>
          <a:p>
            <a:pPr algn="just"/>
            <a:r>
              <a:rPr lang="en-US" b="1">
                <a:solidFill>
                  <a:srgbClr val="00B0F0"/>
                </a:solidFill>
              </a:rPr>
              <a:t>Processing beyond</a:t>
            </a:r>
            <a:r>
              <a:rPr lang="en-US"/>
              <a:t> the standard.	</a:t>
            </a:r>
          </a:p>
          <a:p>
            <a:pPr algn="just"/>
            <a:r>
              <a:rPr lang="en-US"/>
              <a:t>All that extra </a:t>
            </a:r>
            <a:r>
              <a:rPr lang="en-US" b="1">
                <a:solidFill>
                  <a:schemeClr val="accent6">
                    <a:lumMod val="75000"/>
                  </a:schemeClr>
                </a:solidFill>
              </a:rPr>
              <a:t>effort going through the process</a:t>
            </a:r>
            <a:r>
              <a:rPr lang="en-US"/>
              <a:t> of tracking and reporting time </a:t>
            </a:r>
            <a:r>
              <a:rPr lang="en-US" b="1">
                <a:solidFill>
                  <a:srgbClr val="0070C0"/>
                </a:solidFill>
              </a:rPr>
              <a:t>doesn’t create any value</a:t>
            </a:r>
            <a:r>
              <a:rPr lang="en-US"/>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320" y="274955"/>
            <a:ext cx="8849995" cy="779780"/>
          </a:xfrm>
        </p:spPr>
        <p:txBody>
          <a:bodyPr>
            <a:normAutofit fontScale="90000"/>
          </a:bodyPr>
          <a:lstStyle/>
          <a:p>
            <a:r>
              <a:rPr lang="en-US" b="1">
                <a:sym typeface="+mn-ea"/>
              </a:rPr>
              <a:t>Seven Wastes of Software Development</a:t>
            </a:r>
            <a:endParaRPr lang="en-US"/>
          </a:p>
        </p:txBody>
      </p:sp>
      <p:sp>
        <p:nvSpPr>
          <p:cNvPr id="3" name="Content Placeholder 2"/>
          <p:cNvSpPr>
            <a:spLocks noGrp="1"/>
          </p:cNvSpPr>
          <p:nvPr>
            <p:ph sz="half" idx="1"/>
          </p:nvPr>
        </p:nvSpPr>
        <p:spPr>
          <a:xfrm>
            <a:off x="457200" y="984250"/>
            <a:ext cx="8348980" cy="5582285"/>
          </a:xfrm>
        </p:spPr>
        <p:txBody>
          <a:bodyPr>
            <a:normAutofit lnSpcReduction="10000"/>
          </a:bodyPr>
          <a:lstStyle/>
          <a:p>
            <a:pPr algn="just">
              <a:buFont typeface="Wingdings" panose="05000000000000000000" charset="0"/>
              <a:buChar char="v"/>
            </a:pPr>
            <a:r>
              <a:rPr lang="en-US" b="1">
                <a:solidFill>
                  <a:srgbClr val="FF0000"/>
                </a:solidFill>
              </a:rPr>
              <a:t>Extra features </a:t>
            </a:r>
          </a:p>
          <a:p>
            <a:pPr algn="just"/>
            <a:r>
              <a:rPr lang="en-US" b="1">
                <a:solidFill>
                  <a:srgbClr val="0070C0"/>
                </a:solidFill>
              </a:rPr>
              <a:t>Creating more information</a:t>
            </a:r>
            <a:r>
              <a:rPr lang="en-US"/>
              <a:t> or tests than needed.</a:t>
            </a:r>
          </a:p>
          <a:p>
            <a:pPr algn="just"/>
            <a:r>
              <a:rPr lang="en-US"/>
              <a:t>When the </a:t>
            </a:r>
            <a:r>
              <a:rPr lang="en-US" b="1">
                <a:solidFill>
                  <a:schemeClr val="accent6">
                    <a:lumMod val="75000"/>
                  </a:schemeClr>
                </a:solidFill>
              </a:rPr>
              <a:t>team builds a feature that nobody has asked</a:t>
            </a:r>
            <a:r>
              <a:rPr lang="en-US"/>
              <a:t> for instead of one that the users actually need, that’s waste. </a:t>
            </a:r>
          </a:p>
          <a:p>
            <a:pPr algn="just"/>
            <a:r>
              <a:rPr lang="en-US"/>
              <a:t>Sometimes this happens because </a:t>
            </a:r>
            <a:r>
              <a:rPr lang="en-US" b="1">
                <a:solidFill>
                  <a:srgbClr val="00B050"/>
                </a:solidFill>
              </a:rPr>
              <a:t>someone on the team is very excited</a:t>
            </a:r>
            <a:r>
              <a:rPr lang="en-US"/>
              <a:t> about a new technology, and wants an opportunity to learn it. </a:t>
            </a:r>
          </a:p>
          <a:p>
            <a:pPr algn="just"/>
            <a:r>
              <a:rPr lang="en-US"/>
              <a:t>This might be valuable to the person who </a:t>
            </a:r>
            <a:r>
              <a:rPr lang="en-US" b="1">
                <a:solidFill>
                  <a:srgbClr val="0070C0"/>
                </a:solidFill>
              </a:rPr>
              <a:t>improved their skillset,</a:t>
            </a:r>
            <a:r>
              <a:rPr lang="en-US"/>
              <a:t> and that might even be valuable in the future for the team. </a:t>
            </a:r>
          </a:p>
          <a:p>
            <a:pPr algn="just"/>
            <a:r>
              <a:rPr lang="en-US"/>
              <a:t>But it doesn’t directly help build valuable software, s</a:t>
            </a:r>
            <a:r>
              <a:rPr lang="en-US" b="1">
                <a:solidFill>
                  <a:srgbClr val="FF0000"/>
                </a:solidFill>
              </a:rPr>
              <a:t>o it’s all waste.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180" y="152400"/>
            <a:ext cx="8803640" cy="1143000"/>
          </a:xfrm>
        </p:spPr>
        <p:txBody>
          <a:bodyPr>
            <a:normAutofit fontScale="90000"/>
          </a:bodyPr>
          <a:lstStyle/>
          <a:p>
            <a:r>
              <a:rPr lang="en-US" b="1">
                <a:sym typeface="+mn-ea"/>
              </a:rPr>
              <a:t>Seven Wastes of Software Development</a:t>
            </a:r>
            <a:endParaRPr lang="en-US"/>
          </a:p>
        </p:txBody>
      </p:sp>
      <p:sp>
        <p:nvSpPr>
          <p:cNvPr id="3" name="Content Placeholder 2"/>
          <p:cNvSpPr>
            <a:spLocks noGrp="1"/>
          </p:cNvSpPr>
          <p:nvPr>
            <p:ph sz="half" idx="1"/>
          </p:nvPr>
        </p:nvSpPr>
        <p:spPr>
          <a:xfrm>
            <a:off x="457200" y="1169035"/>
            <a:ext cx="8225155" cy="5521960"/>
          </a:xfrm>
        </p:spPr>
        <p:txBody>
          <a:bodyPr>
            <a:normAutofit fontScale="97500" lnSpcReduction="10000"/>
          </a:bodyPr>
          <a:lstStyle/>
          <a:p>
            <a:pPr algn="just">
              <a:buFont typeface="Wingdings" panose="05000000000000000000" charset="0"/>
              <a:buChar char="v"/>
            </a:pPr>
            <a:r>
              <a:rPr lang="en-US" b="1">
                <a:solidFill>
                  <a:srgbClr val="FF0000"/>
                </a:solidFill>
              </a:rPr>
              <a:t>Task switching</a:t>
            </a:r>
          </a:p>
          <a:p>
            <a:pPr algn="just"/>
            <a:r>
              <a:rPr lang="en-US" b="1">
                <a:solidFill>
                  <a:srgbClr val="7030A0"/>
                </a:solidFill>
              </a:rPr>
              <a:t>Unnecessary movements between processes</a:t>
            </a:r>
            <a:r>
              <a:rPr lang="en-US"/>
              <a:t>.</a:t>
            </a:r>
          </a:p>
          <a:p>
            <a:pPr algn="just"/>
            <a:r>
              <a:rPr lang="en-US"/>
              <a:t>Some teams are </a:t>
            </a:r>
            <a:r>
              <a:rPr lang="en-US" b="1">
                <a:solidFill>
                  <a:srgbClr val="00B0F0"/>
                </a:solidFill>
              </a:rPr>
              <a:t>expected to multitask</a:t>
            </a:r>
            <a:r>
              <a:rPr lang="en-US"/>
              <a:t>, and often this multitasking gets out of hand. </a:t>
            </a:r>
          </a:p>
          <a:p>
            <a:pPr algn="just"/>
            <a:r>
              <a:rPr lang="en-US"/>
              <a:t>Team members feel like they already have a full-time job (like building software), plus many additional part-time tasks added on (like support, training, etc.)—and every bit of work is critical and top priority. </a:t>
            </a:r>
          </a:p>
          <a:p>
            <a:pPr algn="just"/>
            <a:r>
              <a:rPr lang="en-US"/>
              <a:t>The Scrum value of Focus helped us see that </a:t>
            </a:r>
            <a:r>
              <a:rPr lang="en-US" b="1">
                <a:solidFill>
                  <a:srgbClr val="00B0F0"/>
                </a:solidFill>
              </a:rPr>
              <a:t>switching between projects</a:t>
            </a:r>
            <a:r>
              <a:rPr lang="en-US"/>
              <a:t>, or even between </a:t>
            </a:r>
            <a:r>
              <a:rPr lang="en-US" b="1">
                <a:solidFill>
                  <a:srgbClr val="00B050"/>
                </a:solidFill>
              </a:rPr>
              <a:t>unrelated tasks</a:t>
            </a:r>
            <a:r>
              <a:rPr lang="en-US"/>
              <a:t> on the same project, adds unexpected delays and effort, because </a:t>
            </a:r>
            <a:r>
              <a:rPr lang="en-US" b="1">
                <a:solidFill>
                  <a:srgbClr val="7030A0"/>
                </a:solidFill>
              </a:rPr>
              <a:t>context switching</a:t>
            </a:r>
            <a:r>
              <a:rPr lang="en-US"/>
              <a:t> requires a lot of cognitive overhead. Now we have another word for this: </a:t>
            </a:r>
            <a:r>
              <a:rPr lang="en-US" b="1">
                <a:solidFill>
                  <a:schemeClr val="accent6">
                    <a:lumMod val="75000"/>
                  </a:schemeClr>
                </a:solidFill>
              </a:rPr>
              <a:t>waste.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8816975" cy="1143000"/>
          </a:xfrm>
        </p:spPr>
        <p:txBody>
          <a:bodyPr>
            <a:normAutofit fontScale="90000"/>
          </a:bodyPr>
          <a:lstStyle/>
          <a:p>
            <a:r>
              <a:rPr lang="en-US" b="1">
                <a:sym typeface="+mn-ea"/>
              </a:rPr>
              <a:t>Seven Wastes of Software Development</a:t>
            </a:r>
            <a:endParaRPr lang="en-US"/>
          </a:p>
        </p:txBody>
      </p:sp>
      <p:sp>
        <p:nvSpPr>
          <p:cNvPr id="3" name="Content Placeholder 2"/>
          <p:cNvSpPr>
            <a:spLocks noGrp="1"/>
          </p:cNvSpPr>
          <p:nvPr>
            <p:ph sz="half" idx="1"/>
          </p:nvPr>
        </p:nvSpPr>
        <p:spPr>
          <a:xfrm>
            <a:off x="210185" y="1071880"/>
            <a:ext cx="8472170" cy="5494655"/>
          </a:xfrm>
        </p:spPr>
        <p:txBody>
          <a:bodyPr>
            <a:normAutofit fontScale="80000" lnSpcReduction="10000"/>
          </a:bodyPr>
          <a:lstStyle/>
          <a:p>
            <a:pPr algn="just">
              <a:buFont typeface="Wingdings" panose="05000000000000000000" charset="0"/>
              <a:buChar char="v"/>
            </a:pPr>
            <a:r>
              <a:rPr lang="en-US" b="1">
                <a:solidFill>
                  <a:srgbClr val="FF0000"/>
                </a:solidFill>
              </a:rPr>
              <a:t>Waiting</a:t>
            </a:r>
          </a:p>
          <a:p>
            <a:pPr algn="just"/>
            <a:r>
              <a:rPr lang="en-US" b="1">
                <a:solidFill>
                  <a:srgbClr val="00B050"/>
                </a:solidFill>
              </a:rPr>
              <a:t>People or items that wait</a:t>
            </a:r>
            <a:r>
              <a:rPr lang="en-US"/>
              <a:t> for a work cycle to be completed</a:t>
            </a:r>
          </a:p>
          <a:p>
            <a:pPr algn="just"/>
            <a:r>
              <a:rPr lang="en-US"/>
              <a:t>There are so many things that professional software developers have to </a:t>
            </a:r>
            <a:r>
              <a:rPr lang="en-US" b="1">
                <a:solidFill>
                  <a:schemeClr val="tx2">
                    <a:lumMod val="60000"/>
                    <a:lumOff val="40000"/>
                  </a:schemeClr>
                </a:solidFill>
              </a:rPr>
              <a:t>sit around and wait for</a:t>
            </a:r>
            <a:r>
              <a:rPr lang="en-US"/>
              <a:t>: someone needs to </a:t>
            </a:r>
            <a:r>
              <a:rPr lang="en-US" b="1">
                <a:solidFill>
                  <a:srgbClr val="7030A0"/>
                </a:solidFill>
              </a:rPr>
              <a:t>finish reviewing a specification,</a:t>
            </a:r>
            <a:r>
              <a:rPr lang="en-US"/>
              <a:t> or approve access to some system that the project uses, or fix a computer problem, or obtain a software license... </a:t>
            </a:r>
            <a:r>
              <a:rPr lang="en-US" b="1">
                <a:solidFill>
                  <a:schemeClr val="accent6">
                    <a:lumMod val="75000"/>
                  </a:schemeClr>
                </a:solidFill>
              </a:rPr>
              <a:t>these are all waste.</a:t>
            </a:r>
          </a:p>
          <a:p>
            <a:pPr marL="0" indent="0" algn="just">
              <a:buNone/>
            </a:pPr>
            <a:endParaRPr lang="en-US" b="1">
              <a:solidFill>
                <a:schemeClr val="accent6">
                  <a:lumMod val="75000"/>
                </a:schemeClr>
              </a:solidFill>
            </a:endParaRPr>
          </a:p>
          <a:p>
            <a:pPr algn="just">
              <a:buFont typeface="Wingdings" panose="05000000000000000000" charset="0"/>
              <a:buChar char="v"/>
            </a:pPr>
            <a:r>
              <a:rPr lang="en-US" b="1">
                <a:solidFill>
                  <a:srgbClr val="FF0000"/>
                </a:solidFill>
              </a:rPr>
              <a:t>Motion</a:t>
            </a:r>
          </a:p>
          <a:p>
            <a:pPr algn="just"/>
            <a:r>
              <a:rPr lang="en-US" b="1">
                <a:solidFill>
                  <a:srgbClr val="00B050"/>
                </a:solidFill>
              </a:rPr>
              <a:t>Unnecessary movement with a process</a:t>
            </a:r>
            <a:endParaRPr lang="en-US"/>
          </a:p>
          <a:p>
            <a:pPr algn="just"/>
            <a:r>
              <a:rPr lang="en-US"/>
              <a:t>When the </a:t>
            </a:r>
            <a:r>
              <a:rPr lang="en-US" b="1">
                <a:solidFill>
                  <a:schemeClr val="tx2">
                    <a:lumMod val="60000"/>
                    <a:lumOff val="40000"/>
                  </a:schemeClr>
                </a:solidFill>
              </a:rPr>
              <a:t>team doesn’t sit together</a:t>
            </a:r>
            <a:r>
              <a:rPr lang="en-US"/>
              <a:t>, people literally have to stand up and walk to their team members in order to have a discussion. </a:t>
            </a:r>
          </a:p>
          <a:p>
            <a:pPr algn="just"/>
            <a:r>
              <a:rPr lang="en-US"/>
              <a:t>This extra motion can actually add days or even weeks to a project if you add up all of the </a:t>
            </a:r>
            <a:r>
              <a:rPr lang="en-US" b="1">
                <a:solidFill>
                  <a:schemeClr val="accent6">
                    <a:lumMod val="75000"/>
                  </a:schemeClr>
                </a:solidFill>
              </a:rPr>
              <a:t>time team members spend walking around</a:t>
            </a:r>
            <a:r>
              <a:rPr lang="en-US"/>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925" y="274955"/>
            <a:ext cx="8897620" cy="1143000"/>
          </a:xfrm>
        </p:spPr>
        <p:txBody>
          <a:bodyPr>
            <a:normAutofit fontScale="90000"/>
          </a:bodyPr>
          <a:lstStyle/>
          <a:p>
            <a:r>
              <a:rPr lang="en-US" b="1">
                <a:sym typeface="+mn-ea"/>
              </a:rPr>
              <a:t>Seven Wastes of Software Development</a:t>
            </a:r>
            <a:endParaRPr lang="en-US"/>
          </a:p>
        </p:txBody>
      </p:sp>
      <p:sp>
        <p:nvSpPr>
          <p:cNvPr id="3" name="Content Placeholder 2"/>
          <p:cNvSpPr>
            <a:spLocks noGrp="1"/>
          </p:cNvSpPr>
          <p:nvPr>
            <p:ph sz="half" idx="1"/>
          </p:nvPr>
        </p:nvSpPr>
        <p:spPr>
          <a:xfrm>
            <a:off x="252730" y="1600200"/>
            <a:ext cx="8774430" cy="5076190"/>
          </a:xfrm>
        </p:spPr>
        <p:txBody>
          <a:bodyPr>
            <a:normAutofit lnSpcReduction="10000"/>
          </a:bodyPr>
          <a:lstStyle/>
          <a:p>
            <a:pPr algn="just">
              <a:buFont typeface="Wingdings" panose="05000000000000000000" charset="0"/>
              <a:buChar char="v"/>
            </a:pPr>
            <a:r>
              <a:rPr lang="en-US" sz="2890" b="1">
                <a:solidFill>
                  <a:srgbClr val="FF0000"/>
                </a:solidFill>
              </a:rPr>
              <a:t>Defects</a:t>
            </a:r>
          </a:p>
          <a:p>
            <a:pPr algn="just"/>
            <a:r>
              <a:rPr lang="en-US" sz="2890" b="1">
                <a:solidFill>
                  <a:schemeClr val="tx2">
                    <a:lumMod val="60000"/>
                    <a:lumOff val="40000"/>
                  </a:schemeClr>
                </a:solidFill>
              </a:rPr>
              <a:t>Test-driven development</a:t>
            </a:r>
            <a:r>
              <a:rPr lang="en-US" sz="2890"/>
              <a:t> prevents a lot of defects. </a:t>
            </a:r>
          </a:p>
          <a:p>
            <a:pPr algn="just"/>
            <a:r>
              <a:rPr lang="en-US" sz="2890"/>
              <a:t>Every developer who is </a:t>
            </a:r>
            <a:r>
              <a:rPr lang="en-US" sz="2890" b="1">
                <a:solidFill>
                  <a:srgbClr val="00B050"/>
                </a:solidFill>
              </a:rPr>
              <a:t>“test infected”</a:t>
            </a:r>
            <a:r>
              <a:rPr lang="en-US" sz="2890"/>
              <a:t> had that </a:t>
            </a:r>
            <a:r>
              <a:rPr lang="en-US" sz="2890" b="1">
                <a:solidFill>
                  <a:srgbClr val="C00000"/>
                </a:solidFill>
              </a:rPr>
              <a:t>“a ha”</a:t>
            </a:r>
            <a:r>
              <a:rPr lang="en-US" sz="2890"/>
              <a:t> moment where a unit test caught a bug that would have been very </a:t>
            </a:r>
            <a:r>
              <a:rPr lang="en-US" sz="2890" b="1">
                <a:solidFill>
                  <a:srgbClr val="C00000"/>
                </a:solidFill>
              </a:rPr>
              <a:t>painful to fix later</a:t>
            </a:r>
            <a:r>
              <a:rPr lang="en-US" sz="2890"/>
              <a:t>, and realized that it took a lot less time to write all of the tests than it would have to </a:t>
            </a:r>
            <a:r>
              <a:rPr lang="en-US" sz="2890" b="1">
                <a:solidFill>
                  <a:schemeClr val="accent1"/>
                </a:solidFill>
              </a:rPr>
              <a:t>track down that one bug</a:t>
            </a:r>
            <a:r>
              <a:rPr lang="en-US" sz="2890"/>
              <a:t>—especially if a user discovers the bug after the software is released. </a:t>
            </a:r>
          </a:p>
          <a:p>
            <a:pPr algn="just"/>
            <a:r>
              <a:rPr lang="en-US" sz="2890"/>
              <a:t>On the other hand, when the team needs to stay late </a:t>
            </a:r>
            <a:r>
              <a:rPr lang="en-US" sz="2890" b="1">
                <a:solidFill>
                  <a:srgbClr val="00B050"/>
                </a:solidFill>
              </a:rPr>
              <a:t>scrambling to fix bugs</a:t>
            </a:r>
            <a:r>
              <a:rPr lang="en-US" sz="2890"/>
              <a:t> that could have been prevented, that’s waste.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noChangeAspect="1"/>
          </p:cNvGraphicFramePr>
          <p:nvPr>
            <p:ph sz="half" idx="1"/>
          </p:nvPr>
        </p:nvGraphicFramePr>
        <p:xfrm>
          <a:off x="390525" y="347980"/>
          <a:ext cx="8187055" cy="6182360"/>
        </p:xfrm>
        <a:graphic>
          <a:graphicData uri="http://schemas.openxmlformats.org/presentationml/2006/ole">
            <p:oleObj spid="_x0000_s4107" r:id="rId3" imgW="6485714" imgH="4715533" progId="PBrush">
              <p:embed/>
            </p:oleObj>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955" y="75883"/>
            <a:ext cx="8229600" cy="1143000"/>
          </a:xfrm>
        </p:spPr>
        <p:txBody>
          <a:bodyPr/>
          <a:lstStyle/>
          <a:p>
            <a:r>
              <a:rPr lang="en-US" b="1"/>
              <a:t> Lean Thinking</a:t>
            </a:r>
          </a:p>
        </p:txBody>
      </p:sp>
      <p:graphicFrame>
        <p:nvGraphicFramePr>
          <p:cNvPr id="5" name="Content Placeholder 4"/>
          <p:cNvGraphicFramePr>
            <a:graphicFrameLocks noGrp="1" noChangeAspect="1"/>
          </p:cNvGraphicFramePr>
          <p:nvPr>
            <p:ph sz="half" idx="1"/>
          </p:nvPr>
        </p:nvGraphicFramePr>
        <p:xfrm>
          <a:off x="405130" y="1447165"/>
          <a:ext cx="8353425" cy="5243195"/>
        </p:xfrm>
        <a:graphic>
          <a:graphicData uri="http://schemas.openxmlformats.org/presentationml/2006/ole">
            <p:oleObj spid="_x0000_s5131" r:id="rId3" imgW="6380952" imgH="4076190" progId="PBrush">
              <p:embed/>
            </p:oleObj>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Lean Tools</a:t>
            </a:r>
          </a:p>
        </p:txBody>
      </p:sp>
      <p:sp>
        <p:nvSpPr>
          <p:cNvPr id="3" name="Content Placeholder 2"/>
          <p:cNvSpPr>
            <a:spLocks noGrp="1"/>
          </p:cNvSpPr>
          <p:nvPr>
            <p:ph sz="half" idx="1"/>
          </p:nvPr>
        </p:nvSpPr>
        <p:spPr>
          <a:xfrm>
            <a:off x="457200" y="1600200"/>
            <a:ext cx="8039735" cy="4526280"/>
          </a:xfrm>
        </p:spPr>
        <p:txBody>
          <a:bodyPr/>
          <a:lstStyle/>
          <a:p>
            <a:r>
              <a:rPr lang="en-US" b="1"/>
              <a:t>Just-in-time</a:t>
            </a:r>
          </a:p>
          <a:p>
            <a:r>
              <a:rPr lang="en-US" b="1"/>
              <a:t>Kaizen</a:t>
            </a:r>
          </a:p>
          <a:p>
            <a:r>
              <a:rPr lang="en-US" b="1"/>
              <a:t>Queuing Theory</a:t>
            </a:r>
          </a:p>
          <a:p>
            <a:r>
              <a:rPr lang="en-US" b="1"/>
              <a:t>Leadership</a:t>
            </a:r>
          </a:p>
          <a:p>
            <a:r>
              <a:rPr lang="en-US" b="1"/>
              <a:t>Cost of delay</a:t>
            </a:r>
          </a:p>
          <a:p>
            <a:r>
              <a:rPr lang="en-US" b="1">
                <a:solidFill>
                  <a:srgbClr val="0070C0"/>
                </a:solidFill>
              </a:rPr>
              <a:t>Value stream mapping</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4385"/>
          </a:xfrm>
        </p:spPr>
        <p:txBody>
          <a:bodyPr>
            <a:normAutofit/>
          </a:bodyPr>
          <a:lstStyle/>
          <a:p>
            <a:r>
              <a:rPr lang="en-US" b="1"/>
              <a:t>Value Stream Map </a:t>
            </a:r>
          </a:p>
        </p:txBody>
      </p:sp>
      <p:sp>
        <p:nvSpPr>
          <p:cNvPr id="3" name="Content Placeholder 2"/>
          <p:cNvSpPr>
            <a:spLocks noGrp="1"/>
          </p:cNvSpPr>
          <p:nvPr>
            <p:ph sz="half" idx="1"/>
          </p:nvPr>
        </p:nvSpPr>
        <p:spPr>
          <a:xfrm>
            <a:off x="457200" y="870585"/>
            <a:ext cx="8273415" cy="5763260"/>
          </a:xfrm>
        </p:spPr>
        <p:txBody>
          <a:bodyPr>
            <a:normAutofit/>
          </a:bodyPr>
          <a:lstStyle/>
          <a:p>
            <a:pPr algn="just"/>
            <a:r>
              <a:rPr lang="en-US"/>
              <a:t>In Lean Software Development, Mary and Tom Poppendieck recommend a simple </a:t>
            </a:r>
            <a:r>
              <a:rPr lang="en-US" b="1">
                <a:solidFill>
                  <a:srgbClr val="0070C0"/>
                </a:solidFill>
              </a:rPr>
              <a:t>pencil-and-paper exercise to help you find waste</a:t>
            </a:r>
            <a:r>
              <a:rPr lang="en-US"/>
              <a:t>. </a:t>
            </a:r>
          </a:p>
          <a:p>
            <a:pPr algn="just"/>
            <a:r>
              <a:rPr lang="en-US"/>
              <a:t>It’s called a </a:t>
            </a:r>
            <a:r>
              <a:rPr lang="en-US" b="1">
                <a:solidFill>
                  <a:srgbClr val="00B050"/>
                </a:solidFill>
              </a:rPr>
              <a:t>value stream map</a:t>
            </a:r>
            <a:r>
              <a:rPr lang="en-US"/>
              <a:t>, and you can build one for any process. </a:t>
            </a:r>
          </a:p>
          <a:p>
            <a:pPr algn="just"/>
            <a:r>
              <a:rPr lang="en-US"/>
              <a:t>Like many techniques used in conjunction with Lean, it originated in manufacturing, but it makes </a:t>
            </a:r>
            <a:r>
              <a:rPr lang="en-US" b="1">
                <a:solidFill>
                  <a:srgbClr val="FF0000"/>
                </a:solidFill>
              </a:rPr>
              <a:t>sense for software teams as well.</a:t>
            </a:r>
          </a:p>
          <a:p>
            <a:pPr marL="0" indent="0" algn="just">
              <a:buNone/>
            </a:pPr>
            <a:endParaRPr lang="en-US" b="1">
              <a:solidFill>
                <a:srgbClr val="FF0000"/>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normAutofit/>
          </a:bodyPr>
          <a:lstStyle/>
          <a:p>
            <a:r>
              <a:rPr lang="en-US" b="1">
                <a:sym typeface="+mn-ea"/>
              </a:rPr>
              <a:t> Steps in Value Stream Map </a:t>
            </a:r>
            <a:endParaRPr lang="en-US" b="1"/>
          </a:p>
        </p:txBody>
      </p:sp>
      <p:sp>
        <p:nvSpPr>
          <p:cNvPr id="3" name="Content Placeholder 2"/>
          <p:cNvSpPr>
            <a:spLocks noGrp="1"/>
          </p:cNvSpPr>
          <p:nvPr>
            <p:ph sz="half" idx="1"/>
          </p:nvPr>
        </p:nvSpPr>
        <p:spPr>
          <a:xfrm>
            <a:off x="457200" y="1188085"/>
            <a:ext cx="8228965" cy="5592445"/>
          </a:xfrm>
        </p:spPr>
        <p:txBody>
          <a:bodyPr>
            <a:normAutofit fontScale="87500" lnSpcReduction="20000"/>
          </a:bodyPr>
          <a:lstStyle/>
          <a:p>
            <a:pPr algn="just"/>
            <a:r>
              <a:rPr lang="en-US"/>
              <a:t>Start with a </a:t>
            </a:r>
            <a:r>
              <a:rPr lang="en-US" b="1">
                <a:solidFill>
                  <a:srgbClr val="FFC000"/>
                </a:solidFill>
              </a:rPr>
              <a:t>small unit of value</a:t>
            </a:r>
            <a:r>
              <a:rPr lang="en-US"/>
              <a:t> that the team has already built and delivered to the customers or users. </a:t>
            </a:r>
          </a:p>
          <a:p>
            <a:pPr algn="just"/>
            <a:r>
              <a:rPr lang="en-US"/>
              <a:t>Try to find the </a:t>
            </a:r>
            <a:r>
              <a:rPr lang="en-US" b="1">
                <a:solidFill>
                  <a:srgbClr val="0070C0"/>
                </a:solidFill>
              </a:rPr>
              <a:t>smallest unit possible</a:t>
            </a:r>
            <a:r>
              <a:rPr lang="en-US"/>
              <a:t>— this is an example of a minimal marketable feature (MMF), or the smallest “chunk” of the product that the customers are </a:t>
            </a:r>
            <a:r>
              <a:rPr lang="en-US" b="1">
                <a:solidFill>
                  <a:srgbClr val="FF0000"/>
                </a:solidFill>
              </a:rPr>
              <a:t>willing to prioritize</a:t>
            </a:r>
            <a:r>
              <a:rPr lang="en-US"/>
              <a:t>. </a:t>
            </a:r>
          </a:p>
          <a:p>
            <a:pPr algn="just"/>
            <a:r>
              <a:rPr lang="en-US"/>
              <a:t>Think back through all of the steps that the unit went through from </a:t>
            </a:r>
            <a:r>
              <a:rPr lang="en-US" b="1">
                <a:solidFill>
                  <a:srgbClr val="FFC000"/>
                </a:solidFill>
              </a:rPr>
              <a:t>inception to delivery.</a:t>
            </a:r>
            <a:r>
              <a:rPr lang="en-US"/>
              <a:t> </a:t>
            </a:r>
          </a:p>
          <a:p>
            <a:pPr algn="just"/>
            <a:r>
              <a:rPr lang="en-US"/>
              <a:t>Draw a</a:t>
            </a:r>
            <a:r>
              <a:rPr lang="en-US" b="1">
                <a:solidFill>
                  <a:srgbClr val="00B050"/>
                </a:solidFill>
              </a:rPr>
              <a:t> box for every one of these steps</a:t>
            </a:r>
            <a:r>
              <a:rPr lang="en-US"/>
              <a:t>, using arrows to connect the boxes. </a:t>
            </a:r>
          </a:p>
          <a:p>
            <a:pPr algn="just"/>
            <a:r>
              <a:rPr lang="en-US"/>
              <a:t>Because you’re drawing the actual path that a real feature took through your project, this will be a straight line— there are no decision points or forks in the path, because it represents the actual history of a real feature.</a:t>
            </a:r>
          </a:p>
          <a:p>
            <a:pPr algn="just"/>
            <a:r>
              <a:rPr lang="en-US"/>
              <a:t>An </a:t>
            </a:r>
            <a:r>
              <a:rPr lang="en-US" b="1">
                <a:solidFill>
                  <a:srgbClr val="00B0F0"/>
                </a:solidFill>
              </a:rPr>
              <a:t>MMF often takes the form of a user story, requirement, or feature request.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Value Stream Map</a:t>
            </a:r>
          </a:p>
        </p:txBody>
      </p:sp>
      <p:pic>
        <p:nvPicPr>
          <p:cNvPr id="5" name="Content Placeholder 4"/>
          <p:cNvPicPr>
            <a:picLocks noGrp="1" noChangeAspect="1"/>
          </p:cNvPicPr>
          <p:nvPr>
            <p:ph sz="half" idx="1"/>
          </p:nvPr>
        </p:nvPicPr>
        <p:blipFill>
          <a:blip r:embed="rId2"/>
          <a:stretch>
            <a:fillRect/>
          </a:stretch>
        </p:blipFill>
        <p:spPr>
          <a:xfrm>
            <a:off x="457200" y="1500505"/>
            <a:ext cx="8152130" cy="2735580"/>
          </a:xfrm>
          <a:prstGeom prst="rect">
            <a:avLst/>
          </a:prstGeom>
        </p:spPr>
      </p:pic>
      <p:sp>
        <p:nvSpPr>
          <p:cNvPr id="6" name="Text Box 5"/>
          <p:cNvSpPr txBox="1"/>
          <p:nvPr/>
        </p:nvSpPr>
        <p:spPr>
          <a:xfrm>
            <a:off x="280670" y="4419600"/>
            <a:ext cx="8406765" cy="2399665"/>
          </a:xfrm>
          <a:prstGeom prst="rect">
            <a:avLst/>
          </a:prstGeom>
          <a:noFill/>
        </p:spPr>
        <p:txBody>
          <a:bodyPr wrap="square" rtlCol="0" anchor="t">
            <a:spAutoFit/>
          </a:bodyPr>
          <a:lstStyle/>
          <a:p>
            <a:pPr marL="342900" indent="-342900" algn="just">
              <a:buFont typeface="Arial" panose="020B0604020202020204" pitchFamily="34" charset="0"/>
              <a:buChar char="•"/>
            </a:pPr>
            <a:r>
              <a:rPr lang="en-US" sz="2500"/>
              <a:t>The value stream map clearly shows how much </a:t>
            </a:r>
            <a:r>
              <a:rPr lang="en-US" sz="2500" b="1">
                <a:solidFill>
                  <a:srgbClr val="00B0F0"/>
                </a:solidFill>
              </a:rPr>
              <a:t>wait time</a:t>
            </a:r>
            <a:r>
              <a:rPr lang="en-US" sz="2500"/>
              <a:t> was involved during the process. </a:t>
            </a:r>
          </a:p>
          <a:p>
            <a:pPr marL="342900" indent="-342900" algn="just">
              <a:buFont typeface="Arial" panose="020B0604020202020204" pitchFamily="34" charset="0"/>
              <a:buChar char="•"/>
            </a:pPr>
            <a:r>
              <a:rPr lang="en-US" sz="2500"/>
              <a:t>It took a total of </a:t>
            </a:r>
            <a:r>
              <a:rPr lang="en-US" sz="2500" b="1">
                <a:solidFill>
                  <a:srgbClr val="FFC000"/>
                </a:solidFill>
              </a:rPr>
              <a:t>71 days</a:t>
            </a:r>
            <a:r>
              <a:rPr lang="en-US" sz="2500"/>
              <a:t> from the time the team started work on it to the time that it was deployed. </a:t>
            </a:r>
          </a:p>
          <a:p>
            <a:pPr marL="342900" indent="-342900" algn="just">
              <a:buFont typeface="Arial" panose="020B0604020202020204" pitchFamily="34" charset="0"/>
              <a:buChar char="•"/>
            </a:pPr>
            <a:r>
              <a:rPr lang="en-US" sz="2500"/>
              <a:t>Of those</a:t>
            </a:r>
            <a:r>
              <a:rPr lang="en-US" sz="2500" b="1">
                <a:solidFill>
                  <a:srgbClr val="FFC000"/>
                </a:solidFill>
              </a:rPr>
              <a:t> 71 days</a:t>
            </a:r>
            <a:r>
              <a:rPr lang="en-US" sz="2500"/>
              <a:t>, </a:t>
            </a:r>
            <a:r>
              <a:rPr lang="en-US" sz="2500" b="1">
                <a:solidFill>
                  <a:srgbClr val="C00000"/>
                </a:solidFill>
              </a:rPr>
              <a:t>35.5</a:t>
            </a:r>
            <a:r>
              <a:rPr lang="en-US" sz="2500"/>
              <a:t> were spent waiting rather than working.</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75030"/>
          </a:xfrm>
        </p:spPr>
        <p:txBody>
          <a:bodyPr/>
          <a:lstStyle/>
          <a:p>
            <a:r>
              <a:rPr lang="en-US" b="1"/>
              <a:t>Find the Root Cause of Problems</a:t>
            </a:r>
          </a:p>
        </p:txBody>
      </p:sp>
      <p:sp>
        <p:nvSpPr>
          <p:cNvPr id="3" name="Content Placeholder 2"/>
          <p:cNvSpPr>
            <a:spLocks noGrp="1"/>
          </p:cNvSpPr>
          <p:nvPr>
            <p:ph sz="half" idx="1"/>
          </p:nvPr>
        </p:nvSpPr>
        <p:spPr>
          <a:xfrm>
            <a:off x="457200" y="1028065"/>
            <a:ext cx="8348980" cy="5495290"/>
          </a:xfrm>
        </p:spPr>
        <p:txBody>
          <a:bodyPr>
            <a:normAutofit fontScale="87500" lnSpcReduction="20000"/>
          </a:bodyPr>
          <a:lstStyle/>
          <a:p>
            <a:pPr algn="just"/>
            <a:r>
              <a:rPr lang="en-US"/>
              <a:t>Lean teams utilize a technique called </a:t>
            </a:r>
            <a:r>
              <a:rPr lang="en-US" b="1">
                <a:solidFill>
                  <a:srgbClr val="00B0F0"/>
                </a:solidFill>
              </a:rPr>
              <a:t>Five Whys</a:t>
            </a:r>
            <a:r>
              <a:rPr lang="en-US"/>
              <a:t> to figure out the root cause of a problem.</a:t>
            </a:r>
          </a:p>
          <a:p>
            <a:pPr algn="just"/>
            <a:r>
              <a:rPr lang="en-US" b="1">
                <a:solidFill>
                  <a:srgbClr val="FF0000"/>
                </a:solidFill>
              </a:rPr>
              <a:t>Why is the average lead time so long?</a:t>
            </a:r>
          </a:p>
          <a:p>
            <a:pPr marL="0" indent="0" algn="just">
              <a:buNone/>
            </a:pPr>
            <a:r>
              <a:rPr lang="en-US"/>
              <a:t>	Because it’s taking over six months for most users’ feature 	requests to make it into the software.</a:t>
            </a:r>
          </a:p>
          <a:p>
            <a:pPr algn="just"/>
            <a:r>
              <a:rPr lang="en-US" b="1">
                <a:solidFill>
                  <a:srgbClr val="FF0000"/>
                </a:solidFill>
              </a:rPr>
              <a:t>Why is it taking over six months for users’ requests to make it into the software?</a:t>
            </a:r>
          </a:p>
          <a:p>
            <a:pPr marL="0" indent="0" algn="just">
              <a:buNone/>
            </a:pPr>
            <a:r>
              <a:rPr lang="en-US"/>
              <a:t>	Because those feature requests are almost always pushed back 	to make room on the schedule for last-minute changes.</a:t>
            </a:r>
          </a:p>
          <a:p>
            <a:pPr algn="just"/>
            <a:r>
              <a:rPr lang="en-US" b="1">
                <a:solidFill>
                  <a:srgbClr val="FF0000"/>
                </a:solidFill>
              </a:rPr>
              <a:t>Why are there so many last-minute changes?</a:t>
            </a:r>
          </a:p>
          <a:p>
            <a:pPr marL="0" indent="0" algn="just">
              <a:buNone/>
            </a:pPr>
            <a:r>
              <a:rPr lang="en-US"/>
              <a:t>	 Because before the team can release software to the users, 	they need to do a review with senior managers, and those 	senior managers almost always ask for basic, foundational 	changes.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75"/>
            <a:ext cx="8229600" cy="940435"/>
          </a:xfrm>
        </p:spPr>
        <p:txBody>
          <a:bodyPr>
            <a:normAutofit/>
          </a:bodyPr>
          <a:lstStyle/>
          <a:p>
            <a:r>
              <a:rPr lang="en-US" b="1">
                <a:sym typeface="+mn-ea"/>
              </a:rPr>
              <a:t>Find the Root Cause of Problems</a:t>
            </a:r>
            <a:endParaRPr lang="en-US" b="1"/>
          </a:p>
        </p:txBody>
      </p:sp>
      <p:sp>
        <p:nvSpPr>
          <p:cNvPr id="3" name="Content Placeholder 2"/>
          <p:cNvSpPr>
            <a:spLocks noGrp="1"/>
          </p:cNvSpPr>
          <p:nvPr>
            <p:ph sz="half" idx="1"/>
          </p:nvPr>
        </p:nvSpPr>
        <p:spPr>
          <a:xfrm>
            <a:off x="299720" y="1111885"/>
            <a:ext cx="8461375" cy="5592445"/>
          </a:xfrm>
        </p:spPr>
        <p:txBody>
          <a:bodyPr>
            <a:noAutofit/>
          </a:bodyPr>
          <a:lstStyle/>
          <a:p>
            <a:pPr algn="just"/>
            <a:r>
              <a:rPr lang="en-US" sz="2400" b="1">
                <a:solidFill>
                  <a:srgbClr val="FF0000"/>
                </a:solidFill>
              </a:rPr>
              <a:t>Why do the senior managers almost always ask for basic, foundational changes?</a:t>
            </a:r>
          </a:p>
          <a:p>
            <a:pPr marL="0" indent="0" algn="just">
              <a:buNone/>
            </a:pPr>
            <a:r>
              <a:rPr lang="en-US" sz="2400"/>
              <a:t>Because they all have very specific opinions about how the software should look, how it needs to function, and sometimes even the technical tools that should be used to build it, but the team doesn’t hear those opinions until after they’ve built</a:t>
            </a:r>
          </a:p>
          <a:p>
            <a:pPr marL="0" indent="0" algn="just">
              <a:buNone/>
            </a:pPr>
            <a:r>
              <a:rPr lang="en-US" sz="2400"/>
              <a:t>all of the code and have demoed it to the senior managers.</a:t>
            </a:r>
          </a:p>
          <a:p>
            <a:pPr marL="0" indent="0" algn="just">
              <a:buNone/>
            </a:pPr>
            <a:r>
              <a:rPr lang="en-US" sz="2400" b="1">
                <a:solidFill>
                  <a:srgbClr val="FF0000"/>
                </a:solidFill>
              </a:rPr>
              <a:t>• Why doesn’t the team hear those opinions until after they’ve built all of the code and given a demo? </a:t>
            </a:r>
          </a:p>
          <a:p>
            <a:pPr marL="0" indent="0" algn="just">
              <a:buNone/>
            </a:pPr>
            <a:r>
              <a:rPr lang="en-US" sz="2400"/>
              <a:t>Because the senior managers are too busy to talk to the team early in the project, so they’ll only attend the final demo—and send the team back to the drawing board after the software is finished.</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350" y="105410"/>
            <a:ext cx="8716645" cy="1189990"/>
          </a:xfrm>
        </p:spPr>
        <p:txBody>
          <a:bodyPr>
            <a:normAutofit fontScale="90000"/>
          </a:bodyPr>
          <a:lstStyle/>
          <a:p>
            <a:r>
              <a:rPr lang="en-US" b="1"/>
              <a:t>Area Chart to Visualize Work in Progress</a:t>
            </a:r>
          </a:p>
        </p:txBody>
      </p:sp>
      <p:sp>
        <p:nvSpPr>
          <p:cNvPr id="3" name="Content Placeholder 2"/>
          <p:cNvSpPr>
            <a:spLocks noGrp="1"/>
          </p:cNvSpPr>
          <p:nvPr>
            <p:ph sz="half" idx="1"/>
          </p:nvPr>
        </p:nvSpPr>
        <p:spPr>
          <a:xfrm>
            <a:off x="299720" y="1188085"/>
            <a:ext cx="8430895" cy="5516245"/>
          </a:xfrm>
        </p:spPr>
        <p:txBody>
          <a:bodyPr>
            <a:normAutofit fontScale="87500" lnSpcReduction="20000"/>
          </a:bodyPr>
          <a:lstStyle/>
          <a:p>
            <a:pPr algn="just"/>
            <a:r>
              <a:rPr lang="en-US"/>
              <a:t>This is a simple diagram that shows how the </a:t>
            </a:r>
            <a:r>
              <a:rPr lang="en-US" b="1">
                <a:solidFill>
                  <a:srgbClr val="0070C0"/>
                </a:solidFill>
              </a:rPr>
              <a:t>minimal marketable features</a:t>
            </a:r>
            <a:r>
              <a:rPr lang="en-US"/>
              <a:t> are flowing through your value stream.</a:t>
            </a:r>
          </a:p>
          <a:p>
            <a:pPr algn="just"/>
            <a:r>
              <a:rPr lang="en-US"/>
              <a:t>If you’ve created a </a:t>
            </a:r>
            <a:r>
              <a:rPr lang="en-US" b="1">
                <a:solidFill>
                  <a:srgbClr val="00B050"/>
                </a:solidFill>
              </a:rPr>
              <a:t>value stream map</a:t>
            </a:r>
            <a:r>
              <a:rPr lang="en-US"/>
              <a:t>, then you can build a WIP area chart, which is an area chart that shows how features, products, or other measures of value flow through </a:t>
            </a:r>
            <a:r>
              <a:rPr lang="en-US" b="1">
                <a:solidFill>
                  <a:srgbClr val="FF0000"/>
                </a:solidFill>
              </a:rPr>
              <a:t>every part of the value stream</a:t>
            </a:r>
            <a:r>
              <a:rPr lang="en-US"/>
              <a:t>.</a:t>
            </a:r>
          </a:p>
          <a:p>
            <a:pPr algn="just"/>
            <a:r>
              <a:rPr lang="en-US"/>
              <a:t> This works best if you use MMFs, because they represent the </a:t>
            </a:r>
            <a:r>
              <a:rPr lang="en-US" b="1">
                <a:solidFill>
                  <a:srgbClr val="7030A0"/>
                </a:solidFill>
              </a:rPr>
              <a:t>minimally sized “chunk”</a:t>
            </a:r>
            <a:r>
              <a:rPr lang="en-US"/>
              <a:t> of value that’s created.</a:t>
            </a:r>
          </a:p>
          <a:p>
            <a:pPr algn="just"/>
            <a:r>
              <a:rPr lang="en-US"/>
              <a:t>The goal of the WIP area chart is to show a complete history of the work in progress —all of the </a:t>
            </a:r>
            <a:r>
              <a:rPr lang="en-US" b="1">
                <a:solidFill>
                  <a:schemeClr val="accent6">
                    <a:lumMod val="75000"/>
                  </a:schemeClr>
                </a:solidFill>
              </a:rPr>
              <a:t>valuable features</a:t>
            </a:r>
            <a:r>
              <a:rPr lang="en-US"/>
              <a:t> that the team is currently working on.</a:t>
            </a:r>
          </a:p>
          <a:p>
            <a:pPr algn="just"/>
            <a:r>
              <a:rPr lang="en-US"/>
              <a:t>The chart will show us</a:t>
            </a:r>
            <a:r>
              <a:rPr lang="en-US" b="1">
                <a:solidFill>
                  <a:srgbClr val="00B050"/>
                </a:solidFill>
              </a:rPr>
              <a:t> how many MMFs</a:t>
            </a:r>
            <a:r>
              <a:rPr lang="en-US"/>
              <a:t> were in progress on any date, and how those MMFs broke down across the various value stream stages. </a:t>
            </a:r>
          </a:p>
          <a:p>
            <a:pPr algn="just"/>
            <a:r>
              <a:rPr lang="en-US"/>
              <a:t>The work in progress is a </a:t>
            </a:r>
            <a:r>
              <a:rPr lang="en-US" b="1">
                <a:solidFill>
                  <a:schemeClr val="accent6">
                    <a:lumMod val="75000"/>
                  </a:schemeClr>
                </a:solidFill>
              </a:rPr>
              <a:t>measurement of features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93445"/>
          </a:xfrm>
        </p:spPr>
        <p:txBody>
          <a:bodyPr/>
          <a:lstStyle/>
          <a:p>
            <a:r>
              <a:rPr lang="en-US" b="1">
                <a:sym typeface="+mn-ea"/>
              </a:rPr>
              <a:t>Area Chart</a:t>
            </a:r>
            <a:endParaRPr lang="en-US" b="1"/>
          </a:p>
        </p:txBody>
      </p:sp>
      <p:pic>
        <p:nvPicPr>
          <p:cNvPr id="5" name="Content Placeholder 4"/>
          <p:cNvPicPr>
            <a:picLocks noGrp="1" noChangeAspect="1"/>
          </p:cNvPicPr>
          <p:nvPr>
            <p:ph sz="half" idx="1"/>
          </p:nvPr>
        </p:nvPicPr>
        <p:blipFill>
          <a:blip r:embed="rId2"/>
          <a:stretch>
            <a:fillRect/>
          </a:stretch>
        </p:blipFill>
        <p:spPr>
          <a:xfrm>
            <a:off x="609600" y="1045845"/>
            <a:ext cx="7235190" cy="2563495"/>
          </a:xfrm>
          <a:prstGeom prst="rect">
            <a:avLst/>
          </a:prstGeom>
        </p:spPr>
      </p:pic>
      <p:sp>
        <p:nvSpPr>
          <p:cNvPr id="6" name="Text Box 5"/>
          <p:cNvSpPr txBox="1"/>
          <p:nvPr/>
        </p:nvSpPr>
        <p:spPr>
          <a:xfrm>
            <a:off x="381000" y="3733800"/>
            <a:ext cx="8319135" cy="2799715"/>
          </a:xfrm>
          <a:prstGeom prst="rect">
            <a:avLst/>
          </a:prstGeom>
          <a:noFill/>
        </p:spPr>
        <p:txBody>
          <a:bodyPr wrap="square" rtlCol="0" anchor="t">
            <a:spAutoFit/>
          </a:bodyPr>
          <a:lstStyle/>
          <a:p>
            <a:pPr marL="342900" indent="-342900" algn="just">
              <a:buFont typeface="Arial" panose="020B0604020202020204" pitchFamily="34" charset="0"/>
              <a:buChar char="•"/>
            </a:pPr>
            <a:r>
              <a:rPr lang="en-US" sz="2200"/>
              <a:t>We’ll use this value stream map to build a </a:t>
            </a:r>
            <a:r>
              <a:rPr lang="en-US" sz="2200" b="1">
                <a:solidFill>
                  <a:schemeClr val="accent6">
                    <a:lumMod val="50000"/>
                  </a:schemeClr>
                </a:solidFill>
              </a:rPr>
              <a:t>work-in-progress (WIP) area chart.</a:t>
            </a:r>
          </a:p>
          <a:p>
            <a:pPr marL="342900" indent="-342900" algn="just">
              <a:buFont typeface="Arial" panose="020B0604020202020204" pitchFamily="34" charset="0"/>
              <a:buChar char="•"/>
            </a:pPr>
            <a:r>
              <a:rPr lang="en-US" sz="2200"/>
              <a:t>To build the WIP area chart,</a:t>
            </a:r>
            <a:r>
              <a:rPr lang="en-US" sz="2200" b="1">
                <a:solidFill>
                  <a:srgbClr val="0070C0"/>
                </a:solidFill>
              </a:rPr>
              <a:t> start with an x-axis</a:t>
            </a:r>
            <a:r>
              <a:rPr lang="en-US" sz="2200"/>
              <a:t> that shows the </a:t>
            </a:r>
            <a:r>
              <a:rPr lang="en-US" sz="2200" b="1">
                <a:solidFill>
                  <a:srgbClr val="0070C0"/>
                </a:solidFill>
              </a:rPr>
              <a:t>date</a:t>
            </a:r>
            <a:r>
              <a:rPr lang="en-US" sz="2200"/>
              <a:t>, and a </a:t>
            </a:r>
            <a:r>
              <a:rPr lang="en-US" sz="2200" b="1">
                <a:solidFill>
                  <a:srgbClr val="7030A0"/>
                </a:solidFill>
              </a:rPr>
              <a:t>y-axis that shows the number of MMFs</a:t>
            </a:r>
            <a:r>
              <a:rPr lang="en-US" sz="2200"/>
              <a:t>. </a:t>
            </a:r>
          </a:p>
          <a:p>
            <a:pPr marL="342900" indent="-342900" algn="just">
              <a:buFont typeface="Arial" panose="020B0604020202020204" pitchFamily="34" charset="0"/>
              <a:buChar char="•"/>
            </a:pPr>
            <a:r>
              <a:rPr lang="en-US" sz="2200"/>
              <a:t>The chart has a line for each of the boxes in the value stream map. </a:t>
            </a:r>
          </a:p>
          <a:p>
            <a:pPr marL="342900" indent="-342900" algn="just">
              <a:buFont typeface="Arial" panose="020B0604020202020204" pitchFamily="34" charset="0"/>
              <a:buChar char="•"/>
            </a:pPr>
            <a:r>
              <a:rPr lang="en-US" sz="2200"/>
              <a:t>The lines divide the chart into areas for boxes in the value stream map.</a:t>
            </a:r>
          </a:p>
          <a:p>
            <a:pPr algn="just"/>
            <a:endParaRPr lang="en-US" sz="22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26770"/>
          </a:xfrm>
        </p:spPr>
        <p:txBody>
          <a:bodyPr>
            <a:normAutofit/>
          </a:bodyPr>
          <a:lstStyle/>
          <a:p>
            <a:r>
              <a:rPr lang="en-US" b="1">
                <a:sym typeface="+mn-ea"/>
              </a:rPr>
              <a:t>Area Chart</a:t>
            </a:r>
            <a:endParaRPr lang="en-US" b="1"/>
          </a:p>
        </p:txBody>
      </p:sp>
      <p:sp>
        <p:nvSpPr>
          <p:cNvPr id="3" name="Content Placeholder 2"/>
          <p:cNvSpPr>
            <a:spLocks noGrp="1"/>
          </p:cNvSpPr>
          <p:nvPr>
            <p:ph sz="half" idx="1"/>
          </p:nvPr>
        </p:nvSpPr>
        <p:spPr>
          <a:xfrm>
            <a:off x="457200" y="902970"/>
            <a:ext cx="8196580" cy="5223510"/>
          </a:xfrm>
        </p:spPr>
        <p:txBody>
          <a:bodyPr>
            <a:normAutofit/>
          </a:bodyPr>
          <a:lstStyle/>
          <a:p>
            <a:pPr algn="just"/>
            <a:r>
              <a:rPr lang="en-US">
                <a:sym typeface="+mn-ea"/>
              </a:rPr>
              <a:t>There are no </a:t>
            </a:r>
            <a:r>
              <a:rPr lang="en-US" b="1">
                <a:solidFill>
                  <a:srgbClr val="00B050"/>
                </a:solidFill>
                <a:sym typeface="+mn-ea"/>
              </a:rPr>
              <a:t>MMFs in progress</a:t>
            </a:r>
            <a:r>
              <a:rPr lang="en-US">
                <a:sym typeface="+mn-ea"/>
              </a:rPr>
              <a:t> before the project starts, so there’s just a single dot at </a:t>
            </a:r>
            <a:r>
              <a:rPr lang="en-US" b="1">
                <a:solidFill>
                  <a:schemeClr val="accent6">
                    <a:lumMod val="50000"/>
                  </a:schemeClr>
                </a:solidFill>
                <a:sym typeface="+mn-ea"/>
              </a:rPr>
              <a:t>X=0</a:t>
            </a:r>
            <a:r>
              <a:rPr lang="en-US">
                <a:sym typeface="+mn-ea"/>
              </a:rPr>
              <a:t> at the lefthand side of the diagram (day 0).</a:t>
            </a:r>
            <a:endParaRPr lang="en-US"/>
          </a:p>
          <a:p>
            <a:pPr algn="just"/>
            <a:r>
              <a:rPr lang="en-US"/>
              <a:t>Let’s say that when the </a:t>
            </a:r>
            <a:r>
              <a:rPr lang="en-US" b="1">
                <a:solidFill>
                  <a:srgbClr val="FFC000"/>
                </a:solidFill>
              </a:rPr>
              <a:t>project starts</a:t>
            </a:r>
            <a:r>
              <a:rPr lang="en-US"/>
              <a:t>, the team starts working with the users on nine user stories, and they’re using those </a:t>
            </a:r>
            <a:r>
              <a:rPr lang="en-US" b="1">
                <a:solidFill>
                  <a:srgbClr val="7030A0"/>
                </a:solidFill>
              </a:rPr>
              <a:t>user stories as MMFs</a:t>
            </a:r>
            <a:r>
              <a:rPr lang="en-US"/>
              <a:t> for their project.</a:t>
            </a:r>
          </a:p>
          <a:p>
            <a:pPr algn="just"/>
            <a:r>
              <a:rPr lang="en-US"/>
              <a:t>Then a few days later, they add </a:t>
            </a:r>
            <a:r>
              <a:rPr lang="en-US" b="1">
                <a:solidFill>
                  <a:srgbClr val="7030A0"/>
                </a:solidFill>
              </a:rPr>
              <a:t>three more stories</a:t>
            </a:r>
            <a:r>
              <a:rPr lang="en-US"/>
              <a:t>.</a:t>
            </a:r>
          </a:p>
          <a:p>
            <a:pPr algn="just"/>
            <a:r>
              <a:rPr lang="en-US"/>
              <a:t>You’ll draw a dot at 9 for the first day, then another at</a:t>
            </a:r>
            <a:r>
              <a:rPr lang="en-US" b="1">
                <a:solidFill>
                  <a:schemeClr val="accent6">
                    <a:lumMod val="50000"/>
                  </a:schemeClr>
                </a:solidFill>
              </a:rPr>
              <a:t> 9 + 3 = 12</a:t>
            </a:r>
            <a:r>
              <a:rPr lang="en-US"/>
              <a:t> when those new MMFs were added, and you’ll connect them.</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Area Chart</a:t>
            </a:r>
          </a:p>
        </p:txBody>
      </p:sp>
      <p:pic>
        <p:nvPicPr>
          <p:cNvPr id="5" name="Content Placeholder 4"/>
          <p:cNvPicPr>
            <a:picLocks noGrp="1" noChangeAspect="1"/>
          </p:cNvPicPr>
          <p:nvPr>
            <p:ph sz="half" idx="1"/>
          </p:nvPr>
        </p:nvPicPr>
        <p:blipFill>
          <a:blip r:embed="rId2"/>
          <a:stretch>
            <a:fillRect/>
          </a:stretch>
        </p:blipFill>
        <p:spPr>
          <a:xfrm>
            <a:off x="457200" y="1839595"/>
            <a:ext cx="7869555" cy="441325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3400" y="75883"/>
            <a:ext cx="8229600" cy="1143000"/>
          </a:xfrm>
        </p:spPr>
        <p:txBody>
          <a:bodyPr/>
          <a:lstStyle/>
          <a:p>
            <a:r>
              <a:rPr lang="en-US" b="1"/>
              <a:t>Area Chart</a:t>
            </a:r>
          </a:p>
        </p:txBody>
      </p:sp>
      <p:sp>
        <p:nvSpPr>
          <p:cNvPr id="3" name="Content Placeholder 2"/>
          <p:cNvSpPr>
            <a:spLocks noGrp="1"/>
          </p:cNvSpPr>
          <p:nvPr>
            <p:ph sz="half" idx="1"/>
          </p:nvPr>
        </p:nvSpPr>
        <p:spPr>
          <a:xfrm>
            <a:off x="152400" y="1615440"/>
            <a:ext cx="4038600" cy="4525963"/>
          </a:xfrm>
        </p:spPr>
        <p:txBody>
          <a:bodyPr/>
          <a:lstStyle/>
          <a:p>
            <a:pPr algn="just"/>
            <a:r>
              <a:rPr lang="en-US"/>
              <a:t>A few days later, the </a:t>
            </a:r>
            <a:r>
              <a:rPr lang="en-US" b="1">
                <a:solidFill>
                  <a:srgbClr val="0070C0"/>
                </a:solidFill>
              </a:rPr>
              <a:t>programmers start</a:t>
            </a:r>
            <a:r>
              <a:rPr lang="en-US"/>
              <a:t> working on creating the design wireframes for four of the stories, so those </a:t>
            </a:r>
            <a:r>
              <a:rPr lang="en-US" b="1">
                <a:solidFill>
                  <a:srgbClr val="00B050"/>
                </a:solidFill>
              </a:rPr>
              <a:t>four stories</a:t>
            </a:r>
            <a:r>
              <a:rPr lang="en-US"/>
              <a:t> have progressed to the next stage in the value stream.</a:t>
            </a:r>
          </a:p>
          <a:p>
            <a:pPr algn="just"/>
            <a:endParaRPr lang="en-US"/>
          </a:p>
        </p:txBody>
      </p:sp>
      <p:pic>
        <p:nvPicPr>
          <p:cNvPr id="5" name="Content Placeholder 4"/>
          <p:cNvPicPr>
            <a:picLocks noGrp="1" noChangeAspect="1"/>
          </p:cNvPicPr>
          <p:nvPr>
            <p:ph sz="half" idx="2"/>
          </p:nvPr>
        </p:nvPicPr>
        <p:blipFill>
          <a:blip r:embed="rId2"/>
          <a:stretch>
            <a:fillRect/>
          </a:stretch>
        </p:blipFill>
        <p:spPr>
          <a:xfrm>
            <a:off x="4102735" y="1565910"/>
            <a:ext cx="4584065" cy="503555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708025"/>
          </a:xfrm>
        </p:spPr>
        <p:txBody>
          <a:bodyPr>
            <a:normAutofit fontScale="90000"/>
          </a:bodyPr>
          <a:lstStyle/>
          <a:p>
            <a:r>
              <a:rPr lang="en-US" b="1"/>
              <a:t>Area Chart</a:t>
            </a:r>
          </a:p>
        </p:txBody>
      </p:sp>
      <p:pic>
        <p:nvPicPr>
          <p:cNvPr id="5" name="Content Placeholder 4"/>
          <p:cNvPicPr>
            <a:picLocks noGrp="1" noChangeAspect="1"/>
          </p:cNvPicPr>
          <p:nvPr>
            <p:ph sz="half" idx="1"/>
          </p:nvPr>
        </p:nvPicPr>
        <p:blipFill>
          <a:blip r:embed="rId2"/>
          <a:stretch>
            <a:fillRect/>
          </a:stretch>
        </p:blipFill>
        <p:spPr>
          <a:xfrm>
            <a:off x="457200" y="860425"/>
            <a:ext cx="8000365" cy="3788410"/>
          </a:xfrm>
          <a:prstGeom prst="rect">
            <a:avLst/>
          </a:prstGeom>
        </p:spPr>
      </p:pic>
      <p:sp>
        <p:nvSpPr>
          <p:cNvPr id="6" name="Text Box 5"/>
          <p:cNvSpPr txBox="1"/>
          <p:nvPr/>
        </p:nvSpPr>
        <p:spPr>
          <a:xfrm>
            <a:off x="434340" y="4800600"/>
            <a:ext cx="8275320" cy="1783715"/>
          </a:xfrm>
          <a:prstGeom prst="rect">
            <a:avLst/>
          </a:prstGeom>
          <a:noFill/>
        </p:spPr>
        <p:txBody>
          <a:bodyPr wrap="square" rtlCol="0" anchor="t">
            <a:spAutoFit/>
          </a:bodyPr>
          <a:lstStyle/>
          <a:p>
            <a:pPr marL="342900" indent="-342900" algn="just">
              <a:buFont typeface="Arial" panose="020B0604020202020204" pitchFamily="34" charset="0"/>
              <a:buChar char="•"/>
            </a:pPr>
            <a:r>
              <a:rPr lang="en-US" sz="2200"/>
              <a:t>It’s useful to remove the </a:t>
            </a:r>
            <a:r>
              <a:rPr lang="en-US" sz="2200" b="1">
                <a:solidFill>
                  <a:srgbClr val="00B050"/>
                </a:solidFill>
              </a:rPr>
              <a:t>“done” tasks from the chart</a:t>
            </a:r>
            <a:r>
              <a:rPr lang="en-US" sz="2200"/>
              <a:t>, and use different shades for each stripe to make it easy to figure out which columns they correspond to.</a:t>
            </a:r>
          </a:p>
          <a:p>
            <a:pPr marL="342900" indent="-342900" algn="just">
              <a:buFont typeface="Arial" panose="020B0604020202020204" pitchFamily="34" charset="0"/>
              <a:buChar char="•"/>
            </a:pPr>
            <a:r>
              <a:rPr lang="en-US" sz="2200"/>
              <a:t>This is why most </a:t>
            </a:r>
            <a:r>
              <a:rPr lang="en-US" sz="2200" b="1">
                <a:solidFill>
                  <a:srgbClr val="0070C0"/>
                </a:solidFill>
              </a:rPr>
              <a:t>WIP area charts do not include</a:t>
            </a:r>
            <a:r>
              <a:rPr lang="en-US" sz="2200"/>
              <a:t> completed tasks.</a:t>
            </a:r>
          </a:p>
          <a:p>
            <a:pPr algn="just"/>
            <a:endParaRPr lang="en-US" sz="220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89000"/>
          </a:xfrm>
        </p:spPr>
        <p:txBody>
          <a:bodyPr/>
          <a:lstStyle/>
          <a:p>
            <a:r>
              <a:rPr lang="en-US" b="1"/>
              <a:t>Pull Systems</a:t>
            </a:r>
          </a:p>
        </p:txBody>
      </p:sp>
      <p:sp>
        <p:nvSpPr>
          <p:cNvPr id="3" name="Content Placeholder 2"/>
          <p:cNvSpPr>
            <a:spLocks noGrp="1"/>
          </p:cNvSpPr>
          <p:nvPr>
            <p:ph sz="half" idx="1"/>
          </p:nvPr>
        </p:nvSpPr>
        <p:spPr>
          <a:xfrm>
            <a:off x="457200" y="1064260"/>
            <a:ext cx="8225155" cy="5640705"/>
          </a:xfrm>
        </p:spPr>
        <p:txBody>
          <a:bodyPr>
            <a:noAutofit/>
          </a:bodyPr>
          <a:lstStyle/>
          <a:p>
            <a:pPr algn="just"/>
            <a:r>
              <a:rPr lang="en-US" sz="2200"/>
              <a:t>A pull system is a way of running a project or a process that uses queues or buffers to </a:t>
            </a:r>
            <a:r>
              <a:rPr lang="en-US" sz="2200" b="1">
                <a:solidFill>
                  <a:srgbClr val="7030A0"/>
                </a:solidFill>
              </a:rPr>
              <a:t>eliminate constraints</a:t>
            </a:r>
            <a:r>
              <a:rPr lang="en-US" sz="2200"/>
              <a:t>.</a:t>
            </a:r>
          </a:p>
          <a:p>
            <a:pPr algn="just"/>
            <a:r>
              <a:rPr lang="en-US" sz="2200"/>
              <a:t>Pull systems are very useful for </a:t>
            </a:r>
            <a:r>
              <a:rPr lang="en-US" sz="2200" b="1">
                <a:solidFill>
                  <a:srgbClr val="00B050"/>
                </a:solidFill>
              </a:rPr>
              <a:t>building software</a:t>
            </a:r>
            <a:r>
              <a:rPr lang="en-US" sz="2200"/>
              <a:t>—maybe not surprisingly, for </a:t>
            </a:r>
            <a:r>
              <a:rPr lang="en-US" sz="2200" b="1">
                <a:solidFill>
                  <a:schemeClr val="accent6">
                    <a:lumMod val="75000"/>
                  </a:schemeClr>
                </a:solidFill>
              </a:rPr>
              <a:t>exactly the same reason</a:t>
            </a:r>
            <a:r>
              <a:rPr lang="en-US" sz="2200"/>
              <a:t> that they’re useful in manufacturing. </a:t>
            </a:r>
          </a:p>
          <a:p>
            <a:pPr algn="just"/>
            <a:r>
              <a:rPr lang="en-US" sz="2200"/>
              <a:t>Instead of having </a:t>
            </a:r>
            <a:r>
              <a:rPr lang="en-US" sz="2200" b="1">
                <a:solidFill>
                  <a:schemeClr val="accent6">
                    <a:lumMod val="75000"/>
                  </a:schemeClr>
                </a:solidFill>
              </a:rPr>
              <a:t>users, managers, or product owners</a:t>
            </a:r>
            <a:r>
              <a:rPr lang="en-US" sz="2200"/>
              <a:t> push tasks, features, or requests down to a team, they’ll add those requests to a queue that the team pulls from. </a:t>
            </a:r>
          </a:p>
          <a:p>
            <a:pPr algn="just"/>
            <a:r>
              <a:rPr lang="en-US" sz="2200"/>
              <a:t>When work backs up and causes unevenness partway through the project, they can </a:t>
            </a:r>
            <a:r>
              <a:rPr lang="en-US" sz="2200" b="1">
                <a:solidFill>
                  <a:srgbClr val="00B050"/>
                </a:solidFill>
              </a:rPr>
              <a:t>create a buffer</a:t>
            </a:r>
            <a:r>
              <a:rPr lang="en-US" sz="2200"/>
              <a:t> to help smooth it out. </a:t>
            </a:r>
          </a:p>
          <a:p>
            <a:pPr algn="just"/>
            <a:r>
              <a:rPr lang="en-US" sz="2200"/>
              <a:t>The team may have several different </a:t>
            </a:r>
            <a:r>
              <a:rPr lang="en-US" sz="2200" b="1">
                <a:solidFill>
                  <a:srgbClr val="00B0F0"/>
                </a:solidFill>
              </a:rPr>
              <a:t>queues and buffers</a:t>
            </a:r>
            <a:r>
              <a:rPr lang="en-US" sz="2200"/>
              <a:t> throughout their project. </a:t>
            </a:r>
          </a:p>
          <a:p>
            <a:pPr algn="just"/>
            <a:r>
              <a:rPr lang="en-US" sz="2200"/>
              <a:t>And as it turns out, this is a very</a:t>
            </a:r>
            <a:r>
              <a:rPr lang="en-US" sz="2200" b="1">
                <a:solidFill>
                  <a:srgbClr val="00B050"/>
                </a:solidFill>
              </a:rPr>
              <a:t> effective way of reducing waiting time, cutting out waste</a:t>
            </a:r>
            <a:r>
              <a:rPr lang="en-US" sz="2200"/>
              <a:t>, and helping users, managers, product owners, and software teams decide on what software is built.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3 wastes identified by Pull System</a:t>
            </a:r>
          </a:p>
        </p:txBody>
      </p:sp>
      <p:graphicFrame>
        <p:nvGraphicFramePr>
          <p:cNvPr id="5" name="Content Placeholder 4"/>
          <p:cNvGraphicFramePr>
            <a:graphicFrameLocks noGrp="1" noChangeAspect="1"/>
          </p:cNvGraphicFramePr>
          <p:nvPr>
            <p:ph sz="half" idx="2"/>
          </p:nvPr>
        </p:nvGraphicFramePr>
        <p:xfrm>
          <a:off x="457200" y="1563370"/>
          <a:ext cx="8229600" cy="5044440"/>
        </p:xfrm>
        <a:graphic>
          <a:graphicData uri="http://schemas.openxmlformats.org/presentationml/2006/ole">
            <p:oleObj spid="_x0000_s6155" r:id="rId3" imgW="6552381" imgH="4723810" progId="PBrush">
              <p:embed/>
            </p:oleObj>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405" y="5334000"/>
            <a:ext cx="8759190" cy="1143000"/>
          </a:xfrm>
        </p:spPr>
        <p:txBody>
          <a:bodyPr>
            <a:normAutofit/>
          </a:bodyPr>
          <a:lstStyle/>
          <a:p>
            <a:pPr algn="l"/>
            <a:r>
              <a:rPr lang="en-US" sz="2890"/>
              <a:t>waste that happens when the team is waiting for a large specification to be created and approved.</a:t>
            </a:r>
          </a:p>
        </p:txBody>
      </p:sp>
      <p:pic>
        <p:nvPicPr>
          <p:cNvPr id="5" name="Content Placeholder 4"/>
          <p:cNvPicPr>
            <a:picLocks noGrp="1" noChangeAspect="1"/>
          </p:cNvPicPr>
          <p:nvPr>
            <p:ph sz="half" idx="1"/>
          </p:nvPr>
        </p:nvPicPr>
        <p:blipFill>
          <a:blip r:embed="rId2"/>
          <a:stretch>
            <a:fillRect/>
          </a:stretch>
        </p:blipFill>
        <p:spPr>
          <a:xfrm>
            <a:off x="381000" y="152400"/>
            <a:ext cx="8030210" cy="490093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Pull System</a:t>
            </a:r>
          </a:p>
        </p:txBody>
      </p:sp>
      <p:sp>
        <p:nvSpPr>
          <p:cNvPr id="3" name="Content Placeholder 2"/>
          <p:cNvSpPr>
            <a:spLocks noGrp="1"/>
          </p:cNvSpPr>
          <p:nvPr>
            <p:ph sz="half" idx="1"/>
          </p:nvPr>
        </p:nvSpPr>
        <p:spPr>
          <a:xfrm>
            <a:off x="457200" y="1600200"/>
            <a:ext cx="8229600" cy="5062220"/>
          </a:xfrm>
        </p:spPr>
        <p:txBody>
          <a:bodyPr>
            <a:normAutofit fontScale="97500" lnSpcReduction="10000"/>
          </a:bodyPr>
          <a:lstStyle/>
          <a:p>
            <a:pPr algn="just"/>
            <a:r>
              <a:rPr lang="en-US"/>
              <a:t>A </a:t>
            </a:r>
            <a:r>
              <a:rPr lang="en-US" b="1">
                <a:solidFill>
                  <a:srgbClr val="00B050"/>
                </a:solidFill>
              </a:rPr>
              <a:t>pull system</a:t>
            </a:r>
            <a:r>
              <a:rPr lang="en-US"/>
              <a:t> is a better way to remove this unevenness and prevent the overburdening.</a:t>
            </a:r>
          </a:p>
          <a:p>
            <a:pPr algn="just"/>
            <a:r>
              <a:rPr lang="en-US"/>
              <a:t>The first step in creating a pull system is to </a:t>
            </a:r>
            <a:r>
              <a:rPr lang="en-US" b="1">
                <a:solidFill>
                  <a:srgbClr val="0070C0"/>
                </a:solidFill>
              </a:rPr>
              <a:t>break the work</a:t>
            </a:r>
            <a:r>
              <a:rPr lang="en-US"/>
              <a:t> down into </a:t>
            </a:r>
            <a:r>
              <a:rPr lang="en-US" b="1">
                <a:solidFill>
                  <a:schemeClr val="accent6">
                    <a:lumMod val="75000"/>
                  </a:schemeClr>
                </a:solidFill>
              </a:rPr>
              <a:t>small, pullable chunks</a:t>
            </a:r>
            <a:r>
              <a:rPr lang="en-US"/>
              <a:t>. </a:t>
            </a:r>
          </a:p>
          <a:p>
            <a:pPr algn="just"/>
            <a:r>
              <a:rPr lang="en-US"/>
              <a:t>So instead of building a </a:t>
            </a:r>
            <a:r>
              <a:rPr lang="en-US" b="1">
                <a:solidFill>
                  <a:schemeClr val="accent6">
                    <a:lumMod val="75000"/>
                  </a:schemeClr>
                </a:solidFill>
              </a:rPr>
              <a:t>large spec</a:t>
            </a:r>
            <a:r>
              <a:rPr lang="en-US"/>
              <a:t>, the team can break it into </a:t>
            </a:r>
            <a:r>
              <a:rPr lang="en-US" b="1">
                <a:solidFill>
                  <a:srgbClr val="00B050"/>
                </a:solidFill>
              </a:rPr>
              <a:t>minimal marketable features</a:t>
            </a:r>
            <a:r>
              <a:rPr lang="en-US"/>
              <a:t>—say, individual stories, and maybe a small amount of documentation to go with each story. </a:t>
            </a:r>
          </a:p>
          <a:p>
            <a:pPr algn="just"/>
            <a:r>
              <a:rPr lang="en-US"/>
              <a:t>Those </a:t>
            </a:r>
            <a:r>
              <a:rPr lang="en-US" b="1">
                <a:solidFill>
                  <a:srgbClr val="7030A0"/>
                </a:solidFill>
              </a:rPr>
              <a:t>stories</a:t>
            </a:r>
            <a:r>
              <a:rPr lang="en-US"/>
              <a:t> would then be </a:t>
            </a:r>
            <a:r>
              <a:rPr lang="en-US" b="1">
                <a:solidFill>
                  <a:srgbClr val="00B050"/>
                </a:solidFill>
              </a:rPr>
              <a:t>approved</a:t>
            </a:r>
            <a:r>
              <a:rPr lang="en-US"/>
              <a:t> individually. </a:t>
            </a:r>
          </a:p>
          <a:p>
            <a:pPr algn="just"/>
            <a:r>
              <a:rPr lang="en-US"/>
              <a:t>Typically, when a </a:t>
            </a:r>
            <a:r>
              <a:rPr lang="en-US" b="1">
                <a:solidFill>
                  <a:srgbClr val="7030A0"/>
                </a:solidFill>
              </a:rPr>
              <a:t>spec review process</a:t>
            </a:r>
            <a:r>
              <a:rPr lang="en-US"/>
              <a:t> is held up for a long time, it’s because people have problems with some of the features.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Pull System</a:t>
            </a:r>
          </a:p>
        </p:txBody>
      </p:sp>
      <p:sp>
        <p:nvSpPr>
          <p:cNvPr id="3" name="Content Placeholder 2"/>
          <p:cNvSpPr>
            <a:spLocks noGrp="1"/>
          </p:cNvSpPr>
          <p:nvPr>
            <p:ph sz="half" idx="1"/>
          </p:nvPr>
        </p:nvSpPr>
        <p:spPr>
          <a:xfrm>
            <a:off x="457200" y="1600200"/>
            <a:ext cx="8211185" cy="4526280"/>
          </a:xfrm>
        </p:spPr>
        <p:txBody>
          <a:bodyPr>
            <a:normAutofit/>
          </a:bodyPr>
          <a:lstStyle/>
          <a:p>
            <a:pPr algn="just"/>
            <a:r>
              <a:rPr lang="en-US"/>
              <a:t>Approving individual </a:t>
            </a:r>
            <a:r>
              <a:rPr lang="en-US" b="1">
                <a:solidFill>
                  <a:srgbClr val="00B0F0"/>
                </a:solidFill>
              </a:rPr>
              <a:t>MMFs should allow</a:t>
            </a:r>
            <a:r>
              <a:rPr lang="en-US"/>
              <a:t> at least a few features to get approved quickly. </a:t>
            </a:r>
          </a:p>
          <a:p>
            <a:pPr algn="just"/>
            <a:r>
              <a:rPr lang="en-US"/>
              <a:t>As soon as the first MMF has been approved, the </a:t>
            </a:r>
            <a:r>
              <a:rPr lang="en-US" b="1">
                <a:solidFill>
                  <a:srgbClr val="00B050"/>
                </a:solidFill>
              </a:rPr>
              <a:t>team can start working</a:t>
            </a:r>
            <a:r>
              <a:rPr lang="en-US"/>
              <a:t> on it. </a:t>
            </a:r>
          </a:p>
          <a:p>
            <a:pPr algn="just"/>
            <a:r>
              <a:rPr lang="en-US"/>
              <a:t>Now the team </a:t>
            </a:r>
            <a:r>
              <a:rPr lang="en-US" b="1">
                <a:solidFill>
                  <a:schemeClr val="accent6"/>
                </a:solidFill>
              </a:rPr>
              <a:t>doesn’t have to guess</a:t>
            </a:r>
            <a:r>
              <a:rPr lang="en-US"/>
              <a:t>. Instead, there’s a real discussion of the work that needs to be done.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56659" y="92074"/>
            <a:ext cx="1774189" cy="697230"/>
          </a:xfrm>
          <a:prstGeom prst="rect">
            <a:avLst/>
          </a:prstGeom>
        </p:spPr>
        <p:txBody>
          <a:bodyPr vert="horz" wrap="square" lIns="0" tIns="13335" rIns="0" bIns="0" rtlCol="0">
            <a:spAutoFit/>
          </a:bodyPr>
          <a:lstStyle/>
          <a:p>
            <a:pPr marL="12700">
              <a:lnSpc>
                <a:spcPct val="100000"/>
              </a:lnSpc>
              <a:spcBef>
                <a:spcPts val="105"/>
              </a:spcBef>
            </a:pPr>
            <a:r>
              <a:rPr sz="4400" b="1" spc="-65" dirty="0">
                <a:latin typeface="Calibri" panose="020F0502020204030204"/>
                <a:cs typeface="Calibri" panose="020F0502020204030204"/>
              </a:rPr>
              <a:t>K</a:t>
            </a:r>
            <a:r>
              <a:rPr sz="4400" b="1" spc="-5" dirty="0">
                <a:latin typeface="Calibri" panose="020F0502020204030204"/>
                <a:cs typeface="Calibri" panose="020F0502020204030204"/>
              </a:rPr>
              <a:t>anba</a:t>
            </a:r>
            <a:r>
              <a:rPr sz="4400" b="1" dirty="0">
                <a:latin typeface="Calibri" panose="020F0502020204030204"/>
                <a:cs typeface="Calibri" panose="020F0502020204030204"/>
              </a:rPr>
              <a:t>n</a:t>
            </a:r>
            <a:endParaRPr sz="4400">
              <a:latin typeface="Calibri" panose="020F0502020204030204"/>
              <a:cs typeface="Calibri" panose="020F0502020204030204"/>
            </a:endParaRPr>
          </a:p>
        </p:txBody>
      </p:sp>
      <p:sp>
        <p:nvSpPr>
          <p:cNvPr id="3" name="object 3"/>
          <p:cNvSpPr txBox="1"/>
          <p:nvPr/>
        </p:nvSpPr>
        <p:spPr>
          <a:xfrm>
            <a:off x="535940" y="944880"/>
            <a:ext cx="8143875" cy="3693795"/>
          </a:xfrm>
          <a:prstGeom prst="rect">
            <a:avLst/>
          </a:prstGeom>
        </p:spPr>
        <p:txBody>
          <a:bodyPr vert="horz" wrap="square" lIns="0" tIns="12065" rIns="0" bIns="0" rtlCol="0">
            <a:spAutoFit/>
          </a:bodyPr>
          <a:lstStyle/>
          <a:p>
            <a:pPr marL="355600" marR="5080" indent="-342900" algn="just">
              <a:lnSpc>
                <a:spcPct val="100000"/>
              </a:lnSpc>
              <a:spcBef>
                <a:spcPts val="95"/>
              </a:spcBef>
              <a:buFont typeface="Arial MT"/>
              <a:buChar char="•"/>
              <a:tabLst>
                <a:tab pos="355600" algn="l"/>
              </a:tabLst>
            </a:pPr>
            <a:r>
              <a:rPr sz="2800" spc="30" dirty="0">
                <a:latin typeface="Calibri" panose="020F0502020204030204"/>
                <a:cs typeface="Calibri" panose="020F0502020204030204"/>
              </a:rPr>
              <a:t>Kanban </a:t>
            </a:r>
            <a:r>
              <a:rPr sz="2800" spc="25" dirty="0">
                <a:latin typeface="Calibri" panose="020F0502020204030204"/>
                <a:cs typeface="Calibri" panose="020F0502020204030204"/>
              </a:rPr>
              <a:t>is </a:t>
            </a:r>
            <a:r>
              <a:rPr sz="2800" spc="-5" dirty="0">
                <a:latin typeface="Calibri" panose="020F0502020204030204"/>
                <a:cs typeface="Calibri" panose="020F0502020204030204"/>
              </a:rPr>
              <a:t>a </a:t>
            </a:r>
            <a:r>
              <a:rPr sz="2800" b="1" spc="45" dirty="0">
                <a:solidFill>
                  <a:srgbClr val="00AF50"/>
                </a:solidFill>
                <a:latin typeface="Calibri" panose="020F0502020204030204"/>
                <a:cs typeface="Calibri" panose="020F0502020204030204"/>
              </a:rPr>
              <a:t>method </a:t>
            </a:r>
            <a:r>
              <a:rPr sz="2800" b="1" spc="20" dirty="0">
                <a:solidFill>
                  <a:srgbClr val="00AF50"/>
                </a:solidFill>
                <a:latin typeface="Calibri" panose="020F0502020204030204"/>
                <a:cs typeface="Calibri" panose="020F0502020204030204"/>
              </a:rPr>
              <a:t>for </a:t>
            </a:r>
            <a:r>
              <a:rPr sz="2800" b="1" spc="40" dirty="0">
                <a:solidFill>
                  <a:srgbClr val="00AF50"/>
                </a:solidFill>
                <a:latin typeface="Calibri" panose="020F0502020204030204"/>
                <a:cs typeface="Calibri" panose="020F0502020204030204"/>
              </a:rPr>
              <a:t>process improvement </a:t>
            </a:r>
            <a:r>
              <a:rPr sz="2800" spc="40" dirty="0">
                <a:latin typeface="Calibri" panose="020F0502020204030204"/>
                <a:cs typeface="Calibri" panose="020F0502020204030204"/>
              </a:rPr>
              <a:t>used </a:t>
            </a:r>
            <a:r>
              <a:rPr sz="2800" spc="45" dirty="0">
                <a:latin typeface="Calibri" panose="020F0502020204030204"/>
                <a:cs typeface="Calibri" panose="020F0502020204030204"/>
              </a:rPr>
              <a:t> </a:t>
            </a:r>
            <a:r>
              <a:rPr sz="2800" spc="-10" dirty="0">
                <a:latin typeface="Calibri" panose="020F0502020204030204"/>
                <a:cs typeface="Calibri" panose="020F0502020204030204"/>
              </a:rPr>
              <a:t>by</a:t>
            </a:r>
            <a:r>
              <a:rPr sz="2800" spc="-5" dirty="0">
                <a:latin typeface="Calibri" panose="020F0502020204030204"/>
                <a:cs typeface="Calibri" panose="020F0502020204030204"/>
              </a:rPr>
              <a:t> agile</a:t>
            </a:r>
            <a:r>
              <a:rPr sz="2800" spc="5" dirty="0">
                <a:latin typeface="Calibri" panose="020F0502020204030204"/>
                <a:cs typeface="Calibri" panose="020F0502020204030204"/>
              </a:rPr>
              <a:t> </a:t>
            </a:r>
            <a:r>
              <a:rPr sz="2800" spc="-10" dirty="0">
                <a:latin typeface="Calibri" panose="020F0502020204030204"/>
                <a:cs typeface="Calibri" panose="020F0502020204030204"/>
              </a:rPr>
              <a:t>teams.</a:t>
            </a:r>
            <a:endParaRPr sz="2800">
              <a:latin typeface="Calibri" panose="020F0502020204030204"/>
              <a:cs typeface="Calibri" panose="020F0502020204030204"/>
            </a:endParaRPr>
          </a:p>
          <a:p>
            <a:pPr marL="355600" marR="5080" indent="-342900" algn="just">
              <a:lnSpc>
                <a:spcPct val="100000"/>
              </a:lnSpc>
              <a:spcBef>
                <a:spcPts val="670"/>
              </a:spcBef>
              <a:buFont typeface="Arial MT"/>
              <a:buChar char="•"/>
              <a:tabLst>
                <a:tab pos="355600" algn="l"/>
              </a:tabLst>
            </a:pPr>
            <a:r>
              <a:rPr sz="2800" spc="15" dirty="0">
                <a:latin typeface="Calibri" panose="020F0502020204030204"/>
                <a:cs typeface="Calibri" panose="020F0502020204030204"/>
              </a:rPr>
              <a:t>Teams </a:t>
            </a:r>
            <a:r>
              <a:rPr sz="2800" spc="55" dirty="0">
                <a:latin typeface="Calibri" panose="020F0502020204030204"/>
                <a:cs typeface="Calibri" panose="020F0502020204030204"/>
              </a:rPr>
              <a:t>that use </a:t>
            </a:r>
            <a:r>
              <a:rPr sz="2800" spc="60" dirty="0">
                <a:latin typeface="Calibri" panose="020F0502020204030204"/>
                <a:cs typeface="Calibri" panose="020F0502020204030204"/>
              </a:rPr>
              <a:t>Kanban </a:t>
            </a:r>
            <a:r>
              <a:rPr sz="2800" spc="55" dirty="0">
                <a:latin typeface="Calibri" panose="020F0502020204030204"/>
                <a:cs typeface="Calibri" panose="020F0502020204030204"/>
              </a:rPr>
              <a:t>start </a:t>
            </a:r>
            <a:r>
              <a:rPr sz="2800" spc="35" dirty="0">
                <a:latin typeface="Calibri" panose="020F0502020204030204"/>
                <a:cs typeface="Calibri" panose="020F0502020204030204"/>
              </a:rPr>
              <a:t>by </a:t>
            </a:r>
            <a:r>
              <a:rPr sz="2800" spc="75" dirty="0">
                <a:latin typeface="Calibri" panose="020F0502020204030204"/>
                <a:cs typeface="Calibri" panose="020F0502020204030204"/>
              </a:rPr>
              <a:t>understanding </a:t>
            </a:r>
            <a:r>
              <a:rPr sz="2800" spc="60" dirty="0">
                <a:latin typeface="Calibri" panose="020F0502020204030204"/>
                <a:cs typeface="Calibri" panose="020F0502020204030204"/>
              </a:rPr>
              <a:t>the </a:t>
            </a:r>
            <a:r>
              <a:rPr sz="2800" spc="65" dirty="0">
                <a:latin typeface="Calibri" panose="020F0502020204030204"/>
                <a:cs typeface="Calibri" panose="020F0502020204030204"/>
              </a:rPr>
              <a:t> </a:t>
            </a:r>
            <a:r>
              <a:rPr sz="2800" spc="40" dirty="0">
                <a:latin typeface="Calibri" panose="020F0502020204030204"/>
                <a:cs typeface="Calibri" panose="020F0502020204030204"/>
              </a:rPr>
              <a:t>way </a:t>
            </a:r>
            <a:r>
              <a:rPr sz="2800" spc="75" dirty="0">
                <a:latin typeface="Calibri" panose="020F0502020204030204"/>
                <a:cs typeface="Calibri" panose="020F0502020204030204"/>
              </a:rPr>
              <a:t>that they </a:t>
            </a:r>
            <a:r>
              <a:rPr sz="2800" spc="90" dirty="0">
                <a:latin typeface="Calibri" panose="020F0502020204030204"/>
                <a:cs typeface="Calibri" panose="020F0502020204030204"/>
              </a:rPr>
              <a:t>currently build software, </a:t>
            </a:r>
            <a:r>
              <a:rPr sz="2800" spc="75" dirty="0">
                <a:latin typeface="Calibri" panose="020F0502020204030204"/>
                <a:cs typeface="Calibri" panose="020F0502020204030204"/>
              </a:rPr>
              <a:t>and </a:t>
            </a:r>
            <a:r>
              <a:rPr sz="2800" spc="60" dirty="0">
                <a:latin typeface="Calibri" panose="020F0502020204030204"/>
                <a:cs typeface="Calibri" panose="020F0502020204030204"/>
              </a:rPr>
              <a:t>make </a:t>
            </a:r>
            <a:r>
              <a:rPr sz="2800" spc="65" dirty="0">
                <a:latin typeface="Calibri" panose="020F0502020204030204"/>
                <a:cs typeface="Calibri" panose="020F0502020204030204"/>
              </a:rPr>
              <a:t> </a:t>
            </a:r>
            <a:r>
              <a:rPr sz="2800" spc="-15" dirty="0">
                <a:latin typeface="Calibri" panose="020F0502020204030204"/>
                <a:cs typeface="Calibri" panose="020F0502020204030204"/>
              </a:rPr>
              <a:t>improvements</a:t>
            </a:r>
            <a:r>
              <a:rPr sz="2800" spc="-5" dirty="0">
                <a:latin typeface="Calibri" panose="020F0502020204030204"/>
                <a:cs typeface="Calibri" panose="020F0502020204030204"/>
              </a:rPr>
              <a:t> </a:t>
            </a:r>
            <a:r>
              <a:rPr sz="2800" spc="-20" dirty="0">
                <a:latin typeface="Calibri" panose="020F0502020204030204"/>
                <a:cs typeface="Calibri" panose="020F0502020204030204"/>
              </a:rPr>
              <a:t>to</a:t>
            </a:r>
            <a:r>
              <a:rPr sz="2800" dirty="0">
                <a:latin typeface="Calibri" panose="020F0502020204030204"/>
                <a:cs typeface="Calibri" panose="020F0502020204030204"/>
              </a:rPr>
              <a:t> </a:t>
            </a:r>
            <a:r>
              <a:rPr sz="2800" spc="-5" dirty="0">
                <a:latin typeface="Calibri" panose="020F0502020204030204"/>
                <a:cs typeface="Calibri" panose="020F0502020204030204"/>
              </a:rPr>
              <a:t>it</a:t>
            </a:r>
            <a:r>
              <a:rPr sz="2800" spc="5" dirty="0">
                <a:latin typeface="Calibri" panose="020F0502020204030204"/>
                <a:cs typeface="Calibri" panose="020F0502020204030204"/>
              </a:rPr>
              <a:t> </a:t>
            </a:r>
            <a:r>
              <a:rPr sz="2800" spc="-15" dirty="0">
                <a:latin typeface="Calibri" panose="020F0502020204030204"/>
                <a:cs typeface="Calibri" panose="020F0502020204030204"/>
              </a:rPr>
              <a:t>over</a:t>
            </a:r>
            <a:r>
              <a:rPr sz="2800" dirty="0">
                <a:latin typeface="Calibri" panose="020F0502020204030204"/>
                <a:cs typeface="Calibri" panose="020F0502020204030204"/>
              </a:rPr>
              <a:t> </a:t>
            </a:r>
            <a:r>
              <a:rPr sz="2800" spc="-5" dirty="0">
                <a:latin typeface="Calibri" panose="020F0502020204030204"/>
                <a:cs typeface="Calibri" panose="020F0502020204030204"/>
              </a:rPr>
              <a:t>time.</a:t>
            </a:r>
            <a:endParaRPr sz="2800">
              <a:latin typeface="Calibri" panose="020F0502020204030204"/>
              <a:cs typeface="Calibri" panose="020F0502020204030204"/>
            </a:endParaRPr>
          </a:p>
          <a:p>
            <a:pPr marL="355600" indent="-342900" algn="just">
              <a:lnSpc>
                <a:spcPct val="100000"/>
              </a:lnSpc>
              <a:spcBef>
                <a:spcPts val="670"/>
              </a:spcBef>
              <a:buFont typeface="Arial MT"/>
              <a:buChar char="•"/>
              <a:tabLst>
                <a:tab pos="355600" algn="l"/>
              </a:tabLst>
            </a:pPr>
            <a:r>
              <a:rPr sz="2800" spc="-30" dirty="0">
                <a:latin typeface="Calibri" panose="020F0502020204030204"/>
                <a:cs typeface="Calibri" panose="020F0502020204030204"/>
              </a:rPr>
              <a:t>Like</a:t>
            </a:r>
            <a:r>
              <a:rPr sz="2800" dirty="0">
                <a:latin typeface="Calibri" panose="020F0502020204030204"/>
                <a:cs typeface="Calibri" panose="020F0502020204030204"/>
              </a:rPr>
              <a:t> </a:t>
            </a:r>
            <a:r>
              <a:rPr sz="2800" spc="-5" dirty="0">
                <a:latin typeface="Calibri" panose="020F0502020204030204"/>
                <a:cs typeface="Calibri" panose="020F0502020204030204"/>
              </a:rPr>
              <a:t>Scrum, </a:t>
            </a:r>
            <a:r>
              <a:rPr sz="2800" b="1" spc="-10" dirty="0">
                <a:solidFill>
                  <a:srgbClr val="00AFEF"/>
                </a:solidFill>
                <a:latin typeface="Calibri" panose="020F0502020204030204"/>
                <a:cs typeface="Calibri" panose="020F0502020204030204"/>
              </a:rPr>
              <a:t>Kanban</a:t>
            </a:r>
            <a:r>
              <a:rPr sz="2800" b="1" dirty="0">
                <a:solidFill>
                  <a:srgbClr val="00AFEF"/>
                </a:solidFill>
                <a:latin typeface="Calibri" panose="020F0502020204030204"/>
                <a:cs typeface="Calibri" panose="020F0502020204030204"/>
              </a:rPr>
              <a:t> </a:t>
            </a:r>
            <a:r>
              <a:rPr sz="2800" b="1" spc="-10" dirty="0">
                <a:solidFill>
                  <a:srgbClr val="00AFEF"/>
                </a:solidFill>
                <a:latin typeface="Calibri" panose="020F0502020204030204"/>
                <a:cs typeface="Calibri" panose="020F0502020204030204"/>
              </a:rPr>
              <a:t>requires</a:t>
            </a:r>
            <a:r>
              <a:rPr sz="2800" b="1" spc="-5" dirty="0">
                <a:solidFill>
                  <a:srgbClr val="00AFEF"/>
                </a:solidFill>
                <a:latin typeface="Calibri" panose="020F0502020204030204"/>
                <a:cs typeface="Calibri" panose="020F0502020204030204"/>
              </a:rPr>
              <a:t> a mindset</a:t>
            </a:r>
            <a:r>
              <a:rPr sz="2800" spc="-5" dirty="0">
                <a:latin typeface="Calibri" panose="020F0502020204030204"/>
                <a:cs typeface="Calibri" panose="020F0502020204030204"/>
              </a:rPr>
              <a:t>.</a:t>
            </a:r>
            <a:endParaRPr sz="2800">
              <a:latin typeface="Calibri" panose="020F0502020204030204"/>
              <a:cs typeface="Calibri" panose="020F0502020204030204"/>
            </a:endParaRPr>
          </a:p>
          <a:p>
            <a:pPr marL="355600" marR="5080" indent="-342900" algn="just">
              <a:lnSpc>
                <a:spcPct val="100000"/>
              </a:lnSpc>
              <a:spcBef>
                <a:spcPts val="670"/>
              </a:spcBef>
              <a:buFont typeface="Arial MT"/>
              <a:buChar char="•"/>
              <a:tabLst>
                <a:tab pos="355600" algn="l"/>
              </a:tabLst>
            </a:pPr>
            <a:r>
              <a:rPr sz="2800" spc="190" dirty="0">
                <a:latin typeface="Calibri" panose="020F0502020204030204"/>
                <a:cs typeface="Calibri" panose="020F0502020204030204"/>
              </a:rPr>
              <a:t>Kanban </a:t>
            </a:r>
            <a:r>
              <a:rPr sz="2800" spc="120" dirty="0">
                <a:latin typeface="Calibri" panose="020F0502020204030204"/>
                <a:cs typeface="Calibri" panose="020F0502020204030204"/>
              </a:rPr>
              <a:t>is </a:t>
            </a:r>
            <a:r>
              <a:rPr sz="2800" spc="-5" dirty="0">
                <a:latin typeface="Calibri" panose="020F0502020204030204"/>
                <a:cs typeface="Calibri" panose="020F0502020204030204"/>
              </a:rPr>
              <a:t>a </a:t>
            </a:r>
            <a:r>
              <a:rPr sz="2800" spc="215" dirty="0">
                <a:latin typeface="Calibri" panose="020F0502020204030204"/>
                <a:cs typeface="Calibri" panose="020F0502020204030204"/>
              </a:rPr>
              <a:t>manufacturing </a:t>
            </a:r>
            <a:r>
              <a:rPr sz="2800" spc="185" dirty="0">
                <a:latin typeface="Calibri" panose="020F0502020204030204"/>
                <a:cs typeface="Calibri" panose="020F0502020204030204"/>
              </a:rPr>
              <a:t>term, </a:t>
            </a:r>
            <a:r>
              <a:rPr sz="2800" spc="200" dirty="0">
                <a:latin typeface="Calibri" panose="020F0502020204030204"/>
                <a:cs typeface="Calibri" panose="020F0502020204030204"/>
              </a:rPr>
              <a:t>adapted </a:t>
            </a:r>
            <a:r>
              <a:rPr sz="2800" spc="140" dirty="0">
                <a:latin typeface="Calibri" panose="020F0502020204030204"/>
                <a:cs typeface="Calibri" panose="020F0502020204030204"/>
              </a:rPr>
              <a:t>for </a:t>
            </a:r>
            <a:r>
              <a:rPr sz="2800" spc="145" dirty="0">
                <a:latin typeface="Calibri" panose="020F0502020204030204"/>
                <a:cs typeface="Calibri" panose="020F0502020204030204"/>
              </a:rPr>
              <a:t> </a:t>
            </a:r>
            <a:r>
              <a:rPr sz="2800" spc="-15" dirty="0">
                <a:latin typeface="Calibri" panose="020F0502020204030204"/>
                <a:cs typeface="Calibri" panose="020F0502020204030204"/>
              </a:rPr>
              <a:t>software</a:t>
            </a:r>
            <a:r>
              <a:rPr sz="2800" dirty="0">
                <a:latin typeface="Calibri" panose="020F0502020204030204"/>
                <a:cs typeface="Calibri" panose="020F0502020204030204"/>
              </a:rPr>
              <a:t> </a:t>
            </a:r>
            <a:r>
              <a:rPr sz="2800" spc="-10" dirty="0">
                <a:latin typeface="Calibri" panose="020F0502020204030204"/>
                <a:cs typeface="Calibri" panose="020F0502020204030204"/>
              </a:rPr>
              <a:t>development</a:t>
            </a:r>
            <a:r>
              <a:rPr sz="2800" spc="5" dirty="0">
                <a:latin typeface="Calibri" panose="020F0502020204030204"/>
                <a:cs typeface="Calibri" panose="020F0502020204030204"/>
              </a:rPr>
              <a:t> </a:t>
            </a:r>
            <a:r>
              <a:rPr sz="2800" spc="-10" dirty="0">
                <a:latin typeface="Calibri" panose="020F0502020204030204"/>
                <a:cs typeface="Calibri" panose="020F0502020204030204"/>
              </a:rPr>
              <a:t>by</a:t>
            </a:r>
            <a:r>
              <a:rPr sz="2800" dirty="0">
                <a:latin typeface="Calibri" panose="020F0502020204030204"/>
                <a:cs typeface="Calibri" panose="020F0502020204030204"/>
              </a:rPr>
              <a:t> </a:t>
            </a:r>
            <a:r>
              <a:rPr sz="2800" b="1" spc="-15" dirty="0">
                <a:solidFill>
                  <a:srgbClr val="E36C09"/>
                </a:solidFill>
                <a:latin typeface="Calibri" panose="020F0502020204030204"/>
                <a:cs typeface="Calibri" panose="020F0502020204030204"/>
              </a:rPr>
              <a:t>David</a:t>
            </a:r>
            <a:r>
              <a:rPr sz="2800" b="1" dirty="0">
                <a:solidFill>
                  <a:srgbClr val="E36C09"/>
                </a:solidFill>
                <a:latin typeface="Calibri" panose="020F0502020204030204"/>
                <a:cs typeface="Calibri" panose="020F0502020204030204"/>
              </a:rPr>
              <a:t> </a:t>
            </a:r>
            <a:r>
              <a:rPr sz="2800" b="1" spc="-5" dirty="0">
                <a:solidFill>
                  <a:srgbClr val="E36C09"/>
                </a:solidFill>
                <a:latin typeface="Calibri" panose="020F0502020204030204"/>
                <a:cs typeface="Calibri" panose="020F0502020204030204"/>
              </a:rPr>
              <a:t>Anderson</a:t>
            </a:r>
            <a:r>
              <a:rPr sz="2800" spc="-5" dirty="0">
                <a:latin typeface="Calibri" panose="020F0502020204030204"/>
                <a:cs typeface="Calibri" panose="020F0502020204030204"/>
              </a:rPr>
              <a:t>.</a:t>
            </a:r>
            <a:endParaRPr sz="2800">
              <a:latin typeface="Calibri" panose="020F0502020204030204"/>
              <a:cs typeface="Calibri" panose="020F0502020204030204"/>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61104" y="165735"/>
            <a:ext cx="1774189" cy="697230"/>
          </a:xfrm>
          <a:prstGeom prst="rect">
            <a:avLst/>
          </a:prstGeom>
        </p:spPr>
        <p:txBody>
          <a:bodyPr vert="horz" wrap="square" lIns="0" tIns="13335" rIns="0" bIns="0" rtlCol="0">
            <a:spAutoFit/>
          </a:bodyPr>
          <a:lstStyle/>
          <a:p>
            <a:pPr marL="12700">
              <a:lnSpc>
                <a:spcPct val="100000"/>
              </a:lnSpc>
              <a:spcBef>
                <a:spcPts val="105"/>
              </a:spcBef>
            </a:pPr>
            <a:r>
              <a:rPr sz="4400" b="1" spc="-65" dirty="0">
                <a:latin typeface="Calibri" panose="020F0502020204030204"/>
                <a:cs typeface="Calibri" panose="020F0502020204030204"/>
              </a:rPr>
              <a:t>K</a:t>
            </a:r>
            <a:r>
              <a:rPr sz="4400" b="1" spc="-5" dirty="0">
                <a:latin typeface="Calibri" panose="020F0502020204030204"/>
                <a:cs typeface="Calibri" panose="020F0502020204030204"/>
              </a:rPr>
              <a:t>anba</a:t>
            </a:r>
            <a:r>
              <a:rPr sz="4400" b="1" dirty="0">
                <a:latin typeface="Calibri" panose="020F0502020204030204"/>
                <a:cs typeface="Calibri" panose="020F0502020204030204"/>
              </a:rPr>
              <a:t>n</a:t>
            </a:r>
            <a:endParaRPr sz="4400">
              <a:latin typeface="Calibri" panose="020F0502020204030204"/>
              <a:cs typeface="Calibri" panose="020F0502020204030204"/>
            </a:endParaRPr>
          </a:p>
        </p:txBody>
      </p:sp>
      <p:pic>
        <p:nvPicPr>
          <p:cNvPr id="3" name="object 3"/>
          <p:cNvPicPr/>
          <p:nvPr/>
        </p:nvPicPr>
        <p:blipFill>
          <a:blip r:embed="rId2" cstate="print"/>
          <a:stretch>
            <a:fillRect/>
          </a:stretch>
        </p:blipFill>
        <p:spPr>
          <a:xfrm>
            <a:off x="457200" y="1217930"/>
            <a:ext cx="8229600" cy="525907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9600" y="450850"/>
            <a:ext cx="8077200" cy="6029325"/>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0684" y="443230"/>
            <a:ext cx="8281670" cy="6030595"/>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57200" y="490677"/>
            <a:ext cx="8072755" cy="6062522"/>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36875" y="21590"/>
            <a:ext cx="3416300" cy="697230"/>
          </a:xfrm>
          <a:prstGeom prst="rect">
            <a:avLst/>
          </a:prstGeom>
        </p:spPr>
        <p:txBody>
          <a:bodyPr vert="horz" wrap="square" lIns="0" tIns="13335" rIns="0" bIns="0" rtlCol="0">
            <a:spAutoFit/>
          </a:bodyPr>
          <a:lstStyle/>
          <a:p>
            <a:pPr marL="12700">
              <a:lnSpc>
                <a:spcPct val="100000"/>
              </a:lnSpc>
              <a:spcBef>
                <a:spcPts val="105"/>
              </a:spcBef>
            </a:pPr>
            <a:r>
              <a:rPr sz="4400" b="1" spc="-15" dirty="0">
                <a:latin typeface="Calibri" panose="020F0502020204030204"/>
                <a:cs typeface="Calibri" panose="020F0502020204030204"/>
              </a:rPr>
              <a:t>Kanban</a:t>
            </a:r>
            <a:r>
              <a:rPr sz="4400" b="1" spc="-65" dirty="0">
                <a:latin typeface="Calibri" panose="020F0502020204030204"/>
                <a:cs typeface="Calibri" panose="020F0502020204030204"/>
              </a:rPr>
              <a:t> </a:t>
            </a:r>
            <a:r>
              <a:rPr sz="4400" b="1" spc="-45" dirty="0">
                <a:latin typeface="Calibri" panose="020F0502020204030204"/>
                <a:cs typeface="Calibri" panose="020F0502020204030204"/>
              </a:rPr>
              <a:t>Values</a:t>
            </a:r>
            <a:endParaRPr sz="4400">
              <a:latin typeface="Calibri" panose="020F0502020204030204"/>
              <a:cs typeface="Calibri" panose="020F0502020204030204"/>
            </a:endParaRPr>
          </a:p>
        </p:txBody>
      </p:sp>
      <p:pic>
        <p:nvPicPr>
          <p:cNvPr id="3" name="object 3"/>
          <p:cNvPicPr/>
          <p:nvPr/>
        </p:nvPicPr>
        <p:blipFill>
          <a:blip r:embed="rId2" cstate="print"/>
          <a:stretch>
            <a:fillRect/>
          </a:stretch>
        </p:blipFill>
        <p:spPr>
          <a:xfrm>
            <a:off x="3276600" y="1027175"/>
            <a:ext cx="3570912" cy="5538216"/>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40050" y="151764"/>
            <a:ext cx="3416300" cy="697230"/>
          </a:xfrm>
          <a:prstGeom prst="rect">
            <a:avLst/>
          </a:prstGeom>
        </p:spPr>
        <p:txBody>
          <a:bodyPr vert="horz" wrap="square" lIns="0" tIns="13335" rIns="0" bIns="0" rtlCol="0">
            <a:spAutoFit/>
          </a:bodyPr>
          <a:lstStyle/>
          <a:p>
            <a:pPr marL="12700">
              <a:lnSpc>
                <a:spcPct val="100000"/>
              </a:lnSpc>
              <a:spcBef>
                <a:spcPts val="105"/>
              </a:spcBef>
            </a:pPr>
            <a:r>
              <a:rPr sz="4400" b="1" spc="-15" dirty="0">
                <a:latin typeface="Calibri" panose="020F0502020204030204"/>
                <a:cs typeface="Calibri" panose="020F0502020204030204"/>
              </a:rPr>
              <a:t>Kanban</a:t>
            </a:r>
            <a:r>
              <a:rPr sz="4400" b="1" spc="-65" dirty="0">
                <a:latin typeface="Calibri" panose="020F0502020204030204"/>
                <a:cs typeface="Calibri" panose="020F0502020204030204"/>
              </a:rPr>
              <a:t> </a:t>
            </a:r>
            <a:r>
              <a:rPr sz="4400" b="1" spc="-45" dirty="0">
                <a:latin typeface="Calibri" panose="020F0502020204030204"/>
                <a:cs typeface="Calibri" panose="020F0502020204030204"/>
              </a:rPr>
              <a:t>Values</a:t>
            </a:r>
            <a:endParaRPr sz="4400">
              <a:latin typeface="Calibri" panose="020F0502020204030204"/>
              <a:cs typeface="Calibri" panose="020F0502020204030204"/>
            </a:endParaRPr>
          </a:p>
        </p:txBody>
      </p:sp>
      <p:sp>
        <p:nvSpPr>
          <p:cNvPr id="3" name="object 3"/>
          <p:cNvSpPr txBox="1"/>
          <p:nvPr/>
        </p:nvSpPr>
        <p:spPr>
          <a:xfrm>
            <a:off x="535940" y="1010157"/>
            <a:ext cx="8072120" cy="5435600"/>
          </a:xfrm>
          <a:prstGeom prst="rect">
            <a:avLst/>
          </a:prstGeom>
        </p:spPr>
        <p:txBody>
          <a:bodyPr vert="horz" wrap="square" lIns="0" tIns="50800" rIns="0" bIns="0" rtlCol="0">
            <a:spAutoFit/>
          </a:bodyPr>
          <a:lstStyle/>
          <a:p>
            <a:pPr marL="355600" indent="-342900" algn="just">
              <a:lnSpc>
                <a:spcPct val="100000"/>
              </a:lnSpc>
              <a:spcBef>
                <a:spcPts val="400"/>
              </a:spcBef>
              <a:buFont typeface="Arial MT"/>
              <a:buChar char="•"/>
              <a:tabLst>
                <a:tab pos="355600" algn="l"/>
              </a:tabLst>
            </a:pPr>
            <a:r>
              <a:rPr sz="2500" b="1" spc="-25" dirty="0">
                <a:solidFill>
                  <a:srgbClr val="E36C09"/>
                </a:solidFill>
                <a:latin typeface="Calibri" panose="020F0502020204030204"/>
                <a:cs typeface="Calibri" panose="020F0502020204030204"/>
              </a:rPr>
              <a:t>Transparency</a:t>
            </a:r>
            <a:endParaRPr sz="2500">
              <a:latin typeface="Calibri" panose="020F0502020204030204"/>
              <a:cs typeface="Calibri" panose="020F0502020204030204"/>
            </a:endParaRPr>
          </a:p>
          <a:p>
            <a:pPr marL="355600" marR="5080" indent="-342900" algn="just">
              <a:lnSpc>
                <a:spcPts val="2700"/>
              </a:lnSpc>
              <a:spcBef>
                <a:spcPts val="640"/>
              </a:spcBef>
              <a:buFont typeface="Wingdings" panose="05000000000000000000"/>
              <a:buChar char=""/>
              <a:tabLst>
                <a:tab pos="355600" algn="l"/>
              </a:tabLst>
            </a:pPr>
            <a:r>
              <a:rPr sz="2500" spc="60" dirty="0">
                <a:latin typeface="Calibri" panose="020F0502020204030204"/>
                <a:cs typeface="Calibri" panose="020F0502020204030204"/>
              </a:rPr>
              <a:t>By </a:t>
            </a:r>
            <a:r>
              <a:rPr sz="2500" spc="75" dirty="0">
                <a:latin typeface="Calibri" panose="020F0502020204030204"/>
                <a:cs typeface="Calibri" panose="020F0502020204030204"/>
              </a:rPr>
              <a:t>an </a:t>
            </a:r>
            <a:r>
              <a:rPr sz="2500" b="1" spc="110" dirty="0">
                <a:solidFill>
                  <a:srgbClr val="9BBA58"/>
                </a:solidFill>
                <a:latin typeface="Calibri" panose="020F0502020204030204"/>
                <a:cs typeface="Calibri" panose="020F0502020204030204"/>
              </a:rPr>
              <a:t>open </a:t>
            </a:r>
            <a:r>
              <a:rPr sz="2500" b="1" spc="114" dirty="0">
                <a:solidFill>
                  <a:srgbClr val="9BBA58"/>
                </a:solidFill>
                <a:latin typeface="Calibri" panose="020F0502020204030204"/>
                <a:cs typeface="Calibri" panose="020F0502020204030204"/>
              </a:rPr>
              <a:t>exchange </a:t>
            </a:r>
            <a:r>
              <a:rPr sz="2500" spc="75" dirty="0">
                <a:latin typeface="Calibri" panose="020F0502020204030204"/>
                <a:cs typeface="Calibri" panose="020F0502020204030204"/>
              </a:rPr>
              <a:t>of </a:t>
            </a:r>
            <a:r>
              <a:rPr sz="2500" spc="130" dirty="0">
                <a:latin typeface="Calibri" panose="020F0502020204030204"/>
                <a:cs typeface="Calibri" panose="020F0502020204030204"/>
              </a:rPr>
              <a:t>information </a:t>
            </a:r>
            <a:r>
              <a:rPr sz="2500" spc="100" dirty="0">
                <a:latin typeface="Calibri" panose="020F0502020204030204"/>
                <a:cs typeface="Calibri" panose="020F0502020204030204"/>
              </a:rPr>
              <a:t>and </a:t>
            </a:r>
            <a:r>
              <a:rPr sz="2500" spc="-5" dirty="0">
                <a:latin typeface="Calibri" panose="020F0502020204030204"/>
                <a:cs typeface="Calibri" panose="020F0502020204030204"/>
              </a:rPr>
              <a:t>a </a:t>
            </a:r>
            <a:r>
              <a:rPr sz="2500" spc="125" dirty="0">
                <a:latin typeface="Calibri" panose="020F0502020204030204"/>
                <a:cs typeface="Calibri" panose="020F0502020204030204"/>
              </a:rPr>
              <a:t>clear </a:t>
            </a:r>
            <a:r>
              <a:rPr sz="2500" spc="100" dirty="0">
                <a:latin typeface="Calibri" panose="020F0502020204030204"/>
                <a:cs typeface="Calibri" panose="020F0502020204030204"/>
              </a:rPr>
              <a:t>and </a:t>
            </a:r>
            <a:r>
              <a:rPr sz="2500" spc="105" dirty="0">
                <a:latin typeface="Calibri" panose="020F0502020204030204"/>
                <a:cs typeface="Calibri" panose="020F0502020204030204"/>
              </a:rPr>
              <a:t> </a:t>
            </a:r>
            <a:r>
              <a:rPr sz="2500" spc="75" dirty="0">
                <a:latin typeface="Calibri" panose="020F0502020204030204"/>
                <a:cs typeface="Calibri" panose="020F0502020204030204"/>
              </a:rPr>
              <a:t>unambiguous </a:t>
            </a:r>
            <a:r>
              <a:rPr sz="2500" spc="70" dirty="0">
                <a:latin typeface="Calibri" panose="020F0502020204030204"/>
                <a:cs typeface="Calibri" panose="020F0502020204030204"/>
              </a:rPr>
              <a:t>vocabulary </a:t>
            </a:r>
            <a:r>
              <a:rPr sz="2500" spc="45" dirty="0">
                <a:latin typeface="Calibri" panose="020F0502020204030204"/>
                <a:cs typeface="Calibri" panose="020F0502020204030204"/>
              </a:rPr>
              <a:t>you </a:t>
            </a:r>
            <a:r>
              <a:rPr sz="2500" spc="60" dirty="0">
                <a:latin typeface="Calibri" panose="020F0502020204030204"/>
                <a:cs typeface="Calibri" panose="020F0502020204030204"/>
              </a:rPr>
              <a:t>create </a:t>
            </a:r>
            <a:r>
              <a:rPr sz="2500" spc="75" dirty="0">
                <a:latin typeface="Calibri" panose="020F0502020204030204"/>
                <a:cs typeface="Calibri" panose="020F0502020204030204"/>
              </a:rPr>
              <a:t>transparency </a:t>
            </a:r>
            <a:r>
              <a:rPr sz="2500" spc="45" dirty="0">
                <a:latin typeface="Calibri" panose="020F0502020204030204"/>
                <a:cs typeface="Calibri" panose="020F0502020204030204"/>
              </a:rPr>
              <a:t>in </a:t>
            </a:r>
            <a:r>
              <a:rPr sz="2500" spc="60" dirty="0">
                <a:latin typeface="Calibri" panose="020F0502020204030204"/>
                <a:cs typeface="Calibri" panose="020F0502020204030204"/>
              </a:rPr>
              <a:t>all </a:t>
            </a:r>
            <a:r>
              <a:rPr sz="2500" spc="65" dirty="0">
                <a:latin typeface="Calibri" panose="020F0502020204030204"/>
                <a:cs typeface="Calibri" panose="020F0502020204030204"/>
              </a:rPr>
              <a:t> </a:t>
            </a:r>
            <a:r>
              <a:rPr sz="2500" spc="-10" dirty="0">
                <a:latin typeface="Calibri" panose="020F0502020204030204"/>
                <a:cs typeface="Calibri" panose="020F0502020204030204"/>
              </a:rPr>
              <a:t>areas.</a:t>
            </a:r>
            <a:endParaRPr sz="2500">
              <a:latin typeface="Calibri" panose="020F0502020204030204"/>
              <a:cs typeface="Calibri" panose="020F0502020204030204"/>
            </a:endParaRPr>
          </a:p>
          <a:p>
            <a:pPr marL="355600" indent="-342900" algn="just">
              <a:lnSpc>
                <a:spcPct val="100000"/>
              </a:lnSpc>
              <a:spcBef>
                <a:spcPts val="260"/>
              </a:spcBef>
              <a:buFont typeface="Arial MT"/>
              <a:buChar char="•"/>
              <a:tabLst>
                <a:tab pos="355600" algn="l"/>
              </a:tabLst>
            </a:pPr>
            <a:r>
              <a:rPr sz="2500" b="1" spc="-5" dirty="0">
                <a:solidFill>
                  <a:srgbClr val="E36C09"/>
                </a:solidFill>
                <a:latin typeface="Calibri" panose="020F0502020204030204"/>
                <a:cs typeface="Calibri" panose="020F0502020204030204"/>
              </a:rPr>
              <a:t>Balance</a:t>
            </a:r>
            <a:endParaRPr sz="2500">
              <a:latin typeface="Calibri" panose="020F0502020204030204"/>
              <a:cs typeface="Calibri" panose="020F0502020204030204"/>
            </a:endParaRPr>
          </a:p>
          <a:p>
            <a:pPr marL="355600" marR="5080" indent="-342900" algn="just">
              <a:lnSpc>
                <a:spcPts val="2700"/>
              </a:lnSpc>
              <a:spcBef>
                <a:spcPts val="640"/>
              </a:spcBef>
              <a:buFont typeface="Wingdings" panose="05000000000000000000"/>
              <a:buChar char=""/>
              <a:tabLst>
                <a:tab pos="355600" algn="l"/>
              </a:tabLst>
            </a:pPr>
            <a:r>
              <a:rPr sz="2500" spc="-60" dirty="0">
                <a:latin typeface="Calibri" panose="020F0502020204030204"/>
                <a:cs typeface="Calibri" panose="020F0502020204030204"/>
              </a:rPr>
              <a:t>You </a:t>
            </a:r>
            <a:r>
              <a:rPr sz="2500" spc="-10" dirty="0">
                <a:latin typeface="Calibri" panose="020F0502020204030204"/>
                <a:cs typeface="Calibri" panose="020F0502020204030204"/>
              </a:rPr>
              <a:t>are </a:t>
            </a:r>
            <a:r>
              <a:rPr sz="2500" spc="-5" dirty="0">
                <a:latin typeface="Calibri" panose="020F0502020204030204"/>
                <a:cs typeface="Calibri" panose="020F0502020204030204"/>
              </a:rPr>
              <a:t>efficient </a:t>
            </a:r>
            <a:r>
              <a:rPr sz="2500" dirty="0">
                <a:latin typeface="Calibri" panose="020F0502020204030204"/>
                <a:cs typeface="Calibri" panose="020F0502020204030204"/>
              </a:rPr>
              <a:t>if </a:t>
            </a:r>
            <a:r>
              <a:rPr sz="2500" spc="-10" dirty="0">
                <a:latin typeface="Calibri" panose="020F0502020204030204"/>
                <a:cs typeface="Calibri" panose="020F0502020204030204"/>
              </a:rPr>
              <a:t>you </a:t>
            </a:r>
            <a:r>
              <a:rPr sz="2500" b="1" spc="5" dirty="0">
                <a:solidFill>
                  <a:srgbClr val="006FC0"/>
                </a:solidFill>
                <a:latin typeface="Calibri" panose="020F0502020204030204"/>
                <a:cs typeface="Calibri" panose="020F0502020204030204"/>
              </a:rPr>
              <a:t>balance </a:t>
            </a:r>
            <a:r>
              <a:rPr sz="2500" b="1" dirty="0">
                <a:solidFill>
                  <a:srgbClr val="006FC0"/>
                </a:solidFill>
                <a:latin typeface="Calibri" panose="020F0502020204030204"/>
                <a:cs typeface="Calibri" panose="020F0502020204030204"/>
              </a:rPr>
              <a:t>the </a:t>
            </a:r>
            <a:r>
              <a:rPr sz="2500" b="1" spc="-5" dirty="0">
                <a:solidFill>
                  <a:srgbClr val="006FC0"/>
                </a:solidFill>
                <a:latin typeface="Calibri" panose="020F0502020204030204"/>
                <a:cs typeface="Calibri" panose="020F0502020204030204"/>
              </a:rPr>
              <a:t>different </a:t>
            </a:r>
            <a:r>
              <a:rPr sz="2500" b="1" dirty="0">
                <a:solidFill>
                  <a:srgbClr val="006FC0"/>
                </a:solidFill>
                <a:latin typeface="Calibri" panose="020F0502020204030204"/>
                <a:cs typeface="Calibri" panose="020F0502020204030204"/>
              </a:rPr>
              <a:t>requirements</a:t>
            </a:r>
            <a:r>
              <a:rPr sz="2500" dirty="0">
                <a:latin typeface="Calibri" panose="020F0502020204030204"/>
                <a:cs typeface="Calibri" panose="020F0502020204030204"/>
              </a:rPr>
              <a:t>, </a:t>
            </a:r>
            <a:r>
              <a:rPr sz="2500" spc="-555" dirty="0">
                <a:latin typeface="Calibri" panose="020F0502020204030204"/>
                <a:cs typeface="Calibri" panose="020F0502020204030204"/>
              </a:rPr>
              <a:t> </a:t>
            </a:r>
            <a:r>
              <a:rPr sz="2500" spc="-15" dirty="0">
                <a:latin typeface="Calibri" panose="020F0502020204030204"/>
                <a:cs typeface="Calibri" panose="020F0502020204030204"/>
              </a:rPr>
              <a:t>views</a:t>
            </a:r>
            <a:r>
              <a:rPr sz="2500" dirty="0">
                <a:latin typeface="Calibri" panose="020F0502020204030204"/>
                <a:cs typeface="Calibri" panose="020F0502020204030204"/>
              </a:rPr>
              <a:t> </a:t>
            </a:r>
            <a:r>
              <a:rPr sz="2500" spc="-5" dirty="0">
                <a:latin typeface="Calibri" panose="020F0502020204030204"/>
                <a:cs typeface="Calibri" panose="020F0502020204030204"/>
              </a:rPr>
              <a:t>and</a:t>
            </a:r>
            <a:r>
              <a:rPr sz="2500" dirty="0">
                <a:latin typeface="Calibri" panose="020F0502020204030204"/>
                <a:cs typeface="Calibri" panose="020F0502020204030204"/>
              </a:rPr>
              <a:t> </a:t>
            </a:r>
            <a:r>
              <a:rPr sz="2500" spc="-5" dirty="0">
                <a:latin typeface="Calibri" panose="020F0502020204030204"/>
                <a:cs typeface="Calibri" panose="020F0502020204030204"/>
              </a:rPr>
              <a:t>abilities</a:t>
            </a:r>
            <a:r>
              <a:rPr sz="2500" dirty="0">
                <a:latin typeface="Calibri" panose="020F0502020204030204"/>
                <a:cs typeface="Calibri" panose="020F0502020204030204"/>
              </a:rPr>
              <a:t> </a:t>
            </a:r>
            <a:r>
              <a:rPr sz="2500" spc="-5" dirty="0">
                <a:latin typeface="Calibri" panose="020F0502020204030204"/>
                <a:cs typeface="Calibri" panose="020F0502020204030204"/>
              </a:rPr>
              <a:t>of</a:t>
            </a:r>
            <a:r>
              <a:rPr sz="2500" spc="5" dirty="0">
                <a:latin typeface="Calibri" panose="020F0502020204030204"/>
                <a:cs typeface="Calibri" panose="020F0502020204030204"/>
              </a:rPr>
              <a:t> </a:t>
            </a:r>
            <a:r>
              <a:rPr sz="2500" spc="-5" dirty="0">
                <a:latin typeface="Calibri" panose="020F0502020204030204"/>
                <a:cs typeface="Calibri" panose="020F0502020204030204"/>
              </a:rPr>
              <a:t>all</a:t>
            </a:r>
            <a:r>
              <a:rPr sz="2500" dirty="0">
                <a:latin typeface="Calibri" panose="020F0502020204030204"/>
                <a:cs typeface="Calibri" panose="020F0502020204030204"/>
              </a:rPr>
              <a:t> </a:t>
            </a:r>
            <a:r>
              <a:rPr sz="2500" spc="-5" dirty="0">
                <a:latin typeface="Calibri" panose="020F0502020204030204"/>
                <a:cs typeface="Calibri" panose="020F0502020204030204"/>
              </a:rPr>
              <a:t>participants</a:t>
            </a:r>
            <a:r>
              <a:rPr sz="2500" dirty="0">
                <a:latin typeface="Calibri" panose="020F0502020204030204"/>
                <a:cs typeface="Calibri" panose="020F0502020204030204"/>
              </a:rPr>
              <a:t> </a:t>
            </a:r>
            <a:r>
              <a:rPr sz="2500" spc="-5" dirty="0">
                <a:latin typeface="Calibri" panose="020F0502020204030204"/>
                <a:cs typeface="Calibri" panose="020F0502020204030204"/>
              </a:rPr>
              <a:t>among</a:t>
            </a:r>
            <a:r>
              <a:rPr sz="2500" dirty="0">
                <a:latin typeface="Calibri" panose="020F0502020204030204"/>
                <a:cs typeface="Calibri" panose="020F0502020204030204"/>
              </a:rPr>
              <a:t> </a:t>
            </a:r>
            <a:r>
              <a:rPr sz="2500" spc="-5" dirty="0">
                <a:latin typeface="Calibri" panose="020F0502020204030204"/>
                <a:cs typeface="Calibri" panose="020F0502020204030204"/>
              </a:rPr>
              <a:t>each</a:t>
            </a:r>
            <a:r>
              <a:rPr sz="2500" spc="5" dirty="0">
                <a:latin typeface="Calibri" panose="020F0502020204030204"/>
                <a:cs typeface="Calibri" panose="020F0502020204030204"/>
              </a:rPr>
              <a:t> </a:t>
            </a:r>
            <a:r>
              <a:rPr sz="2500" spc="-50" dirty="0">
                <a:latin typeface="Calibri" panose="020F0502020204030204"/>
                <a:cs typeface="Calibri" panose="020F0502020204030204"/>
              </a:rPr>
              <a:t>other.</a:t>
            </a:r>
            <a:endParaRPr sz="2500">
              <a:latin typeface="Calibri" panose="020F0502020204030204"/>
              <a:cs typeface="Calibri" panose="020F0502020204030204"/>
            </a:endParaRPr>
          </a:p>
          <a:p>
            <a:pPr marL="355600" indent="-342900" algn="just">
              <a:lnSpc>
                <a:spcPct val="100000"/>
              </a:lnSpc>
              <a:spcBef>
                <a:spcPts val="260"/>
              </a:spcBef>
              <a:buFont typeface="Arial MT"/>
              <a:buChar char="•"/>
              <a:tabLst>
                <a:tab pos="355600" algn="l"/>
              </a:tabLst>
            </a:pPr>
            <a:r>
              <a:rPr sz="2500" b="1" spc="-10" dirty="0">
                <a:solidFill>
                  <a:srgbClr val="E36C09"/>
                </a:solidFill>
                <a:latin typeface="Calibri" panose="020F0502020204030204"/>
                <a:cs typeface="Calibri" panose="020F0502020204030204"/>
              </a:rPr>
              <a:t>Collaboration</a:t>
            </a:r>
            <a:endParaRPr sz="2500">
              <a:latin typeface="Calibri" panose="020F0502020204030204"/>
              <a:cs typeface="Calibri" panose="020F0502020204030204"/>
            </a:endParaRPr>
          </a:p>
          <a:p>
            <a:pPr marL="355600" marR="5080" indent="-342900" algn="just">
              <a:lnSpc>
                <a:spcPts val="2700"/>
              </a:lnSpc>
              <a:spcBef>
                <a:spcPts val="640"/>
              </a:spcBef>
              <a:buFont typeface="Wingdings" panose="05000000000000000000"/>
              <a:buChar char=""/>
              <a:tabLst>
                <a:tab pos="355600" algn="l"/>
              </a:tabLst>
            </a:pPr>
            <a:r>
              <a:rPr sz="2500" spc="105" dirty="0">
                <a:latin typeface="Calibri" panose="020F0502020204030204"/>
                <a:cs typeface="Calibri" panose="020F0502020204030204"/>
              </a:rPr>
              <a:t>The </a:t>
            </a:r>
            <a:r>
              <a:rPr sz="2500" spc="125" dirty="0">
                <a:latin typeface="Calibri" panose="020F0502020204030204"/>
                <a:cs typeface="Calibri" panose="020F0502020204030204"/>
              </a:rPr>
              <a:t>Kanban </a:t>
            </a:r>
            <a:r>
              <a:rPr sz="2500" spc="135" dirty="0">
                <a:latin typeface="Calibri" panose="020F0502020204030204"/>
                <a:cs typeface="Calibri" panose="020F0502020204030204"/>
              </a:rPr>
              <a:t>method </a:t>
            </a:r>
            <a:r>
              <a:rPr sz="2500" b="1" spc="135" dirty="0">
                <a:solidFill>
                  <a:srgbClr val="6F2F9F"/>
                </a:solidFill>
                <a:latin typeface="Calibri" panose="020F0502020204030204"/>
                <a:cs typeface="Calibri" panose="020F0502020204030204"/>
              </a:rPr>
              <a:t>improves </a:t>
            </a:r>
            <a:r>
              <a:rPr sz="2500" b="1" spc="110" dirty="0">
                <a:solidFill>
                  <a:srgbClr val="6F2F9F"/>
                </a:solidFill>
                <a:latin typeface="Calibri" panose="020F0502020204030204"/>
                <a:cs typeface="Calibri" panose="020F0502020204030204"/>
              </a:rPr>
              <a:t>the </a:t>
            </a:r>
            <a:r>
              <a:rPr sz="2500" b="1" spc="85" dirty="0">
                <a:solidFill>
                  <a:srgbClr val="6F2F9F"/>
                </a:solidFill>
                <a:latin typeface="Calibri" panose="020F0502020204030204"/>
                <a:cs typeface="Calibri" panose="020F0502020204030204"/>
              </a:rPr>
              <a:t>way </a:t>
            </a:r>
            <a:r>
              <a:rPr sz="2500" b="1" spc="135" dirty="0">
                <a:solidFill>
                  <a:srgbClr val="6F2F9F"/>
                </a:solidFill>
                <a:latin typeface="Calibri" panose="020F0502020204030204"/>
                <a:cs typeface="Calibri" panose="020F0502020204030204"/>
              </a:rPr>
              <a:t>people </a:t>
            </a:r>
            <a:r>
              <a:rPr sz="2500" b="1" spc="114" dirty="0">
                <a:solidFill>
                  <a:srgbClr val="6F2F9F"/>
                </a:solidFill>
                <a:latin typeface="Calibri" panose="020F0502020204030204"/>
                <a:cs typeface="Calibri" panose="020F0502020204030204"/>
              </a:rPr>
              <a:t>work </a:t>
            </a:r>
            <a:r>
              <a:rPr sz="2500" b="1" spc="120" dirty="0">
                <a:solidFill>
                  <a:srgbClr val="6F2F9F"/>
                </a:solidFill>
                <a:latin typeface="Calibri" panose="020F0502020204030204"/>
                <a:cs typeface="Calibri" panose="020F0502020204030204"/>
              </a:rPr>
              <a:t> </a:t>
            </a:r>
            <a:r>
              <a:rPr sz="2500" b="1" spc="-15" dirty="0">
                <a:solidFill>
                  <a:srgbClr val="6F2F9F"/>
                </a:solidFill>
                <a:latin typeface="Calibri" panose="020F0502020204030204"/>
                <a:cs typeface="Calibri" panose="020F0502020204030204"/>
              </a:rPr>
              <a:t>together</a:t>
            </a:r>
            <a:r>
              <a:rPr sz="2500" spc="-15" dirty="0">
                <a:latin typeface="Calibri" panose="020F0502020204030204"/>
                <a:cs typeface="Calibri" panose="020F0502020204030204"/>
              </a:rPr>
              <a:t>.</a:t>
            </a:r>
            <a:r>
              <a:rPr sz="2500" dirty="0">
                <a:latin typeface="Calibri" panose="020F0502020204030204"/>
                <a:cs typeface="Calibri" panose="020F0502020204030204"/>
              </a:rPr>
              <a:t> </a:t>
            </a:r>
            <a:r>
              <a:rPr sz="2500" spc="-10" dirty="0">
                <a:latin typeface="Calibri" panose="020F0502020204030204"/>
                <a:cs typeface="Calibri" panose="020F0502020204030204"/>
              </a:rPr>
              <a:t>Collaboration</a:t>
            </a:r>
            <a:r>
              <a:rPr sz="2500" dirty="0">
                <a:latin typeface="Calibri" panose="020F0502020204030204"/>
                <a:cs typeface="Calibri" panose="020F0502020204030204"/>
              </a:rPr>
              <a:t> </a:t>
            </a:r>
            <a:r>
              <a:rPr sz="2500" spc="-5" dirty="0">
                <a:latin typeface="Calibri" panose="020F0502020204030204"/>
                <a:cs typeface="Calibri" panose="020F0502020204030204"/>
              </a:rPr>
              <a:t>is</a:t>
            </a:r>
            <a:r>
              <a:rPr sz="2500" spc="5" dirty="0">
                <a:latin typeface="Calibri" panose="020F0502020204030204"/>
                <a:cs typeface="Calibri" panose="020F0502020204030204"/>
              </a:rPr>
              <a:t> </a:t>
            </a:r>
            <a:r>
              <a:rPr sz="2500" spc="-20" dirty="0">
                <a:latin typeface="Calibri" panose="020F0502020204030204"/>
                <a:cs typeface="Calibri" panose="020F0502020204030204"/>
              </a:rPr>
              <a:t>therefore</a:t>
            </a:r>
            <a:r>
              <a:rPr sz="2500" dirty="0">
                <a:latin typeface="Calibri" panose="020F0502020204030204"/>
                <a:cs typeface="Calibri" panose="020F0502020204030204"/>
              </a:rPr>
              <a:t> </a:t>
            </a:r>
            <a:r>
              <a:rPr sz="2500" spc="-5" dirty="0">
                <a:latin typeface="Calibri" panose="020F0502020204030204"/>
                <a:cs typeface="Calibri" panose="020F0502020204030204"/>
              </a:rPr>
              <a:t>one</a:t>
            </a:r>
            <a:r>
              <a:rPr sz="2500" dirty="0">
                <a:latin typeface="Calibri" panose="020F0502020204030204"/>
                <a:cs typeface="Calibri" panose="020F0502020204030204"/>
              </a:rPr>
              <a:t> </a:t>
            </a:r>
            <a:r>
              <a:rPr sz="2500" spc="-5" dirty="0">
                <a:latin typeface="Calibri" panose="020F0502020204030204"/>
                <a:cs typeface="Calibri" panose="020F0502020204030204"/>
              </a:rPr>
              <a:t>of</a:t>
            </a:r>
            <a:r>
              <a:rPr sz="2500" spc="5" dirty="0">
                <a:latin typeface="Calibri" panose="020F0502020204030204"/>
                <a:cs typeface="Calibri" panose="020F0502020204030204"/>
              </a:rPr>
              <a:t> </a:t>
            </a:r>
            <a:r>
              <a:rPr sz="2500" spc="-5" dirty="0">
                <a:latin typeface="Calibri" panose="020F0502020204030204"/>
                <a:cs typeface="Calibri" panose="020F0502020204030204"/>
              </a:rPr>
              <a:t>its</a:t>
            </a:r>
            <a:r>
              <a:rPr sz="2500" dirty="0">
                <a:latin typeface="Calibri" panose="020F0502020204030204"/>
                <a:cs typeface="Calibri" panose="020F0502020204030204"/>
              </a:rPr>
              <a:t> </a:t>
            </a:r>
            <a:r>
              <a:rPr sz="2500" spc="-40" dirty="0">
                <a:latin typeface="Calibri" panose="020F0502020204030204"/>
                <a:cs typeface="Calibri" panose="020F0502020204030204"/>
              </a:rPr>
              <a:t>key</a:t>
            </a:r>
            <a:r>
              <a:rPr sz="2500" dirty="0">
                <a:latin typeface="Calibri" panose="020F0502020204030204"/>
                <a:cs typeface="Calibri" panose="020F0502020204030204"/>
              </a:rPr>
              <a:t> </a:t>
            </a:r>
            <a:r>
              <a:rPr sz="2500" spc="-10" dirty="0">
                <a:latin typeface="Calibri" panose="020F0502020204030204"/>
                <a:cs typeface="Calibri" panose="020F0502020204030204"/>
              </a:rPr>
              <a:t>points.</a:t>
            </a:r>
            <a:endParaRPr sz="2500">
              <a:latin typeface="Calibri" panose="020F0502020204030204"/>
              <a:cs typeface="Calibri" panose="020F0502020204030204"/>
            </a:endParaRPr>
          </a:p>
          <a:p>
            <a:pPr marL="355600" indent="-342900" algn="just">
              <a:lnSpc>
                <a:spcPct val="100000"/>
              </a:lnSpc>
              <a:spcBef>
                <a:spcPts val="260"/>
              </a:spcBef>
              <a:buFont typeface="Arial MT"/>
              <a:buChar char="•"/>
              <a:tabLst>
                <a:tab pos="355600" algn="l"/>
              </a:tabLst>
            </a:pPr>
            <a:r>
              <a:rPr sz="2500" b="1" spc="-10" dirty="0">
                <a:solidFill>
                  <a:srgbClr val="E36C09"/>
                </a:solidFill>
                <a:latin typeface="Calibri" panose="020F0502020204030204"/>
                <a:cs typeface="Calibri" panose="020F0502020204030204"/>
              </a:rPr>
              <a:t>Customer</a:t>
            </a:r>
            <a:r>
              <a:rPr sz="2500" b="1" spc="-30" dirty="0">
                <a:solidFill>
                  <a:srgbClr val="E36C09"/>
                </a:solidFill>
                <a:latin typeface="Calibri" panose="020F0502020204030204"/>
                <a:cs typeface="Calibri" panose="020F0502020204030204"/>
              </a:rPr>
              <a:t> </a:t>
            </a:r>
            <a:r>
              <a:rPr sz="2500" b="1" spc="-15" dirty="0">
                <a:solidFill>
                  <a:srgbClr val="E36C09"/>
                </a:solidFill>
                <a:latin typeface="Calibri" panose="020F0502020204030204"/>
                <a:cs typeface="Calibri" panose="020F0502020204030204"/>
              </a:rPr>
              <a:t>Focus</a:t>
            </a:r>
            <a:endParaRPr sz="2500">
              <a:latin typeface="Calibri" panose="020F0502020204030204"/>
              <a:cs typeface="Calibri" panose="020F0502020204030204"/>
            </a:endParaRPr>
          </a:p>
          <a:p>
            <a:pPr marL="355600" marR="5080" indent="-342900" algn="just">
              <a:lnSpc>
                <a:spcPts val="2700"/>
              </a:lnSpc>
              <a:spcBef>
                <a:spcPts val="640"/>
              </a:spcBef>
              <a:buFont typeface="Wingdings" panose="05000000000000000000"/>
              <a:buChar char=""/>
              <a:tabLst>
                <a:tab pos="355600" algn="l"/>
              </a:tabLst>
            </a:pPr>
            <a:r>
              <a:rPr sz="2500" spc="35" dirty="0">
                <a:latin typeface="Calibri" panose="020F0502020204030204"/>
                <a:cs typeface="Calibri" panose="020F0502020204030204"/>
              </a:rPr>
              <a:t>The customers and the value </a:t>
            </a:r>
            <a:r>
              <a:rPr sz="2500" spc="45" dirty="0">
                <a:latin typeface="Calibri" panose="020F0502020204030204"/>
                <a:cs typeface="Calibri" panose="020F0502020204030204"/>
              </a:rPr>
              <a:t>(asset) </a:t>
            </a:r>
            <a:r>
              <a:rPr sz="2500" spc="40" dirty="0">
                <a:latin typeface="Calibri" panose="020F0502020204030204"/>
                <a:cs typeface="Calibri" panose="020F0502020204030204"/>
              </a:rPr>
              <a:t>they </a:t>
            </a:r>
            <a:r>
              <a:rPr sz="2500" spc="45" dirty="0">
                <a:latin typeface="Calibri" panose="020F0502020204030204"/>
                <a:cs typeface="Calibri" panose="020F0502020204030204"/>
              </a:rPr>
              <a:t>receive </a:t>
            </a:r>
            <a:r>
              <a:rPr sz="2500" spc="25" dirty="0">
                <a:latin typeface="Calibri" panose="020F0502020204030204"/>
                <a:cs typeface="Calibri" panose="020F0502020204030204"/>
              </a:rPr>
              <a:t>are </a:t>
            </a:r>
            <a:r>
              <a:rPr sz="2500" spc="35" dirty="0">
                <a:latin typeface="Calibri" panose="020F0502020204030204"/>
                <a:cs typeface="Calibri" panose="020F0502020204030204"/>
              </a:rPr>
              <a:t>the </a:t>
            </a:r>
            <a:r>
              <a:rPr sz="2500" spc="40" dirty="0">
                <a:latin typeface="Calibri" panose="020F0502020204030204"/>
                <a:cs typeface="Calibri" panose="020F0502020204030204"/>
              </a:rPr>
              <a:t> </a:t>
            </a:r>
            <a:r>
              <a:rPr sz="2500" spc="70" dirty="0">
                <a:latin typeface="Calibri" panose="020F0502020204030204"/>
                <a:cs typeface="Calibri" panose="020F0502020204030204"/>
              </a:rPr>
              <a:t>natural centre </a:t>
            </a:r>
            <a:r>
              <a:rPr sz="2500" spc="45" dirty="0">
                <a:latin typeface="Calibri" panose="020F0502020204030204"/>
                <a:cs typeface="Calibri" panose="020F0502020204030204"/>
              </a:rPr>
              <a:t>of </a:t>
            </a:r>
            <a:r>
              <a:rPr sz="2500" spc="70" dirty="0">
                <a:latin typeface="Calibri" panose="020F0502020204030204"/>
                <a:cs typeface="Calibri" panose="020F0502020204030204"/>
              </a:rPr>
              <a:t>interest </a:t>
            </a:r>
            <a:r>
              <a:rPr sz="2500" spc="50" dirty="0">
                <a:latin typeface="Calibri" panose="020F0502020204030204"/>
                <a:cs typeface="Calibri" panose="020F0502020204030204"/>
              </a:rPr>
              <a:t>of </a:t>
            </a:r>
            <a:r>
              <a:rPr sz="2500" spc="65" dirty="0">
                <a:latin typeface="Calibri" panose="020F0502020204030204"/>
                <a:cs typeface="Calibri" panose="020F0502020204030204"/>
              </a:rPr>
              <a:t>all </a:t>
            </a:r>
            <a:r>
              <a:rPr sz="2500" spc="80" dirty="0">
                <a:latin typeface="Calibri" panose="020F0502020204030204"/>
                <a:cs typeface="Calibri" panose="020F0502020204030204"/>
              </a:rPr>
              <a:t>persons </a:t>
            </a:r>
            <a:r>
              <a:rPr sz="2500" spc="75" dirty="0">
                <a:latin typeface="Calibri" panose="020F0502020204030204"/>
                <a:cs typeface="Calibri" panose="020F0502020204030204"/>
              </a:rPr>
              <a:t>involved </a:t>
            </a:r>
            <a:r>
              <a:rPr sz="2500" spc="50" dirty="0">
                <a:latin typeface="Calibri" panose="020F0502020204030204"/>
                <a:cs typeface="Calibri" panose="020F0502020204030204"/>
              </a:rPr>
              <a:t>in </a:t>
            </a:r>
            <a:r>
              <a:rPr sz="2500" spc="65" dirty="0">
                <a:latin typeface="Calibri" panose="020F0502020204030204"/>
                <a:cs typeface="Calibri" panose="020F0502020204030204"/>
              </a:rPr>
              <a:t>the </a:t>
            </a:r>
            <a:r>
              <a:rPr sz="2500" spc="70" dirty="0">
                <a:latin typeface="Calibri" panose="020F0502020204030204"/>
                <a:cs typeface="Calibri" panose="020F0502020204030204"/>
              </a:rPr>
              <a:t> </a:t>
            </a:r>
            <a:r>
              <a:rPr sz="2500" spc="-35" dirty="0">
                <a:latin typeface="Calibri" panose="020F0502020204030204"/>
                <a:cs typeface="Calibri" panose="020F0502020204030204"/>
              </a:rPr>
              <a:t>company.</a:t>
            </a:r>
            <a:endParaRPr sz="2500">
              <a:latin typeface="Calibri" panose="020F0502020204030204"/>
              <a:cs typeface="Calibri" panose="020F0502020204030204"/>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817880"/>
          </a:xfrm>
        </p:spPr>
        <p:txBody>
          <a:bodyPr>
            <a:normAutofit/>
          </a:bodyPr>
          <a:lstStyle/>
          <a:p>
            <a:r>
              <a:rPr lang="en-US" b="1">
                <a:sym typeface="+mn-ea"/>
              </a:rPr>
              <a:t>Kanban Values</a:t>
            </a:r>
            <a:endParaRPr lang="en-US" b="1"/>
          </a:p>
        </p:txBody>
      </p:sp>
      <p:sp>
        <p:nvSpPr>
          <p:cNvPr id="3" name="Content Placeholder 2"/>
          <p:cNvSpPr>
            <a:spLocks noGrp="1"/>
          </p:cNvSpPr>
          <p:nvPr>
            <p:ph sz="half" idx="1"/>
          </p:nvPr>
        </p:nvSpPr>
        <p:spPr>
          <a:xfrm>
            <a:off x="457200" y="1083945"/>
            <a:ext cx="8225155" cy="5592445"/>
          </a:xfrm>
        </p:spPr>
        <p:txBody>
          <a:bodyPr>
            <a:noAutofit/>
          </a:bodyPr>
          <a:lstStyle/>
          <a:p>
            <a:pPr algn="just"/>
            <a:r>
              <a:rPr lang="en-US" sz="2500" b="1">
                <a:solidFill>
                  <a:schemeClr val="accent6">
                    <a:lumMod val="75000"/>
                  </a:schemeClr>
                </a:solidFill>
              </a:rPr>
              <a:t>Workflow</a:t>
            </a:r>
          </a:p>
          <a:p>
            <a:pPr algn="just">
              <a:buFont typeface="Wingdings" panose="05000000000000000000" charset="0"/>
              <a:buChar char="ü"/>
            </a:pPr>
            <a:r>
              <a:rPr lang="en-US" sz="2500"/>
              <a:t>Work represents a continuous or occasional flow of values. An important starting point in using Kanban is to recognize and maintain such a flow of work.</a:t>
            </a:r>
          </a:p>
          <a:p>
            <a:pPr algn="just"/>
            <a:r>
              <a:rPr lang="en-US" sz="2500" b="1">
                <a:solidFill>
                  <a:schemeClr val="accent6">
                    <a:lumMod val="75000"/>
                  </a:schemeClr>
                </a:solidFill>
              </a:rPr>
              <a:t>Leadership</a:t>
            </a:r>
          </a:p>
          <a:p>
            <a:pPr algn="just">
              <a:buFont typeface="Wingdings" panose="05000000000000000000" charset="0"/>
              <a:buChar char="ü"/>
            </a:pPr>
            <a:r>
              <a:rPr lang="en-US" sz="2500"/>
              <a:t>Leadership is required at all levels to generate value and achieve an improved state.</a:t>
            </a:r>
          </a:p>
          <a:p>
            <a:pPr algn="just"/>
            <a:r>
              <a:rPr lang="en-US" sz="2500" b="1">
                <a:solidFill>
                  <a:schemeClr val="accent6">
                    <a:lumMod val="75000"/>
                  </a:schemeClr>
                </a:solidFill>
              </a:rPr>
              <a:t>Understanding</a:t>
            </a:r>
          </a:p>
          <a:p>
            <a:pPr algn="just">
              <a:buFont typeface="Wingdings" panose="05000000000000000000" charset="0"/>
              <a:buChar char="ü"/>
            </a:pPr>
            <a:r>
              <a:rPr lang="en-US" sz="2500"/>
              <a:t>Understanding means first and foremost self-awareness, both from the individual employee as well as from the entire organization to move forward. </a:t>
            </a:r>
          </a:p>
          <a:p>
            <a:pPr algn="just">
              <a:buFont typeface="Wingdings" panose="05000000000000000000" charset="0"/>
              <a:buChar char="ü"/>
            </a:pPr>
            <a:r>
              <a:rPr lang="en-US" sz="2500"/>
              <a:t>Kanban is a method of improvement and improvement requires change, which in turn requires understanding.</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070" y="76200"/>
            <a:ext cx="8229600" cy="767715"/>
          </a:xfrm>
        </p:spPr>
        <p:txBody>
          <a:bodyPr>
            <a:normAutofit fontScale="90000"/>
          </a:bodyPr>
          <a:lstStyle/>
          <a:p>
            <a:r>
              <a:rPr lang="en-US" b="1">
                <a:sym typeface="+mn-ea"/>
              </a:rPr>
              <a:t/>
            </a:r>
            <a:br>
              <a:rPr lang="en-US" b="1">
                <a:sym typeface="+mn-ea"/>
              </a:rPr>
            </a:br>
            <a:r>
              <a:rPr lang="en-US" b="1">
                <a:sym typeface="+mn-ea"/>
              </a:rPr>
              <a:t>Kanban Values</a:t>
            </a:r>
            <a:r>
              <a:rPr lang="en-US" b="1"/>
              <a:t/>
            </a:r>
            <a:br>
              <a:rPr lang="en-US" b="1"/>
            </a:br>
            <a:endParaRPr lang="en-US" b="1"/>
          </a:p>
        </p:txBody>
      </p:sp>
      <p:sp>
        <p:nvSpPr>
          <p:cNvPr id="3" name="Content Placeholder 2"/>
          <p:cNvSpPr>
            <a:spLocks noGrp="1"/>
          </p:cNvSpPr>
          <p:nvPr>
            <p:ph sz="half" idx="1"/>
          </p:nvPr>
        </p:nvSpPr>
        <p:spPr>
          <a:xfrm>
            <a:off x="457200" y="843915"/>
            <a:ext cx="8181340" cy="5636895"/>
          </a:xfrm>
        </p:spPr>
        <p:txBody>
          <a:bodyPr>
            <a:normAutofit/>
          </a:bodyPr>
          <a:lstStyle/>
          <a:p>
            <a:pPr algn="just"/>
            <a:r>
              <a:rPr lang="en-US" b="1">
                <a:solidFill>
                  <a:schemeClr val="accent6"/>
                </a:solidFill>
              </a:rPr>
              <a:t>Agreement</a:t>
            </a:r>
          </a:p>
          <a:p>
            <a:pPr algn="just">
              <a:buFont typeface="Wingdings" panose="05000000000000000000" charset="0"/>
              <a:buChar char="ü"/>
            </a:pPr>
            <a:r>
              <a:rPr lang="en-US"/>
              <a:t>In an agreement, all parties agree to pursue goals together. </a:t>
            </a:r>
          </a:p>
          <a:p>
            <a:pPr algn="just">
              <a:buFont typeface="Wingdings" panose="05000000000000000000" charset="0"/>
              <a:buChar char="ü"/>
            </a:pPr>
            <a:r>
              <a:rPr lang="en-US"/>
              <a:t>Different opinions and approaches must be respected. </a:t>
            </a:r>
          </a:p>
          <a:p>
            <a:pPr algn="just">
              <a:buFont typeface="Wingdings" panose="05000000000000000000" charset="0"/>
              <a:buChar char="ü"/>
            </a:pPr>
            <a:r>
              <a:rPr lang="en-US"/>
              <a:t>These different points of view should converge</a:t>
            </a:r>
          </a:p>
          <a:p>
            <a:pPr algn="just"/>
            <a:r>
              <a:rPr lang="en-US" b="1">
                <a:solidFill>
                  <a:schemeClr val="accent6"/>
                </a:solidFill>
              </a:rPr>
              <a:t>Respect</a:t>
            </a:r>
          </a:p>
          <a:p>
            <a:pPr algn="just">
              <a:buFont typeface="Wingdings" panose="05000000000000000000" charset="0"/>
              <a:buChar char="ü"/>
            </a:pPr>
            <a:r>
              <a:rPr lang="en-US"/>
              <a:t>Respect for people in the form of appreciation, understanding and consideration is the foundation on which the other values are based</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52400"/>
            <a:ext cx="7631430" cy="880110"/>
          </a:xfrm>
        </p:spPr>
        <p:txBody>
          <a:bodyPr/>
          <a:lstStyle/>
          <a:p>
            <a:pPr algn="ctr"/>
            <a:r>
              <a:rPr lang="en-US" sz="3600"/>
              <a:t>Kanban Principles and Practices</a:t>
            </a:r>
          </a:p>
        </p:txBody>
      </p:sp>
      <p:pic>
        <p:nvPicPr>
          <p:cNvPr id="5" name="Content Placeholder 4" descr="Kanban-practices-and-principles"/>
          <p:cNvPicPr>
            <a:picLocks noGrp="1" noChangeAspect="1"/>
          </p:cNvPicPr>
          <p:nvPr>
            <p:ph idx="1"/>
          </p:nvPr>
        </p:nvPicPr>
        <p:blipFill>
          <a:blip r:embed="rId2"/>
          <a:stretch>
            <a:fillRect/>
          </a:stretch>
        </p:blipFill>
        <p:spPr>
          <a:xfrm>
            <a:off x="456565" y="1383665"/>
            <a:ext cx="8284210" cy="5133975"/>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noChangeAspect="1"/>
          </p:cNvGraphicFramePr>
          <p:nvPr>
            <p:ph sz="half" idx="1"/>
          </p:nvPr>
        </p:nvGraphicFramePr>
        <p:xfrm>
          <a:off x="457200" y="165100"/>
          <a:ext cx="8229600" cy="6083300"/>
        </p:xfrm>
        <a:graphic>
          <a:graphicData uri="http://schemas.openxmlformats.org/presentationml/2006/ole">
            <p:oleObj spid="_x0000_s7179" r:id="rId3" imgW="5942857" imgH="3296110" progId="PBrush">
              <p:embed/>
            </p:oleObj>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noChangeAspect="1"/>
          </p:cNvGraphicFramePr>
          <p:nvPr>
            <p:ph sz="half" idx="1"/>
          </p:nvPr>
        </p:nvGraphicFramePr>
        <p:xfrm>
          <a:off x="457200" y="362585"/>
          <a:ext cx="8229600" cy="6236970"/>
        </p:xfrm>
        <a:graphic>
          <a:graphicData uri="http://schemas.openxmlformats.org/presentationml/2006/ole">
            <p:oleObj spid="_x0000_s8203" r:id="rId3" imgW="6114286" imgH="3467584" progId="PBrush">
              <p:embed/>
            </p:oleObj>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noChangeAspect="1"/>
          </p:cNvGraphicFramePr>
          <p:nvPr>
            <p:ph sz="half" idx="1"/>
          </p:nvPr>
        </p:nvGraphicFramePr>
        <p:xfrm>
          <a:off x="457200" y="340360"/>
          <a:ext cx="8163560" cy="6123305"/>
        </p:xfrm>
        <a:graphic>
          <a:graphicData uri="http://schemas.openxmlformats.org/presentationml/2006/ole">
            <p:oleObj spid="_x0000_s9227" r:id="rId3" imgW="6066667" imgH="3409524" progId="PBrush">
              <p:embed/>
            </p:oleObj>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noChangeAspect="1"/>
          </p:cNvGraphicFramePr>
          <p:nvPr>
            <p:ph sz="half" idx="1"/>
          </p:nvPr>
        </p:nvGraphicFramePr>
        <p:xfrm>
          <a:off x="533400" y="323850"/>
          <a:ext cx="8021320" cy="3714750"/>
        </p:xfrm>
        <a:graphic>
          <a:graphicData uri="http://schemas.openxmlformats.org/presentationml/2006/ole">
            <p:oleObj spid="_x0000_s10261" r:id="rId3" imgW="5982535" imgH="3352381" progId="PBrush">
              <p:embed/>
            </p:oleObj>
          </a:graphicData>
        </a:graphic>
      </p:graphicFrame>
      <p:graphicFrame>
        <p:nvGraphicFramePr>
          <p:cNvPr id="7" name="Content Placeholder 6"/>
          <p:cNvGraphicFramePr>
            <a:graphicFrameLocks noGrp="1"/>
          </p:cNvGraphicFramePr>
          <p:nvPr>
            <p:ph sz="half" idx="2"/>
          </p:nvPr>
        </p:nvGraphicFramePr>
        <p:xfrm>
          <a:off x="533400" y="4038600"/>
          <a:ext cx="8021955" cy="2593975"/>
        </p:xfrm>
        <a:graphic>
          <a:graphicData uri="http://schemas.openxmlformats.org/presentationml/2006/ole">
            <p:oleObj spid="_x0000_s10262" r:id="rId4" imgW="5952381" imgH="2095793" progId="PBrush">
              <p:embed/>
            </p:oleObj>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835" y="76200"/>
            <a:ext cx="8229600" cy="845185"/>
          </a:xfrm>
        </p:spPr>
        <p:txBody>
          <a:bodyPr>
            <a:normAutofit/>
          </a:bodyPr>
          <a:lstStyle/>
          <a:p>
            <a:r>
              <a:rPr lang="en-US" b="1">
                <a:sym typeface="+mn-ea"/>
              </a:rPr>
              <a:t>Visualize the Workflow</a:t>
            </a:r>
            <a:endParaRPr lang="en-US" b="1"/>
          </a:p>
        </p:txBody>
      </p:sp>
      <p:sp>
        <p:nvSpPr>
          <p:cNvPr id="3" name="Content Placeholder 2"/>
          <p:cNvSpPr>
            <a:spLocks noGrp="1"/>
          </p:cNvSpPr>
          <p:nvPr>
            <p:ph sz="half" idx="1"/>
          </p:nvPr>
        </p:nvSpPr>
        <p:spPr>
          <a:xfrm>
            <a:off x="457200" y="1600200"/>
            <a:ext cx="8143875" cy="4526280"/>
          </a:xfrm>
        </p:spPr>
        <p:txBody>
          <a:bodyPr/>
          <a:lstStyle/>
          <a:p>
            <a:pPr algn="just"/>
            <a:r>
              <a:rPr lang="en-US"/>
              <a:t>The first step in improving a process is understanding how the team currently works, and that’s what the Kanban practice visualize is about.</a:t>
            </a:r>
          </a:p>
          <a:p>
            <a:pPr algn="just"/>
            <a:r>
              <a:rPr lang="en-US"/>
              <a:t>In Kanban, visualizing means writing down exactly what the team does, warts and all, without embellishing it.</a:t>
            </a:r>
          </a:p>
          <a:p>
            <a:pPr marL="0" indent="0">
              <a:buNone/>
            </a:pPr>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sym typeface="+mn-ea"/>
              </a:rPr>
              <a:t>Use a kanban board to visualize the workflow</a:t>
            </a:r>
            <a:endParaRPr lang="en-US"/>
          </a:p>
        </p:txBody>
      </p:sp>
      <p:sp>
        <p:nvSpPr>
          <p:cNvPr id="3" name="Content Placeholder 2"/>
          <p:cNvSpPr>
            <a:spLocks noGrp="1"/>
          </p:cNvSpPr>
          <p:nvPr>
            <p:ph sz="half" idx="1"/>
          </p:nvPr>
        </p:nvSpPr>
        <p:spPr>
          <a:xfrm>
            <a:off x="457200" y="1600200"/>
            <a:ext cx="8259445" cy="4526280"/>
          </a:xfrm>
        </p:spPr>
        <p:txBody>
          <a:bodyPr>
            <a:noAutofit/>
          </a:bodyPr>
          <a:lstStyle/>
          <a:p>
            <a:pPr algn="just"/>
            <a:r>
              <a:rPr lang="en-US" sz="2000"/>
              <a:t>A kanban board is a tool that teams use to visualize their workflow. (The K in the methodology name Kanban is typically uppercase; the k in kanban board is usually lowercase.) </a:t>
            </a:r>
          </a:p>
          <a:p>
            <a:pPr algn="just"/>
            <a:r>
              <a:rPr lang="en-US" sz="2000"/>
              <a:t>A kanban board looks a lot like a Scrum task board: it typically consists of columns drawn on a whiteboard, with sticky notes stuck in each column. (It’s more common to find sticky notes stuck to kanban boards than it is to find index cards.)</a:t>
            </a:r>
          </a:p>
          <a:p>
            <a:pPr algn="just"/>
            <a:r>
              <a:rPr lang="en-US" sz="2000"/>
              <a:t>There are three very important differences between a task board and a kanban board.</a:t>
            </a:r>
          </a:p>
          <a:p>
            <a:pPr algn="just"/>
            <a:r>
              <a:rPr lang="en-US" sz="2000"/>
              <a:t>You already learned about the first difference: that kanban boards only have stories, and do not show tasks. </a:t>
            </a:r>
          </a:p>
          <a:p>
            <a:pPr algn="just"/>
            <a:r>
              <a:rPr lang="en-US" sz="2000"/>
              <a:t>Another difference is that columns in kanban boards usually vary from team to team. Finally, kanban boards can set limits on the amount of work in a column.</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ym typeface="+mn-ea"/>
              </a:rPr>
              <a:t>Visualize the Workflow</a:t>
            </a:r>
            <a:endParaRPr lang="en-US"/>
          </a:p>
        </p:txBody>
      </p:sp>
      <p:sp>
        <p:nvSpPr>
          <p:cNvPr id="3" name="Content Placeholder 2"/>
          <p:cNvSpPr>
            <a:spLocks noGrp="1"/>
          </p:cNvSpPr>
          <p:nvPr>
            <p:ph sz="half" idx="1"/>
          </p:nvPr>
        </p:nvSpPr>
        <p:spPr>
          <a:xfrm>
            <a:off x="457200" y="1600200"/>
            <a:ext cx="8228965" cy="4526280"/>
          </a:xfrm>
        </p:spPr>
        <p:txBody>
          <a:bodyPr>
            <a:normAutofit fontScale="97500" lnSpcReduction="10000"/>
          </a:bodyPr>
          <a:lstStyle/>
          <a:p>
            <a:pPr algn="just"/>
            <a:r>
              <a:rPr lang="en-US"/>
              <a:t>When a team wants to adopt Kanban, the first thing that they do is visualize the workflow by creating a kanban board. </a:t>
            </a:r>
          </a:p>
          <a:p>
            <a:pPr algn="just"/>
            <a:r>
              <a:rPr lang="en-US"/>
              <a:t>For example, one of the first kanban boards in David Anderson’s book, Kanban, has these columns: Input Queue, Analysis (In Prog),</a:t>
            </a:r>
          </a:p>
          <a:p>
            <a:pPr algn="just"/>
            <a:r>
              <a:rPr lang="en-US"/>
              <a:t>Analysis (Done), Dev Ready, Development (In Prog), Development (Done), Build Ready, Test, and Release Ready. This board would be used by a team that follows a process where each feature goes through analysis, development, build, and test.</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Kanban Board</a:t>
            </a:r>
          </a:p>
        </p:txBody>
      </p:sp>
      <p:pic>
        <p:nvPicPr>
          <p:cNvPr id="5" name="Content Placeholder 4"/>
          <p:cNvPicPr>
            <a:picLocks noGrp="1" noChangeAspect="1"/>
          </p:cNvPicPr>
          <p:nvPr>
            <p:ph sz="half" idx="1"/>
          </p:nvPr>
        </p:nvPicPr>
        <p:blipFill>
          <a:blip r:embed="rId2"/>
          <a:stretch>
            <a:fillRect/>
          </a:stretch>
        </p:blipFill>
        <p:spPr>
          <a:xfrm>
            <a:off x="457200" y="1501140"/>
            <a:ext cx="8104505" cy="495935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780"/>
              <a:t>This kanban board gives a more accurate and realistic picture of how theproject is run.</a:t>
            </a:r>
          </a:p>
        </p:txBody>
      </p:sp>
      <p:pic>
        <p:nvPicPr>
          <p:cNvPr id="5" name="Content Placeholder 4"/>
          <p:cNvPicPr>
            <a:picLocks noGrp="1" noChangeAspect="1"/>
          </p:cNvPicPr>
          <p:nvPr>
            <p:ph sz="half" idx="1"/>
          </p:nvPr>
        </p:nvPicPr>
        <p:blipFill>
          <a:blip r:embed="rId2"/>
          <a:stretch>
            <a:fillRect/>
          </a:stretch>
        </p:blipFill>
        <p:spPr>
          <a:xfrm>
            <a:off x="610235" y="1531620"/>
            <a:ext cx="8075930" cy="5069840"/>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Limit Work in Progress</a:t>
            </a:r>
          </a:p>
        </p:txBody>
      </p:sp>
      <p:sp>
        <p:nvSpPr>
          <p:cNvPr id="3" name="Content Placeholder 2"/>
          <p:cNvSpPr>
            <a:spLocks noGrp="1"/>
          </p:cNvSpPr>
          <p:nvPr>
            <p:ph sz="half" idx="1"/>
          </p:nvPr>
        </p:nvSpPr>
        <p:spPr>
          <a:xfrm>
            <a:off x="457200" y="1600200"/>
            <a:ext cx="8229600" cy="4972050"/>
          </a:xfrm>
        </p:spPr>
        <p:txBody>
          <a:bodyPr>
            <a:normAutofit fontScale="97500" lnSpcReduction="10000"/>
          </a:bodyPr>
          <a:lstStyle/>
          <a:p>
            <a:pPr algn="just"/>
            <a:r>
              <a:rPr lang="en-US"/>
              <a:t>A team can only do so much work at a time. We learned this with Scrum.</a:t>
            </a:r>
          </a:p>
          <a:p>
            <a:pPr algn="just"/>
            <a:r>
              <a:rPr lang="en-US"/>
              <a:t>When a team agrees to do more work than they can actually accomplish by the time they’d agreed to deliver it, bad things happen. </a:t>
            </a:r>
          </a:p>
          <a:p>
            <a:pPr algn="just"/>
            <a:r>
              <a:rPr lang="en-US"/>
              <a:t>They either leave some of the work out of the delivery, do a poor job of building the product, or work at an unsustainable pace that will cost dearly in future releases.</a:t>
            </a:r>
          </a:p>
          <a:p>
            <a:pPr algn="just"/>
            <a:r>
              <a:rPr lang="en-US"/>
              <a:t>Limiting work in progress (WIP) means setting a limit on the number of work items that can be in a particular stage in the project’s workflow.</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a:t>The number 10 in the Manager Review column is its WIP limit</a:t>
            </a:r>
          </a:p>
        </p:txBody>
      </p:sp>
      <p:pic>
        <p:nvPicPr>
          <p:cNvPr id="5" name="Content Placeholder 4"/>
          <p:cNvPicPr>
            <a:picLocks noGrp="1" noChangeAspect="1"/>
          </p:cNvPicPr>
          <p:nvPr>
            <p:ph sz="half" idx="1"/>
          </p:nvPr>
        </p:nvPicPr>
        <p:blipFill>
          <a:blip r:embed="rId2"/>
          <a:stretch>
            <a:fillRect/>
          </a:stretch>
        </p:blipFill>
        <p:spPr>
          <a:xfrm>
            <a:off x="457200" y="1593215"/>
            <a:ext cx="8309610" cy="4947285"/>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Measure and Manage Flow</a:t>
            </a:r>
          </a:p>
        </p:txBody>
      </p:sp>
      <p:sp>
        <p:nvSpPr>
          <p:cNvPr id="3" name="Content Placeholder 2"/>
          <p:cNvSpPr>
            <a:spLocks noGrp="1"/>
          </p:cNvSpPr>
          <p:nvPr>
            <p:ph sz="half" idx="1"/>
          </p:nvPr>
        </p:nvSpPr>
        <p:spPr>
          <a:xfrm>
            <a:off x="457200" y="1600200"/>
            <a:ext cx="8143875" cy="5020945"/>
          </a:xfrm>
        </p:spPr>
        <p:txBody>
          <a:bodyPr>
            <a:normAutofit fontScale="97500" lnSpcReduction="10000"/>
          </a:bodyPr>
          <a:lstStyle/>
          <a:p>
            <a:pPr algn="just"/>
            <a:r>
              <a:rPr lang="en-US"/>
              <a:t>As teams continue to deliver work, they identify workflow problems and adjust their WIP limits so that the feedback loops provide enough information without causing thrashing. </a:t>
            </a:r>
          </a:p>
          <a:p>
            <a:pPr algn="just"/>
            <a:r>
              <a:rPr lang="en-US"/>
              <a:t>The flow of the system is the rate at which work items move through it.</a:t>
            </a:r>
          </a:p>
          <a:p>
            <a:pPr algn="just"/>
            <a:r>
              <a:rPr lang="en-US"/>
              <a:t>When the team finds an optimal pace for delivery combined with a comfortable amount of feedback, they’ve maximized the flow.</a:t>
            </a:r>
          </a:p>
          <a:p>
            <a:pPr algn="just"/>
            <a:r>
              <a:rPr lang="en-US"/>
              <a:t>A Kanban team uses the manage flow practice by measuring the flow and taking active steps to improve it for the team.</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52083"/>
            <a:ext cx="8229600" cy="1143000"/>
          </a:xfrm>
        </p:spPr>
        <p:txBody>
          <a:bodyPr>
            <a:normAutofit/>
          </a:bodyPr>
          <a:lstStyle/>
          <a:p>
            <a:r>
              <a:rPr lang="en-US" b="1">
                <a:sym typeface="+mn-ea"/>
              </a:rPr>
              <a:t>Measure and Manage Flow</a:t>
            </a:r>
            <a:endParaRPr lang="en-US" b="1"/>
          </a:p>
        </p:txBody>
      </p:sp>
      <p:sp>
        <p:nvSpPr>
          <p:cNvPr id="3" name="Content Placeholder 2"/>
          <p:cNvSpPr>
            <a:spLocks noGrp="1"/>
          </p:cNvSpPr>
          <p:nvPr>
            <p:ph sz="half" idx="1"/>
          </p:nvPr>
        </p:nvSpPr>
        <p:spPr>
          <a:xfrm>
            <a:off x="346075" y="1600200"/>
            <a:ext cx="4149725" cy="4526280"/>
          </a:xfrm>
        </p:spPr>
        <p:txBody>
          <a:bodyPr>
            <a:normAutofit fontScale="90000" lnSpcReduction="10000"/>
          </a:bodyPr>
          <a:lstStyle/>
          <a:p>
            <a:pPr algn="just"/>
            <a:r>
              <a:rPr lang="en-US"/>
              <a:t>The kanban board is an important tool for managing flow specifically because it visualizes the source of the problem, and lets you limit work in progress where it will be most effective.</a:t>
            </a:r>
          </a:p>
          <a:p>
            <a:pPr algn="just"/>
            <a:r>
              <a:rPr lang="en-US"/>
              <a:t>An effective tool for measuring flow is a cumulative flow diagram, orCFD.</a:t>
            </a:r>
          </a:p>
          <a:p>
            <a:pPr algn="just"/>
            <a:endParaRPr lang="en-US"/>
          </a:p>
        </p:txBody>
      </p:sp>
      <p:pic>
        <p:nvPicPr>
          <p:cNvPr id="5" name="Content Placeholder 4"/>
          <p:cNvPicPr>
            <a:picLocks noGrp="1" noChangeAspect="1"/>
          </p:cNvPicPr>
          <p:nvPr>
            <p:ph sz="half" idx="2"/>
          </p:nvPr>
        </p:nvPicPr>
        <p:blipFill>
          <a:blip r:embed="rId2"/>
          <a:stretch>
            <a:fillRect/>
          </a:stretch>
        </p:blipFill>
        <p:spPr>
          <a:xfrm>
            <a:off x="4572635" y="1676400"/>
            <a:ext cx="4394835" cy="466852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6150"/>
          </a:xfrm>
        </p:spPr>
        <p:txBody>
          <a:bodyPr/>
          <a:lstStyle/>
          <a:p>
            <a:r>
              <a:rPr lang="en-US" b="1"/>
              <a:t>Make Process Policies Explicit</a:t>
            </a:r>
          </a:p>
        </p:txBody>
      </p:sp>
      <p:sp>
        <p:nvSpPr>
          <p:cNvPr id="3" name="Content Placeholder 2"/>
          <p:cNvSpPr>
            <a:spLocks noGrp="1"/>
          </p:cNvSpPr>
          <p:nvPr>
            <p:ph sz="half" idx="1"/>
          </p:nvPr>
        </p:nvSpPr>
        <p:spPr>
          <a:xfrm>
            <a:off x="191135" y="984885"/>
            <a:ext cx="8495665" cy="5596255"/>
          </a:xfrm>
        </p:spPr>
        <p:txBody>
          <a:bodyPr>
            <a:noAutofit/>
          </a:bodyPr>
          <a:lstStyle/>
          <a:p>
            <a:pPr algn="just"/>
            <a:r>
              <a:rPr lang="en-US" sz="2400"/>
              <a:t>Kanban teams don’t need to write long documents or create huge Wikis to establish explicit policies. </a:t>
            </a:r>
          </a:p>
          <a:p>
            <a:pPr algn="just"/>
            <a:r>
              <a:rPr lang="en-US" sz="2400"/>
              <a:t>Policies can be as simple as WIP limits at the tops of the columns.</a:t>
            </a:r>
          </a:p>
          <a:p>
            <a:pPr algn="just"/>
            <a:r>
              <a:rPr lang="en-US" sz="2400"/>
              <a:t>Teams can also write down their policies by adding “definitions of done” or “exit criteria” bullets to the bottom of each column on a kanban board, so that the team members know exactly when to advance the work items through the workflow. </a:t>
            </a:r>
          </a:p>
          <a:p>
            <a:pPr algn="just"/>
            <a:r>
              <a:rPr lang="en-US" sz="2400"/>
              <a:t>This is especially effective when these policies were established collaboratively and evolved experimentally by the whole team, because it means that everyone understands why they’re there.</a:t>
            </a:r>
          </a:p>
          <a:p>
            <a:pPr algn="just"/>
            <a:r>
              <a:rPr lang="en-US" sz="2400"/>
              <a:t>Complex processes and unwritten rules tend to emerge over time, and they seem to be especially common on teams that have a fractured perspective.</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kanban-vs-scrum"/>
          <p:cNvPicPr>
            <a:picLocks noGrp="1" noChangeAspect="1"/>
          </p:cNvPicPr>
          <p:nvPr>
            <p:ph idx="1"/>
          </p:nvPr>
        </p:nvPicPr>
        <p:blipFill>
          <a:blip r:embed="rId2"/>
          <a:stretch>
            <a:fillRect/>
          </a:stretch>
        </p:blipFill>
        <p:spPr>
          <a:xfrm>
            <a:off x="455930" y="342900"/>
            <a:ext cx="8230870" cy="634111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150860" cy="764540"/>
          </a:xfrm>
        </p:spPr>
        <p:txBody>
          <a:bodyPr/>
          <a:lstStyle/>
          <a:p>
            <a:pPr algn="ctr"/>
            <a:r>
              <a:rPr lang="en-US" sz="3600"/>
              <a:t>Little’s Law</a:t>
            </a:r>
          </a:p>
        </p:txBody>
      </p:sp>
      <p:sp>
        <p:nvSpPr>
          <p:cNvPr id="4" name="Text Placeholder 3"/>
          <p:cNvSpPr>
            <a:spLocks noGrp="1"/>
          </p:cNvSpPr>
          <p:nvPr>
            <p:ph type="body" sz="half" idx="2"/>
          </p:nvPr>
        </p:nvSpPr>
        <p:spPr>
          <a:xfrm>
            <a:off x="457200" y="1066800"/>
            <a:ext cx="8150225" cy="5380990"/>
          </a:xfrm>
        </p:spPr>
        <p:txBody>
          <a:bodyPr>
            <a:normAutofit lnSpcReduction="10000"/>
          </a:bodyPr>
          <a:lstStyle/>
          <a:p>
            <a:pPr algn="just"/>
            <a:r>
              <a:rPr lang="en-US" sz="2600"/>
              <a:t>A theorem that’s part of </a:t>
            </a:r>
            <a:r>
              <a:rPr lang="en-US" sz="2600" b="1">
                <a:solidFill>
                  <a:srgbClr val="00B050"/>
                </a:solidFill>
              </a:rPr>
              <a:t>queueing theory</a:t>
            </a:r>
            <a:r>
              <a:rPr lang="en-US" sz="2600"/>
              <a:t>—named for its discoverer, John Little, who first proposed it in the </a:t>
            </a:r>
            <a:r>
              <a:rPr lang="en-US" sz="2600" b="1">
                <a:solidFill>
                  <a:schemeClr val="accent6">
                    <a:lumMod val="75000"/>
                  </a:schemeClr>
                </a:solidFill>
              </a:rPr>
              <a:t>1950s</a:t>
            </a:r>
            <a:r>
              <a:rPr lang="en-US" sz="2600"/>
              <a:t>, and who is considered by many to be the father of marketing science And even though there’s a Greek letter involved, you don’t need to know a lot of math to use it:</a:t>
            </a:r>
          </a:p>
          <a:p>
            <a:pPr algn="just"/>
            <a:r>
              <a:rPr lang="en-US" sz="2600" b="1">
                <a:solidFill>
                  <a:srgbClr val="7030A0"/>
                </a:solidFill>
              </a:rPr>
              <a:t>			L = W × λ</a:t>
            </a:r>
          </a:p>
          <a:p>
            <a:pPr algn="just"/>
            <a:r>
              <a:rPr lang="en-US" sz="2600" b="1">
                <a:solidFill>
                  <a:srgbClr val="7030A0"/>
                </a:solidFill>
              </a:rPr>
              <a:t>			W = L ÷ λ</a:t>
            </a:r>
          </a:p>
          <a:p>
            <a:pPr algn="l"/>
            <a:r>
              <a:rPr lang="en-US" sz="2600" b="1">
                <a:solidFill>
                  <a:srgbClr val="FFC000"/>
                </a:solidFill>
                <a:sym typeface="+mn-ea"/>
              </a:rPr>
              <a:t>λ= Arrival rate</a:t>
            </a:r>
          </a:p>
          <a:p>
            <a:pPr algn="l"/>
            <a:r>
              <a:rPr lang="en-US" sz="2600" b="1">
                <a:solidFill>
                  <a:srgbClr val="FFC000"/>
                </a:solidFill>
                <a:sym typeface="+mn-ea"/>
              </a:rPr>
              <a:t>L= Inventory</a:t>
            </a:r>
          </a:p>
          <a:p>
            <a:pPr algn="l"/>
            <a:r>
              <a:rPr lang="en-US" sz="2600" b="1">
                <a:solidFill>
                  <a:srgbClr val="FFC000"/>
                </a:solidFill>
                <a:sym typeface="+mn-ea"/>
              </a:rPr>
              <a:t>W= Average Lead time</a:t>
            </a:r>
            <a:endParaRPr lang="en-US" sz="2600" b="1">
              <a:solidFill>
                <a:srgbClr val="FFC000"/>
              </a:solidFill>
            </a:endParaRPr>
          </a:p>
          <a:p>
            <a:pPr algn="just"/>
            <a:r>
              <a:rPr lang="en-US" sz="2600">
                <a:solidFill>
                  <a:schemeClr val="tx1"/>
                </a:solidFill>
              </a:rPr>
              <a:t>This means that if you have a </a:t>
            </a:r>
            <a:r>
              <a:rPr lang="en-US" sz="2600" b="1">
                <a:solidFill>
                  <a:schemeClr val="accent6">
                    <a:lumMod val="75000"/>
                  </a:schemeClr>
                </a:solidFill>
              </a:rPr>
              <a:t>stable workflow</a:t>
            </a:r>
            <a:r>
              <a:rPr lang="en-US" sz="2600">
                <a:solidFill>
                  <a:schemeClr val="tx1"/>
                </a:solidFill>
              </a:rPr>
              <a:t>, the average inventory is always equal to the </a:t>
            </a:r>
            <a:r>
              <a:rPr lang="en-US" sz="2600" b="1">
                <a:solidFill>
                  <a:srgbClr val="FFC000"/>
                </a:solidFill>
              </a:rPr>
              <a:t>average arrival rate</a:t>
            </a:r>
            <a:r>
              <a:rPr lang="en-US" sz="2600">
                <a:solidFill>
                  <a:schemeClr val="tx1"/>
                </a:solidFill>
              </a:rPr>
              <a:t> multiplied by the </a:t>
            </a:r>
            <a:r>
              <a:rPr lang="en-US" sz="2600" b="1">
                <a:solidFill>
                  <a:srgbClr val="00B0F0"/>
                </a:solidFill>
              </a:rPr>
              <a:t>average lead time</a:t>
            </a:r>
            <a:r>
              <a:rPr lang="en-US" sz="2600">
                <a:solidFill>
                  <a:schemeClr val="tx1"/>
                </a:solidFill>
              </a:rPr>
              <a:t>.</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825" y="76200"/>
            <a:ext cx="8387715" cy="965835"/>
          </a:xfrm>
        </p:spPr>
        <p:txBody>
          <a:bodyPr/>
          <a:lstStyle/>
          <a:p>
            <a:pPr algn="ctr"/>
            <a:r>
              <a:rPr lang="en-US" sz="3600">
                <a:sym typeface="+mn-ea"/>
              </a:rPr>
              <a:t>Little’s Law Example.,</a:t>
            </a:r>
            <a:endParaRPr lang="en-US" sz="3600"/>
          </a:p>
        </p:txBody>
      </p:sp>
      <p:sp>
        <p:nvSpPr>
          <p:cNvPr id="4" name="Text Placeholder 3"/>
          <p:cNvSpPr>
            <a:spLocks noGrp="1"/>
          </p:cNvSpPr>
          <p:nvPr>
            <p:ph type="body" sz="half" idx="2"/>
          </p:nvPr>
        </p:nvSpPr>
        <p:spPr>
          <a:xfrm>
            <a:off x="457200" y="1133475"/>
            <a:ext cx="7845425" cy="5342890"/>
          </a:xfrm>
        </p:spPr>
        <p:txBody>
          <a:bodyPr/>
          <a:lstStyle/>
          <a:p>
            <a:pPr algn="just"/>
            <a:r>
              <a:rPr lang="en-US" sz="2800"/>
              <a:t>If  the office staff schedules 11 patients to arrive every hour (so the arrival rate λ is 11/hour), and the office has average inventory of seven patients over the course of the day (so the inventory L is 7), then Little’s Law tells us the average time patients have to wait:</a:t>
            </a:r>
          </a:p>
          <a:p>
            <a:pPr algn="just"/>
            <a:r>
              <a:rPr lang="en-US" sz="2800">
                <a:solidFill>
                  <a:srgbClr val="FF0000"/>
                </a:solidFill>
              </a:rPr>
              <a:t>W = L ÷ λ = 7 patients ÷ (11 per hour) = .63 hours = 37 minutes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428</TotalTime>
  <Words>6975</Words>
  <Application>Microsoft Office PowerPoint</Application>
  <PresentationFormat>On-screen Show (4:3)</PresentationFormat>
  <Paragraphs>590</Paragraphs>
  <Slides>113</Slides>
  <Notes>0</Notes>
  <HiddenSlides>0</HiddenSlides>
  <MMClips>0</MMClips>
  <ScaleCrop>false</ScaleCrop>
  <HeadingPairs>
    <vt:vector size="6" baseType="variant">
      <vt:variant>
        <vt:lpstr>Theme</vt:lpstr>
      </vt:variant>
      <vt:variant>
        <vt:i4>1</vt:i4>
      </vt:variant>
      <vt:variant>
        <vt:lpstr>Embedded OLE Servers</vt:lpstr>
      </vt:variant>
      <vt:variant>
        <vt:i4>0</vt:i4>
      </vt:variant>
      <vt:variant>
        <vt:lpstr>Slide Titles</vt:lpstr>
      </vt:variant>
      <vt:variant>
        <vt:i4>113</vt:i4>
      </vt:variant>
    </vt:vector>
  </HeadingPairs>
  <TitlesOfParts>
    <vt:vector size="114" baseType="lpstr">
      <vt:lpstr>Office Theme</vt:lpstr>
      <vt:lpstr>22CSC51 - AGILE METHODOLOGIES </vt:lpstr>
      <vt:lpstr>Slide 2</vt:lpstr>
      <vt:lpstr>XP Extreme Programming </vt:lpstr>
      <vt:lpstr>Slide 4</vt:lpstr>
      <vt:lpstr>XP Variables</vt:lpstr>
      <vt:lpstr>Relationship between Variables</vt:lpstr>
      <vt:lpstr>XP Values</vt:lpstr>
      <vt:lpstr>XP Values</vt:lpstr>
      <vt:lpstr>XP Values</vt:lpstr>
      <vt:lpstr>XP Values</vt:lpstr>
      <vt:lpstr>XP Values</vt:lpstr>
      <vt:lpstr>XP Values</vt:lpstr>
      <vt:lpstr>XP Principles</vt:lpstr>
      <vt:lpstr>XP Principles</vt:lpstr>
      <vt:lpstr>XP Principles</vt:lpstr>
      <vt:lpstr>XP Principles</vt:lpstr>
      <vt:lpstr>XP Practices</vt:lpstr>
      <vt:lpstr>XP Practices</vt:lpstr>
      <vt:lpstr>XP Practices</vt:lpstr>
      <vt:lpstr>XP Practices</vt:lpstr>
      <vt:lpstr>XP Practices</vt:lpstr>
      <vt:lpstr>XP Practices</vt:lpstr>
      <vt:lpstr>The Planning Game</vt:lpstr>
      <vt:lpstr>The Planning Game</vt:lpstr>
      <vt:lpstr>The Planning Game </vt:lpstr>
      <vt:lpstr>Small Releases</vt:lpstr>
      <vt:lpstr>Metaphor</vt:lpstr>
      <vt:lpstr>Simple Design</vt:lpstr>
      <vt:lpstr>Test-Driven Development (TDD)</vt:lpstr>
      <vt:lpstr>Refactoring</vt:lpstr>
      <vt:lpstr>Pair Programming</vt:lpstr>
      <vt:lpstr>Collective Ownership</vt:lpstr>
      <vt:lpstr>Continuous Integration</vt:lpstr>
      <vt:lpstr>10 – Minute Build</vt:lpstr>
      <vt:lpstr>40 Hours a week</vt:lpstr>
      <vt:lpstr>On-Site Customer</vt:lpstr>
      <vt:lpstr>Coding Standards</vt:lpstr>
      <vt:lpstr>The Practices support each other</vt:lpstr>
      <vt:lpstr>XP Roles</vt:lpstr>
      <vt:lpstr>XP Roles</vt:lpstr>
      <vt:lpstr>XP Roles</vt:lpstr>
      <vt:lpstr>XP Process</vt:lpstr>
      <vt:lpstr>Planning</vt:lpstr>
      <vt:lpstr> Planning </vt:lpstr>
      <vt:lpstr>A User Story card from the C3 project</vt:lpstr>
      <vt:lpstr>Designing</vt:lpstr>
      <vt:lpstr>Coding</vt:lpstr>
      <vt:lpstr>Testing</vt:lpstr>
      <vt:lpstr>Feedback Loops</vt:lpstr>
      <vt:lpstr>Feedback Loops</vt:lpstr>
      <vt:lpstr>Feedback loops</vt:lpstr>
      <vt:lpstr>Slide 52</vt:lpstr>
      <vt:lpstr>Lean</vt:lpstr>
      <vt:lpstr>Definition</vt:lpstr>
      <vt:lpstr>Lean values</vt:lpstr>
      <vt:lpstr>Eliminate waste</vt:lpstr>
      <vt:lpstr>Amplify learning</vt:lpstr>
      <vt:lpstr>Decide as late as possible</vt:lpstr>
      <vt:lpstr>Deliver as fast as possible</vt:lpstr>
      <vt:lpstr>Empower the team</vt:lpstr>
      <vt:lpstr>Build integrity in</vt:lpstr>
      <vt:lpstr>See the whole</vt:lpstr>
      <vt:lpstr>Seven Wastes of Software Development</vt:lpstr>
      <vt:lpstr>Seven Wastes of Software Development</vt:lpstr>
      <vt:lpstr>Seven Wastes of Software Development</vt:lpstr>
      <vt:lpstr>Seven Wastes of Software Development</vt:lpstr>
      <vt:lpstr>Seven Wastes of Software Development</vt:lpstr>
      <vt:lpstr>Slide 68</vt:lpstr>
      <vt:lpstr> Lean Thinking</vt:lpstr>
      <vt:lpstr>Lean Tools</vt:lpstr>
      <vt:lpstr>Value Stream Map </vt:lpstr>
      <vt:lpstr> Steps in Value Stream Map </vt:lpstr>
      <vt:lpstr>Value Stream Map</vt:lpstr>
      <vt:lpstr>Find the Root Cause of Problems</vt:lpstr>
      <vt:lpstr>Find the Root Cause of Problems</vt:lpstr>
      <vt:lpstr>Area Chart to Visualize Work in Progress</vt:lpstr>
      <vt:lpstr>Area Chart</vt:lpstr>
      <vt:lpstr>Area Chart</vt:lpstr>
      <vt:lpstr>Area Chart</vt:lpstr>
      <vt:lpstr>Area Chart</vt:lpstr>
      <vt:lpstr>Area Chart</vt:lpstr>
      <vt:lpstr>Pull Systems</vt:lpstr>
      <vt:lpstr>3 wastes identified by Pull System</vt:lpstr>
      <vt:lpstr>waste that happens when the team is waiting for a large specification to be created and approved.</vt:lpstr>
      <vt:lpstr>Pull System</vt:lpstr>
      <vt:lpstr>Pull System</vt:lpstr>
      <vt:lpstr>Kanban</vt:lpstr>
      <vt:lpstr>Kanban</vt:lpstr>
      <vt:lpstr>Slide 89</vt:lpstr>
      <vt:lpstr>Slide 90</vt:lpstr>
      <vt:lpstr>Slide 91</vt:lpstr>
      <vt:lpstr>Kanban Values</vt:lpstr>
      <vt:lpstr>Kanban Values</vt:lpstr>
      <vt:lpstr>Kanban Values</vt:lpstr>
      <vt:lpstr> Kanban Values </vt:lpstr>
      <vt:lpstr>Kanban Principles and Practices</vt:lpstr>
      <vt:lpstr>Slide 97</vt:lpstr>
      <vt:lpstr>Slide 98</vt:lpstr>
      <vt:lpstr>Slide 99</vt:lpstr>
      <vt:lpstr>Slide 100</vt:lpstr>
      <vt:lpstr>Visualize the Workflow</vt:lpstr>
      <vt:lpstr>Use a kanban board to visualize the workflow</vt:lpstr>
      <vt:lpstr>Visualize the Workflow</vt:lpstr>
      <vt:lpstr>Kanban Board</vt:lpstr>
      <vt:lpstr>This kanban board gives a more accurate and realistic picture of how theproject is run.</vt:lpstr>
      <vt:lpstr>Limit Work in Progress</vt:lpstr>
      <vt:lpstr>The number 10 in the Manager Review column is its WIP limit</vt:lpstr>
      <vt:lpstr>Measure and Manage Flow</vt:lpstr>
      <vt:lpstr>Measure and Manage Flow</vt:lpstr>
      <vt:lpstr>Make Process Policies Explicit</vt:lpstr>
      <vt:lpstr>Slide 111</vt:lpstr>
      <vt:lpstr>Little’s Law</vt:lpstr>
      <vt:lpstr>Little’s Law Example.,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UNIT-III Arrays and Functions</dc:title>
  <dc:creator>Muthuraja</dc:creator>
  <cp:lastModifiedBy>User</cp:lastModifiedBy>
  <cp:revision>624</cp:revision>
  <dcterms:created xsi:type="dcterms:W3CDTF">2021-10-24T06:29:00Z</dcterms:created>
  <dcterms:modified xsi:type="dcterms:W3CDTF">2026-09-02T08:54:59Z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0E5290576EAB44F9BD4CB07F4B0EFE85</vt:lpwstr>
  </property>
  <property fmtid="{D5CDD505-2E9C-101B-9397-08002B2CF9AE}" pid="3" name="KSOProductBuildVer">
    <vt:lpwstr>1033-11.2.0.11486</vt:lpwstr>
  </property>
</Properties>
</file>