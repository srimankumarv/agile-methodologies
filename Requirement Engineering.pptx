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5" r:id="rId3"/>
    <p:sldId id="286" r:id="rId4"/>
    <p:sldId id="259" r:id="rId5"/>
    <p:sldId id="260" r:id="rId6"/>
    <p:sldId id="287" r:id="rId7"/>
    <p:sldId id="288" r:id="rId8"/>
    <p:sldId id="289" r:id="rId9"/>
    <p:sldId id="290" r:id="rId10"/>
    <p:sldId id="261" r:id="rId11"/>
    <p:sldId id="291" r:id="rId12"/>
    <p:sldId id="292" r:id="rId13"/>
    <p:sldId id="293" r:id="rId14"/>
    <p:sldId id="295" r:id="rId15"/>
    <p:sldId id="297" r:id="rId16"/>
    <p:sldId id="298" r:id="rId17"/>
    <p:sldId id="296" r:id="rId18"/>
    <p:sldId id="294" r:id="rId19"/>
    <p:sldId id="299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77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D65D3-2A63-47EF-8CA0-985F14D36945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5BCA4-321A-4B8C-A704-FFDE7690F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798195"/>
          </a:xfrm>
        </p:spPr>
        <p:txBody>
          <a:bodyPr/>
          <a:lstStyle/>
          <a:p>
            <a:r>
              <a:rPr lang="en-US" b="1"/>
              <a:t>Requirement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360" y="883920"/>
            <a:ext cx="8421370" cy="5808345"/>
          </a:xfrm>
        </p:spPr>
        <p:txBody>
          <a:bodyPr>
            <a:normAutofit/>
          </a:bodyPr>
          <a:lstStyle/>
          <a:p>
            <a:pPr algn="just"/>
            <a:r>
              <a:rPr lang="en-US"/>
              <a:t>Requirements Engineering (RE) refers to the process of </a:t>
            </a:r>
            <a:r>
              <a:rPr lang="en-US" b="1">
                <a:solidFill>
                  <a:srgbClr val="7030A0"/>
                </a:solidFill>
              </a:rPr>
              <a:t>defining, documenting, and maintaining requirements</a:t>
            </a:r>
            <a:r>
              <a:rPr lang="en-US"/>
              <a:t> in the engineering design process.</a:t>
            </a:r>
          </a:p>
          <a:p>
            <a:pPr marL="0" indent="0" algn="just">
              <a:buNone/>
            </a:pPr>
            <a:r>
              <a:rPr lang="en-US" b="1">
                <a:solidFill>
                  <a:srgbClr val="FF0000"/>
                </a:solidFill>
              </a:rPr>
              <a:t>Requirement Engineering Process</a:t>
            </a:r>
            <a:endParaRPr lang="en-US"/>
          </a:p>
          <a:p>
            <a:pPr marL="0" indent="0" algn="just">
              <a:buNone/>
            </a:pPr>
            <a:r>
              <a:rPr lang="en-US"/>
              <a:t>It is a four-step process, which includes -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/>
              <a:t>Feasibility Study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/>
              <a:t>Requirement Elicitation and Analysis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/>
              <a:t>Software Requirement Specification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/>
              <a:t>Software Requirement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Requirement Engineering is the process of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finding </a:t>
            </a:r>
            <a:r>
              <a:rPr lang="en-US" dirty="0" smtClean="0"/>
              <a:t>requirements, </a:t>
            </a:r>
          </a:p>
          <a:p>
            <a:r>
              <a:rPr lang="en-US" dirty="0" smtClean="0"/>
              <a:t>analyzing them, </a:t>
            </a:r>
          </a:p>
          <a:p>
            <a:r>
              <a:rPr lang="en-US" dirty="0" smtClean="0"/>
              <a:t>documenting them, </a:t>
            </a:r>
          </a:p>
          <a:p>
            <a:r>
              <a:rPr lang="en-US" dirty="0" smtClean="0"/>
              <a:t>validating them, </a:t>
            </a:r>
          </a:p>
          <a:p>
            <a:r>
              <a:rPr lang="en-US" dirty="0" smtClean="0"/>
              <a:t>and managing changes in them.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Objectives of Requirement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 customer needs. </a:t>
            </a:r>
            <a:endParaRPr lang="en-US" dirty="0" smtClean="0"/>
          </a:p>
          <a:p>
            <a:r>
              <a:rPr lang="en-US" dirty="0" smtClean="0"/>
              <a:t>Document </a:t>
            </a:r>
            <a:r>
              <a:rPr lang="en-US" dirty="0" smtClean="0"/>
              <a:t>requirements clearly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smtClean="0"/>
              <a:t>Remove ambiguities. </a:t>
            </a:r>
            <a:endParaRPr lang="en-US" dirty="0" smtClean="0"/>
          </a:p>
          <a:p>
            <a:r>
              <a:rPr lang="en-US" dirty="0" smtClean="0"/>
              <a:t>Avoid </a:t>
            </a:r>
            <a:r>
              <a:rPr lang="en-US" dirty="0" smtClean="0"/>
              <a:t>misunderstandings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smtClean="0"/>
              <a:t>Reduce development cost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smtClean="0"/>
              <a:t>Increase customer satisfaction.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requirement-engineeri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190" y="340995"/>
            <a:ext cx="851027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3215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78815"/>
          </a:xfrm>
        </p:spPr>
        <p:txBody>
          <a:bodyPr>
            <a:normAutofit fontScale="90000"/>
          </a:bodyPr>
          <a:lstStyle/>
          <a:p>
            <a:r>
              <a:rPr lang="en-US" b="1"/>
              <a:t>Feasibility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4380"/>
            <a:ext cx="8229600" cy="586041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430" dirty="0"/>
              <a:t>The objective behind the feasibility study is to </a:t>
            </a:r>
            <a:r>
              <a:rPr lang="en-US" sz="3430" b="1" dirty="0">
                <a:solidFill>
                  <a:srgbClr val="00B050"/>
                </a:solidFill>
              </a:rPr>
              <a:t>create the reasons for developing the software</a:t>
            </a:r>
            <a:r>
              <a:rPr lang="en-US" sz="3430" dirty="0"/>
              <a:t> that is acceptable to users, flexible to change and conformable to established standards.</a:t>
            </a:r>
          </a:p>
          <a:p>
            <a:pPr marL="0" indent="0" algn="just">
              <a:buNone/>
            </a:pPr>
            <a:r>
              <a:rPr lang="en-US" sz="3430" b="1" dirty="0">
                <a:solidFill>
                  <a:schemeClr val="accent6"/>
                </a:solidFill>
              </a:rPr>
              <a:t>Types of Feasibility: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 sz="343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Technical Feasibility</a:t>
            </a:r>
            <a:r>
              <a:rPr lang="en-US" sz="343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3430" dirty="0"/>
              <a:t> evaluates the </a:t>
            </a:r>
            <a:r>
              <a:rPr lang="en-US" sz="3430" b="1" dirty="0">
                <a:solidFill>
                  <a:schemeClr val="accent2"/>
                </a:solidFill>
              </a:rPr>
              <a:t>current technologies,</a:t>
            </a:r>
            <a:r>
              <a:rPr lang="en-US" sz="3430" dirty="0"/>
              <a:t> which are needed to accomplish customer requirements within the time and budget.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 sz="343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Operational Feasibility:</a:t>
            </a:r>
            <a:r>
              <a:rPr lang="en-US" sz="3430" dirty="0" smtClean="0"/>
              <a:t>  assesses the range in which the required software performs a series of levels to </a:t>
            </a:r>
            <a:r>
              <a:rPr lang="en-US" sz="3430" b="1" dirty="0" smtClean="0">
                <a:solidFill>
                  <a:schemeClr val="accent2"/>
                </a:solidFill>
              </a:rPr>
              <a:t>solve business problems and customer requirements</a:t>
            </a:r>
            <a:r>
              <a:rPr lang="en-US" sz="3430" dirty="0" smtClean="0"/>
              <a:t>.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 sz="343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Economic </a:t>
            </a:r>
            <a:r>
              <a:rPr lang="en-US" sz="343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Feasibility:</a:t>
            </a:r>
            <a:r>
              <a:rPr lang="en-US" sz="3430" dirty="0"/>
              <a:t> Economic feasibility decides whether the necessary software can generate </a:t>
            </a:r>
            <a:r>
              <a:rPr lang="en-US" sz="3430" b="1" dirty="0">
                <a:solidFill>
                  <a:schemeClr val="accent2"/>
                </a:solidFill>
              </a:rPr>
              <a:t>financial profits for an organization.</a:t>
            </a:r>
          </a:p>
        </p:txBody>
      </p:sp>
    </p:spTree>
    <p:extLst>
      <p:ext uri="{BB962C8B-B14F-4D97-AF65-F5344CB8AC3E}">
        <p14:creationId xmlns:p14="http://schemas.microsoft.com/office/powerpoint/2010/main" xmlns="" val="298361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Technical 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Feasibility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College wants:</a:t>
            </a:r>
          </a:p>
          <a:p>
            <a:r>
              <a:rPr lang="en-US" dirty="0" smtClean="0"/>
              <a:t>Face Recognition Attendance System.</a:t>
            </a:r>
          </a:p>
          <a:p>
            <a:pPr>
              <a:buNone/>
            </a:pPr>
            <a:r>
              <a:rPr lang="en-US" dirty="0" smtClean="0"/>
              <a:t>Questions:</a:t>
            </a:r>
          </a:p>
          <a:p>
            <a:r>
              <a:rPr lang="en-US" dirty="0" smtClean="0"/>
              <a:t>Do we have AI expertise? </a:t>
            </a:r>
          </a:p>
          <a:p>
            <a:r>
              <a:rPr lang="en-US" dirty="0" smtClean="0"/>
              <a:t>Do we have required hardware? </a:t>
            </a:r>
          </a:p>
          <a:p>
            <a:r>
              <a:rPr lang="en-US" dirty="0" smtClean="0"/>
              <a:t>Do we have required software? </a:t>
            </a:r>
          </a:p>
          <a:p>
            <a:pPr>
              <a:buNone/>
            </a:pPr>
            <a:r>
              <a:rPr lang="en-US" dirty="0" smtClean="0"/>
              <a:t>If yes,</a:t>
            </a:r>
          </a:p>
          <a:p>
            <a:r>
              <a:rPr lang="en-US" dirty="0" smtClean="0"/>
              <a:t>technically feasible.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Operational Feasibility: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7912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 smtClean="0"/>
              <a:t>Operational Feasibility checks whether the proposed software will work properly in the organization and whether the users are willing and able to use it.</a:t>
            </a:r>
          </a:p>
          <a:p>
            <a:pPr marL="0" indent="0" algn="just">
              <a:buNone/>
            </a:pPr>
            <a:r>
              <a:rPr lang="en-US" dirty="0" smtClean="0"/>
              <a:t>Can this software solve the user's problem in the real working environment?</a:t>
            </a:r>
          </a:p>
          <a:p>
            <a:pPr>
              <a:buNone/>
            </a:pPr>
            <a:r>
              <a:rPr lang="en-US" dirty="0" smtClean="0"/>
              <a:t>Question:</a:t>
            </a:r>
            <a:endParaRPr lang="en-US" dirty="0" smtClean="0"/>
          </a:p>
          <a:p>
            <a:r>
              <a:rPr lang="en-US" dirty="0" smtClean="0"/>
              <a:t>Will users actually use this system?</a:t>
            </a:r>
          </a:p>
          <a:p>
            <a:pPr>
              <a:buNone/>
            </a:pPr>
            <a:r>
              <a:rPr lang="en-US" b="1" dirty="0" smtClean="0"/>
              <a:t>Example</a:t>
            </a:r>
          </a:p>
          <a:p>
            <a:r>
              <a:rPr lang="en-US" dirty="0" smtClean="0"/>
              <a:t>College develops ERP.</a:t>
            </a:r>
          </a:p>
          <a:p>
            <a:r>
              <a:rPr lang="en-US" dirty="0" smtClean="0"/>
              <a:t>Are teachers willing to enter attendance online</a:t>
            </a:r>
            <a:r>
              <a:rPr lang="en-US" dirty="0" smtClean="0"/>
              <a:t>?</a:t>
            </a:r>
          </a:p>
          <a:p>
            <a:r>
              <a:rPr lang="en-US" dirty="0" smtClean="0"/>
              <a:t> </a:t>
            </a:r>
            <a:r>
              <a:rPr lang="en-US" dirty="0" smtClean="0"/>
              <a:t>Can office staff use the software? </a:t>
            </a:r>
            <a:endParaRPr lang="en-US" dirty="0" smtClean="0"/>
          </a:p>
          <a:p>
            <a:r>
              <a:rPr lang="en-US" dirty="0" smtClean="0"/>
              <a:t>Does </a:t>
            </a:r>
            <a:r>
              <a:rPr lang="en-US" dirty="0" smtClean="0"/>
              <a:t>the software actually reduce paperwork?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Questions asked in Operational Feasibility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Will the users accept the system? </a:t>
            </a:r>
            <a:endParaRPr lang="en-US" dirty="0" smtClean="0"/>
          </a:p>
          <a:p>
            <a:r>
              <a:rPr lang="en-US" dirty="0" smtClean="0"/>
              <a:t>Will </a:t>
            </a:r>
            <a:r>
              <a:rPr lang="en-US" dirty="0" smtClean="0"/>
              <a:t>the software solve the business problem? </a:t>
            </a:r>
            <a:endParaRPr lang="en-US" dirty="0" smtClean="0"/>
          </a:p>
          <a:p>
            <a:r>
              <a:rPr lang="en-US" dirty="0" smtClean="0"/>
              <a:t>Can </a:t>
            </a:r>
            <a:r>
              <a:rPr lang="en-US" dirty="0" smtClean="0"/>
              <a:t>employees use the system easily</a:t>
            </a:r>
            <a:r>
              <a:rPr lang="en-US" dirty="0" smtClean="0"/>
              <a:t>?</a:t>
            </a:r>
          </a:p>
          <a:p>
            <a:r>
              <a:rPr lang="en-US" dirty="0" smtClean="0"/>
              <a:t> </a:t>
            </a:r>
            <a:r>
              <a:rPr lang="en-US" dirty="0" smtClean="0"/>
              <a:t>Does the organization have the necessary procedures to use the system? </a:t>
            </a:r>
            <a:endParaRPr lang="en-US" dirty="0" smtClean="0"/>
          </a:p>
          <a:p>
            <a:r>
              <a:rPr lang="en-US" dirty="0" smtClean="0"/>
              <a:t>Will </a:t>
            </a:r>
            <a:r>
              <a:rPr lang="en-US" dirty="0" smtClean="0"/>
              <a:t>the software improve the existing process?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Economic Feasibility: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Is the project financially beneficial</a:t>
            </a:r>
            <a:r>
              <a:rPr lang="en-US" dirty="0" smtClean="0"/>
              <a:t>?</a:t>
            </a:r>
          </a:p>
          <a:p>
            <a:pPr>
              <a:buNone/>
            </a:pPr>
            <a:r>
              <a:rPr lang="en-US" b="1" dirty="0" smtClean="0"/>
              <a:t>Example</a:t>
            </a:r>
          </a:p>
          <a:p>
            <a:r>
              <a:rPr lang="en-US" dirty="0" smtClean="0"/>
              <a:t>Software Cost:</a:t>
            </a:r>
          </a:p>
          <a:p>
            <a:r>
              <a:rPr lang="en-US" dirty="0" smtClean="0"/>
              <a:t>₹50 </a:t>
            </a:r>
            <a:r>
              <a:rPr lang="en-US" dirty="0" err="1" smtClean="0"/>
              <a:t>Lakhs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Expected Benefit:</a:t>
            </a:r>
          </a:p>
          <a:p>
            <a:r>
              <a:rPr lang="en-US" dirty="0" smtClean="0"/>
              <a:t>₹5 </a:t>
            </a:r>
            <a:r>
              <a:rPr lang="en-US" dirty="0" err="1" smtClean="0"/>
              <a:t>Lakhs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Should company develop?</a:t>
            </a:r>
          </a:p>
          <a:p>
            <a:r>
              <a:rPr lang="en-US" dirty="0" smtClean="0"/>
              <a:t>No.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832485"/>
          </a:xfrm>
        </p:spPr>
        <p:txBody>
          <a:bodyPr>
            <a:normAutofit fontScale="90000"/>
          </a:bodyPr>
          <a:lstStyle/>
          <a:p>
            <a:r>
              <a:rPr lang="en-US" b="1"/>
              <a:t>Requirement Elicitation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5" y="960120"/>
            <a:ext cx="8303895" cy="5549900"/>
          </a:xfrm>
        </p:spPr>
        <p:txBody>
          <a:bodyPr/>
          <a:lstStyle/>
          <a:p>
            <a:pPr algn="just"/>
            <a:r>
              <a:rPr lang="en-US" dirty="0"/>
              <a:t>This is also known as the </a:t>
            </a:r>
            <a:r>
              <a:rPr lang="en-US" b="1" dirty="0">
                <a:solidFill>
                  <a:srgbClr val="00B050"/>
                </a:solidFill>
              </a:rPr>
              <a:t>gathering of </a:t>
            </a:r>
            <a:r>
              <a:rPr lang="en-US" b="1" dirty="0" smtClean="0">
                <a:solidFill>
                  <a:srgbClr val="00B050"/>
                </a:solidFill>
              </a:rPr>
              <a:t>requirements from stakeholders.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Here, requirements are identified with the help of </a:t>
            </a:r>
            <a:r>
              <a:rPr lang="en-US" b="1" dirty="0">
                <a:solidFill>
                  <a:srgbClr val="C00000"/>
                </a:solidFill>
              </a:rPr>
              <a:t>customers and existing systems processes,</a:t>
            </a:r>
            <a:r>
              <a:rPr lang="en-US" dirty="0"/>
              <a:t> if available.</a:t>
            </a:r>
          </a:p>
          <a:p>
            <a:pPr algn="just"/>
            <a:r>
              <a:rPr lang="en-US" dirty="0"/>
              <a:t>Analysis of requirements starts with requirement elicitation. </a:t>
            </a:r>
          </a:p>
          <a:p>
            <a:pPr algn="just"/>
            <a:r>
              <a:rPr lang="en-US" dirty="0"/>
              <a:t>The requirements are analyzed to identify </a:t>
            </a:r>
            <a:r>
              <a:rPr lang="en-US" b="1" dirty="0">
                <a:solidFill>
                  <a:srgbClr val="FF0000"/>
                </a:solidFill>
              </a:rPr>
              <a:t>inconsistencies, defects, omission, etc.</a:t>
            </a:r>
          </a:p>
        </p:txBody>
      </p:sp>
    </p:spTree>
    <p:extLst>
      <p:ext uri="{BB962C8B-B14F-4D97-AF65-F5344CB8AC3E}">
        <p14:creationId xmlns:p14="http://schemas.microsoft.com/office/powerpoint/2010/main" xmlns="" val="401752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Techniques of Requirement Elicitation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991600" cy="6096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1. Interview</a:t>
            </a:r>
          </a:p>
          <a:p>
            <a:pPr>
              <a:buNone/>
            </a:pPr>
            <a:r>
              <a:rPr lang="en-US" dirty="0" smtClean="0"/>
              <a:t>Developer directly meets stakeholders.</a:t>
            </a:r>
          </a:p>
          <a:p>
            <a:pPr>
              <a:buNone/>
            </a:pPr>
            <a:r>
              <a:rPr lang="en-US" b="1" dirty="0" smtClean="0"/>
              <a:t>Example</a:t>
            </a:r>
          </a:p>
          <a:p>
            <a:pPr>
              <a:buNone/>
            </a:pPr>
            <a:r>
              <a:rPr lang="en-US" dirty="0" smtClean="0"/>
              <a:t>Developer asks supermarket owner:</a:t>
            </a:r>
          </a:p>
          <a:p>
            <a:pPr>
              <a:buNone/>
            </a:pPr>
            <a:r>
              <a:rPr lang="en-US" dirty="0" smtClean="0"/>
              <a:t>How many products? </a:t>
            </a:r>
          </a:p>
          <a:p>
            <a:pPr>
              <a:buNone/>
            </a:pPr>
            <a:r>
              <a:rPr lang="en-US" dirty="0" smtClean="0"/>
              <a:t>How is billing done? </a:t>
            </a:r>
          </a:p>
          <a:p>
            <a:pPr>
              <a:buNone/>
            </a:pPr>
            <a:r>
              <a:rPr lang="en-US" dirty="0" smtClean="0"/>
              <a:t>Do you need barcode scanning? </a:t>
            </a:r>
          </a:p>
          <a:p>
            <a:pPr>
              <a:buNone/>
            </a:pPr>
            <a:r>
              <a:rPr lang="en-US" b="1" dirty="0" smtClean="0"/>
              <a:t>Advantages</a:t>
            </a:r>
          </a:p>
          <a:p>
            <a:pPr>
              <a:buNone/>
            </a:pPr>
            <a:r>
              <a:rPr lang="en-US" dirty="0" smtClean="0"/>
              <a:t>Detailed information </a:t>
            </a:r>
          </a:p>
          <a:p>
            <a:pPr>
              <a:buNone/>
            </a:pPr>
            <a:r>
              <a:rPr lang="en-US" dirty="0" smtClean="0"/>
              <a:t>Immediate clarification </a:t>
            </a:r>
          </a:p>
          <a:p>
            <a:pPr>
              <a:buNone/>
            </a:pPr>
            <a:r>
              <a:rPr lang="en-US" b="1" dirty="0" smtClean="0"/>
              <a:t>Disadvantages</a:t>
            </a:r>
          </a:p>
          <a:p>
            <a:pPr>
              <a:buNone/>
            </a:pPr>
            <a:r>
              <a:rPr lang="en-US" dirty="0" smtClean="0"/>
              <a:t>Time consuming </a:t>
            </a:r>
          </a:p>
          <a:p>
            <a:pPr>
              <a:buNone/>
            </a:pPr>
            <a:r>
              <a:rPr lang="en-US" dirty="0" smtClean="0"/>
              <a:t>Different stakeholders may give different answers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Techniques of Requirement Elicitation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8686800" cy="52578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2. Questionnaire</a:t>
            </a:r>
          </a:p>
          <a:p>
            <a:pPr>
              <a:buNone/>
            </a:pPr>
            <a:r>
              <a:rPr lang="en-US" dirty="0" smtClean="0"/>
              <a:t>Prepare a list of questions.</a:t>
            </a:r>
          </a:p>
          <a:p>
            <a:pPr>
              <a:buNone/>
            </a:pPr>
            <a:r>
              <a:rPr lang="en-US" b="1" dirty="0" smtClean="0"/>
              <a:t>Example</a:t>
            </a:r>
          </a:p>
          <a:p>
            <a:pPr>
              <a:buNone/>
            </a:pPr>
            <a:r>
              <a:rPr lang="en-US" dirty="0" smtClean="0"/>
              <a:t>Do you need online payment? </a:t>
            </a:r>
          </a:p>
          <a:p>
            <a:pPr>
              <a:buNone/>
            </a:pPr>
            <a:r>
              <a:rPr lang="en-US" dirty="0" smtClean="0"/>
              <a:t>Do you need inventory reports? </a:t>
            </a:r>
          </a:p>
          <a:p>
            <a:pPr>
              <a:buNone/>
            </a:pPr>
            <a:r>
              <a:rPr lang="en-US" dirty="0" smtClean="0"/>
              <a:t>Do you need supplier management? </a:t>
            </a:r>
          </a:p>
          <a:p>
            <a:pPr>
              <a:buNone/>
            </a:pPr>
            <a:r>
              <a:rPr lang="en-US" b="1" dirty="0" smtClean="0"/>
              <a:t>Advantages</a:t>
            </a:r>
          </a:p>
          <a:p>
            <a:pPr>
              <a:buNone/>
            </a:pPr>
            <a:r>
              <a:rPr lang="en-US" dirty="0" smtClean="0"/>
              <a:t>Easy for many users. </a:t>
            </a:r>
          </a:p>
          <a:p>
            <a:pPr>
              <a:buNone/>
            </a:pPr>
            <a:r>
              <a:rPr lang="en-US" b="1" dirty="0" smtClean="0"/>
              <a:t>Disadvantages</a:t>
            </a:r>
          </a:p>
          <a:p>
            <a:pPr>
              <a:buNone/>
            </a:pPr>
            <a:r>
              <a:rPr lang="en-US" dirty="0" smtClean="0"/>
              <a:t>Users may not answer properly.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868362"/>
          </a:xfrm>
        </p:spPr>
        <p:txBody>
          <a:bodyPr>
            <a:normAutofit/>
          </a:bodyPr>
          <a:lstStyle/>
          <a:p>
            <a:r>
              <a:rPr lang="en-US" dirty="0" smtClean="0"/>
              <a:t>Techniques of Requirement Elicitation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3. Observation</a:t>
            </a:r>
          </a:p>
          <a:p>
            <a:r>
              <a:rPr lang="en-US" dirty="0" smtClean="0"/>
              <a:t>Observe how the current system works.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Observe supermarket billing.</a:t>
            </a:r>
          </a:p>
          <a:p>
            <a:r>
              <a:rPr lang="en-US" dirty="0" smtClean="0"/>
              <a:t>Developer notices:</a:t>
            </a:r>
          </a:p>
          <a:p>
            <a:r>
              <a:rPr lang="en-US" dirty="0" smtClean="0"/>
              <a:t>Billing takes 5 minutes. </a:t>
            </a:r>
          </a:p>
          <a:p>
            <a:r>
              <a:rPr lang="en-US" dirty="0" smtClean="0"/>
              <a:t>Stock is maintained manually. </a:t>
            </a:r>
          </a:p>
          <a:p>
            <a:r>
              <a:rPr lang="en-US" dirty="0" smtClean="0"/>
              <a:t>This helps identify requirements.</a:t>
            </a:r>
          </a:p>
          <a:p>
            <a:pPr>
              <a:buNone/>
            </a:pPr>
            <a:r>
              <a:rPr lang="en-US" b="1" dirty="0" smtClean="0"/>
              <a:t>Advantages</a:t>
            </a:r>
          </a:p>
          <a:p>
            <a:r>
              <a:rPr lang="en-US" dirty="0" smtClean="0"/>
              <a:t>Real requirements are discovered. </a:t>
            </a:r>
          </a:p>
          <a:p>
            <a:pPr>
              <a:buNone/>
            </a:pPr>
            <a:r>
              <a:rPr lang="en-US" b="1" dirty="0" smtClean="0"/>
              <a:t>Disadvantages</a:t>
            </a:r>
          </a:p>
          <a:p>
            <a:r>
              <a:rPr lang="en-US" dirty="0" smtClean="0"/>
              <a:t>Time consuming.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868362"/>
          </a:xfrm>
        </p:spPr>
        <p:txBody>
          <a:bodyPr>
            <a:normAutofit/>
          </a:bodyPr>
          <a:lstStyle/>
          <a:p>
            <a:r>
              <a:rPr lang="en-US" dirty="0" smtClean="0"/>
              <a:t>Techniques of Requirement Elicitation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4. Brainstorming</a:t>
            </a:r>
          </a:p>
          <a:p>
            <a:r>
              <a:rPr lang="en-US" dirty="0" smtClean="0"/>
              <a:t>Multiple stakeholders discuss ideas.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Owner </a:t>
            </a:r>
            <a:r>
              <a:rPr lang="en-US" dirty="0" err="1" smtClean="0"/>
              <a:t>says:Need</a:t>
            </a:r>
            <a:r>
              <a:rPr lang="en-US" dirty="0" smtClean="0"/>
              <a:t> </a:t>
            </a:r>
            <a:r>
              <a:rPr lang="en-US" dirty="0" smtClean="0"/>
              <a:t>reports.</a:t>
            </a:r>
          </a:p>
          <a:p>
            <a:r>
              <a:rPr lang="en-US" dirty="0" smtClean="0"/>
              <a:t>Cashier </a:t>
            </a:r>
            <a:r>
              <a:rPr lang="en-US" dirty="0" err="1" smtClean="0"/>
              <a:t>says:Need</a:t>
            </a:r>
            <a:r>
              <a:rPr lang="en-US" dirty="0" smtClean="0"/>
              <a:t> </a:t>
            </a:r>
            <a:r>
              <a:rPr lang="en-US" dirty="0" smtClean="0"/>
              <a:t>faster billing.</a:t>
            </a:r>
          </a:p>
          <a:p>
            <a:r>
              <a:rPr lang="en-US" dirty="0" smtClean="0"/>
              <a:t>Inventory Manager </a:t>
            </a:r>
            <a:r>
              <a:rPr lang="en-US" dirty="0" err="1" smtClean="0"/>
              <a:t>says:Need</a:t>
            </a:r>
            <a:r>
              <a:rPr lang="en-US" dirty="0" smtClean="0"/>
              <a:t> </a:t>
            </a:r>
            <a:r>
              <a:rPr lang="en-US" dirty="0" smtClean="0"/>
              <a:t>low stock alerts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Together, requirements are generated.</a:t>
            </a:r>
          </a:p>
          <a:p>
            <a:r>
              <a:rPr lang="en-US" b="1" dirty="0" smtClean="0"/>
              <a:t>Advantages</a:t>
            </a:r>
          </a:p>
          <a:p>
            <a:r>
              <a:rPr lang="en-US" dirty="0" smtClean="0"/>
              <a:t>Generates many ideas. </a:t>
            </a:r>
          </a:p>
          <a:p>
            <a:r>
              <a:rPr lang="en-US" b="1" dirty="0" smtClean="0"/>
              <a:t>Disadvantages</a:t>
            </a:r>
          </a:p>
          <a:p>
            <a:r>
              <a:rPr lang="en-US" dirty="0" smtClean="0"/>
              <a:t>Difficult to manage large groups.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868362"/>
          </a:xfrm>
        </p:spPr>
        <p:txBody>
          <a:bodyPr>
            <a:normAutofit/>
          </a:bodyPr>
          <a:lstStyle/>
          <a:p>
            <a:r>
              <a:rPr lang="en-US" dirty="0" smtClean="0"/>
              <a:t>Techniques of Requirement Elicitation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5. Prototyping</a:t>
            </a:r>
          </a:p>
          <a:p>
            <a:r>
              <a:rPr lang="en-US" dirty="0" smtClean="0"/>
              <a:t>Develop sample screens.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Create:</a:t>
            </a:r>
          </a:p>
          <a:p>
            <a:r>
              <a:rPr lang="en-US" dirty="0" smtClean="0"/>
              <a:t>Login Page </a:t>
            </a:r>
          </a:p>
          <a:p>
            <a:r>
              <a:rPr lang="en-US" dirty="0" smtClean="0"/>
              <a:t>Billing Page </a:t>
            </a:r>
          </a:p>
          <a:p>
            <a:r>
              <a:rPr lang="en-US" dirty="0" smtClean="0"/>
              <a:t>Customer says:</a:t>
            </a:r>
          </a:p>
          <a:p>
            <a:pPr>
              <a:buNone/>
            </a:pPr>
            <a:r>
              <a:rPr lang="en-US" dirty="0" smtClean="0"/>
              <a:t>Add barcode scanner. </a:t>
            </a:r>
          </a:p>
          <a:p>
            <a:pPr>
              <a:buNone/>
            </a:pPr>
            <a:r>
              <a:rPr lang="en-US" dirty="0" smtClean="0"/>
              <a:t>Add discount feature. </a:t>
            </a:r>
          </a:p>
          <a:p>
            <a:pPr>
              <a:buNone/>
            </a:pPr>
            <a:r>
              <a:rPr lang="en-US" dirty="0" smtClean="0"/>
              <a:t>Requirements become clearer.</a:t>
            </a:r>
          </a:p>
          <a:p>
            <a:pPr>
              <a:buNone/>
            </a:pPr>
            <a:r>
              <a:rPr lang="en-US" b="1" dirty="0" smtClean="0"/>
              <a:t>Advantages</a:t>
            </a:r>
          </a:p>
          <a:p>
            <a:r>
              <a:rPr lang="en-US" dirty="0" smtClean="0"/>
              <a:t>Easy for customer to understand. </a:t>
            </a:r>
          </a:p>
          <a:p>
            <a:pPr>
              <a:buNone/>
            </a:pPr>
            <a:r>
              <a:rPr lang="en-US" b="1" dirty="0" smtClean="0"/>
              <a:t>Disadvantages</a:t>
            </a:r>
          </a:p>
          <a:p>
            <a:r>
              <a:rPr lang="en-US" dirty="0" smtClean="0"/>
              <a:t>Time consuming.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868362"/>
          </a:xfrm>
        </p:spPr>
        <p:txBody>
          <a:bodyPr>
            <a:normAutofit/>
          </a:bodyPr>
          <a:lstStyle/>
          <a:p>
            <a:r>
              <a:rPr lang="en-US" dirty="0" smtClean="0"/>
              <a:t>Techniques of Requirement Elicitation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6. Domain Analysis </a:t>
            </a:r>
            <a:endParaRPr lang="en-US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Study similar systems.</a:t>
            </a:r>
          </a:p>
          <a:p>
            <a:pPr>
              <a:buNone/>
            </a:pPr>
            <a:r>
              <a:rPr lang="en-US" b="1" dirty="0" smtClean="0"/>
              <a:t>Example</a:t>
            </a:r>
          </a:p>
          <a:p>
            <a:r>
              <a:rPr lang="en-US" dirty="0" smtClean="0"/>
              <a:t>Developing Grocery System.</a:t>
            </a:r>
          </a:p>
          <a:p>
            <a:pPr>
              <a:buNone/>
            </a:pPr>
            <a:r>
              <a:rPr lang="en-US" dirty="0" smtClean="0"/>
              <a:t>Study:</a:t>
            </a:r>
          </a:p>
          <a:p>
            <a:r>
              <a:rPr lang="en-US" dirty="0" smtClean="0"/>
              <a:t>D-Mart Software </a:t>
            </a:r>
          </a:p>
          <a:p>
            <a:r>
              <a:rPr lang="en-US" dirty="0" smtClean="0"/>
              <a:t>Reliance Smart Software </a:t>
            </a:r>
          </a:p>
          <a:p>
            <a:r>
              <a:rPr lang="en-US" dirty="0" smtClean="0"/>
              <a:t>Learn common features.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68362"/>
          </a:xfrm>
        </p:spPr>
        <p:txBody>
          <a:bodyPr/>
          <a:lstStyle/>
          <a:p>
            <a:r>
              <a:rPr lang="en-US" b="1" dirty="0" smtClean="0"/>
              <a:t>Requirement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287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After collecting requirements, we cannot immediately start coding.</a:t>
            </a:r>
          </a:p>
          <a:p>
            <a:r>
              <a:rPr lang="en-US" dirty="0" smtClean="0"/>
              <a:t>Because requirements may contain:</a:t>
            </a:r>
          </a:p>
          <a:p>
            <a:r>
              <a:rPr lang="en-US" dirty="0" smtClean="0"/>
              <a:t>Errors </a:t>
            </a:r>
          </a:p>
          <a:p>
            <a:r>
              <a:rPr lang="en-US" dirty="0" smtClean="0"/>
              <a:t>Conflicts </a:t>
            </a:r>
          </a:p>
          <a:p>
            <a:r>
              <a:rPr lang="en-US" dirty="0" smtClean="0"/>
              <a:t>Missing information </a:t>
            </a:r>
          </a:p>
          <a:p>
            <a:r>
              <a:rPr lang="en-US" dirty="0" smtClean="0"/>
              <a:t>Duplicate requirements </a:t>
            </a:r>
          </a:p>
          <a:p>
            <a:pPr>
              <a:buNone/>
            </a:pPr>
            <a:r>
              <a:rPr lang="en-US" dirty="0" smtClean="0"/>
              <a:t>Therefore, we analyze them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>
                <a:solidFill>
                  <a:srgbClr val="FF0000"/>
                </a:solidFill>
              </a:rPr>
              <a:t>Requirement Analysis is the process of examining, organizing, refining, and resolving conflicts among requirements.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/>
              <a:t>Requirement </a:t>
            </a:r>
            <a:r>
              <a:rPr lang="en-US" dirty="0" smtClean="0"/>
              <a:t>Analysis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u="sng" dirty="0" smtClean="0"/>
              <a:t>Conflicting </a:t>
            </a:r>
            <a:r>
              <a:rPr lang="en-US" b="1" u="sng" dirty="0" smtClean="0"/>
              <a:t>Requirements</a:t>
            </a:r>
          </a:p>
          <a:p>
            <a:r>
              <a:rPr lang="en-US" dirty="0" smtClean="0"/>
              <a:t>Owner: Only </a:t>
            </a:r>
            <a:r>
              <a:rPr lang="en-US" dirty="0" smtClean="0"/>
              <a:t>Admin can delete products.</a:t>
            </a:r>
          </a:p>
          <a:p>
            <a:r>
              <a:rPr lang="en-US" dirty="0" smtClean="0"/>
              <a:t>Cashier: I </a:t>
            </a:r>
            <a:r>
              <a:rPr lang="en-US" dirty="0" smtClean="0"/>
              <a:t>also want to delete products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Analysis resolves it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u="sng" dirty="0" smtClean="0"/>
              <a:t>Ambiguous </a:t>
            </a:r>
            <a:r>
              <a:rPr lang="en-US" b="1" u="sng" dirty="0" smtClean="0"/>
              <a:t>Requirement</a:t>
            </a:r>
          </a:p>
          <a:p>
            <a:pPr>
              <a:buNone/>
            </a:pPr>
            <a:r>
              <a:rPr lang="en-US" dirty="0" err="1" smtClean="0"/>
              <a:t>Customer:System</a:t>
            </a:r>
            <a:r>
              <a:rPr lang="en-US" dirty="0" smtClean="0"/>
              <a:t> </a:t>
            </a:r>
            <a:r>
              <a:rPr lang="en-US" dirty="0" smtClean="0"/>
              <a:t>should be </a:t>
            </a:r>
            <a:r>
              <a:rPr lang="en-US" dirty="0" smtClean="0"/>
              <a:t>fast.</a:t>
            </a:r>
          </a:p>
          <a:p>
            <a:pPr>
              <a:buNone/>
            </a:pPr>
            <a:r>
              <a:rPr lang="en-US" dirty="0" smtClean="0"/>
              <a:t>What </a:t>
            </a:r>
            <a:r>
              <a:rPr lang="en-US" dirty="0" smtClean="0"/>
              <a:t>does "fast" </a:t>
            </a:r>
            <a:r>
              <a:rPr lang="en-US" dirty="0" smtClean="0"/>
              <a:t>mean? 1 sec? 5 sec? 10 sec?</a:t>
            </a:r>
            <a:endParaRPr lang="en-US" dirty="0" smtClean="0"/>
          </a:p>
          <a:p>
            <a:r>
              <a:rPr lang="en-US" dirty="0" smtClean="0"/>
              <a:t>Requirement is unclear.</a:t>
            </a:r>
          </a:p>
          <a:p>
            <a:r>
              <a:rPr lang="en-US" dirty="0" smtClean="0"/>
              <a:t>Analysis clarifies it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u="sng" dirty="0" smtClean="0"/>
              <a:t>Incomplete </a:t>
            </a:r>
            <a:r>
              <a:rPr lang="en-US" b="1" u="sng" dirty="0" smtClean="0"/>
              <a:t>Requirement</a:t>
            </a:r>
          </a:p>
          <a:p>
            <a:r>
              <a:rPr lang="en-US" dirty="0" smtClean="0"/>
              <a:t>Customer </a:t>
            </a:r>
            <a:r>
              <a:rPr lang="en-US" dirty="0" smtClean="0"/>
              <a:t>:I </a:t>
            </a:r>
            <a:r>
              <a:rPr lang="en-US" dirty="0" smtClean="0"/>
              <a:t>need billing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Cash payment? </a:t>
            </a:r>
            <a:r>
              <a:rPr lang="en-US" dirty="0" smtClean="0"/>
              <a:t>UPI</a:t>
            </a:r>
            <a:r>
              <a:rPr lang="en-US" dirty="0" smtClean="0"/>
              <a:t>? </a:t>
            </a:r>
            <a:r>
              <a:rPr lang="en-US" dirty="0" smtClean="0"/>
              <a:t>Credit </a:t>
            </a:r>
            <a:r>
              <a:rPr lang="en-US" dirty="0" smtClean="0"/>
              <a:t>card? </a:t>
            </a:r>
            <a:r>
              <a:rPr lang="en-US" dirty="0" smtClean="0"/>
              <a:t>Discount</a:t>
            </a:r>
            <a:r>
              <a:rPr lang="en-US" dirty="0" smtClean="0"/>
              <a:t>? </a:t>
            </a:r>
          </a:p>
          <a:p>
            <a:r>
              <a:rPr lang="en-US" dirty="0" smtClean="0"/>
              <a:t>Requirement is incomplete.</a:t>
            </a:r>
          </a:p>
          <a:p>
            <a:endParaRPr lang="en-US" dirty="0" smtClean="0"/>
          </a:p>
          <a:p>
            <a:pPr>
              <a:buNone/>
            </a:pPr>
            <a:endParaRPr lang="en-US" b="1" u="sng" dirty="0" smtClean="0"/>
          </a:p>
          <a:p>
            <a:pPr>
              <a:buNone/>
            </a:pPr>
            <a:endParaRPr lang="en-US" b="1" u="sng" dirty="0" smtClean="0"/>
          </a:p>
          <a:p>
            <a:pPr>
              <a:buNone/>
            </a:pPr>
            <a:endParaRPr lang="en-US" b="1" u="sng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Activities in Requirement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56388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Classify Requirements</a:t>
            </a:r>
          </a:p>
          <a:p>
            <a:pPr algn="ctr">
              <a:buNone/>
            </a:pPr>
            <a:r>
              <a:rPr lang="en-US" dirty="0" smtClean="0"/>
              <a:t>        ↓</a:t>
            </a:r>
          </a:p>
          <a:p>
            <a:pPr algn="ctr">
              <a:buNone/>
            </a:pPr>
            <a:r>
              <a:rPr lang="en-US" dirty="0" smtClean="0"/>
              <a:t>Prioritize Requirements</a:t>
            </a:r>
          </a:p>
          <a:p>
            <a:pPr algn="ctr">
              <a:buNone/>
            </a:pPr>
            <a:r>
              <a:rPr lang="en-US" dirty="0" smtClean="0"/>
              <a:t>        ↓</a:t>
            </a:r>
          </a:p>
          <a:p>
            <a:pPr algn="ctr">
              <a:buNone/>
            </a:pPr>
            <a:r>
              <a:rPr lang="en-US" dirty="0" smtClean="0"/>
              <a:t>Remove Conflicts</a:t>
            </a:r>
          </a:p>
          <a:p>
            <a:pPr algn="ctr">
              <a:buNone/>
            </a:pPr>
            <a:r>
              <a:rPr lang="en-US" dirty="0" smtClean="0"/>
              <a:t>        ↓</a:t>
            </a:r>
          </a:p>
          <a:p>
            <a:pPr algn="ctr">
              <a:buNone/>
            </a:pPr>
            <a:r>
              <a:rPr lang="en-US" dirty="0" smtClean="0"/>
              <a:t>Remove Ambiguities</a:t>
            </a:r>
          </a:p>
          <a:p>
            <a:pPr algn="ctr">
              <a:buNone/>
            </a:pPr>
            <a:r>
              <a:rPr lang="en-US" dirty="0" smtClean="0"/>
              <a:t>        ↓</a:t>
            </a:r>
          </a:p>
          <a:p>
            <a:pPr algn="ctr">
              <a:buNone/>
            </a:pPr>
            <a:r>
              <a:rPr lang="en-US" dirty="0" smtClean="0"/>
              <a:t>Create Models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442325" cy="901700"/>
          </a:xfrm>
        </p:spPr>
        <p:txBody>
          <a:bodyPr>
            <a:normAutofit fontScale="90000"/>
          </a:bodyPr>
          <a:lstStyle/>
          <a:p>
            <a:r>
              <a:rPr lang="en-US" b="1">
                <a:sym typeface="+mn-ea"/>
              </a:rPr>
              <a:t>Requirement Elicitation and Analysis</a:t>
            </a:r>
            <a:endParaRPr lang="en-US" b="1"/>
          </a:p>
        </p:txBody>
      </p:sp>
      <p:pic>
        <p:nvPicPr>
          <p:cNvPr id="4" name="Content Placeholder 3" descr="1_ntfyVZh2vP-YPaRGyqL-zA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95400"/>
            <a:ext cx="8357870" cy="517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7238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083"/>
            <a:ext cx="8229600" cy="1143000"/>
          </a:xfrm>
        </p:spPr>
        <p:txBody>
          <a:bodyPr/>
          <a:lstStyle/>
          <a:p>
            <a:r>
              <a:rPr lang="en-US" b="1">
                <a:sym typeface="+mn-ea"/>
              </a:rPr>
              <a:t>Software Requirements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3495"/>
            <a:ext cx="8229600" cy="4832985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ym typeface="+mn-ea"/>
              </a:rPr>
              <a:t>Broadly software requirements should be categorized in two categories:</a:t>
            </a:r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  <a:sym typeface="+mn-ea"/>
              </a:rPr>
              <a:t>Functional Requirements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>
                <a:solidFill>
                  <a:srgbClr val="FF0000"/>
                </a:solidFill>
                <a:sym typeface="+mn-ea"/>
              </a:rPr>
              <a:t>Non Functional Requirements</a:t>
            </a: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9449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7503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sym typeface="+mn-ea"/>
              </a:rP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83920"/>
            <a:ext cx="9144000" cy="5744845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>
                <a:sym typeface="+mn-ea"/>
              </a:rPr>
              <a:t>Requirements, which are related to functional aspect of software fall into this category.</a:t>
            </a:r>
            <a:endParaRPr lang="en-US" dirty="0"/>
          </a:p>
          <a:p>
            <a:pPr marL="0" indent="0" algn="just">
              <a:buNone/>
            </a:pPr>
            <a:r>
              <a:rPr lang="en-US" dirty="0">
                <a:sym typeface="+mn-ea"/>
              </a:rPr>
              <a:t>They define </a:t>
            </a:r>
            <a:r>
              <a:rPr lang="en-US" b="1" dirty="0">
                <a:solidFill>
                  <a:srgbClr val="FF0000"/>
                </a:solidFill>
                <a:sym typeface="+mn-ea"/>
              </a:rPr>
              <a:t>functions and functionality</a:t>
            </a:r>
            <a:r>
              <a:rPr lang="en-US" dirty="0">
                <a:sym typeface="+mn-ea"/>
              </a:rPr>
              <a:t> within and from the software system.</a:t>
            </a:r>
            <a:endParaRPr lang="en-US" dirty="0"/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>
                <a:sym typeface="+mn-ea"/>
              </a:rPr>
              <a:t>Examples -</a:t>
            </a:r>
            <a:endParaRPr lang="en-US" b="1" dirty="0"/>
          </a:p>
          <a:p>
            <a:pPr algn="just"/>
            <a:r>
              <a:rPr lang="en-US" dirty="0">
                <a:sym typeface="+mn-ea"/>
              </a:rPr>
              <a:t>Search option given to </a:t>
            </a:r>
            <a:r>
              <a:rPr lang="en-US" b="1" dirty="0">
                <a:solidFill>
                  <a:schemeClr val="accent3"/>
                </a:solidFill>
                <a:sym typeface="+mn-ea"/>
              </a:rPr>
              <a:t>user to search from various invoices</a:t>
            </a:r>
            <a:r>
              <a:rPr lang="en-US" dirty="0">
                <a:sym typeface="+mn-ea"/>
              </a:rPr>
              <a:t>.</a:t>
            </a:r>
            <a:endParaRPr lang="en-US" dirty="0"/>
          </a:p>
          <a:p>
            <a:pPr algn="just"/>
            <a:r>
              <a:rPr lang="en-US" dirty="0">
                <a:sym typeface="+mn-ea"/>
              </a:rPr>
              <a:t>User should be able to </a:t>
            </a:r>
            <a:r>
              <a:rPr lang="en-US" b="1" dirty="0">
                <a:solidFill>
                  <a:schemeClr val="accent1"/>
                </a:solidFill>
                <a:sym typeface="+mn-ea"/>
              </a:rPr>
              <a:t>mail any report</a:t>
            </a:r>
            <a:r>
              <a:rPr lang="en-US" dirty="0">
                <a:sym typeface="+mn-ea"/>
              </a:rPr>
              <a:t> to management.</a:t>
            </a:r>
            <a:endParaRPr lang="en-US" dirty="0"/>
          </a:p>
          <a:p>
            <a:pPr algn="just"/>
            <a:r>
              <a:rPr lang="en-US" dirty="0">
                <a:sym typeface="+mn-ea"/>
              </a:rPr>
              <a:t>Users can be divided into groups and groups can be given separate rights.</a:t>
            </a:r>
            <a:endParaRPr lang="en-US" dirty="0"/>
          </a:p>
          <a:p>
            <a:pPr algn="just"/>
            <a:r>
              <a:rPr lang="en-US" dirty="0">
                <a:sym typeface="+mn-ea"/>
              </a:rPr>
              <a:t>Should comply business rules and administrative functions.</a:t>
            </a:r>
            <a:endParaRPr lang="en-US" dirty="0"/>
          </a:p>
          <a:p>
            <a:pPr algn="just"/>
            <a:r>
              <a:rPr lang="en-US" dirty="0">
                <a:sym typeface="+mn-ea"/>
              </a:rPr>
              <a:t>Software is developed keeping </a:t>
            </a:r>
            <a:r>
              <a:rPr lang="en-US" b="1" dirty="0">
                <a:solidFill>
                  <a:schemeClr val="accent1"/>
                </a:solidFill>
                <a:sym typeface="+mn-ea"/>
              </a:rPr>
              <a:t>downward compatibility</a:t>
            </a:r>
            <a:r>
              <a:rPr lang="en-US" dirty="0">
                <a:sym typeface="+mn-ea"/>
              </a:rPr>
              <a:t> intact.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58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1788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sym typeface="+mn-ea"/>
              </a:rP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110" y="761365"/>
            <a:ext cx="8441690" cy="604202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sym typeface="+mn-ea"/>
              </a:rPr>
              <a:t>Requirements, which are not related to functional aspect of software, fall into this category. They are </a:t>
            </a:r>
            <a:r>
              <a:rPr lang="en-US" sz="2400" b="1" dirty="0">
                <a:solidFill>
                  <a:schemeClr val="accent6"/>
                </a:solidFill>
                <a:sym typeface="+mn-ea"/>
              </a:rPr>
              <a:t>implicit or expected characteristics of software,</a:t>
            </a:r>
            <a:r>
              <a:rPr lang="en-US" sz="2400" dirty="0">
                <a:sym typeface="+mn-ea"/>
              </a:rPr>
              <a:t> which users make assumption of.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>
                <a:sym typeface="+mn-ea"/>
              </a:rPr>
              <a:t>Non-functional requirements include -</a:t>
            </a:r>
            <a:endParaRPr lang="en-US" sz="2400" dirty="0"/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Security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Logging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Storage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Configuration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Performance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Cost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Interoperability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Flexibility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Disaster recovery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Accessibility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endParaRPr lang="en-US" sz="2400" dirty="0"/>
          </a:p>
          <a:p>
            <a:pPr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299941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5725"/>
            <a:ext cx="8229600" cy="864235"/>
          </a:xfrm>
        </p:spPr>
        <p:txBody>
          <a:bodyPr>
            <a:normAutofit fontScale="90000"/>
          </a:bodyPr>
          <a:lstStyle/>
          <a:p>
            <a:r>
              <a:rPr lang="en-US" b="1">
                <a:sym typeface="+mn-ea"/>
              </a:rPr>
              <a:t/>
            </a:r>
            <a:br>
              <a:rPr lang="en-US" b="1">
                <a:sym typeface="+mn-ea"/>
              </a:rPr>
            </a:br>
            <a:r>
              <a:rPr lang="en-US" b="1">
                <a:sym typeface="+mn-ea"/>
              </a:rPr>
              <a:t>Requirement Elicitation and Analysis</a:t>
            </a:r>
            <a:r>
              <a:rPr lang="en-US" b="1"/>
              <a:t/>
            </a:r>
            <a:br>
              <a:rPr lang="en-US" b="1"/>
            </a:b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7270"/>
            <a:ext cx="8229600" cy="55213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sym typeface="+mn-ea"/>
              </a:rPr>
              <a:t>Requirement Elicitation Techniques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  <a:sym typeface="+mn-ea"/>
              </a:rPr>
              <a:t>Interviews</a:t>
            </a:r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  <a:sym typeface="+mn-ea"/>
              </a:rPr>
              <a:t>Surveys</a:t>
            </a:r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  <a:sym typeface="+mn-ea"/>
              </a:rPr>
              <a:t>Questionnaires</a:t>
            </a:r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  <a:sym typeface="+mn-ea"/>
              </a:rPr>
              <a:t>Task analysis</a:t>
            </a:r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  <a:sym typeface="+mn-ea"/>
              </a:rPr>
              <a:t>Domain Analysis</a:t>
            </a:r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  <a:sym typeface="+mn-ea"/>
              </a:rPr>
              <a:t>Brainstorming</a:t>
            </a:r>
          </a:p>
          <a:p>
            <a:r>
              <a:rPr lang="en-US" b="1" dirty="0">
                <a:solidFill>
                  <a:srgbClr val="7030A0"/>
                </a:solidFill>
                <a:sym typeface="+mn-ea"/>
              </a:rPr>
              <a:t>Prototyping</a:t>
            </a:r>
          </a:p>
          <a:p>
            <a:r>
              <a:rPr lang="en-US" b="1" dirty="0">
                <a:solidFill>
                  <a:srgbClr val="7030A0"/>
                </a:solidFill>
                <a:sym typeface="+mn-ea"/>
              </a:rPr>
              <a:t>Observation</a:t>
            </a:r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9446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3665"/>
            <a:ext cx="8229600" cy="830580"/>
          </a:xfrm>
        </p:spPr>
        <p:txBody>
          <a:bodyPr>
            <a:normAutofit/>
          </a:bodyPr>
          <a:lstStyle/>
          <a:p>
            <a:r>
              <a:rPr lang="en-US" b="1"/>
              <a:t>Requirements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3610"/>
            <a:ext cx="8229600" cy="5182870"/>
          </a:xfrm>
        </p:spPr>
        <p:txBody>
          <a:bodyPr/>
          <a:lstStyle/>
          <a:p>
            <a:pPr algn="just"/>
            <a:r>
              <a:rPr lang="en-US"/>
              <a:t>Requirements analysis or requirements engineering is a process used to </a:t>
            </a:r>
            <a:r>
              <a:rPr lang="en-US" b="1">
                <a:solidFill>
                  <a:schemeClr val="accent6"/>
                </a:solidFill>
              </a:rPr>
              <a:t>determine the needs and expectations of a new product</a:t>
            </a:r>
            <a:r>
              <a:rPr lang="en-US"/>
              <a:t>.</a:t>
            </a:r>
          </a:p>
          <a:p>
            <a:pPr algn="just"/>
            <a:r>
              <a:rPr lang="en-US"/>
              <a:t> It involves frequent </a:t>
            </a:r>
            <a:r>
              <a:rPr lang="en-US" b="1">
                <a:solidFill>
                  <a:srgbClr val="00B050"/>
                </a:solidFill>
              </a:rPr>
              <a:t>communication</a:t>
            </a:r>
            <a:r>
              <a:rPr lang="en-US"/>
              <a:t> with the </a:t>
            </a:r>
            <a:r>
              <a:rPr lang="en-US" b="1">
                <a:solidFill>
                  <a:srgbClr val="7030A0"/>
                </a:solidFill>
              </a:rPr>
              <a:t>stakeholders and end-users</a:t>
            </a:r>
            <a:r>
              <a:rPr lang="en-US"/>
              <a:t> of the product to define expectations, resolve conflicts, and document all the key requirements.</a:t>
            </a:r>
          </a:p>
        </p:txBody>
      </p:sp>
    </p:spTree>
    <p:extLst>
      <p:ext uri="{BB962C8B-B14F-4D97-AF65-F5344CB8AC3E}">
        <p14:creationId xmlns:p14="http://schemas.microsoft.com/office/powerpoint/2010/main" xmlns="" val="156458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Requirements Analysis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requirements analysis process involves the following steps:</a:t>
            </a:r>
          </a:p>
          <a:p>
            <a:pPr lvl="1" algn="just"/>
            <a:r>
              <a:rPr lang="en-US" dirty="0"/>
              <a:t>Identify Key Stakeholders and End-Users</a:t>
            </a:r>
          </a:p>
          <a:p>
            <a:pPr lvl="1" algn="just"/>
            <a:r>
              <a:rPr lang="en-US" dirty="0"/>
              <a:t>Capture Requirements</a:t>
            </a:r>
          </a:p>
          <a:p>
            <a:pPr lvl="1" algn="just"/>
            <a:r>
              <a:rPr lang="en-US" dirty="0"/>
              <a:t>Categorize Requirements</a:t>
            </a:r>
          </a:p>
          <a:p>
            <a:pPr lvl="1" algn="just"/>
            <a:r>
              <a:rPr lang="en-US" dirty="0"/>
              <a:t>Interpret and Record Requirements</a:t>
            </a:r>
          </a:p>
          <a:p>
            <a:pPr lvl="1" algn="just"/>
            <a:r>
              <a:rPr lang="en-US" dirty="0"/>
              <a:t>Sign off</a:t>
            </a:r>
          </a:p>
        </p:txBody>
      </p:sp>
    </p:spTree>
    <p:extLst>
      <p:ext uri="{BB962C8B-B14F-4D97-AF65-F5344CB8AC3E}">
        <p14:creationId xmlns:p14="http://schemas.microsoft.com/office/powerpoint/2010/main" xmlns="" val="414761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ym typeface="+mn-ea"/>
              </a:rPr>
              <a:t>Requirements Analysis Process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>
                <a:solidFill>
                  <a:srgbClr val="FF0000"/>
                </a:solidFill>
              </a:rPr>
              <a:t>Identify Key Stakeholders and End-Users:</a:t>
            </a:r>
            <a:endParaRPr lang="en-US"/>
          </a:p>
          <a:p>
            <a:pPr algn="just">
              <a:buFont typeface="Wingdings" panose="05000000000000000000" charset="0"/>
              <a:buChar char="ü"/>
            </a:pPr>
            <a:r>
              <a:rPr lang="en-US"/>
              <a:t>The first step of the requirements analysis process is to </a:t>
            </a:r>
            <a:r>
              <a:rPr lang="en-US" b="1">
                <a:solidFill>
                  <a:srgbClr val="00B050"/>
                </a:solidFill>
              </a:rPr>
              <a:t>identify key stakeholders</a:t>
            </a:r>
            <a:r>
              <a:rPr lang="en-US"/>
              <a:t> who are the main sponsors of the project. </a:t>
            </a:r>
          </a:p>
          <a:p>
            <a:pPr algn="just">
              <a:buFont typeface="Wingdings" panose="05000000000000000000" charset="0"/>
              <a:buChar char="ü"/>
            </a:pPr>
            <a:r>
              <a:rPr lang="en-US"/>
              <a:t>They will have the final say on what should be included in the scope of the project. </a:t>
            </a:r>
          </a:p>
          <a:p>
            <a:pPr algn="just">
              <a:buFont typeface="Wingdings" panose="05000000000000000000" charset="0"/>
              <a:buChar char="ü"/>
            </a:pPr>
            <a:r>
              <a:rPr lang="en-US"/>
              <a:t>Next, identify the </a:t>
            </a:r>
            <a:r>
              <a:rPr lang="en-US" b="1">
                <a:solidFill>
                  <a:srgbClr val="00B050"/>
                </a:solidFill>
              </a:rPr>
              <a:t>end-users of the product</a:t>
            </a:r>
            <a:r>
              <a:rPr lang="en-US"/>
              <a:t>. Since the product is intended to satisfy their needs, their inputs are equally important. </a:t>
            </a:r>
          </a:p>
        </p:txBody>
      </p:sp>
    </p:spTree>
    <p:extLst>
      <p:ext uri="{BB962C8B-B14F-4D97-AF65-F5344CB8AC3E}">
        <p14:creationId xmlns:p14="http://schemas.microsoft.com/office/powerpoint/2010/main" xmlns="" val="307569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ym typeface="+mn-ea"/>
              </a:rPr>
              <a:t>Requirements Analysis Process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>
                <a:solidFill>
                  <a:srgbClr val="FF0000"/>
                </a:solidFill>
              </a:rPr>
              <a:t>Capture Requirements:</a:t>
            </a:r>
          </a:p>
          <a:p>
            <a:pPr marL="0" indent="0" algn="just">
              <a:buNone/>
            </a:pPr>
            <a:r>
              <a:rPr lang="en-US"/>
              <a:t>Ask each of the stakeholders and end-users their requirements for the new product.  some of the requirements analysis techniques  are,</a:t>
            </a:r>
          </a:p>
          <a:p>
            <a:pPr marL="0" indent="0" algn="just">
              <a:buNone/>
            </a:pPr>
            <a:r>
              <a:rPr lang="en-US" b="1">
                <a:solidFill>
                  <a:srgbClr val="0070C0"/>
                </a:solidFill>
              </a:rPr>
              <a:t>1. Hold One-on-One Interviews</a:t>
            </a:r>
          </a:p>
          <a:p>
            <a:pPr marL="0" indent="0" algn="just">
              <a:buNone/>
            </a:pPr>
            <a:r>
              <a:rPr lang="en-US" b="1">
                <a:solidFill>
                  <a:srgbClr val="0070C0"/>
                </a:solidFill>
              </a:rPr>
              <a:t>2. Use Focus Groups</a:t>
            </a:r>
          </a:p>
          <a:p>
            <a:pPr marL="0" indent="0" algn="just">
              <a:buNone/>
            </a:pPr>
            <a:r>
              <a:rPr lang="en-US" b="1">
                <a:solidFill>
                  <a:srgbClr val="0070C0"/>
                </a:solidFill>
              </a:rPr>
              <a:t>3. Utilize Use Cases</a:t>
            </a:r>
          </a:p>
          <a:p>
            <a:pPr marL="0" indent="0" algn="just">
              <a:buNone/>
            </a:pPr>
            <a:r>
              <a:rPr lang="en-US" b="1">
                <a:solidFill>
                  <a:srgbClr val="0070C0"/>
                </a:solidFill>
              </a:rPr>
              <a:t>4. Build Prototypes</a:t>
            </a:r>
          </a:p>
        </p:txBody>
      </p:sp>
    </p:spTree>
    <p:extLst>
      <p:ext uri="{BB962C8B-B14F-4D97-AF65-F5344CB8AC3E}">
        <p14:creationId xmlns:p14="http://schemas.microsoft.com/office/powerpoint/2010/main" xmlns="" val="382022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79780"/>
          </a:xfrm>
        </p:spPr>
        <p:txBody>
          <a:bodyPr>
            <a:normAutofit/>
          </a:bodyPr>
          <a:lstStyle/>
          <a:p>
            <a:r>
              <a:rPr lang="en-US" b="1">
                <a:sym typeface="+mn-ea"/>
              </a:rPr>
              <a:t>Requirements Analysis Process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6615"/>
            <a:ext cx="8229600" cy="5786120"/>
          </a:xfrm>
        </p:spPr>
        <p:txBody>
          <a:bodyPr>
            <a:normAutofit fontScale="87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Categorize Requirements:</a:t>
            </a:r>
          </a:p>
          <a:p>
            <a:pPr marL="0" indent="0" algn="just">
              <a:buNone/>
            </a:pPr>
            <a:r>
              <a:rPr lang="en-US" dirty="0"/>
              <a:t>Since requirements can be of various types, they should be grouped to avoid confusion. Requirements are usually divided into four categories: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B050"/>
                </a:solidFill>
              </a:rPr>
              <a:t>Functional Requirements</a:t>
            </a:r>
            <a:r>
              <a:rPr lang="en-US" dirty="0"/>
              <a:t> - Functions the product is required to perform.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B050"/>
                </a:solidFill>
              </a:rPr>
              <a:t>Technical Requirements</a:t>
            </a:r>
            <a:r>
              <a:rPr lang="en-US" dirty="0"/>
              <a:t> - Technical issues to be considered for the successful implementation of the product.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B050"/>
                </a:solidFill>
              </a:rPr>
              <a:t>Transitional Requirements</a:t>
            </a:r>
            <a:r>
              <a:rPr lang="en-US" dirty="0"/>
              <a:t> - Steps required to implement a new product smoothly.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B050"/>
                </a:solidFill>
              </a:rPr>
              <a:t>Operational Requirements</a:t>
            </a:r>
            <a:r>
              <a:rPr lang="en-US" dirty="0"/>
              <a:t> - Operations to be carried out in the backend for proper functioning of the product.</a:t>
            </a:r>
          </a:p>
        </p:txBody>
      </p:sp>
    </p:spTree>
    <p:extLst>
      <p:ext uri="{BB962C8B-B14F-4D97-AF65-F5344CB8AC3E}">
        <p14:creationId xmlns:p14="http://schemas.microsoft.com/office/powerpoint/2010/main" xmlns="" val="5467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46150"/>
          </a:xfrm>
        </p:spPr>
        <p:txBody>
          <a:bodyPr>
            <a:normAutofit/>
          </a:bodyPr>
          <a:lstStyle/>
          <a:p>
            <a:r>
              <a:rPr lang="en-US" b="1">
                <a:sym typeface="+mn-ea"/>
              </a:rPr>
              <a:t>Requirements Analysis Process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360" y="914401"/>
            <a:ext cx="8346440" cy="5713730"/>
          </a:xfrm>
        </p:spPr>
        <p:txBody>
          <a:bodyPr>
            <a:normAutofit fontScale="97500"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Interpret and Record Requirements</a:t>
            </a:r>
          </a:p>
          <a:p>
            <a:pPr marL="0" indent="0" algn="just">
              <a:buNone/>
            </a:pPr>
            <a:r>
              <a:rPr lang="en-US" dirty="0"/>
              <a:t>Once the requirements are </a:t>
            </a:r>
            <a:r>
              <a:rPr lang="en-US" b="1" dirty="0">
                <a:solidFill>
                  <a:srgbClr val="0070C0"/>
                </a:solidFill>
              </a:rPr>
              <a:t>categorized</a:t>
            </a:r>
            <a:r>
              <a:rPr lang="en-US" dirty="0"/>
              <a:t>, determine which requirements are actually achievable and document each one of them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 smtClean="0"/>
              <a:t>S</a:t>
            </a:r>
            <a:r>
              <a:rPr lang="en-US" dirty="0" smtClean="0"/>
              <a:t>ome </a:t>
            </a:r>
            <a:r>
              <a:rPr lang="en-US" dirty="0"/>
              <a:t>techniques to analyze and interpret requirements are,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7030A0"/>
                </a:solidFill>
              </a:rPr>
              <a:t>Define Requirements Precisely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7030A0"/>
                </a:solidFill>
              </a:rPr>
              <a:t>Prioritize Requirements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7030A0"/>
                </a:solidFill>
              </a:rPr>
              <a:t>Carry Out an Impact Analysis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7030A0"/>
                </a:solidFill>
              </a:rPr>
              <a:t>Resolve Conflicts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7030A0"/>
                </a:solidFill>
              </a:rPr>
              <a:t>Analyze Feasibility</a:t>
            </a:r>
          </a:p>
        </p:txBody>
      </p:sp>
    </p:spTree>
    <p:extLst>
      <p:ext uri="{BB962C8B-B14F-4D97-AF65-F5344CB8AC3E}">
        <p14:creationId xmlns:p14="http://schemas.microsoft.com/office/powerpoint/2010/main" xmlns="" val="309116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ym typeface="+mn-ea"/>
              </a:rPr>
              <a:t>Requirements Analysis Process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>
                <a:solidFill>
                  <a:srgbClr val="FF0000"/>
                </a:solidFill>
              </a:rPr>
              <a:t>Sign off</a:t>
            </a:r>
          </a:p>
          <a:p>
            <a:pPr algn="just"/>
            <a:r>
              <a:rPr lang="en-US"/>
              <a:t>Once a final decision is made on the requirements, </a:t>
            </a:r>
            <a:r>
              <a:rPr lang="en-US" b="1">
                <a:solidFill>
                  <a:srgbClr val="00B050"/>
                </a:solidFill>
              </a:rPr>
              <a:t>ensure that you get a signed agreement from the key stakeholders</a:t>
            </a:r>
            <a:r>
              <a:rPr lang="en-US"/>
              <a:t>. </a:t>
            </a:r>
          </a:p>
          <a:p>
            <a:pPr algn="just"/>
            <a:r>
              <a:rPr lang="en-US"/>
              <a:t>This is done to ensure that there are </a:t>
            </a:r>
            <a:r>
              <a:rPr lang="en-US" b="1">
                <a:solidFill>
                  <a:srgbClr val="7030A0"/>
                </a:solidFill>
              </a:rPr>
              <a:t>no changes or uncontrolled growth</a:t>
            </a:r>
            <a:r>
              <a:rPr lang="en-US"/>
              <a:t> in the scope of the project.</a:t>
            </a:r>
          </a:p>
        </p:txBody>
      </p:sp>
    </p:spTree>
    <p:extLst>
      <p:ext uri="{BB962C8B-B14F-4D97-AF65-F5344CB8AC3E}">
        <p14:creationId xmlns:p14="http://schemas.microsoft.com/office/powerpoint/2010/main" xmlns="" val="212180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88670"/>
          </a:xfrm>
        </p:spPr>
        <p:txBody>
          <a:bodyPr>
            <a:normAutofit fontScale="90000"/>
          </a:bodyPr>
          <a:lstStyle/>
          <a:p>
            <a:r>
              <a:rPr lang="en-US" b="1"/>
              <a:t>Software Requirement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63845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/>
              <a:t>Software requirement specification is a kind of document which is created by a </a:t>
            </a:r>
            <a:r>
              <a:rPr lang="en-US" b="1">
                <a:solidFill>
                  <a:srgbClr val="FF0000"/>
                </a:solidFill>
              </a:rPr>
              <a:t>software analyst</a:t>
            </a:r>
            <a:r>
              <a:rPr lang="en-US"/>
              <a:t> after the requirements collected from the various sources.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/>
              <a:t>The requirement received by the customer written in </a:t>
            </a:r>
            <a:r>
              <a:rPr lang="en-US" b="1">
                <a:solidFill>
                  <a:srgbClr val="00B050"/>
                </a:solidFill>
              </a:rPr>
              <a:t>ordinary language.</a:t>
            </a:r>
            <a:r>
              <a:rPr lang="en-US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/>
              <a:t>It is the job of the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analyst to write the requirement in technical language</a:t>
            </a:r>
            <a:r>
              <a:rPr lang="en-US"/>
              <a:t> so that they can be understood and beneficial by the development team.</a:t>
            </a:r>
          </a:p>
        </p:txBody>
      </p:sp>
    </p:spTree>
    <p:extLst>
      <p:ext uri="{BB962C8B-B14F-4D97-AF65-F5344CB8AC3E}">
        <p14:creationId xmlns:p14="http://schemas.microsoft.com/office/powerpoint/2010/main" xmlns="" val="405051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50570"/>
          </a:xfrm>
        </p:spPr>
        <p:txBody>
          <a:bodyPr>
            <a:normAutofit fontScale="90000"/>
          </a:bodyPr>
          <a:lstStyle/>
          <a:p>
            <a:r>
              <a:rPr lang="en-US" b="1">
                <a:sym typeface="+mn-ea"/>
              </a:rPr>
              <a:t>Software Requirement Specification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27405"/>
            <a:ext cx="8229600" cy="586359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600"/>
              <a:t>The models used at this stage include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 sz="2600" b="1">
                <a:solidFill>
                  <a:schemeClr val="accent6">
                    <a:lumMod val="75000"/>
                  </a:schemeClr>
                </a:solidFill>
              </a:rPr>
              <a:t>Data Flow Diagrams:</a:t>
            </a:r>
            <a:r>
              <a:rPr lang="en-US" sz="2600"/>
              <a:t> Data Flow Diagrams (DFDs) are used widely for </a:t>
            </a:r>
            <a:r>
              <a:rPr lang="en-US" sz="2600" b="1">
                <a:solidFill>
                  <a:srgbClr val="00B050"/>
                </a:solidFill>
              </a:rPr>
              <a:t>modeling the requirements.</a:t>
            </a:r>
            <a:r>
              <a:rPr lang="en-US" sz="2600"/>
              <a:t> DFD shows the flow of data through a system.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 sz="2600" b="1">
                <a:solidFill>
                  <a:schemeClr val="accent6">
                    <a:lumMod val="75000"/>
                  </a:schemeClr>
                </a:solidFill>
              </a:rPr>
              <a:t>Data Dictionaries:</a:t>
            </a:r>
            <a:r>
              <a:rPr lang="en-US" sz="2600"/>
              <a:t> Data Dictionaries are </a:t>
            </a:r>
            <a:r>
              <a:rPr lang="en-US" sz="2600" b="1">
                <a:solidFill>
                  <a:srgbClr val="7030A0"/>
                </a:solidFill>
              </a:rPr>
              <a:t>simply repositories</a:t>
            </a:r>
            <a:r>
              <a:rPr lang="en-US" sz="2600"/>
              <a:t> to store information about all data items defined in DFDs.</a:t>
            </a:r>
          </a:p>
          <a:p>
            <a:pPr algn="just">
              <a:buFont typeface="Wingdings" panose="05000000000000000000" charset="0"/>
              <a:buChar char="Ø"/>
            </a:pPr>
            <a:r>
              <a:rPr lang="en-US" sz="2600" b="1">
                <a:solidFill>
                  <a:schemeClr val="accent6">
                    <a:lumMod val="75000"/>
                  </a:schemeClr>
                </a:solidFill>
              </a:rPr>
              <a:t>Entity-Relationship Diagrams:</a:t>
            </a:r>
            <a:r>
              <a:rPr lang="en-US" sz="2600"/>
              <a:t> Another tool for requirement specification is the </a:t>
            </a:r>
            <a:r>
              <a:rPr lang="en-US" sz="2600" b="1">
                <a:solidFill>
                  <a:srgbClr val="7030A0"/>
                </a:solidFill>
              </a:rPr>
              <a:t>entity-relationship diagram, often called an "E-R diagram."</a:t>
            </a:r>
            <a:r>
              <a:rPr lang="en-US" sz="2600"/>
              <a:t> </a:t>
            </a:r>
          </a:p>
          <a:p>
            <a:pPr algn="just"/>
            <a:r>
              <a:rPr lang="en-US" sz="2600"/>
              <a:t>It is a detailed logical representation of the data for the organization and uses three main constructs </a:t>
            </a:r>
            <a:r>
              <a:rPr lang="en-US" sz="2600" b="1">
                <a:solidFill>
                  <a:srgbClr val="00B050"/>
                </a:solidFill>
              </a:rPr>
              <a:t>i.e. data entities, relationships, and their associated attributes.</a:t>
            </a:r>
          </a:p>
        </p:txBody>
      </p:sp>
    </p:spTree>
    <p:extLst>
      <p:ext uri="{BB962C8B-B14F-4D97-AF65-F5344CB8AC3E}">
        <p14:creationId xmlns:p14="http://schemas.microsoft.com/office/powerpoint/2010/main" xmlns="" val="394804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718185"/>
          </a:xfrm>
        </p:spPr>
        <p:txBody>
          <a:bodyPr>
            <a:normAutofit fontScale="90000"/>
          </a:bodyPr>
          <a:lstStyle/>
          <a:p>
            <a:r>
              <a:rPr lang="en-US" b="1"/>
              <a:t>Software Requirement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07085"/>
            <a:ext cx="8305800" cy="5626735"/>
          </a:xfrm>
        </p:spPr>
        <p:txBody>
          <a:bodyPr>
            <a:normAutofit fontScale="97500" lnSpcReduction="10000"/>
          </a:bodyPr>
          <a:lstStyle/>
          <a:p>
            <a:pPr algn="just"/>
            <a:r>
              <a:rPr lang="en-US"/>
              <a:t>After requirement specifications developed, the requirements discussed in this </a:t>
            </a:r>
            <a:r>
              <a:rPr lang="en-US" b="1">
                <a:solidFill>
                  <a:srgbClr val="00B050"/>
                </a:solidFill>
              </a:rPr>
              <a:t>document are validated. </a:t>
            </a:r>
          </a:p>
          <a:p>
            <a:pPr algn="just"/>
            <a:r>
              <a:rPr lang="en-US"/>
              <a:t>Requirements can be the check against the following conditions -</a:t>
            </a:r>
          </a:p>
          <a:p>
            <a:pPr algn="just">
              <a:buFont typeface="Wingdings" panose="05000000000000000000" charset="0"/>
              <a:buChar char="ü"/>
            </a:pP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If they can practically implement</a:t>
            </a:r>
          </a:p>
          <a:p>
            <a:pPr algn="just">
              <a:buFont typeface="Wingdings" panose="05000000000000000000" charset="0"/>
              <a:buChar char="ü"/>
            </a:pP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If they are correct and as per the functionality and specially of software</a:t>
            </a:r>
          </a:p>
          <a:p>
            <a:pPr algn="just">
              <a:buFont typeface="Wingdings" panose="05000000000000000000" charset="0"/>
              <a:buChar char="ü"/>
            </a:pP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If there are any ambiguities</a:t>
            </a:r>
          </a:p>
          <a:p>
            <a:pPr algn="just">
              <a:buFont typeface="Wingdings" panose="05000000000000000000" charset="0"/>
              <a:buChar char="ü"/>
            </a:pP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If they are full</a:t>
            </a:r>
          </a:p>
          <a:p>
            <a:pPr algn="just">
              <a:buFont typeface="Wingdings" panose="05000000000000000000" charset="0"/>
              <a:buChar char="ü"/>
            </a:pP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If they can describe</a:t>
            </a:r>
          </a:p>
        </p:txBody>
      </p:sp>
    </p:spTree>
    <p:extLst>
      <p:ext uri="{BB962C8B-B14F-4D97-AF65-F5344CB8AC3E}">
        <p14:creationId xmlns:p14="http://schemas.microsoft.com/office/powerpoint/2010/main" xmlns="" val="424933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5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>
                <a:sym typeface="+mn-ea"/>
              </a:rPr>
              <a:t/>
            </a:r>
            <a:br>
              <a:rPr lang="en-US">
                <a:sym typeface="+mn-ea"/>
              </a:rPr>
            </a:br>
            <a:r>
              <a:rPr lang="en-US">
                <a:sym typeface="+mn-ea"/>
              </a:rPr>
              <a:t>Software Requirement Validation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0880"/>
            <a:ext cx="8229600" cy="58470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Requirements Validation Techniques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Requirements Reviews/inspections</a:t>
            </a:r>
            <a:r>
              <a:rPr lang="en-US" b="1" dirty="0">
                <a:solidFill>
                  <a:srgbClr val="00B050"/>
                </a:solidFill>
              </a:rPr>
              <a:t>:</a:t>
            </a:r>
            <a:r>
              <a:rPr lang="en-US" dirty="0"/>
              <a:t> </a:t>
            </a:r>
            <a:r>
              <a:rPr lang="en-US" dirty="0" smtClean="0"/>
              <a:t>     systematic </a:t>
            </a:r>
            <a:r>
              <a:rPr lang="en-US" dirty="0"/>
              <a:t>manual analysis of the requirements.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Prototyping:</a:t>
            </a:r>
            <a:r>
              <a:rPr lang="en-US" dirty="0"/>
              <a:t> Using an executable model of the system to check requirements.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Test-case generation:</a:t>
            </a:r>
            <a:r>
              <a:rPr lang="en-US" dirty="0"/>
              <a:t> Developing tests for requirements to check testability.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Automated consistency analysis:</a:t>
            </a:r>
            <a:r>
              <a:rPr lang="en-US" dirty="0"/>
              <a:t> checking for the consistency of structured requirements descriptions.</a:t>
            </a:r>
          </a:p>
        </p:txBody>
      </p:sp>
    </p:spTree>
    <p:extLst>
      <p:ext uri="{BB962C8B-B14F-4D97-AF65-F5344CB8AC3E}">
        <p14:creationId xmlns:p14="http://schemas.microsoft.com/office/powerpoint/2010/main" xmlns="" val="24055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8855"/>
          </a:xfrm>
        </p:spPr>
        <p:txBody>
          <a:bodyPr>
            <a:normAutofit fontScale="90000"/>
          </a:bodyPr>
          <a:lstStyle/>
          <a:p>
            <a:r>
              <a:rPr lang="en-US" b="1"/>
              <a:t>Software Requirement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0460"/>
            <a:ext cx="8229600" cy="5321300"/>
          </a:xfrm>
        </p:spPr>
        <p:txBody>
          <a:bodyPr/>
          <a:lstStyle/>
          <a:p>
            <a:pPr algn="just"/>
            <a:r>
              <a:rPr lang="en-US"/>
              <a:t>Requirement management is the process of </a:t>
            </a:r>
            <a:r>
              <a:rPr lang="en-US" b="1">
                <a:solidFill>
                  <a:srgbClr val="FF0000"/>
                </a:solidFill>
              </a:rPr>
              <a:t>managing changing requirements</a:t>
            </a:r>
            <a:r>
              <a:rPr lang="en-US"/>
              <a:t> during the requirements engineering process and system development.</a:t>
            </a:r>
          </a:p>
        </p:txBody>
      </p:sp>
    </p:spTree>
    <p:extLst>
      <p:ext uri="{BB962C8B-B14F-4D97-AF65-F5344CB8AC3E}">
        <p14:creationId xmlns:p14="http://schemas.microsoft.com/office/powerpoint/2010/main" xmlns="" val="107523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083"/>
            <a:ext cx="8229600" cy="1143000"/>
          </a:xfrm>
        </p:spPr>
        <p:txBody>
          <a:bodyPr/>
          <a:lstStyle/>
          <a:p>
            <a:r>
              <a:rPr lang="en-US" b="1" dirty="0" smtClean="0"/>
              <a:t>Requirement Engineering task</a:t>
            </a: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4390" y="1600200"/>
            <a:ext cx="7439025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81467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1706</Words>
  <Application>Microsoft Office PowerPoint</Application>
  <PresentationFormat>On-screen Show (4:3)</PresentationFormat>
  <Paragraphs>285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Requirement Engineering</vt:lpstr>
      <vt:lpstr>Requirement Engineering is the process of </vt:lpstr>
      <vt:lpstr>Objectives of Requirement Engineering</vt:lpstr>
      <vt:lpstr>Slide 4</vt:lpstr>
      <vt:lpstr>Feasibility Study</vt:lpstr>
      <vt:lpstr>Technical Feasibility</vt:lpstr>
      <vt:lpstr>Operational Feasibility:</vt:lpstr>
      <vt:lpstr>Questions asked in Operational Feasibility</vt:lpstr>
      <vt:lpstr>Economic Feasibility:</vt:lpstr>
      <vt:lpstr>Requirement Elicitation and Analysis</vt:lpstr>
      <vt:lpstr>Techniques of Requirement Elicitation</vt:lpstr>
      <vt:lpstr>Techniques of Requirement Elicitation</vt:lpstr>
      <vt:lpstr>Techniques of Requirement Elicitation</vt:lpstr>
      <vt:lpstr>Techniques of Requirement Elicitation</vt:lpstr>
      <vt:lpstr>Techniques of Requirement Elicitation</vt:lpstr>
      <vt:lpstr>Techniques of Requirement Elicitation</vt:lpstr>
      <vt:lpstr>Requirement Analysis</vt:lpstr>
      <vt:lpstr>Requirement Analysis Example</vt:lpstr>
      <vt:lpstr>Activities in Requirement Analysis</vt:lpstr>
      <vt:lpstr>Requirement Elicitation and Analysis</vt:lpstr>
      <vt:lpstr>Software Requirements</vt:lpstr>
      <vt:lpstr>Functional Requirements</vt:lpstr>
      <vt:lpstr>Non-Functional Requirements</vt:lpstr>
      <vt:lpstr> Requirement Elicitation and Analysis </vt:lpstr>
      <vt:lpstr>Requirements Analysis</vt:lpstr>
      <vt:lpstr>Requirements Analysis Process</vt:lpstr>
      <vt:lpstr>Requirements Analysis Process</vt:lpstr>
      <vt:lpstr>Requirements Analysis Process</vt:lpstr>
      <vt:lpstr>Requirements Analysis Process</vt:lpstr>
      <vt:lpstr>Requirements Analysis Process</vt:lpstr>
      <vt:lpstr>Requirements Analysis Process</vt:lpstr>
      <vt:lpstr>Software Requirement Specification</vt:lpstr>
      <vt:lpstr>Software Requirement Specification</vt:lpstr>
      <vt:lpstr>Software Requirement Validation</vt:lpstr>
      <vt:lpstr> Software Requirement Validation </vt:lpstr>
      <vt:lpstr>Software Requirement Management</vt:lpstr>
      <vt:lpstr>Requirement Engineering task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 Engineering</dc:title>
  <dc:creator>User</dc:creator>
  <cp:lastModifiedBy>User</cp:lastModifiedBy>
  <cp:revision>24</cp:revision>
  <dcterms:created xsi:type="dcterms:W3CDTF">2026-07-13T14:12:36Z</dcterms:created>
  <dcterms:modified xsi:type="dcterms:W3CDTF">2026-07-13T15:44:32Z</dcterms:modified>
</cp:coreProperties>
</file>