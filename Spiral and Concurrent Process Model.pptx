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58" r:id="rId5"/>
    <p:sldId id="273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76" r:id="rId14"/>
    <p:sldId id="267" r:id="rId15"/>
    <p:sldId id="268" r:id="rId16"/>
    <p:sldId id="269" r:id="rId17"/>
    <p:sldId id="277" r:id="rId18"/>
    <p:sldId id="278" r:id="rId19"/>
    <p:sldId id="270" r:id="rId20"/>
    <p:sldId id="279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541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456E1-B130-4637-BAF7-E4685E26A65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36B04-DED4-49C5-AC46-1845ACA5D61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835" y="152400"/>
            <a:ext cx="8229600" cy="665480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Prototyping Model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160" y="741044"/>
            <a:ext cx="8337550" cy="6116955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Advantages</a:t>
            </a:r>
          </a:p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Errors</a:t>
            </a:r>
            <a:r>
              <a:rPr lang="en-US" dirty="0"/>
              <a:t> are detected much earlier.</a:t>
            </a:r>
          </a:p>
          <a:p>
            <a:pPr algn="just"/>
            <a:r>
              <a:rPr lang="en-US" dirty="0"/>
              <a:t>Ensures a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greater level of customer satisfaction</a:t>
            </a:r>
            <a:r>
              <a:rPr lang="en-US" dirty="0"/>
              <a:t> and comfort.</a:t>
            </a:r>
          </a:p>
          <a:p>
            <a:pPr algn="just"/>
            <a:r>
              <a:rPr lang="en-US" dirty="0"/>
              <a:t>It identifies the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missing functionality</a:t>
            </a:r>
            <a:r>
              <a:rPr lang="en-US" dirty="0"/>
              <a:t> easily.</a:t>
            </a:r>
          </a:p>
          <a:p>
            <a:pPr algn="just"/>
            <a:r>
              <a:rPr lang="en-US" dirty="0"/>
              <a:t>It also identifies the confusing or difficult functions.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381000" y="3429000"/>
            <a:ext cx="8229600" cy="3249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900" b="1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Disadvantages</a:t>
            </a:r>
            <a:endParaRPr lang="en-US" sz="29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/>
              <a:t>The </a:t>
            </a:r>
            <a:r>
              <a:rPr lang="en-US" sz="29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client involvement</a:t>
            </a:r>
            <a:r>
              <a:rPr lang="en-US" sz="2900" dirty="0"/>
              <a:t> is more and it is </a:t>
            </a:r>
            <a:r>
              <a:rPr lang="en-US" sz="2900" b="1" dirty="0">
                <a:solidFill>
                  <a:srgbClr val="00B050"/>
                </a:solidFill>
              </a:rPr>
              <a:t>not always considered by the developer.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/>
              <a:t>It is a </a:t>
            </a:r>
            <a:r>
              <a:rPr lang="en-US" sz="2900" b="1" dirty="0">
                <a:solidFill>
                  <a:srgbClr val="00B050"/>
                </a:solidFill>
              </a:rPr>
              <a:t>slow process</a:t>
            </a:r>
            <a:r>
              <a:rPr lang="en-US" sz="2900" dirty="0"/>
              <a:t> because it takes more time for development.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/>
              <a:t>Many changes can disturb the rhythm of the development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59155"/>
          </a:xfrm>
        </p:spPr>
        <p:txBody>
          <a:bodyPr>
            <a:normAutofit/>
          </a:bodyPr>
          <a:lstStyle/>
          <a:p>
            <a:r>
              <a:rPr lang="en-US" b="1"/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35354"/>
            <a:ext cx="8675370" cy="59226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Barry </a:t>
            </a:r>
            <a:r>
              <a:rPr lang="en-US" b="1" dirty="0" err="1">
                <a:solidFill>
                  <a:srgbClr val="00B050"/>
                </a:solidFill>
              </a:rPr>
              <a:t>Boehm.B</a:t>
            </a:r>
            <a:r>
              <a:rPr lang="en-US" dirty="0"/>
              <a:t> introduced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Sprial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Model in 1986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Spiral model is one of the most important Software Development Life Cycle model, which provides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support for risk handling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Spiral Model is a risk-driven evolutionary process model in which software is developed through repeated iterations, and risk analysis is performed in every cycle.</a:t>
            </a:r>
            <a:endParaRPr lang="en-US" dirty="0"/>
          </a:p>
          <a:p>
            <a:pPr algn="just"/>
            <a:r>
              <a:rPr lang="en-US" dirty="0"/>
              <a:t>In its </a:t>
            </a:r>
            <a:r>
              <a:rPr lang="en-US" b="1" dirty="0">
                <a:solidFill>
                  <a:srgbClr val="00B050"/>
                </a:solidFill>
              </a:rPr>
              <a:t>diagrammatic</a:t>
            </a:r>
            <a:r>
              <a:rPr lang="en-US" dirty="0"/>
              <a:t> representation, it looks like a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spiral with  many loops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Each loop of the spiral is called a phase of the software development process.</a:t>
            </a:r>
          </a:p>
          <a:p>
            <a:pPr algn="just"/>
            <a:r>
              <a:rPr lang="en-US" dirty="0"/>
              <a:t>This model is much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more flexible</a:t>
            </a:r>
            <a:r>
              <a:rPr lang="en-US" dirty="0"/>
              <a:t> compared to other SDLC models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 Focus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dirty="0" smtClean="0"/>
              <a:t>Problem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Requirements are unclear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Build Prototype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Customer Gives Feedback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Requirements Become Clear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Develop Final Software</a:t>
            </a:r>
          </a:p>
          <a:p>
            <a:pPr>
              <a:buNone/>
            </a:pPr>
            <a:r>
              <a:rPr lang="en-US" dirty="0" smtClean="0"/>
              <a:t>Prototype answers one question:</a:t>
            </a:r>
          </a:p>
          <a:p>
            <a:pPr>
              <a:buNone/>
            </a:pPr>
            <a:r>
              <a:rPr lang="en-US" b="1" dirty="0" smtClean="0"/>
              <a:t>"What exactly does the customer want?"</a:t>
            </a:r>
            <a:endParaRPr lang="en-US" dirty="0" smtClean="0"/>
          </a:p>
          <a:p>
            <a:pPr algn="ctr">
              <a:buNone/>
            </a:pP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4419600" y="19050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4419600" y="26670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19600" y="3429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419600" y="41910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4419600" y="49530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59155"/>
          </a:xfrm>
        </p:spPr>
        <p:txBody>
          <a:bodyPr>
            <a:normAutofit/>
          </a:bodyPr>
          <a:lstStyle/>
          <a:p>
            <a:r>
              <a:rPr lang="en-US" b="1"/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35355"/>
            <a:ext cx="8446770" cy="5541010"/>
          </a:xfrm>
        </p:spPr>
        <p:txBody>
          <a:bodyPr/>
          <a:lstStyle/>
          <a:p>
            <a:pPr algn="just"/>
            <a:r>
              <a:rPr lang="en-US" b="1">
                <a:solidFill>
                  <a:srgbClr val="00B050"/>
                </a:solidFill>
              </a:rPr>
              <a:t>Barry Boehm.B</a:t>
            </a:r>
            <a:r>
              <a:rPr lang="en-US"/>
              <a:t> introduced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Sprial Model in 1986</a:t>
            </a:r>
            <a:r>
              <a:rPr lang="en-US"/>
              <a:t>.</a:t>
            </a:r>
          </a:p>
          <a:p>
            <a:pPr algn="just"/>
            <a:r>
              <a:rPr lang="en-US"/>
              <a:t>Spiral model is one of the most important Software Development Life Cycle model, which provides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support for risk handling</a:t>
            </a:r>
            <a:r>
              <a:rPr lang="en-US"/>
              <a:t>.</a:t>
            </a:r>
          </a:p>
          <a:p>
            <a:pPr algn="just"/>
            <a:r>
              <a:rPr lang="en-US"/>
              <a:t>In its </a:t>
            </a:r>
            <a:r>
              <a:rPr lang="en-US" b="1">
                <a:solidFill>
                  <a:srgbClr val="00B050"/>
                </a:solidFill>
              </a:rPr>
              <a:t>diagrammatic</a:t>
            </a:r>
            <a:r>
              <a:rPr lang="en-US"/>
              <a:t> representation, it looks like a 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spiral with  many loops</a:t>
            </a:r>
            <a:r>
              <a:rPr lang="en-US"/>
              <a:t>.</a:t>
            </a:r>
          </a:p>
          <a:p>
            <a:pPr algn="just"/>
            <a:r>
              <a:rPr lang="en-US"/>
              <a:t>Each loop of the spiral is called a phase of the software development process.</a:t>
            </a:r>
          </a:p>
          <a:p>
            <a:pPr algn="just"/>
            <a:r>
              <a:rPr lang="en-US"/>
              <a:t>This model is much 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more flexible</a:t>
            </a:r>
            <a:r>
              <a:rPr lang="en-US"/>
              <a:t> compared to other SDLC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piral-model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840" y="281305"/>
            <a:ext cx="8418830" cy="6249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/>
              <a:t>Spiral Focus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33400" y="1143000"/>
            <a:ext cx="8610600" cy="571500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dirty="0" smtClean="0"/>
              <a:t>Problem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High Risk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Identify Risk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Reduce Risk</a:t>
            </a:r>
          </a:p>
          <a:p>
            <a:pPr algn="ctr"/>
            <a:endParaRPr lang="en-US" dirty="0" smtClean="0"/>
          </a:p>
          <a:p>
            <a:pPr algn="ctr">
              <a:buNone/>
            </a:pPr>
            <a:r>
              <a:rPr lang="en-US" dirty="0" smtClean="0"/>
              <a:t>Develop Software</a:t>
            </a:r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                   REPEAT</a:t>
            </a:r>
          </a:p>
          <a:p>
            <a:pPr>
              <a:buNone/>
            </a:pPr>
            <a:r>
              <a:rPr lang="en-US" dirty="0" smtClean="0"/>
              <a:t>Prototype answers one question:</a:t>
            </a:r>
          </a:p>
          <a:p>
            <a:pPr>
              <a:buNone/>
            </a:pPr>
            <a:r>
              <a:rPr lang="en-US" b="1" dirty="0" smtClean="0"/>
              <a:t>"What can go wrong, and how do we prevent it?“</a:t>
            </a:r>
          </a:p>
          <a:p>
            <a:pPr>
              <a:buNone/>
            </a:pPr>
            <a:r>
              <a:rPr lang="en-US" dirty="0" smtClean="0"/>
              <a:t>"Developer, what risks may affect this project?"</a:t>
            </a:r>
            <a:endParaRPr lang="en-US" b="1" dirty="0"/>
          </a:p>
        </p:txBody>
      </p:sp>
      <p:sp>
        <p:nvSpPr>
          <p:cNvPr id="12" name="Down Arrow 11"/>
          <p:cNvSpPr/>
          <p:nvPr/>
        </p:nvSpPr>
        <p:spPr>
          <a:xfrm>
            <a:off x="4419600" y="14478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4419600" y="2286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19600" y="3048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419600" y="3733800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4343400" y="4495800"/>
            <a:ext cx="3048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Risk in Spiral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1. Technical Risk</a:t>
            </a:r>
          </a:p>
          <a:p>
            <a:pPr>
              <a:buNone/>
            </a:pPr>
            <a:r>
              <a:rPr lang="en-US" b="1" dirty="0" smtClean="0"/>
              <a:t>Meaning</a:t>
            </a:r>
          </a:p>
          <a:p>
            <a:pPr>
              <a:buNone/>
            </a:pPr>
            <a:r>
              <a:rPr lang="en-US" dirty="0" smtClean="0"/>
              <a:t>Technology may fail.</a:t>
            </a:r>
          </a:p>
          <a:p>
            <a:pPr>
              <a:buNone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Your company decides to use AI-based Face </a:t>
            </a:r>
            <a:r>
              <a:rPr lang="en-US" dirty="0" err="1" smtClean="0"/>
              <a:t>Recognitionfor</a:t>
            </a:r>
            <a:r>
              <a:rPr lang="en-US" dirty="0" smtClean="0"/>
              <a:t> banking login.</a:t>
            </a:r>
          </a:p>
          <a:p>
            <a:pPr>
              <a:buNone/>
            </a:pPr>
            <a:r>
              <a:rPr lang="en-US" dirty="0" smtClean="0"/>
              <a:t>Question</a:t>
            </a:r>
          </a:p>
          <a:p>
            <a:pPr>
              <a:buNone/>
            </a:pPr>
            <a:r>
              <a:rPr lang="en-US" dirty="0" smtClean="0"/>
              <a:t>Will it work perfectly?</a:t>
            </a:r>
          </a:p>
          <a:p>
            <a:pPr>
              <a:buNone/>
            </a:pPr>
            <a:r>
              <a:rPr lang="en-US" dirty="0" smtClean="0"/>
              <a:t>Nobody knows.</a:t>
            </a:r>
          </a:p>
          <a:p>
            <a:pPr>
              <a:buNone/>
            </a:pPr>
            <a:r>
              <a:rPr lang="en-US" dirty="0" smtClean="0"/>
              <a:t>Maybe Recognition is slow. </a:t>
            </a:r>
          </a:p>
          <a:p>
            <a:pPr>
              <a:buNone/>
            </a:pPr>
            <a:r>
              <a:rPr lang="en-US" dirty="0" smtClean="0"/>
              <a:t>Wrong person gets authenticated. </a:t>
            </a:r>
          </a:p>
          <a:p>
            <a:pPr>
              <a:buNone/>
            </a:pPr>
            <a:r>
              <a:rPr lang="en-US" dirty="0" smtClean="0"/>
              <a:t>Camera doesn't work. </a:t>
            </a:r>
          </a:p>
          <a:p>
            <a:pPr>
              <a:buNone/>
            </a:pPr>
            <a:r>
              <a:rPr lang="en-US" dirty="0" smtClean="0"/>
              <a:t>This uncertainty is called</a:t>
            </a:r>
          </a:p>
          <a:p>
            <a:pPr>
              <a:buNone/>
            </a:pPr>
            <a:r>
              <a:rPr lang="en-US" b="1" dirty="0" smtClean="0"/>
              <a:t>Technical Risk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Cost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Estimated Budget</a:t>
            </a:r>
          </a:p>
          <a:p>
            <a:pPr>
              <a:buNone/>
            </a:pPr>
            <a:r>
              <a:rPr lang="en-US" dirty="0" smtClean="0"/>
              <a:t>₹10 </a:t>
            </a:r>
            <a:r>
              <a:rPr lang="en-US" dirty="0" err="1" smtClean="0"/>
              <a:t>Crores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After six months,</a:t>
            </a:r>
          </a:p>
          <a:p>
            <a:pPr>
              <a:buNone/>
            </a:pPr>
            <a:r>
              <a:rPr lang="en-US" dirty="0" smtClean="0"/>
              <a:t>Need more servers.</a:t>
            </a:r>
          </a:p>
          <a:p>
            <a:pPr>
              <a:buNone/>
            </a:pPr>
            <a:r>
              <a:rPr lang="en-US" dirty="0" smtClean="0"/>
              <a:t>Need more developers.</a:t>
            </a:r>
          </a:p>
          <a:p>
            <a:pPr>
              <a:buNone/>
            </a:pPr>
            <a:r>
              <a:rPr lang="en-US" dirty="0" smtClean="0"/>
              <a:t>Budget becomes</a:t>
            </a:r>
          </a:p>
          <a:p>
            <a:pPr>
              <a:buNone/>
            </a:pPr>
            <a:r>
              <a:rPr lang="en-US" dirty="0" smtClean="0"/>
              <a:t>₹16 </a:t>
            </a:r>
            <a:r>
              <a:rPr lang="en-US" dirty="0" err="1" smtClean="0"/>
              <a:t>Crores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Company loses money.</a:t>
            </a:r>
          </a:p>
          <a:p>
            <a:pPr>
              <a:buNone/>
            </a:pPr>
            <a:r>
              <a:rPr lang="en-US" dirty="0" smtClean="0"/>
              <a:t>This is</a:t>
            </a:r>
          </a:p>
          <a:p>
            <a:pPr>
              <a:buNone/>
            </a:pPr>
            <a:r>
              <a:rPr lang="en-US" b="1" dirty="0" smtClean="0"/>
              <a:t>Cost Risk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3. Schedule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6783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Software should finish </a:t>
            </a:r>
            <a:r>
              <a:rPr lang="en-US" dirty="0" smtClean="0"/>
              <a:t>in 12 </a:t>
            </a:r>
            <a:r>
              <a:rPr lang="en-US" dirty="0" smtClean="0"/>
              <a:t>months.</a:t>
            </a:r>
          </a:p>
          <a:p>
            <a:pPr>
              <a:buNone/>
            </a:pPr>
            <a:r>
              <a:rPr lang="en-US" dirty="0" smtClean="0"/>
              <a:t>But</a:t>
            </a:r>
          </a:p>
          <a:p>
            <a:pPr>
              <a:buNone/>
            </a:pPr>
            <a:r>
              <a:rPr lang="en-US" dirty="0" smtClean="0"/>
              <a:t>Developers resign.</a:t>
            </a:r>
          </a:p>
          <a:p>
            <a:pPr>
              <a:buNone/>
            </a:pPr>
            <a:r>
              <a:rPr lang="en-US" dirty="0" smtClean="0"/>
              <a:t>Requirements change.</a:t>
            </a:r>
          </a:p>
          <a:p>
            <a:pPr>
              <a:buNone/>
            </a:pPr>
            <a:r>
              <a:rPr lang="en-US" dirty="0" smtClean="0"/>
              <a:t>Testing takes longer.</a:t>
            </a:r>
          </a:p>
          <a:p>
            <a:pPr>
              <a:buNone/>
            </a:pPr>
            <a:r>
              <a:rPr lang="en-US" dirty="0" smtClean="0"/>
              <a:t>Project finishes in</a:t>
            </a:r>
          </a:p>
          <a:p>
            <a:pPr>
              <a:buNone/>
            </a:pPr>
            <a:r>
              <a:rPr lang="en-US" dirty="0" smtClean="0"/>
              <a:t>18 months.</a:t>
            </a:r>
          </a:p>
          <a:p>
            <a:pPr>
              <a:buNone/>
            </a:pPr>
            <a:r>
              <a:rPr lang="en-US" dirty="0" smtClean="0"/>
              <a:t>Customer becomes unhappy.</a:t>
            </a:r>
          </a:p>
          <a:p>
            <a:pPr>
              <a:buNone/>
            </a:pPr>
            <a:r>
              <a:rPr lang="en-US" dirty="0" smtClean="0"/>
              <a:t>This is</a:t>
            </a:r>
          </a:p>
          <a:p>
            <a:pPr>
              <a:buNone/>
            </a:pPr>
            <a:r>
              <a:rPr lang="en-US" b="1" dirty="0" smtClean="0"/>
              <a:t>Schedule Risk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Requirement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534400" cy="5562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Prototype</a:t>
            </a:r>
          </a:p>
          <a:p>
            <a:pPr>
              <a:buNone/>
            </a:pPr>
            <a:r>
              <a:rPr lang="en-US" b="1" dirty="0" smtClean="0"/>
              <a:t>Requirements are NOT KNOWN.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Requirement Risk</a:t>
            </a:r>
          </a:p>
          <a:p>
            <a:pPr marL="0" indent="0">
              <a:buNone/>
            </a:pPr>
            <a:r>
              <a:rPr lang="en-US" dirty="0" smtClean="0"/>
              <a:t>Requirements are known BUT Customer may still </a:t>
            </a:r>
            <a:r>
              <a:rPr lang="en-US" dirty="0" smtClean="0"/>
              <a:t>change them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Initially Customer </a:t>
            </a:r>
            <a:r>
              <a:rPr lang="en-US" dirty="0" smtClean="0"/>
              <a:t>wants Password </a:t>
            </a:r>
            <a:r>
              <a:rPr lang="en-US" dirty="0" smtClean="0"/>
              <a:t>Login.</a:t>
            </a:r>
          </a:p>
          <a:p>
            <a:pPr>
              <a:buNone/>
            </a:pPr>
            <a:r>
              <a:rPr lang="en-US" dirty="0" smtClean="0"/>
              <a:t>Later</a:t>
            </a:r>
          </a:p>
          <a:p>
            <a:pPr>
              <a:buNone/>
            </a:pPr>
            <a:r>
              <a:rPr lang="en-US" dirty="0" smtClean="0"/>
              <a:t>Customer wants Face Recognition.</a:t>
            </a:r>
          </a:p>
          <a:p>
            <a:pPr>
              <a:buNone/>
            </a:pPr>
            <a:r>
              <a:rPr lang="en-US" dirty="0" smtClean="0"/>
              <a:t>Requirement changed.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This is Requirement Risk.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5. Security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Internet Banking.</a:t>
            </a:r>
          </a:p>
          <a:p>
            <a:pPr>
              <a:buNone/>
            </a:pPr>
            <a:r>
              <a:rPr lang="en-US" dirty="0" smtClean="0"/>
              <a:t>Questions</a:t>
            </a:r>
          </a:p>
          <a:p>
            <a:pPr>
              <a:buNone/>
            </a:pPr>
            <a:r>
              <a:rPr lang="en-US" dirty="0" smtClean="0"/>
              <a:t>Can hackers steal money?</a:t>
            </a:r>
          </a:p>
          <a:p>
            <a:pPr>
              <a:buNone/>
            </a:pPr>
            <a:r>
              <a:rPr lang="en-US" dirty="0" smtClean="0"/>
              <a:t>Can hackers access passwords?</a:t>
            </a:r>
          </a:p>
          <a:p>
            <a:pPr>
              <a:buNone/>
            </a:pPr>
            <a:r>
              <a:rPr lang="en-US" dirty="0" smtClean="0"/>
              <a:t>Can database leak?</a:t>
            </a:r>
          </a:p>
          <a:p>
            <a:pPr>
              <a:buNone/>
            </a:pPr>
            <a:r>
              <a:rPr lang="en-US" dirty="0" smtClean="0"/>
              <a:t>These are</a:t>
            </a:r>
          </a:p>
          <a:p>
            <a:pPr>
              <a:buNone/>
            </a:pPr>
            <a:r>
              <a:rPr lang="en-US" dirty="0" smtClean="0"/>
              <a:t>Security Risks.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Definition from Pressman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06963"/>
          </a:xfrm>
        </p:spPr>
        <p:txBody>
          <a:bodyPr>
            <a:normAutofit/>
          </a:bodyPr>
          <a:lstStyle/>
          <a:p>
            <a:r>
              <a:rPr lang="en-US" dirty="0" smtClean="0"/>
              <a:t>An evolutionary process model that couples the iterative nature of prototyping with the controlled and systematic aspects of the waterfall model and adds risk analysis as its central activity.</a:t>
            </a:r>
          </a:p>
          <a:p>
            <a:pPr>
              <a:buNone/>
            </a:pPr>
            <a:r>
              <a:rPr lang="en-US" b="1" dirty="0" smtClean="0"/>
              <a:t>Waterfall + Prototyping + Risk Analysis = </a:t>
            </a:r>
            <a:r>
              <a:rPr lang="en-US" b="1" dirty="0" err="1" smtClean="0"/>
              <a:t>SpiralModel</a:t>
            </a:r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93420"/>
          </a:xfrm>
        </p:spPr>
        <p:txBody>
          <a:bodyPr>
            <a:normAutofit fontScale="90000"/>
          </a:bodyPr>
          <a:lstStyle/>
          <a:p>
            <a:r>
              <a:rPr lang="en-US" b="1"/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5820"/>
            <a:ext cx="8229600" cy="5735320"/>
          </a:xfrm>
        </p:spPr>
        <p:txBody>
          <a:bodyPr>
            <a:noAutofit/>
          </a:bodyPr>
          <a:lstStyle/>
          <a:p>
            <a:pPr marL="0" lvl="2" indent="57150">
              <a:defRPr/>
            </a:pPr>
            <a:r>
              <a:rPr lang="en-US" sz="2500" b="1" dirty="0" smtClean="0">
                <a:sym typeface="+mn-ea"/>
              </a:rPr>
              <a:t>Communication – </a:t>
            </a:r>
            <a:r>
              <a:rPr lang="en-US" sz="2500" dirty="0" smtClean="0">
                <a:sym typeface="+mn-ea"/>
              </a:rPr>
              <a:t>Gather Requirements from Customers </a:t>
            </a:r>
            <a:endParaRPr lang="en-US" sz="2500" dirty="0" smtClean="0"/>
          </a:p>
          <a:p>
            <a:pPr marL="0" lvl="2" indent="57150">
              <a:defRPr/>
            </a:pPr>
            <a:r>
              <a:rPr lang="en-US" sz="2500" b="1" dirty="0" smtClean="0">
                <a:sym typeface="+mn-ea"/>
              </a:rPr>
              <a:t> Planning – </a:t>
            </a:r>
            <a:r>
              <a:rPr lang="en-US" sz="2500" dirty="0" smtClean="0">
                <a:sym typeface="+mn-ea"/>
              </a:rPr>
              <a:t>Plan to be followed will be created. It describes the technical task to be conducted, risk ,required resources, work schedule etc.,</a:t>
            </a:r>
            <a:endParaRPr lang="en-US" sz="2500" dirty="0" smtClean="0"/>
          </a:p>
          <a:p>
            <a:pPr marL="0" lvl="2" indent="57150">
              <a:defRPr/>
            </a:pPr>
            <a:r>
              <a:rPr lang="en-US" sz="2500" b="1" dirty="0" smtClean="0">
                <a:sym typeface="+mn-ea"/>
              </a:rPr>
              <a:t>Modeling – </a:t>
            </a:r>
            <a:r>
              <a:rPr lang="en-US" sz="2500" dirty="0" smtClean="0">
                <a:sym typeface="+mn-ea"/>
              </a:rPr>
              <a:t>A model will be created to better understand the requirements</a:t>
            </a:r>
            <a:endParaRPr lang="en-US" sz="2500" dirty="0" smtClean="0"/>
          </a:p>
          <a:p>
            <a:pPr marL="0" lvl="2" indent="57150">
              <a:defRPr/>
            </a:pPr>
            <a:r>
              <a:rPr lang="en-US" sz="2500" b="1" dirty="0" smtClean="0">
                <a:sym typeface="+mn-ea"/>
              </a:rPr>
              <a:t>Construction – </a:t>
            </a:r>
            <a:r>
              <a:rPr lang="en-US" sz="2500" dirty="0" smtClean="0">
                <a:sym typeface="+mn-ea"/>
              </a:rPr>
              <a:t>Code generated and tested</a:t>
            </a:r>
            <a:endParaRPr lang="en-US" sz="2500" dirty="0" smtClean="0"/>
          </a:p>
          <a:p>
            <a:pPr marL="0" lvl="2" indent="57150">
              <a:defRPr/>
            </a:pPr>
            <a:r>
              <a:rPr lang="en-US" sz="2500" b="1" dirty="0" smtClean="0">
                <a:sym typeface="+mn-ea"/>
              </a:rPr>
              <a:t>Deployment  </a:t>
            </a:r>
            <a:r>
              <a:rPr lang="en-US" sz="2500" dirty="0" smtClean="0">
                <a:sym typeface="+mn-ea"/>
              </a:rPr>
              <a:t>- Complete or partial complete version of software is given to the customer to evaluate and they give feed back based on the evaluation</a:t>
            </a:r>
            <a:endParaRPr lang="en-US" sz="2500" dirty="0"/>
          </a:p>
          <a:p>
            <a:pPr algn="just"/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2072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sz="4000" b="1">
                <a:sym typeface="+mn-ea"/>
              </a:rPr>
              <a:t>Spiral Model</a:t>
            </a: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3125"/>
            <a:ext cx="8229600" cy="576961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 algn="just"/>
            <a:r>
              <a:rPr lang="en-US"/>
              <a:t>It </a:t>
            </a:r>
            <a:r>
              <a:rPr lang="en-US" b="1">
                <a:solidFill>
                  <a:srgbClr val="00B050"/>
                </a:solidFill>
              </a:rPr>
              <a:t>reduces high amount</a:t>
            </a:r>
            <a:r>
              <a:rPr lang="en-US"/>
              <a:t> of risk.</a:t>
            </a:r>
          </a:p>
          <a:p>
            <a:pPr algn="just"/>
            <a:r>
              <a:rPr lang="en-US"/>
              <a:t>It is </a:t>
            </a:r>
            <a:r>
              <a:rPr lang="en-US" b="1">
                <a:solidFill>
                  <a:srgbClr val="00B050"/>
                </a:solidFill>
              </a:rPr>
              <a:t>good for large and critical</a:t>
            </a:r>
            <a:r>
              <a:rPr lang="en-US"/>
              <a:t> projects.</a:t>
            </a:r>
          </a:p>
          <a:p>
            <a:pPr algn="just"/>
            <a:r>
              <a:rPr lang="en-US"/>
              <a:t>It gives strong approval and documentation control.</a:t>
            </a:r>
          </a:p>
          <a:p>
            <a:pPr algn="just"/>
            <a:r>
              <a:rPr lang="en-US"/>
              <a:t>In spiral model, the </a:t>
            </a:r>
            <a:r>
              <a:rPr lang="en-US" b="1">
                <a:solidFill>
                  <a:srgbClr val="FF0000"/>
                </a:solidFill>
              </a:rPr>
              <a:t>software is produced</a:t>
            </a:r>
            <a:r>
              <a:rPr lang="en-US"/>
              <a:t> early in the life cycle process.</a:t>
            </a: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33400" y="4953000"/>
            <a:ext cx="8366760" cy="2526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b="1">
                <a:solidFill>
                  <a:schemeClr val="tx2">
                    <a:lumMod val="60000"/>
                    <a:lumOff val="40000"/>
                  </a:schemeClr>
                </a:solidFill>
              </a:rPr>
              <a:t>Disadvantages: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/>
              <a:t>It can be </a:t>
            </a:r>
            <a:r>
              <a:rPr lang="en-US" sz="3200" b="1">
                <a:solidFill>
                  <a:srgbClr val="FF0000"/>
                </a:solidFill>
              </a:rPr>
              <a:t>costly to develop</a:t>
            </a:r>
            <a:r>
              <a:rPr lang="en-US" sz="3200"/>
              <a:t> a software model.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/>
              <a:t>It is </a:t>
            </a:r>
            <a:r>
              <a:rPr lang="en-US" sz="32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not used for small</a:t>
            </a:r>
            <a:r>
              <a:rPr lang="en-US" sz="3200"/>
              <a:t> projects.</a:t>
            </a:r>
          </a:p>
          <a:p>
            <a:pPr algn="just"/>
            <a:endParaRPr lang="en-US" sz="3200"/>
          </a:p>
          <a:p>
            <a:pPr algn="just"/>
            <a:endParaRPr lang="en-US" sz="3200"/>
          </a:p>
          <a:p>
            <a:pPr algn="just"/>
            <a:endParaRPr lang="en-US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Example: Online Banking System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Loop 1</a:t>
            </a:r>
          </a:p>
          <a:p>
            <a:pPr>
              <a:buNone/>
            </a:pPr>
            <a:r>
              <a:rPr lang="en-US" dirty="0" smtClean="0"/>
              <a:t>Develop:</a:t>
            </a:r>
          </a:p>
          <a:p>
            <a:pPr>
              <a:buNone/>
            </a:pPr>
            <a:r>
              <a:rPr lang="en-US" dirty="0" smtClean="0"/>
              <a:t>Login Module </a:t>
            </a:r>
          </a:p>
          <a:p>
            <a:pPr>
              <a:buNone/>
            </a:pPr>
            <a:r>
              <a:rPr lang="en-US" dirty="0" smtClean="0"/>
              <a:t>Risk:</a:t>
            </a:r>
          </a:p>
          <a:p>
            <a:pPr>
              <a:buNone/>
            </a:pPr>
            <a:r>
              <a:rPr lang="en-US" dirty="0" smtClean="0"/>
              <a:t>Password Security </a:t>
            </a:r>
          </a:p>
          <a:p>
            <a:pPr>
              <a:buNone/>
            </a:pPr>
            <a:r>
              <a:rPr lang="en-US" b="1" dirty="0" smtClean="0"/>
              <a:t>Loop 2</a:t>
            </a:r>
          </a:p>
          <a:p>
            <a:pPr>
              <a:buNone/>
            </a:pPr>
            <a:r>
              <a:rPr lang="en-US" dirty="0" smtClean="0"/>
              <a:t>Develop:</a:t>
            </a:r>
          </a:p>
          <a:p>
            <a:pPr>
              <a:buNone/>
            </a:pPr>
            <a:r>
              <a:rPr lang="en-US" dirty="0" smtClean="0"/>
              <a:t>Money Transfer </a:t>
            </a:r>
          </a:p>
          <a:p>
            <a:pPr>
              <a:buNone/>
            </a:pPr>
            <a:r>
              <a:rPr lang="en-US" dirty="0" smtClean="0"/>
              <a:t>Risk:</a:t>
            </a:r>
          </a:p>
          <a:p>
            <a:pPr>
              <a:buNone/>
            </a:pPr>
            <a:r>
              <a:rPr lang="en-US" dirty="0" smtClean="0"/>
              <a:t>Transaction Failure </a:t>
            </a:r>
          </a:p>
          <a:p>
            <a:pPr>
              <a:buNone/>
            </a:pPr>
            <a:r>
              <a:rPr lang="en-US" b="1" dirty="0" smtClean="0"/>
              <a:t>Loop 3</a:t>
            </a:r>
          </a:p>
          <a:p>
            <a:pPr>
              <a:buNone/>
            </a:pPr>
            <a:r>
              <a:rPr lang="en-US" dirty="0" smtClean="0"/>
              <a:t>Develop:</a:t>
            </a:r>
          </a:p>
          <a:p>
            <a:pPr>
              <a:buNone/>
            </a:pPr>
            <a:r>
              <a:rPr lang="en-US" dirty="0" smtClean="0"/>
              <a:t>Bill Payment </a:t>
            </a:r>
          </a:p>
          <a:p>
            <a:pPr>
              <a:buNone/>
            </a:pPr>
            <a:r>
              <a:rPr lang="en-US" dirty="0" smtClean="0"/>
              <a:t>Risk:</a:t>
            </a:r>
          </a:p>
          <a:p>
            <a:pPr>
              <a:buNone/>
            </a:pPr>
            <a:r>
              <a:rPr lang="en-US" dirty="0" smtClean="0"/>
              <a:t>Fraud Detection </a:t>
            </a:r>
          </a:p>
          <a:p>
            <a:pPr>
              <a:buNone/>
            </a:pPr>
            <a:r>
              <a:rPr lang="en-US" b="1" dirty="0" smtClean="0"/>
              <a:t>Loop 4</a:t>
            </a:r>
          </a:p>
          <a:p>
            <a:pPr>
              <a:buNone/>
            </a:pPr>
            <a:r>
              <a:rPr lang="en-US" dirty="0" smtClean="0"/>
              <a:t>Develop:</a:t>
            </a:r>
          </a:p>
          <a:p>
            <a:pPr>
              <a:buNone/>
            </a:pPr>
            <a:r>
              <a:rPr lang="en-US" dirty="0" smtClean="0"/>
              <a:t>Complete Banking System </a:t>
            </a:r>
          </a:p>
          <a:p>
            <a:pPr>
              <a:buNone/>
            </a:pPr>
            <a:r>
              <a:rPr lang="en-US" dirty="0" smtClean="0"/>
              <a:t>Risk:</a:t>
            </a:r>
          </a:p>
          <a:p>
            <a:pPr>
              <a:buNone/>
            </a:pPr>
            <a:r>
              <a:rPr lang="en-US" dirty="0" smtClean="0"/>
              <a:t>Performance with millions of users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Advantages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1. Risk is identified early.</a:t>
            </a:r>
          </a:p>
          <a:p>
            <a:pPr>
              <a:buNone/>
            </a:pPr>
            <a:r>
              <a:rPr lang="en-US" b="1" dirty="0" smtClean="0"/>
              <a:t>2. Suitable for large and complex projects.</a:t>
            </a:r>
          </a:p>
          <a:p>
            <a:pPr>
              <a:buNone/>
            </a:pPr>
            <a:r>
              <a:rPr lang="en-US" b="1" dirty="0" smtClean="0"/>
              <a:t>3. Customer involvement is high.</a:t>
            </a:r>
          </a:p>
          <a:p>
            <a:pPr>
              <a:buNone/>
            </a:pPr>
            <a:r>
              <a:rPr lang="en-US" b="1" dirty="0" smtClean="0"/>
              <a:t>4. Changes can be incorporated easily.</a:t>
            </a:r>
          </a:p>
          <a:p>
            <a:pPr>
              <a:buNone/>
            </a:pPr>
            <a:r>
              <a:rPr lang="en-US" b="1" dirty="0" smtClean="0"/>
              <a:t>5. Better quality software.</a:t>
            </a:r>
          </a:p>
          <a:p>
            <a:pPr>
              <a:buNone/>
            </a:pPr>
            <a:r>
              <a:rPr lang="en-US" b="1" dirty="0" smtClean="0"/>
              <a:t>6. Continuous improvement.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Disadvantages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1. Expensive.</a:t>
            </a:r>
          </a:p>
          <a:p>
            <a:pPr>
              <a:buNone/>
            </a:pPr>
            <a:r>
              <a:rPr lang="en-US" b="1" dirty="0" smtClean="0"/>
              <a:t>2. Requires experienced developers.</a:t>
            </a:r>
          </a:p>
          <a:p>
            <a:pPr>
              <a:buNone/>
            </a:pPr>
            <a:r>
              <a:rPr lang="en-US" b="1" dirty="0" smtClean="0"/>
              <a:t>3. Risk analysis is difficult.</a:t>
            </a:r>
          </a:p>
          <a:p>
            <a:pPr>
              <a:buNone/>
            </a:pPr>
            <a:r>
              <a:rPr lang="en-US" b="1" dirty="0" smtClean="0"/>
              <a:t>4. Not suitable for small projects.</a:t>
            </a:r>
          </a:p>
          <a:p>
            <a:pPr>
              <a:buNone/>
            </a:pPr>
            <a:r>
              <a:rPr lang="en-US" b="1" dirty="0" smtClean="0"/>
              <a:t>5. Management becomes complex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903605"/>
          </a:xfrm>
        </p:spPr>
        <p:txBody>
          <a:bodyPr/>
          <a:lstStyle/>
          <a:p>
            <a:r>
              <a:rPr lang="en-US" b="1" dirty="0"/>
              <a:t>Concurrent Development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0435"/>
            <a:ext cx="8229600" cy="5730875"/>
          </a:xfrm>
        </p:spPr>
        <p:txBody>
          <a:bodyPr>
            <a:normAutofit fontScale="87500" lnSpcReduction="10000"/>
          </a:bodyPr>
          <a:lstStyle/>
          <a:p>
            <a:pPr algn="just"/>
            <a:r>
              <a:rPr lang="en-US"/>
              <a:t>The concurrent development model is called as </a:t>
            </a:r>
            <a:r>
              <a:rPr lang="en-US" b="1">
                <a:solidFill>
                  <a:srgbClr val="FF0000"/>
                </a:solidFill>
              </a:rPr>
              <a:t>concurrent model.</a:t>
            </a:r>
          </a:p>
          <a:p>
            <a:pPr algn="just"/>
            <a:r>
              <a:rPr lang="en-US"/>
              <a:t>The communication activity has completed in the first iteration and exits in the </a:t>
            </a:r>
            <a:r>
              <a:rPr lang="en-US" b="1">
                <a:solidFill>
                  <a:srgbClr val="7030A0"/>
                </a:solidFill>
              </a:rPr>
              <a:t>awaiting changes state</a:t>
            </a:r>
            <a:r>
              <a:rPr lang="en-US"/>
              <a:t>.</a:t>
            </a:r>
          </a:p>
          <a:p>
            <a:pPr algn="just"/>
            <a:r>
              <a:rPr lang="en-US"/>
              <a:t>The modeling activity completed its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initial communication</a:t>
            </a:r>
            <a:r>
              <a:rPr lang="en-US"/>
              <a:t> and then go to the underdevelopment state.</a:t>
            </a:r>
          </a:p>
          <a:p>
            <a:pPr algn="just"/>
            <a:r>
              <a:rPr lang="en-US"/>
              <a:t>If the customer specifies the change in the requirement, then the modeling activity moves from the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under development state into the awaiting change state</a:t>
            </a:r>
            <a:r>
              <a:rPr lang="en-US"/>
              <a:t>.</a:t>
            </a:r>
          </a:p>
          <a:p>
            <a:pPr algn="just"/>
            <a:r>
              <a:rPr lang="en-US"/>
              <a:t>The concurrent process model activities moving from one state to another state.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Concurrent Development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9916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Concurrent Development Model</a:t>
            </a:r>
            <a:r>
              <a:rPr lang="en-US" dirty="0" smtClean="0"/>
              <a:t> is an </a:t>
            </a:r>
            <a:r>
              <a:rPr lang="en-US" b="1" dirty="0" smtClean="0"/>
              <a:t>evolutionary process model</a:t>
            </a:r>
            <a:r>
              <a:rPr lang="en-US" dirty="0" smtClean="0"/>
              <a:t> in which different software development activities happen </a:t>
            </a:r>
            <a:r>
              <a:rPr lang="en-US" b="1" dirty="0" smtClean="0"/>
              <a:t>simultaneously (concurrently)</a:t>
            </a:r>
            <a:r>
              <a:rPr lang="en-US" dirty="0" smtClean="0"/>
              <a:t> rather than one after another.</a:t>
            </a:r>
          </a:p>
          <a:p>
            <a:endParaRPr lang="en-US" dirty="0" smtClean="0"/>
          </a:p>
          <a:p>
            <a:r>
              <a:rPr lang="en-US" dirty="0" smtClean="0"/>
              <a:t>It was introduced because real software projects do not follow a strict sequence like:</a:t>
            </a:r>
          </a:p>
          <a:p>
            <a:pPr>
              <a:buNone/>
            </a:pPr>
            <a:r>
              <a:rPr lang="en-US" dirty="0" smtClean="0"/>
              <a:t>Requirements</a:t>
            </a:r>
          </a:p>
          <a:p>
            <a:pPr>
              <a:buNone/>
            </a:pPr>
            <a:r>
              <a:rPr lang="en-US" dirty="0" smtClean="0"/>
              <a:t>      ↓</a:t>
            </a:r>
          </a:p>
          <a:p>
            <a:pPr>
              <a:buNone/>
            </a:pPr>
            <a:r>
              <a:rPr lang="en-US" dirty="0" smtClean="0"/>
              <a:t>Design</a:t>
            </a:r>
          </a:p>
          <a:p>
            <a:pPr>
              <a:buNone/>
            </a:pPr>
            <a:r>
              <a:rPr lang="en-US" dirty="0" smtClean="0"/>
              <a:t>      ↓</a:t>
            </a:r>
          </a:p>
          <a:p>
            <a:pPr>
              <a:buNone/>
            </a:pPr>
            <a:r>
              <a:rPr lang="en-US" dirty="0" smtClean="0"/>
              <a:t>Coding</a:t>
            </a:r>
          </a:p>
          <a:p>
            <a:pPr>
              <a:buNone/>
            </a:pPr>
            <a:r>
              <a:rPr lang="en-US" dirty="0" smtClean="0"/>
              <a:t>      ↓</a:t>
            </a:r>
          </a:p>
          <a:p>
            <a:pPr>
              <a:buNone/>
            </a:pPr>
            <a:r>
              <a:rPr lang="en-US" dirty="0" smtClean="0"/>
              <a:t>Testing</a:t>
            </a:r>
          </a:p>
          <a:p>
            <a:pPr>
              <a:buNone/>
            </a:pPr>
            <a:r>
              <a:rPr lang="en-US" dirty="0" smtClean="0"/>
              <a:t>      ↓</a:t>
            </a:r>
          </a:p>
          <a:p>
            <a:pPr>
              <a:buNone/>
            </a:pPr>
            <a:r>
              <a:rPr lang="en-US" dirty="0" smtClean="0"/>
              <a:t>Deployment</a:t>
            </a:r>
          </a:p>
          <a:p>
            <a:pPr>
              <a:buNone/>
            </a:pPr>
            <a:r>
              <a:rPr lang="en-US" dirty="0" smtClean="0"/>
              <a:t>In real projects, many activities happen at the same time.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36295"/>
          </a:xfrm>
        </p:spPr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/>
            </a:r>
            <a:br>
              <a:rPr lang="en-US" b="1">
                <a:sym typeface="+mn-ea"/>
              </a:rPr>
            </a:br>
            <a:r>
              <a:rPr lang="en-US" b="1">
                <a:sym typeface="+mn-ea"/>
              </a:rPr>
              <a:t>Concurrent Development Model</a:t>
            </a:r>
            <a:r>
              <a:rPr lang="en-US" b="1"/>
              <a:t/>
            </a:r>
            <a:br>
              <a:rPr lang="en-US" b="1"/>
            </a:br>
            <a:endParaRPr lang="en-US" b="1"/>
          </a:p>
        </p:txBody>
      </p:sp>
      <p:pic>
        <p:nvPicPr>
          <p:cNvPr id="4" name="Content Placeholder 3" descr="concurrent-model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00" y="1287780"/>
            <a:ext cx="7955915" cy="5184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915" y="207010"/>
            <a:ext cx="8472805" cy="6330950"/>
          </a:xfrm>
        </p:spPr>
        <p:txBody>
          <a:bodyPr>
            <a:normAutofit fontScale="90000"/>
          </a:bodyPr>
          <a:lstStyle/>
          <a:p>
            <a:pPr marL="0" indent="0" algn="just">
              <a:buNone/>
            </a:pPr>
            <a:r>
              <a:rPr lang="en-US" b="1">
                <a:solidFill>
                  <a:schemeClr val="tx1"/>
                </a:solidFill>
              </a:rPr>
              <a:t>Advantages of the concurrent development model</a:t>
            </a:r>
          </a:p>
          <a:p>
            <a:pPr algn="just"/>
            <a:r>
              <a:rPr lang="en-US"/>
              <a:t>This model is applicable to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all types of software development processes.</a:t>
            </a:r>
          </a:p>
          <a:p>
            <a:pPr algn="just"/>
            <a:r>
              <a:rPr lang="en-US"/>
              <a:t>It is </a:t>
            </a:r>
            <a:r>
              <a:rPr lang="en-US" b="1">
                <a:solidFill>
                  <a:srgbClr val="0070C0"/>
                </a:solidFill>
              </a:rPr>
              <a:t>easy for understanding</a:t>
            </a:r>
            <a:r>
              <a:rPr lang="en-US"/>
              <a:t> and use.</a:t>
            </a:r>
          </a:p>
          <a:p>
            <a:pPr algn="just"/>
            <a:r>
              <a:rPr lang="en-US"/>
              <a:t>It gives </a:t>
            </a:r>
            <a:r>
              <a:rPr lang="en-US" b="1">
                <a:solidFill>
                  <a:srgbClr val="00B050"/>
                </a:solidFill>
              </a:rPr>
              <a:t>immediate feedback</a:t>
            </a:r>
            <a:r>
              <a:rPr lang="en-US"/>
              <a:t> from testing.</a:t>
            </a:r>
          </a:p>
          <a:p>
            <a:pPr algn="just"/>
            <a:r>
              <a:rPr lang="en-US"/>
              <a:t>It provides an accurate picture of the current state of a project.</a:t>
            </a:r>
          </a:p>
          <a:p>
            <a:pPr marL="0" indent="0" algn="just">
              <a:buNone/>
            </a:pPr>
            <a:r>
              <a:rPr lang="en-US" b="1">
                <a:solidFill>
                  <a:schemeClr val="tx1"/>
                </a:solidFill>
              </a:rPr>
              <a:t>Disadvantages of the concurrent development model</a:t>
            </a:r>
            <a:endParaRPr lang="en-US" b="1">
              <a:solidFill>
                <a:srgbClr val="FF0000"/>
              </a:solidFill>
            </a:endParaRPr>
          </a:p>
          <a:p>
            <a:pPr algn="just"/>
            <a:r>
              <a:rPr lang="en-US"/>
              <a:t>It needs </a:t>
            </a:r>
            <a:r>
              <a:rPr lang="en-US" b="1">
                <a:solidFill>
                  <a:srgbClr val="00B050"/>
                </a:solidFill>
              </a:rPr>
              <a:t>better communication between the team members.</a:t>
            </a:r>
            <a:r>
              <a:rPr lang="en-US"/>
              <a:t> This may not be achieved all the time.</a:t>
            </a:r>
          </a:p>
          <a:p>
            <a:pPr algn="just"/>
            <a:r>
              <a:rPr lang="en-US"/>
              <a:t>It requires to </a:t>
            </a:r>
            <a:r>
              <a:rPr lang="en-US" b="1">
                <a:solidFill>
                  <a:srgbClr val="00B050"/>
                </a:solidFill>
              </a:rPr>
              <a:t>remember the status</a:t>
            </a:r>
            <a:r>
              <a:rPr lang="en-US"/>
              <a:t> of the different activities.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1061</Words>
  <Application>Microsoft Office PowerPoint</Application>
  <PresentationFormat>On-screen Show (4:3)</PresentationFormat>
  <Paragraphs>195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Prototyping Model</vt:lpstr>
      <vt:lpstr>Spiral Model</vt:lpstr>
      <vt:lpstr>Prototype Focus</vt:lpstr>
      <vt:lpstr>Spiral Model</vt:lpstr>
      <vt:lpstr>Slide 6</vt:lpstr>
      <vt:lpstr>Spiral Focus</vt:lpstr>
      <vt:lpstr>Types of Risk in Spiral</vt:lpstr>
      <vt:lpstr>2. Cost Risk</vt:lpstr>
      <vt:lpstr>3. Schedule Risk</vt:lpstr>
      <vt:lpstr>4. Requirement Risk</vt:lpstr>
      <vt:lpstr>5. Security Risk</vt:lpstr>
      <vt:lpstr>Definition from Pressman </vt:lpstr>
      <vt:lpstr>Spiral Model</vt:lpstr>
      <vt:lpstr>Spiral Model</vt:lpstr>
      <vt:lpstr>Example: Online Banking System </vt:lpstr>
      <vt:lpstr>Advantages </vt:lpstr>
      <vt:lpstr>Disadvantages</vt:lpstr>
      <vt:lpstr>Concurrent Development Model</vt:lpstr>
      <vt:lpstr>Concurrent Development Model</vt:lpstr>
      <vt:lpstr> Concurrent Development Model 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13</cp:revision>
  <dcterms:created xsi:type="dcterms:W3CDTF">2026-07-09T06:46:39Z</dcterms:created>
  <dcterms:modified xsi:type="dcterms:W3CDTF">2026-07-09T07:16:27Z</dcterms:modified>
</cp:coreProperties>
</file>