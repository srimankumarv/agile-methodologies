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8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38360" y="146304"/>
            <a:ext cx="2453335" cy="6711696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02412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0C9F0"/>
                </a:solidFill>
                <a:latin typeface="Aptos"/>
              </a:defRPr>
            </a:pPr>
            <a:r>
              <a:t>AGILE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8412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Extreme Programming</a:t>
            </a:r>
            <a:br/>
            <a:r>
              <a:t>(XP)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07792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E1E7F0"/>
                </a:solidFill>
                <a:latin typeface="Aptos"/>
              </a:defRPr>
            </a:pPr>
            <a:r>
              <a:t>13 practices explained through examples, visuals and classroom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160520"/>
            <a:ext cx="1719072" cy="62179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42976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4297680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4160520"/>
            <a:ext cx="1719072" cy="62179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1488" y="42976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297680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160520"/>
            <a:ext cx="1719072" cy="62179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42976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297680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4160520"/>
            <a:ext cx="1719072" cy="621792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42976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989320"/>
            <a:ext cx="7863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DD6E4"/>
                </a:solidFill>
                <a:latin typeface="Aptos"/>
              </a:defRPr>
            </a:pPr>
            <a:r>
              <a:rPr lang="en-US" smtClean="0"/>
              <a:t>PREPARED BY MS.A.KIRUTHIKA, AP/CSE ,KEC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66BE"/>
                </a:solidFill>
                <a:latin typeface="Aptos"/>
              </a:defRPr>
            </a:pPr>
            <a:r>
              <a:t>BUSINESS /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1. The Planning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Customers and developers plan together. The customer decides which features are most important; developers estimate the effort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Customer priority + developer estimate = Planning Game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Customer chooses priority</a:t>
            </a:r>
            <a:br/>
            <a:r>
              <a:t>  •  Developer estimates effort</a:t>
            </a:r>
            <a:br/>
            <a:r>
              <a:t>  •  Plan in small stories</a:t>
            </a:r>
            <a:br/>
            <a:r>
              <a:t>  •  Re-plan when priorities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REAL-WORLD EXAMPLE  •  Online Food Delivery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Login — High — 1 day</a:t>
            </a:r>
            <a:br/>
            <a:r>
              <a:t>• Search restaurants — High — 3 days</a:t>
            </a:r>
            <a:br/>
            <a:r>
              <a:t>• Order food — High — 2 days</a:t>
            </a:r>
            <a:br/>
            <a:r>
              <a:t>• Reviews — Low — 2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CUSTOMER</a:t>
            </a:r>
            <a:br/>
            <a:r>
              <a:t>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DEVELOPER</a:t>
            </a:r>
            <a:br/>
            <a:r>
              <a:t>ESTIMATE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ITERATION</a:t>
            </a:r>
            <a:br/>
            <a:r>
              <a:t>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If you had only 1 week, which 2 features would you build first—and why?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66BE"/>
                </a:solidFill>
                <a:latin typeface="Aptos"/>
              </a:defRPr>
            </a:pPr>
            <a:r>
              <a:t>BUSINESS /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2. Small Releases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Instead of waiting months for the complete product, XP delivers small working versions frequently. Each release contains useful functionality.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Release early → get feedback → improve → release again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Early feedback</a:t>
            </a:r>
            <a:br/>
            <a:r>
              <a:t>  •  Early problem detection</a:t>
            </a:r>
            <a:br/>
            <a:r>
              <a:t>  •  Reduced risk</a:t>
            </a:r>
            <a:br/>
            <a:r>
              <a:t>  •  Visible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REAL-WORLD EXAMPLE  •  Online Shopping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R1: Registration + Login</a:t>
            </a:r>
            <a:br/>
            <a:r>
              <a:t>• R2: Search + Product details</a:t>
            </a:r>
            <a:br/>
            <a:r>
              <a:t>• R3: Cart + Order</a:t>
            </a:r>
            <a:br/>
            <a:r>
              <a:t>• R4: Payment +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SMALL</a:t>
            </a:r>
            <a:br/>
            <a: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865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8382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74102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CUSTOMER</a:t>
            </a:r>
            <a:br/>
            <a:r>
              <a:t>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1956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1684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7404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525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4986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20706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NEXT</a:t>
            </a:r>
            <a:br/>
            <a:r>
              <a:t>RELEASE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Would you rather see a useful login screen tomorrow or the complete app after 6 months?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66BE"/>
                </a:solidFill>
                <a:latin typeface="Aptos"/>
              </a:defRPr>
            </a:pPr>
            <a:r>
              <a:t>BUSINESS /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3. Metaphor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A metaphor is a simple, common-language model that helps customers and developers share the same mental picture of the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Complex technical idea → simple familiar analogy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Shared mental model</a:t>
            </a:r>
            <a:br/>
            <a:r>
              <a:t>  •  Easier communication</a:t>
            </a:r>
            <a:br/>
            <a:r>
              <a:t>  •  Less technical confusion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REAL-WORLD EXAMPLE  • 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Online library → books, members, librarian, checkout</a:t>
            </a:r>
            <a:br/>
            <a:r>
              <a:t>• Online supermarket → shelves, basket, checkout, delivery</a:t>
            </a:r>
            <a:br/>
            <a:r>
              <a:t>• The analogy helps non-technical people understand the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What familiar object could you use to explain a college LMS to a first-year student?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66BE"/>
                </a:solidFill>
                <a:latin typeface="Aptos"/>
              </a:defRPr>
            </a:pPr>
            <a:r>
              <a:t>BUSINESS /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4. On-Site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A customer or customer representative is readily available to answer questions, clarify requirements, prioritize features and give immediate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Developer question → customer answer → correct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Immediate clarification</a:t>
            </a:r>
            <a:br/>
            <a:r>
              <a:t>  •  Less rework</a:t>
            </a:r>
            <a:br/>
            <a:r>
              <a:t>  •  Faster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66BE"/>
                </a:solidFill>
                <a:latin typeface="Aptos"/>
              </a:defRPr>
            </a:pPr>
            <a:r>
              <a:t>REAL-WORLD EXAMPLE  •  College Attendance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Developer: “Can students edit attendance?”</a:t>
            </a:r>
            <a:br/>
            <a:r>
              <a:t>• Customer: “No. Only faculty can modify it.”</a:t>
            </a:r>
            <a:br/>
            <a:r>
              <a:t>• Developer implements the rule immediately.</a:t>
            </a:r>
            <a:br/>
            <a:r>
              <a:t>• Result: less waiting, misunderstanding and rework.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6BE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What problem occurs when a developer waits 3 days for an answer to a requirement?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918C"/>
                </a:solidFill>
                <a:latin typeface="Aptos"/>
              </a:defRPr>
            </a:pPr>
            <a:r>
              <a:t>TEAM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5. Collective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The whole team is responsible for the code. No module belongs permanently to one programmer; anyone can improve or fix any part when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Everyone can read → understand → improve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380744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Less dependency on individuals</a:t>
            </a:r>
            <a:br/>
            <a:r>
              <a:t>  •  Knowledge sharing</a:t>
            </a:r>
            <a:br/>
            <a:r>
              <a:t>  •  Faster maintenance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REAL-WORLD EXAMPLE  •  Example: Payment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Ravi owns Login</a:t>
            </a:r>
            <a:br/>
            <a:r>
              <a:t>• Priya wrote Payment</a:t>
            </a:r>
            <a:br/>
            <a:r>
              <a:t>• Arun wrote Search</a:t>
            </a:r>
            <a:br/>
            <a:r>
              <a:t>• If Ravi finds a payment bug, he can fix it instead of waiting for Priya.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What happens to a project if only one person understands the payment module?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918C"/>
                </a:solidFill>
                <a:latin typeface="Aptos"/>
              </a:defRPr>
            </a:pPr>
            <a:r>
              <a:t>TEAM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6. Coding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A coding standard is a shared set of rules for naming, formatting, comments, structure, error handling and other coding conventions.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One team → one consistent coding style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1"/>
            <a:ext cx="5257800" cy="1453895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Consistency</a:t>
            </a:r>
            <a:br/>
            <a:r>
              <a:t>  •  Readability</a:t>
            </a:r>
            <a:br/>
            <a:r>
              <a:t>  •  Easier collaboration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REAL-WORLD EXAMPLE  • 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Without standard: calculateTotal(), Calculate_total(), calc_total()</a:t>
            </a:r>
            <a:br/>
            <a:r>
              <a:t>• With standard: calculateTotal(), calculateDiscount(), calculateTax()</a:t>
            </a:r>
            <a:br/>
            <a:r>
              <a:t>• Classes: PascalCase → PaymentService</a:t>
            </a:r>
            <a:br/>
            <a:r>
              <a:t>• Variables: camelCase → paymentStatus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Which code is easier to maintain when 5 people work on it?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918C"/>
                </a:solidFill>
                <a:latin typeface="Aptos"/>
              </a:defRPr>
            </a:pPr>
            <a:r>
              <a:t>TEAM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7. Refactoring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Refactoring improves the internal structure of working code without changing what the software does.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Same behavior + cleaner structure = Refactoring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Remove duplication</a:t>
            </a:r>
            <a:br/>
            <a:r>
              <a:t>  •  Simplify methods</a:t>
            </a:r>
            <a:br/>
            <a:r>
              <a:t>  •  Improve names</a:t>
            </a:r>
            <a:br/>
            <a:r>
              <a:t>  •  Make maintenance easier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REAL-WORLD EXAMPLE  • 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Before: double a = price * 0.18;</a:t>
            </a:r>
            <a:br/>
            <a:r>
              <a:t>• After: double taxRate = 0.18; double tax = price * taxRate;</a:t>
            </a:r>
            <a:br/>
            <a:r>
              <a:t>• A large method can be split into validateOrder(), calculateTax(), generateBill().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Have you ever written code that works but is difficult to understand later? What could you clean up?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918C"/>
                </a:solidFill>
                <a:latin typeface="Aptos"/>
              </a:defRPr>
            </a:pPr>
            <a:r>
              <a:t>TEAM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8. 40 Hours a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XP promotes a sustainable pace. The classic guideline is approximately 40 hours per week rather than depending on continuous overtime.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Sustainable pace &gt; repeated overtime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1"/>
            <a:ext cx="5257800" cy="1453895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Avoid burnout</a:t>
            </a:r>
            <a:br/>
            <a:r>
              <a:t>  •  Maintain quality</a:t>
            </a:r>
            <a:br/>
            <a:r>
              <a:t>  •  Reduce fatigue-related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918C"/>
                </a:solidFill>
                <a:latin typeface="Aptos"/>
              </a:defRPr>
            </a:pPr>
            <a:r>
              <a:t>REAL-WORLD EXAMPLE  •  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Too much overtime → fatigue</a:t>
            </a:r>
            <a:br/>
            <a:r>
              <a:t>• Fatigue → lower concentration</a:t>
            </a:r>
            <a:br/>
            <a:r>
              <a:t>• Lower concentration → more defects</a:t>
            </a:r>
            <a:br/>
            <a:r>
              <a:t>• A sustainable pace supports quality and long-term productivity.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918C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Is working 14 hours today always more productive than working 8 focused hours?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8B36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9. Simple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Build the simplest design that satisfies the current requirement. Do not add complex features just because they might be needed someday.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Need now → simple solution → improve when necessary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Less code</a:t>
            </a:r>
            <a:br/>
            <a:r>
              <a:t>  •  Easier testing</a:t>
            </a:r>
            <a:br/>
            <a:r>
              <a:t>  •  Faster development</a:t>
            </a:r>
            <a:br/>
            <a:r>
              <a:t>  •  Fewer bugs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REAL-WORLD EXAMPLE  •  Online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Current need: Email + Password → Login</a:t>
            </a:r>
            <a:br/>
            <a:r>
              <a:t>• Do not build facial recognition, voice login or cryptocurrency login unless required.</a:t>
            </a:r>
            <a:br/>
            <a:r>
              <a:t>• Simple design means less unnecessary code and fewer opportunities for bugs.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If the requirement is only login, should you build fingerprint + face + voice authentication now?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8B36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10. Test-Driven Development (TDD)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TDD means writing the test before the implementation. The classic cycle is Red → Green → Refactor.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RED: failing test → GREEN: make it pass → REFACTOR: improve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1"/>
            <a:ext cx="5257800" cy="1453895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Tests define expected behavior</a:t>
            </a:r>
            <a:br/>
            <a:r>
              <a:t>  •  Bugs found early</a:t>
            </a:r>
            <a:br/>
            <a:r>
              <a:t>  •  Safer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REAL-WORLD EXAMPLE  •  Calculator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Test: add(2,3) = 5</a:t>
            </a:r>
            <a:br/>
            <a:r>
              <a:t>• RED: test fails because add() does not exist</a:t>
            </a:r>
            <a:br/>
            <a:r>
              <a:t>• GREEN: implement the minimum code so it passes</a:t>
            </a:r>
            <a:br/>
            <a:r>
              <a:t>• REFACTOR: improve code while keeping the test green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RED</a:t>
            </a:r>
            <a:br/>
            <a:r>
              <a:t>Failing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GREEN</a:t>
            </a:r>
            <a:br/>
            <a:r>
              <a:t>Make it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REFACTOR</a:t>
            </a:r>
            <a:br/>
            <a: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Why might writing the test first make the requirement clearer?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8B36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11. Pair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Two developers work together: the Driver writes code while the Navigator reviews, thinks ahead and spots possible errors. They switch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Driver writes + Navigator reviews → switch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435608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Continuous review</a:t>
            </a:r>
            <a:br/>
            <a:r>
              <a:t>  •  Knowledge sharing</a:t>
            </a:r>
            <a:br/>
            <a:r>
              <a:t>  •  Better problem solving</a:t>
            </a:r>
            <a:br/>
            <a:r>
              <a:t>  •  Fewer mistakes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8B36"/>
                </a:solidFill>
                <a:latin typeface="Aptos"/>
              </a:defRPr>
            </a:pPr>
            <a:r>
              <a:t>REAL-WORLD EXAMPLE  •  Payment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Ravi (Driver): processPayment(amount)</a:t>
            </a:r>
            <a:br/>
            <a:r>
              <a:t>• Priya (Navigator): “What if amount is zero?”</a:t>
            </a:r>
            <a:br/>
            <a:r>
              <a:t>• Ravi adds validation</a:t>
            </a:r>
            <a:br/>
            <a:r>
              <a:t>• Later they switch roles.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DRIVER</a:t>
            </a:r>
            <a:br/>
            <a:r>
              <a:t>Writes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308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8536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NAVIGATOR</a:t>
            </a:r>
            <a:br/>
            <a:r>
              <a:t>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82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0552" y="4297680"/>
            <a:ext cx="15880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B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6272" y="4389120"/>
            <a:ext cx="14965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B8B36"/>
                </a:solidFill>
                <a:latin typeface="Aptos"/>
              </a:defRPr>
            </a:pPr>
            <a:r>
              <a:t>SWITCH</a:t>
            </a:r>
            <a:br/>
            <a:r>
              <a:t>Roles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Would two people reviewing code catch mistakes earlier than one person working alone?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456A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12. Continuous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456AA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Developers integrate their code into the shared project frequently instead of waiting until the end. Automated checks help detect conflicts and broken functionality.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Small change → integrate → build/test →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380744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456AA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t>  •  Find errors early</a:t>
            </a:r>
            <a:br/>
            <a:r>
              <a:t>  •  Reduce integration conflicts</a:t>
            </a:r>
            <a:br/>
            <a:r>
              <a:t>  •  Know which change caused a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456AA"/>
                </a:solidFill>
                <a:latin typeface="Aptos"/>
              </a:defRPr>
            </a:pPr>
            <a:r>
              <a:t>REAL-WORLD EXAMPLE  •  Online Shopping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Ravi → Login</a:t>
            </a:r>
            <a:br/>
            <a:r>
              <a:t>• Priya → Cart</a:t>
            </a:r>
            <a:br/>
            <a:r>
              <a:t>• Arun → Payment</a:t>
            </a:r>
            <a:br/>
            <a:r>
              <a:t>• Meena → Search</a:t>
            </a:r>
            <a:br/>
            <a:r>
              <a:t>• Each change is integrated frequently and checked by automated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865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8382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74102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1956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1684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7404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BUILD +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525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4986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20706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Which is easier to debug: one error introduced today or 30 errors discovered after one month?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456A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63A"/>
                </a:solidFill>
                <a:latin typeface="Aptos"/>
              </a:defRPr>
            </a:pPr>
            <a:r>
              <a:t>13. 10-Minute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32004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64008" cy="1600200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35607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456AA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103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03A"/>
                </a:solidFill>
                <a:latin typeface="Aptos"/>
              </a:defRPr>
            </a:pPr>
            <a:r>
              <a:t>The complete build and automated tests should ideally finish quickly—traditionally targeted at about 10 minutes or less in XP.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81528"/>
            <a:ext cx="5257800" cy="713232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18688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It does NOT mean writing the whole application in 10 minutes!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52578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005072"/>
            <a:ext cx="64008" cy="941832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142232"/>
            <a:ext cx="4910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456AA"/>
                </a:solidFill>
                <a:latin typeface="Aptos"/>
              </a:defRPr>
            </a:pPr>
            <a:r>
              <a:t>WHY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07992"/>
            <a:ext cx="4910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A303A"/>
                </a:solidFill>
                <a:latin typeface="Aptos"/>
              </a:defRPr>
            </a:pPr>
            <a:r>
              <a:rPr dirty="0"/>
              <a:t>  •  Fast feedback encourages frequent integration</a:t>
            </a:r>
            <a:br>
              <a:rPr dirty="0"/>
            </a:br>
            <a:r>
              <a:rPr dirty="0"/>
              <a:t>  •  Problems are found immediately</a:t>
            </a:r>
            <a:br>
              <a:rPr dirty="0"/>
            </a:br>
            <a:r>
              <a:rPr dirty="0"/>
              <a:t>  •  Developers are less likely to postpone builds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98448"/>
            <a:ext cx="5440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298448"/>
            <a:ext cx="64008" cy="3474720"/>
          </a:xfrm>
          <a:prstGeom prst="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435607"/>
            <a:ext cx="5093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456AA"/>
                </a:solidFill>
                <a:latin typeface="Aptos"/>
              </a:defRPr>
            </a:pPr>
            <a:r>
              <a:t>REAL-WORLD EXAMPLE  •  Payment Code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801368"/>
            <a:ext cx="5093208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A303A"/>
                </a:solidFill>
                <a:latin typeface="Aptos"/>
              </a:defRPr>
            </a:pPr>
            <a:r>
              <a:t>• Change payment code</a:t>
            </a:r>
            <a:br/>
            <a:r>
              <a:t>• Compile</a:t>
            </a:r>
            <a:br/>
            <a:r>
              <a:t>• Run automated tests</a:t>
            </a:r>
            <a:br/>
            <a:r>
              <a:t>• Check other modules</a:t>
            </a:r>
            <a:br/>
            <a:r>
              <a:t>• Build completes in ~7 minutes → SUCCESS ✓</a:t>
            </a:r>
            <a:br/>
            <a:r>
              <a:t>• If it takes 2 hours, developers may postpone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8654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8382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74102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1956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1684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7404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5258" y="445312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666F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4986" y="4297680"/>
            <a:ext cx="116357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4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20706" y="4389120"/>
            <a:ext cx="107213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456A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74920"/>
            <a:ext cx="5166360" cy="1078992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5184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💬 ASK THE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31536"/>
            <a:ext cx="4800600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Ask students: If checking your entire project takes 2 hours, would you test after every small change?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239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0068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897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3726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554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7383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2124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10411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28700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469880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652759" y="6547104"/>
            <a:ext cx="100584" cy="100584"/>
          </a:xfrm>
          <a:prstGeom prst="round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835640" y="6547104"/>
            <a:ext cx="100584" cy="100584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473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6F7E"/>
                </a:solidFill>
                <a:latin typeface="Aptos"/>
              </a:defRPr>
            </a:pPr>
            <a:r>
              <a:t>EXTREME PROGRAMMING  •  LEARN → DISCUSS → APPLY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XP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6"/>
                </a:solidFill>
                <a:latin typeface="Aptos"/>
              </a:defRPr>
            </a:pPr>
            <a:r>
              <a:t>The practices reinforce one another.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487168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487168" cy="530352"/>
          </a:xfrm>
          <a:prstGeom prst="roundRect">
            <a:avLst/>
          </a:prstGeom>
          <a:solidFill>
            <a:srgbClr val="2F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78608"/>
            <a:ext cx="215798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03A"/>
                </a:solidFill>
                <a:latin typeface="Aptos"/>
              </a:defRPr>
            </a:pPr>
            <a:r>
              <a:t>Planning Game</a:t>
            </a:r>
            <a:br/>
            <a:r>
              <a:t>Small Releases</a:t>
            </a:r>
            <a:br/>
            <a:r>
              <a:t>Metaphor</a:t>
            </a:r>
            <a:br/>
            <a:r>
              <a:t>On-Site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78892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874519"/>
            <a:ext cx="2487168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47288" y="1874519"/>
            <a:ext cx="2487168" cy="530352"/>
          </a:xfrm>
          <a:prstGeom prst="round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99339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78608"/>
            <a:ext cx="215798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03A"/>
                </a:solidFill>
                <a:latin typeface="Aptos"/>
              </a:defRPr>
            </a:pPr>
            <a:r>
              <a:t>Collective Ownership</a:t>
            </a:r>
            <a:br/>
            <a:r>
              <a:t>Coding Standard</a:t>
            </a:r>
            <a:br/>
            <a:r>
              <a:t>Refactoring</a:t>
            </a:r>
            <a:br/>
            <a:r>
              <a:t>40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78892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874519"/>
            <a:ext cx="2487168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0216" y="1874519"/>
            <a:ext cx="2487168" cy="530352"/>
          </a:xfrm>
          <a:prstGeom prst="roundRect">
            <a:avLst/>
          </a:prstGeom>
          <a:solidFill>
            <a:srgbClr val="EB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578608"/>
            <a:ext cx="215798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03A"/>
                </a:solidFill>
                <a:latin typeface="Aptos"/>
              </a:defRPr>
            </a:pPr>
            <a:r>
              <a:t>Simple Design</a:t>
            </a:r>
            <a:br/>
            <a:r>
              <a:t>TDD</a:t>
            </a:r>
            <a:br/>
            <a:r>
              <a:t>Pair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278892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1874519"/>
            <a:ext cx="2487168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53144" y="1874519"/>
            <a:ext cx="2487168" cy="530352"/>
          </a:xfrm>
          <a:prstGeom prst="roundRect">
            <a:avLst/>
          </a:prstGeom>
          <a:solidFill>
            <a:srgbClr val="74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3144" y="199339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578608"/>
            <a:ext cx="215798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03A"/>
                </a:solidFill>
                <a:latin typeface="Aptos"/>
              </a:defRPr>
            </a:pPr>
            <a:r>
              <a:t>Continuous Integration</a:t>
            </a:r>
            <a:br/>
            <a:r>
              <a:t>10-Minute 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00600"/>
            <a:ext cx="10972800" cy="960120"/>
          </a:xfrm>
          <a:prstGeom prst="roundRect">
            <a:avLst/>
          </a:prstGeom>
          <a:solidFill>
            <a:srgbClr val="25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001768"/>
            <a:ext cx="10469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PLAN TOGETHER  →  BUILD SMALL  →  TEST EARLY  →  INTEGRATE OFTEN  →  IMPROVE CONTINUOUSLY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172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BECBDE"/>
                </a:solidFill>
                <a:latin typeface="Aptos"/>
              </a:defRPr>
            </a:pPr>
            <a:r>
              <a:t>CLASSROOM CHALLENGE: Pick one software idea and apply all 13 practices to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1393</Words>
  <Application>Microsoft Office PowerPoint</Application>
  <PresentationFormat>Custom</PresentationFormat>
  <Paragraphs>253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Student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2026-09-10T09:38:51Z</dcterms:modified>
  <cp:category/>
</cp:coreProperties>
</file>